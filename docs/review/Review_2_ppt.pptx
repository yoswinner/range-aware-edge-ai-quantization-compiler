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23"/>
    <p:sldId id="273" r:id="rId24"/>
    <p:sldId id="274" r:id="rId25"/>
    <p:sldId id="275" r:id="rId26"/>
    <p:sldId id="276" r:id="rId27"/>
    <p:sldId id="277" r:id="rId28"/>
    <p:sldId id="270" r:id="rId16"/>
    <p:sldId id="271" r:id="rId22"/>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21.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22.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I'll be presenting my Compiler Design project review: a Range-Aware Edge AI Quantization Compiler. This is a compiler-optimization project that uses SSA and static range analysis to decide, at compile time, when FP32 values can be safely represented as INT8.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devices are constrained in memory, compute, energy and data movement. FP32 uses 4 bytes per value while INT8 uses 1 byte, so precision reduction is attractive — but only if it can be done safely, which motivates the rest of the project. We do not claim automatic runtime or energy gains without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precise research question: not 'should we quantize', but 'can the compiler prove it is safe'. If the four proof obligations hold, we quantize; otherwise we conservatively keep FP32. This slide is the one I'd point to in a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precision conversion doesn't scale and is error-prone. Dynamic checking works but adds runtime cost on every execution. Static compiler analysis lets us make the safety decision once, at compile time, by reasoning directly over the 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concrete objectives: from the front end through SSA, range and integrality analysis, conservative safety checks, the quantization transform itself, and source-level traceability so diagnostics can point back to the original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spans four areas: Edge AI, quantization, compiler optimization, and static analysis / SSA. This project sits deliberately at the intersection — it is a compiler that uses SSA-based static analysis to make a quantization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sources across four themes: INT8 quantization (Jacob, Krishnamoorthi, Han), the Edge AI motivation (Sze), compiler-driven optimization (TVM), and the static-analysis foundations we build on directly — SSA construction (Cytron et al.), abstract interpretation (Cousot &amp; Cousot), and SSA-based range analysis on LLVM IR (Pereira et al.), which is the closest prior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claiming that no one has done quantization before — we're claiming a different, complementary focus: a compact compiler where the safety reasoning is fully explainable via SSA and range analysis, rather than folded into a large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a conventional front end — lexer, parser, AST, semantic analysis, TAC, CFG — followed by SSA construction and the project's core contribution: range and integrality analysis feeding an INT8 safety check, which gates the quantization transform before code generation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force every syllabus topic in, we only show the concepts that genuinely map to a real component: intermediate code generation, CFG/backpatching, data-flow analysis, basic blocks, machine-independent optimization, SSA, and code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tiny example: x is assigned 10, conditionally reassigned to 20, and SSA introduces a phi node x3 merging both. Range analysis gives x3 the interval [10,20], and propagating through addition gives y1 the interval [15,25]. This range, plus integrality, feeds the quantization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symmetric cases show the decision rule directly: a range fully inside [-128,127] is quantized; a range that overflows is rejected. The bottom case is the key insight the project adds — x = 1.5 fits numerically but is not integral, so it must still be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loop like this counter, SSA introduces a phi node at the loop header merging the initial and back-edge values. Range propagation must run to a fixed point; the analysis uses a bounded/widening strategy so it always converges and terminates, never looping forever trying to refine the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compiler emits a diagnostic per variable: source location, inferred range, integrality, and the safety verdict. On the left, z is safely quantized. On the right, x is rejected with a clear, source-traceable reason — possible overflow at line 14, column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project delivers three outcomes. First, a static safety check that proves at compile time that a value stays integral and inside the INT8 range on every execution path. Second, selective quantization — only certified-safe operations are rewritten to INT8, and anything unproven stays FP32. Third, a traceable output: line-by-line diagnostics saying whether each variable was converted or rejected, and why. The memory outcome is a 4x reduction per quantized value, which follows directly from the 4-byte to 1-byte width change; runtime and energy gains we will measure rather than assume.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the first review, the project has moved from a proposed architecture to an implemented compiler core. Every stage of the pipeline from Review 1 now exists in code: lexer, parser and AST, semantic analysis, TAC, basic blocks and CFG, SSA, range and integrality analysis, INT8 safety analysis, selective quantization, quantized SSA IR, a lightweight simulator, and diagnostics. The pipeline runs end-to-end for the current scope and is backed by 20 passing automated tests and five representative example programs. This is a teaching-scale prototype, not a production compiler — the following slides show the evidence and the current limits.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implementation checklist from the Review 2 report, with the evidence for each component — the source module and the tests that exercise it. Thirteen components are fully implemented. Two are deliberately qualified: loop widening is implemented conservatively, and the end-to-end pipeline is implemented for the current scope of the language. The point is traceability: each claimed stage maps to code and to a test, rather than to a plan.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verification evidence. The full automated suite — 20 tests — passes, run with python -m unittest discover in about 18 milliseconds. On top of the unit tests, five representative programs go through the whole pipeline: a safe case, two rejection cases for overflow and non-integrality, an if/else that exercises SSA phi nodes, and a while loop that exercises widening. For the two control-flow programs the simulator runs both the original and the quantized IR and produces identical output: 20 and 15. What this shows is correctness on the tested programs — not a guarantee for every possible program.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actual outputs from the compiler, not mock-ups. On the left, the safe program: every SSA value has a known integral range inside INT8, so all three are rewritten and the quantized IR types them as int8. On the right, the same addition with 100 plus 30: z.1 is 130, which exceeds 127, so it is rejected with an explicit reason. Below it, 3.5 is in range numerically but is not integral, so it and the sum that depends on it are rejected. Rejection is selective — the safe operands in each program are still quantized.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Straight-line code is the easy case, so this slide shows control flow. In the if/else program, SSA inserts a phi node at the join, max.4 equals phi of max.3 from B3 and max.2 from B4, and range analysis merges the branches to [10, 20], integral. The comparison temporary using the greater-than operator is not supported by the quantization pass, so it is left unquantized. In the while loop, the analysis uses conservative widening: if a range does not stabilise within the threshold it becomes UNKNOWN and is not quantized. In both programs the simulator gives the same output before and after quantization: 20 and 15. The trade-off is coverage: widening may give up on some loop values that are actually safe.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keep this grounded, here is exactly what the prototype does not do yet. Loop widening is conservative and can return UNKNOWN; operations like the greater-than comparison are not quantized; the backend is a lightweight IR simulator rather than LLVM or real hardware; and we have not yet measured runtime, latency, energy or power, so we make no performance claims. Note that every limitation fails safe — when in doubt, the compiler leaves the value unquantized. At this 60 percent milestone we have a working compiler core for the current scope, verified on representative programs.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C"/>
        </a:solidFill>
      </p:bgPr>
    </p:bg>
    <p:spTree>
      <p:nvGrpSpPr>
        <p:cNvPr id="1" name=""/>
        <p:cNvGrpSpPr/>
        <p:nvPr/>
      </p:nvGrpSpPr>
      <p:grpSpPr>
        <a:xfrm>
          <a:off x="0" y="0"/>
          <a:ext cx="0" cy="0"/>
          <a:chOff x="0" y="0"/>
          <a:chExt cx="0" cy="0"/>
        </a:xfrm>
      </p:grpSpPr>
      <p:sp>
        <p:nvSpPr>
          <p:cNvPr id="2" name="Text 0"/>
          <p:cNvSpPr txBox="1"/>
          <p:nvPr/>
        </p:nvSpPr>
        <p:spPr>
          <a:xfrm>
            <a:off x="0" y="1371600"/>
            <a:ext cx="12191695" cy="320040"/>
          </a:xfrm>
          <a:prstGeom prst="rect">
            <a:avLst/>
          </a:prstGeom>
          <a:noFill/>
          <a:ln/>
        </p:spPr>
        <p:txBody>
          <a:bodyPr wrap="square" rtlCol="0" anchor="ctr"/>
          <a:lstStyle/>
          <a:p>
            <a:pPr algn="ctr" indent="0" marL="0">
              <a:buNone/>
            </a:pPr>
            <a:r>
              <a:rPr lang="en-US" sz="1300" b="1" spc="300" kern="0" dirty="0">
                <a:solidFill>
                  <a:srgbClr val="8FB6C2"/>
                </a:solidFill>
                <a:latin typeface="Calibri" pitchFamily="34" charset="0"/>
                <a:ea typeface="Calibri" pitchFamily="34" charset="-122"/>
                <a:cs typeface="Calibri" pitchFamily="34" charset="-120"/>
              </a:rPr>
              <a:t>PROJECT REVIEW 2 PRESENTATION</a:t>
            </a:r>
            <a:endParaRPr lang="en-US" sz="1300" dirty="0"/>
          </a:p>
        </p:txBody>
      </p:sp>
      <p:sp>
        <p:nvSpPr>
          <p:cNvPr id="3" name="Text 1"/>
          <p:cNvSpPr txBox="1"/>
          <p:nvPr/>
        </p:nvSpPr>
        <p:spPr>
          <a:xfrm>
            <a:off x="731520" y="1828800"/>
            <a:ext cx="10725912" cy="1737360"/>
          </a:xfrm>
          <a:prstGeom prst="rect">
            <a:avLst/>
          </a:prstGeom>
          <a:noFill/>
          <a:ln/>
        </p:spPr>
        <p:txBody>
          <a:bodyPr wrap="square" rtlCol="0" anchor="ctr"/>
          <a:lstStyle/>
          <a:p>
            <a:pPr algn="ctr" indent="0" marL="0">
              <a:lnSpc>
                <a:spcPct val="105000"/>
              </a:lnSpc>
              <a:buNone/>
            </a:pPr>
            <a:r>
              <a:rPr lang="en-US" sz="4200" b="1" dirty="0">
                <a:solidFill>
                  <a:srgbClr val="FFFFFF"/>
                </a:solidFill>
                <a:latin typeface="Cambria" pitchFamily="34" charset="0"/>
                <a:ea typeface="Cambria" pitchFamily="34" charset="-122"/>
                <a:cs typeface="Cambria" pitchFamily="34" charset="-120"/>
              </a:rPr>
              <a:t>Range-Aware Edge AI</a:t>
            </a:r>
            <a:endParaRPr lang="en-US" sz="4200" dirty="0"/>
          </a:p>
          <a:p>
            <a:pPr algn="ctr" indent="0" marL="0">
              <a:lnSpc>
                <a:spcPct val="105000"/>
              </a:lnSpc>
              <a:buNone/>
            </a:pPr>
            <a:r>
              <a:rPr lang="en-US" sz="4200" b="1" dirty="0">
                <a:solidFill>
                  <a:srgbClr val="FFFFFF"/>
                </a:solidFill>
                <a:latin typeface="Cambria" pitchFamily="34" charset="0"/>
                <a:ea typeface="Cambria" pitchFamily="34" charset="-122"/>
                <a:cs typeface="Cambria" pitchFamily="34" charset="-120"/>
              </a:rPr>
              <a:t>Quantization Compiler</a:t>
            </a:r>
            <a:endParaRPr lang="en-US" sz="4200" dirty="0"/>
          </a:p>
        </p:txBody>
      </p:sp>
      <p:sp>
        <p:nvSpPr>
          <p:cNvPr id="4" name="Text 2"/>
          <p:cNvSpPr txBox="1"/>
          <p:nvPr/>
        </p:nvSpPr>
        <p:spPr>
          <a:xfrm>
            <a:off x="731520" y="3566160"/>
            <a:ext cx="10725912" cy="457200"/>
          </a:xfrm>
          <a:prstGeom prst="rect">
            <a:avLst/>
          </a:prstGeom>
          <a:noFill/>
          <a:ln/>
        </p:spPr>
        <p:txBody>
          <a:bodyPr wrap="square" rtlCol="0" anchor="ctr"/>
          <a:lstStyle/>
          <a:p>
            <a:pPr algn="ctr" indent="0" marL="0">
              <a:buNone/>
            </a:pPr>
            <a:r>
              <a:rPr lang="en-US" sz="1800" i="1" dirty="0">
                <a:solidFill>
                  <a:srgbClr val="9FC3CE"/>
                </a:solidFill>
                <a:latin typeface="Calibri" pitchFamily="34" charset="0"/>
                <a:ea typeface="Calibri" pitchFamily="34" charset="-122"/>
                <a:cs typeface="Calibri" pitchFamily="34" charset="-120"/>
              </a:rPr>
              <a:t>SSA-Based Static Analysis for Safe FP32 → INT8 Optimization</a:t>
            </a:r>
            <a:endParaRPr lang="en-US" sz="1800" dirty="0"/>
          </a:p>
        </p:txBody>
      </p:sp>
      <p:sp>
        <p:nvSpPr>
          <p:cNvPr id="5" name="Shape 3"/>
          <p:cNvSpPr/>
          <p:nvPr/>
        </p:nvSpPr>
        <p:spPr>
          <a:xfrm>
            <a:off x="2461108" y="4389120"/>
            <a:ext cx="1051560" cy="502920"/>
          </a:xfrm>
          <a:prstGeom prst="rect">
            <a:avLst/>
          </a:prstGeom>
          <a:solidFill>
            <a:srgbClr val="1F2A3C"/>
          </a:solidFill>
          <a:ln w="12700">
            <a:solidFill>
              <a:srgbClr val="4C7C8C"/>
            </a:solidFill>
            <a:prstDash val="solid"/>
          </a:ln>
        </p:spPr>
        <p:txBody>
          <a:bodyPr/>
          <a:p/>
        </p:txBody>
      </p:sp>
      <p:sp>
        <p:nvSpPr>
          <p:cNvPr id="6" name="Text 4"/>
          <p:cNvSpPr txBox="1"/>
          <p:nvPr/>
        </p:nvSpPr>
        <p:spPr>
          <a:xfrm>
            <a:off x="2461108" y="4389120"/>
            <a:ext cx="1051560" cy="502920"/>
          </a:xfrm>
          <a:prstGeom prst="rect">
            <a:avLst/>
          </a:prstGeom>
          <a:noFill/>
          <a:ln/>
        </p:spPr>
        <p:txBody>
          <a:bodyPr wrap="square" lIns="0" tIns="0" rIns="0" bIns="0" rtlCol="0" anchor="ctr"/>
          <a:lstStyle/>
          <a:p>
            <a:pPr algn="ctr" indent="0" marL="0">
              <a:buNone/>
            </a:pPr>
            <a:r>
              <a:rPr lang="en-US" sz="1050" b="1" dirty="0">
                <a:solidFill>
                  <a:srgbClr val="CFE3E9"/>
                </a:solidFill>
                <a:latin typeface="Calibri" pitchFamily="34" charset="0"/>
                <a:ea typeface="Calibri" pitchFamily="34" charset="-122"/>
                <a:cs typeface="Calibri" pitchFamily="34" charset="-120"/>
              </a:rPr>
              <a:t>SRC</a:t>
            </a:r>
            <a:endParaRPr lang="en-US" sz="1050" dirty="0"/>
          </a:p>
        </p:txBody>
      </p:sp>
      <p:sp>
        <p:nvSpPr>
          <p:cNvPr id="7" name="Shape 5"/>
          <p:cNvSpPr/>
          <p:nvPr/>
        </p:nvSpPr>
        <p:spPr>
          <a:xfrm>
            <a:off x="3512668" y="4640580"/>
            <a:ext cx="502920" cy="0"/>
          </a:xfrm>
          <a:prstGeom prst="line">
            <a:avLst/>
          </a:prstGeom>
          <a:noFill/>
          <a:ln w="15875">
            <a:solidFill>
              <a:srgbClr val="4C7C8C"/>
            </a:solidFill>
            <a:prstDash val="solid"/>
            <a:tailEnd type="triangle"/>
          </a:ln>
        </p:spPr>
        <p:txBody>
          <a:bodyPr/>
          <a:p/>
        </p:txBody>
      </p:sp>
      <p:sp>
        <p:nvSpPr>
          <p:cNvPr id="8" name="Shape 6"/>
          <p:cNvSpPr/>
          <p:nvPr/>
        </p:nvSpPr>
        <p:spPr>
          <a:xfrm>
            <a:off x="4015588" y="4389120"/>
            <a:ext cx="1051560" cy="502920"/>
          </a:xfrm>
          <a:prstGeom prst="rect">
            <a:avLst/>
          </a:prstGeom>
          <a:solidFill>
            <a:srgbClr val="1F2A3C"/>
          </a:solidFill>
          <a:ln w="12700">
            <a:solidFill>
              <a:srgbClr val="4C7C8C"/>
            </a:solidFill>
            <a:prstDash val="solid"/>
          </a:ln>
        </p:spPr>
        <p:txBody>
          <a:bodyPr/>
          <a:p/>
        </p:txBody>
      </p:sp>
      <p:sp>
        <p:nvSpPr>
          <p:cNvPr id="9" name="Text 7"/>
          <p:cNvSpPr txBox="1"/>
          <p:nvPr/>
        </p:nvSpPr>
        <p:spPr>
          <a:xfrm>
            <a:off x="4015588" y="4389120"/>
            <a:ext cx="1051560" cy="502920"/>
          </a:xfrm>
          <a:prstGeom prst="rect">
            <a:avLst/>
          </a:prstGeom>
          <a:noFill/>
          <a:ln/>
        </p:spPr>
        <p:txBody>
          <a:bodyPr wrap="square" lIns="0" tIns="0" rIns="0" bIns="0" rtlCol="0" anchor="ctr"/>
          <a:lstStyle/>
          <a:p>
            <a:pPr algn="ctr" indent="0" marL="0">
              <a:buNone/>
            </a:pPr>
            <a:r>
              <a:rPr lang="en-US" sz="1050" b="1" dirty="0">
                <a:solidFill>
                  <a:srgbClr val="CFE3E9"/>
                </a:solidFill>
                <a:latin typeface="Calibri" pitchFamily="34" charset="0"/>
                <a:ea typeface="Calibri" pitchFamily="34" charset="-122"/>
                <a:cs typeface="Calibri" pitchFamily="34" charset="-120"/>
              </a:rPr>
              <a:t>AST</a:t>
            </a:r>
            <a:endParaRPr lang="en-US" sz="1050" dirty="0"/>
          </a:p>
        </p:txBody>
      </p:sp>
      <p:sp>
        <p:nvSpPr>
          <p:cNvPr id="10" name="Shape 8"/>
          <p:cNvSpPr/>
          <p:nvPr/>
        </p:nvSpPr>
        <p:spPr>
          <a:xfrm>
            <a:off x="5067148" y="4640580"/>
            <a:ext cx="502920" cy="0"/>
          </a:xfrm>
          <a:prstGeom prst="line">
            <a:avLst/>
          </a:prstGeom>
          <a:noFill/>
          <a:ln w="15875">
            <a:solidFill>
              <a:srgbClr val="4C7C8C"/>
            </a:solidFill>
            <a:prstDash val="solid"/>
            <a:tailEnd type="triangle"/>
          </a:ln>
        </p:spPr>
        <p:txBody>
          <a:bodyPr/>
          <a:p/>
        </p:txBody>
      </p:sp>
      <p:sp>
        <p:nvSpPr>
          <p:cNvPr id="11" name="Shape 9"/>
          <p:cNvSpPr/>
          <p:nvPr/>
        </p:nvSpPr>
        <p:spPr>
          <a:xfrm>
            <a:off x="5570068" y="4389120"/>
            <a:ext cx="1051560" cy="502920"/>
          </a:xfrm>
          <a:prstGeom prst="rect">
            <a:avLst/>
          </a:prstGeom>
          <a:solidFill>
            <a:srgbClr val="1F2A3C"/>
          </a:solidFill>
          <a:ln w="12700">
            <a:solidFill>
              <a:srgbClr val="4C7C8C"/>
            </a:solidFill>
            <a:prstDash val="solid"/>
          </a:ln>
        </p:spPr>
        <p:txBody>
          <a:bodyPr/>
          <a:p/>
        </p:txBody>
      </p:sp>
      <p:sp>
        <p:nvSpPr>
          <p:cNvPr id="12" name="Text 10"/>
          <p:cNvSpPr txBox="1"/>
          <p:nvPr/>
        </p:nvSpPr>
        <p:spPr>
          <a:xfrm>
            <a:off x="5570068" y="4389120"/>
            <a:ext cx="1051560" cy="502920"/>
          </a:xfrm>
          <a:prstGeom prst="rect">
            <a:avLst/>
          </a:prstGeom>
          <a:noFill/>
          <a:ln/>
        </p:spPr>
        <p:txBody>
          <a:bodyPr wrap="square" lIns="0" tIns="0" rIns="0" bIns="0" rtlCol="0" anchor="ctr"/>
          <a:lstStyle/>
          <a:p>
            <a:pPr algn="ctr" indent="0" marL="0">
              <a:buNone/>
            </a:pPr>
            <a:r>
              <a:rPr lang="en-US" sz="1050" b="1" dirty="0">
                <a:solidFill>
                  <a:srgbClr val="CFE3E9"/>
                </a:solidFill>
                <a:latin typeface="Calibri" pitchFamily="34" charset="0"/>
                <a:ea typeface="Calibri" pitchFamily="34" charset="-122"/>
                <a:cs typeface="Calibri" pitchFamily="34" charset="-120"/>
              </a:rPr>
              <a:t>SSA</a:t>
            </a:r>
            <a:endParaRPr lang="en-US" sz="1050" dirty="0"/>
          </a:p>
        </p:txBody>
      </p:sp>
      <p:sp>
        <p:nvSpPr>
          <p:cNvPr id="13" name="Shape 11"/>
          <p:cNvSpPr/>
          <p:nvPr/>
        </p:nvSpPr>
        <p:spPr>
          <a:xfrm>
            <a:off x="6621628" y="4640580"/>
            <a:ext cx="502920" cy="0"/>
          </a:xfrm>
          <a:prstGeom prst="line">
            <a:avLst/>
          </a:prstGeom>
          <a:noFill/>
          <a:ln w="15875">
            <a:solidFill>
              <a:srgbClr val="4C7C8C"/>
            </a:solidFill>
            <a:prstDash val="solid"/>
            <a:tailEnd type="triangle"/>
          </a:ln>
        </p:spPr>
        <p:txBody>
          <a:bodyPr/>
          <a:p/>
        </p:txBody>
      </p:sp>
      <p:sp>
        <p:nvSpPr>
          <p:cNvPr id="14" name="Shape 12"/>
          <p:cNvSpPr/>
          <p:nvPr/>
        </p:nvSpPr>
        <p:spPr>
          <a:xfrm>
            <a:off x="7124548" y="4389120"/>
            <a:ext cx="1051560" cy="502920"/>
          </a:xfrm>
          <a:prstGeom prst="rect">
            <a:avLst/>
          </a:prstGeom>
          <a:solidFill>
            <a:srgbClr val="1F2A3C"/>
          </a:solidFill>
          <a:ln w="12700">
            <a:solidFill>
              <a:srgbClr val="4C7C8C"/>
            </a:solidFill>
            <a:prstDash val="solid"/>
          </a:ln>
        </p:spPr>
        <p:txBody>
          <a:bodyPr/>
          <a:p/>
        </p:txBody>
      </p:sp>
      <p:sp>
        <p:nvSpPr>
          <p:cNvPr id="15" name="Text 13"/>
          <p:cNvSpPr txBox="1"/>
          <p:nvPr/>
        </p:nvSpPr>
        <p:spPr>
          <a:xfrm>
            <a:off x="7124548" y="4389120"/>
            <a:ext cx="1051560" cy="502920"/>
          </a:xfrm>
          <a:prstGeom prst="rect">
            <a:avLst/>
          </a:prstGeom>
          <a:noFill/>
          <a:ln/>
        </p:spPr>
        <p:txBody>
          <a:bodyPr wrap="square" lIns="0" tIns="0" rIns="0" bIns="0" rtlCol="0" anchor="ctr"/>
          <a:lstStyle/>
          <a:p>
            <a:pPr algn="ctr" indent="0" marL="0">
              <a:buNone/>
            </a:pPr>
            <a:r>
              <a:rPr lang="en-US" sz="1050" b="1" dirty="0">
                <a:solidFill>
                  <a:srgbClr val="CFE3E9"/>
                </a:solidFill>
                <a:latin typeface="Calibri" pitchFamily="34" charset="0"/>
                <a:ea typeface="Calibri" pitchFamily="34" charset="-122"/>
                <a:cs typeface="Calibri" pitchFamily="34" charset="-120"/>
              </a:rPr>
              <a:t>RANGE</a:t>
            </a:r>
            <a:endParaRPr lang="en-US" sz="1050" dirty="0"/>
          </a:p>
        </p:txBody>
      </p:sp>
      <p:sp>
        <p:nvSpPr>
          <p:cNvPr id="16" name="Shape 14"/>
          <p:cNvSpPr/>
          <p:nvPr/>
        </p:nvSpPr>
        <p:spPr>
          <a:xfrm>
            <a:off x="8176108" y="4640580"/>
            <a:ext cx="502920" cy="0"/>
          </a:xfrm>
          <a:prstGeom prst="line">
            <a:avLst/>
          </a:prstGeom>
          <a:noFill/>
          <a:ln w="15875">
            <a:solidFill>
              <a:srgbClr val="4C7C8C"/>
            </a:solidFill>
            <a:prstDash val="solid"/>
            <a:tailEnd type="triangle"/>
          </a:ln>
        </p:spPr>
        <p:txBody>
          <a:bodyPr/>
          <a:p/>
        </p:txBody>
      </p:sp>
      <p:sp>
        <p:nvSpPr>
          <p:cNvPr id="17" name="Shape 15"/>
          <p:cNvSpPr/>
          <p:nvPr/>
        </p:nvSpPr>
        <p:spPr>
          <a:xfrm>
            <a:off x="8679028" y="4389120"/>
            <a:ext cx="1051560" cy="502920"/>
          </a:xfrm>
          <a:prstGeom prst="rect">
            <a:avLst/>
          </a:prstGeom>
          <a:solidFill>
            <a:srgbClr val="1F2A3C"/>
          </a:solidFill>
          <a:ln w="12700">
            <a:solidFill>
              <a:srgbClr val="4C7C8C"/>
            </a:solidFill>
            <a:prstDash val="solid"/>
          </a:ln>
        </p:spPr>
        <p:txBody>
          <a:bodyPr/>
          <a:p/>
        </p:txBody>
      </p:sp>
      <p:sp>
        <p:nvSpPr>
          <p:cNvPr id="18" name="Text 16"/>
          <p:cNvSpPr txBox="1"/>
          <p:nvPr/>
        </p:nvSpPr>
        <p:spPr>
          <a:xfrm>
            <a:off x="8679028" y="4389120"/>
            <a:ext cx="1051560" cy="502920"/>
          </a:xfrm>
          <a:prstGeom prst="rect">
            <a:avLst/>
          </a:prstGeom>
          <a:noFill/>
          <a:ln/>
        </p:spPr>
        <p:txBody>
          <a:bodyPr wrap="square" lIns="0" tIns="0" rIns="0" bIns="0" rtlCol="0" anchor="ctr"/>
          <a:lstStyle/>
          <a:p>
            <a:pPr algn="ctr" indent="0" marL="0">
              <a:buNone/>
            </a:pPr>
            <a:r>
              <a:rPr lang="en-US" sz="1050" b="1" dirty="0">
                <a:solidFill>
                  <a:srgbClr val="CFE3E9"/>
                </a:solidFill>
                <a:latin typeface="Calibri" pitchFamily="34" charset="0"/>
                <a:ea typeface="Calibri" pitchFamily="34" charset="-122"/>
                <a:cs typeface="Calibri" pitchFamily="34" charset="-120"/>
              </a:rPr>
              <a:t>INT8</a:t>
            </a:r>
            <a:endParaRPr lang="en-US" sz="1050" dirty="0"/>
          </a:p>
        </p:txBody>
      </p:sp>
      <p:sp>
        <p:nvSpPr>
          <p:cNvPr id="19" name="Text 17"/>
          <p:cNvSpPr txBox="1"/>
          <p:nvPr/>
        </p:nvSpPr>
        <p:spPr>
          <a:xfrm>
            <a:off x="731520" y="5394960"/>
            <a:ext cx="10725912" cy="1005840"/>
          </a:xfrm>
          <a:prstGeom prst="rect">
            <a:avLst/>
          </a:prstGeom>
          <a:noFill/>
          <a:ln/>
        </p:spPr>
        <p:txBody>
          <a:bodyPr wrap="square" rtlCol="0" anchor="ctr"/>
          <a:lstStyle/>
          <a:p>
            <a:pPr algn="ctr" indent="0" marL="0">
              <a:lnSpc>
                <a:spcPct val="140000"/>
              </a:lnSpc>
              <a:buNone/>
            </a:pPr>
            <a:r>
              <a:rPr lang="en-US" sz="1300" dirty="0">
                <a:solidFill>
                  <a:srgbClr val="C9D4DE"/>
                </a:solidFill>
                <a:latin typeface="Calibri" pitchFamily="34" charset="0"/>
                <a:ea typeface="Calibri" pitchFamily="34" charset="-122"/>
                <a:cs typeface="Calibri" pitchFamily="34" charset="-120"/>
              </a:rPr>
              <a:t>Course: BCSE307L — Compiler Design</a:t>
            </a:r>
            <a:endParaRPr lang="en-US" sz="1300" dirty="0"/>
          </a:p>
          <a:p>
            <a:pPr algn="ctr" indent="0" marL="0">
              <a:lnSpc>
                <a:spcPct val="140000"/>
              </a:lnSpc>
              <a:buNone/>
            </a:pPr>
            <a:r>
              <a:rPr lang="en-US" sz="1300" dirty="0">
                <a:solidFill>
                  <a:srgbClr val="C9D4DE"/>
                </a:solidFill>
                <a:latin typeface="Calibri" pitchFamily="34" charset="0"/>
                <a:ea typeface="Calibri" pitchFamily="34" charset="-122"/>
                <a:cs typeface="Calibri" pitchFamily="34" charset="-120"/>
              </a:rPr>
              <a:t>Yash Pradhan (24BCE0702)  •  Anjini Pandey (24BCE0714)  •  Ishita Srivastava (24BDS0234)</a:t>
            </a:r>
            <a:endParaRPr lang="en-US" sz="1300" dirty="0"/>
          </a:p>
          <a:p>
            <a:pPr algn="ctr" indent="0" marL="0">
              <a:lnSpc>
                <a:spcPct val="140000"/>
              </a:lnSpc>
              <a:buNone/>
            </a:pPr>
            <a:r>
              <a:rPr lang="en-US" sz="1300" dirty="0">
                <a:solidFill>
                  <a:srgbClr val="C9D4DE"/>
                </a:solidFill>
                <a:latin typeface="Calibri" pitchFamily="34" charset="0"/>
                <a:ea typeface="Calibri" pitchFamily="34" charset="-122"/>
                <a:cs typeface="Calibri" pitchFamily="34" charset="-120"/>
              </a:rPr>
              <a:t>Faculty Guide: Prof. Kanagaraj 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PROBLEM</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Why Precision Matters at the Edge</a:t>
            </a:r>
            <a:endParaRPr lang="en-US" sz="2900" dirty="0"/>
          </a:p>
        </p:txBody>
      </p:sp>
      <p:sp>
        <p:nvSpPr>
          <p:cNvPr id="4" name="Text 2"/>
          <p:cNvSpPr txBox="1"/>
          <p:nvPr/>
        </p:nvSpPr>
        <p:spPr>
          <a:xfrm>
            <a:off x="502920" y="1783080"/>
            <a:ext cx="5120640" cy="320040"/>
          </a:xfrm>
          <a:prstGeom prst="rect">
            <a:avLst/>
          </a:prstGeom>
          <a:noFill/>
          <a:ln/>
        </p:spPr>
        <p:txBody>
          <a:bodyPr wrap="square" rtlCol="0" anchor="t"/>
          <a:lstStyle/>
          <a:p>
            <a:pPr algn="l" indent="0" marL="0">
              <a:buNone/>
            </a:pPr>
            <a:r>
              <a:rPr lang="en-US" sz="1500" b="1" dirty="0">
                <a:solidFill>
                  <a:srgbClr val="1F2A3C"/>
                </a:solidFill>
                <a:latin typeface="Calibri" pitchFamily="34" charset="0"/>
                <a:ea typeface="Calibri" pitchFamily="34" charset="-122"/>
                <a:cs typeface="Calibri" pitchFamily="34" charset="-120"/>
              </a:rPr>
              <a:t>Edge Device Constraints</a:t>
            </a:r>
            <a:endParaRPr lang="en-US" sz="1500" dirty="0"/>
          </a:p>
        </p:txBody>
      </p:sp>
      <p:sp>
        <p:nvSpPr>
          <p:cNvPr id="5" name="Shape 3"/>
          <p:cNvSpPr/>
          <p:nvPr/>
        </p:nvSpPr>
        <p:spPr>
          <a:xfrm>
            <a:off x="502920" y="2286000"/>
            <a:ext cx="384048" cy="384048"/>
          </a:xfrm>
          <a:prstGeom prst="ellipse">
            <a:avLst/>
          </a:prstGeom>
          <a:solidFill>
            <a:srgbClr val="2E6E7E"/>
          </a:solidFill>
          <a:ln/>
        </p:spPr>
      </p:sp>
      <p:sp>
        <p:nvSpPr>
          <p:cNvPr id="6" name="Text 4"/>
          <p:cNvSpPr txBox="1"/>
          <p:nvPr/>
        </p:nvSpPr>
        <p:spPr>
          <a:xfrm>
            <a:off x="502920" y="2286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7" name="Text 5"/>
          <p:cNvSpPr txBox="1"/>
          <p:nvPr/>
        </p:nvSpPr>
        <p:spPr>
          <a:xfrm>
            <a:off x="1051560" y="2231136"/>
            <a:ext cx="4572000" cy="320040"/>
          </a:xfrm>
          <a:prstGeom prst="rect">
            <a:avLst/>
          </a:prstGeom>
          <a:noFill/>
          <a:ln/>
        </p:spPr>
        <p:txBody>
          <a:bodyPr wrap="square" rtlCol="0" anchor="t"/>
          <a:lstStyle/>
          <a:p>
            <a:pPr algn="l" indent="0" marL="0">
              <a:buNone/>
            </a:pPr>
            <a:r>
              <a:rPr lang="en-US" sz="1400" b="1" dirty="0">
                <a:solidFill>
                  <a:srgbClr val="1F2A3C"/>
                </a:solidFill>
                <a:latin typeface="Calibri" pitchFamily="34" charset="0"/>
                <a:ea typeface="Calibri" pitchFamily="34" charset="-122"/>
                <a:cs typeface="Calibri" pitchFamily="34" charset="-120"/>
              </a:rPr>
              <a:t>Memory</a:t>
            </a:r>
            <a:endParaRPr lang="en-US" sz="1400" dirty="0"/>
          </a:p>
        </p:txBody>
      </p:sp>
      <p:sp>
        <p:nvSpPr>
          <p:cNvPr id="8" name="Text 6"/>
          <p:cNvSpPr txBox="1"/>
          <p:nvPr/>
        </p:nvSpPr>
        <p:spPr>
          <a:xfrm>
            <a:off x="1051560" y="2578608"/>
            <a:ext cx="4663440" cy="41148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Limited RAM/flash for weights and intermediate values.</a:t>
            </a:r>
            <a:endParaRPr lang="en-US" sz="1050" dirty="0"/>
          </a:p>
        </p:txBody>
      </p:sp>
      <p:sp>
        <p:nvSpPr>
          <p:cNvPr id="9" name="Shape 7"/>
          <p:cNvSpPr/>
          <p:nvPr/>
        </p:nvSpPr>
        <p:spPr>
          <a:xfrm>
            <a:off x="502920" y="3081528"/>
            <a:ext cx="384048" cy="384048"/>
          </a:xfrm>
          <a:prstGeom prst="ellipse">
            <a:avLst/>
          </a:prstGeom>
          <a:solidFill>
            <a:srgbClr val="2E6E7E"/>
          </a:solidFill>
          <a:ln/>
        </p:spPr>
      </p:sp>
      <p:sp>
        <p:nvSpPr>
          <p:cNvPr id="10" name="Text 8"/>
          <p:cNvSpPr txBox="1"/>
          <p:nvPr/>
        </p:nvSpPr>
        <p:spPr>
          <a:xfrm>
            <a:off x="502920" y="3081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txBox="1"/>
          <p:nvPr/>
        </p:nvSpPr>
        <p:spPr>
          <a:xfrm>
            <a:off x="1051560" y="3026664"/>
            <a:ext cx="4572000" cy="320040"/>
          </a:xfrm>
          <a:prstGeom prst="rect">
            <a:avLst/>
          </a:prstGeom>
          <a:noFill/>
          <a:ln/>
        </p:spPr>
        <p:txBody>
          <a:bodyPr wrap="square" rtlCol="0" anchor="t"/>
          <a:lstStyle/>
          <a:p>
            <a:pPr algn="l" indent="0" marL="0">
              <a:buNone/>
            </a:pPr>
            <a:r>
              <a:rPr lang="en-US" sz="1400" b="1" dirty="0">
                <a:solidFill>
                  <a:srgbClr val="1F2A3C"/>
                </a:solidFill>
                <a:latin typeface="Calibri" pitchFamily="34" charset="0"/>
                <a:ea typeface="Calibri" pitchFamily="34" charset="-122"/>
                <a:cs typeface="Calibri" pitchFamily="34" charset="-120"/>
              </a:rPr>
              <a:t>Compute</a:t>
            </a:r>
            <a:endParaRPr lang="en-US" sz="1400" dirty="0"/>
          </a:p>
        </p:txBody>
      </p:sp>
      <p:sp>
        <p:nvSpPr>
          <p:cNvPr id="12" name="Text 10"/>
          <p:cNvSpPr txBox="1"/>
          <p:nvPr/>
        </p:nvSpPr>
        <p:spPr>
          <a:xfrm>
            <a:off x="1051560" y="3374136"/>
            <a:ext cx="4663440" cy="41148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Restricted CPU/accelerator throughput vs. server GPUs.</a:t>
            </a:r>
            <a:endParaRPr lang="en-US" sz="1050" dirty="0"/>
          </a:p>
        </p:txBody>
      </p:sp>
      <p:sp>
        <p:nvSpPr>
          <p:cNvPr id="13" name="Shape 11"/>
          <p:cNvSpPr/>
          <p:nvPr/>
        </p:nvSpPr>
        <p:spPr>
          <a:xfrm>
            <a:off x="502920" y="3877056"/>
            <a:ext cx="384048" cy="384048"/>
          </a:xfrm>
          <a:prstGeom prst="ellipse">
            <a:avLst/>
          </a:prstGeom>
          <a:solidFill>
            <a:srgbClr val="2E6E7E"/>
          </a:solidFill>
          <a:ln/>
        </p:spPr>
      </p:sp>
      <p:sp>
        <p:nvSpPr>
          <p:cNvPr id="14" name="Text 12"/>
          <p:cNvSpPr txBox="1"/>
          <p:nvPr/>
        </p:nvSpPr>
        <p:spPr>
          <a:xfrm>
            <a:off x="502920" y="3877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15" name="Text 13"/>
          <p:cNvSpPr txBox="1"/>
          <p:nvPr/>
        </p:nvSpPr>
        <p:spPr>
          <a:xfrm>
            <a:off x="1051560" y="3822192"/>
            <a:ext cx="4572000" cy="320040"/>
          </a:xfrm>
          <a:prstGeom prst="rect">
            <a:avLst/>
          </a:prstGeom>
          <a:noFill/>
          <a:ln/>
        </p:spPr>
        <p:txBody>
          <a:bodyPr wrap="square" rtlCol="0" anchor="t"/>
          <a:lstStyle/>
          <a:p>
            <a:pPr algn="l" indent="0" marL="0">
              <a:buNone/>
            </a:pPr>
            <a:r>
              <a:rPr lang="en-US" sz="1400" b="1" dirty="0">
                <a:solidFill>
                  <a:srgbClr val="1F2A3C"/>
                </a:solidFill>
                <a:latin typeface="Calibri" pitchFamily="34" charset="0"/>
                <a:ea typeface="Calibri" pitchFamily="34" charset="-122"/>
                <a:cs typeface="Calibri" pitchFamily="34" charset="-120"/>
              </a:rPr>
              <a:t>Energy</a:t>
            </a:r>
            <a:endParaRPr lang="en-US" sz="1400" dirty="0"/>
          </a:p>
        </p:txBody>
      </p:sp>
      <p:sp>
        <p:nvSpPr>
          <p:cNvPr id="16" name="Text 14"/>
          <p:cNvSpPr txBox="1"/>
          <p:nvPr/>
        </p:nvSpPr>
        <p:spPr>
          <a:xfrm>
            <a:off x="1051560" y="4169664"/>
            <a:ext cx="4663440" cy="41148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Battery-powered operation favors low-power arithmetic.</a:t>
            </a:r>
            <a:endParaRPr lang="en-US" sz="1050" dirty="0"/>
          </a:p>
        </p:txBody>
      </p:sp>
      <p:sp>
        <p:nvSpPr>
          <p:cNvPr id="17" name="Shape 15"/>
          <p:cNvSpPr/>
          <p:nvPr/>
        </p:nvSpPr>
        <p:spPr>
          <a:xfrm>
            <a:off x="502920" y="4672584"/>
            <a:ext cx="384048" cy="384048"/>
          </a:xfrm>
          <a:prstGeom prst="ellipse">
            <a:avLst/>
          </a:prstGeom>
          <a:solidFill>
            <a:srgbClr val="2E6E7E"/>
          </a:solidFill>
          <a:ln/>
        </p:spPr>
      </p:sp>
      <p:sp>
        <p:nvSpPr>
          <p:cNvPr id="18" name="Text 16"/>
          <p:cNvSpPr txBox="1"/>
          <p:nvPr/>
        </p:nvSpPr>
        <p:spPr>
          <a:xfrm>
            <a:off x="502920" y="4672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19" name="Text 17"/>
          <p:cNvSpPr txBox="1"/>
          <p:nvPr/>
        </p:nvSpPr>
        <p:spPr>
          <a:xfrm>
            <a:off x="1051560" y="4617720"/>
            <a:ext cx="4572000" cy="320040"/>
          </a:xfrm>
          <a:prstGeom prst="rect">
            <a:avLst/>
          </a:prstGeom>
          <a:noFill/>
          <a:ln/>
        </p:spPr>
        <p:txBody>
          <a:bodyPr wrap="square" rtlCol="0" anchor="t"/>
          <a:lstStyle/>
          <a:p>
            <a:pPr algn="l" indent="0" marL="0">
              <a:buNone/>
            </a:pPr>
            <a:r>
              <a:rPr lang="en-US" sz="1400" b="1" dirty="0">
                <a:solidFill>
                  <a:srgbClr val="1F2A3C"/>
                </a:solidFill>
                <a:latin typeface="Calibri" pitchFamily="34" charset="0"/>
                <a:ea typeface="Calibri" pitchFamily="34" charset="-122"/>
                <a:cs typeface="Calibri" pitchFamily="34" charset="-120"/>
              </a:rPr>
              <a:t>Data Movement</a:t>
            </a:r>
            <a:endParaRPr lang="en-US" sz="1400" dirty="0"/>
          </a:p>
        </p:txBody>
      </p:sp>
      <p:sp>
        <p:nvSpPr>
          <p:cNvPr id="20" name="Text 18"/>
          <p:cNvSpPr txBox="1"/>
          <p:nvPr/>
        </p:nvSpPr>
        <p:spPr>
          <a:xfrm>
            <a:off x="1051560" y="4965192"/>
            <a:ext cx="4663440" cy="41148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Off-chip memory access dominates cost in many workloads.</a:t>
            </a:r>
            <a:endParaRPr lang="en-US" sz="1050" dirty="0"/>
          </a:p>
        </p:txBody>
      </p:sp>
      <p:sp>
        <p:nvSpPr>
          <p:cNvPr id="21" name="Shape 19"/>
          <p:cNvSpPr/>
          <p:nvPr/>
        </p:nvSpPr>
        <p:spPr>
          <a:xfrm>
            <a:off x="6903720" y="1920240"/>
            <a:ext cx="2377440" cy="960120"/>
          </a:xfrm>
          <a:prstGeom prst="rect">
            <a:avLst/>
          </a:prstGeom>
          <a:solidFill>
            <a:srgbClr val="F4F6F8"/>
          </a:solidFill>
          <a:ln w="12700">
            <a:solidFill>
              <a:srgbClr val="1F2A3C"/>
            </a:solidFill>
            <a:prstDash val="solid"/>
          </a:ln>
        </p:spPr>
      </p:sp>
      <p:sp>
        <p:nvSpPr>
          <p:cNvPr id="22" name="Text 20"/>
          <p:cNvSpPr txBox="1"/>
          <p:nvPr/>
        </p:nvSpPr>
        <p:spPr>
          <a:xfrm>
            <a:off x="6931152" y="1920240"/>
            <a:ext cx="2322576" cy="960120"/>
          </a:xfrm>
          <a:prstGeom prst="rect">
            <a:avLst/>
          </a:prstGeom>
          <a:noFill/>
          <a:ln/>
        </p:spPr>
        <p:txBody>
          <a:bodyPr wrap="square" lIns="0" tIns="0" rIns="0" bIns="0" rtlCol="0" anchor="ctr"/>
          <a:lstStyle/>
          <a:p>
            <a:pPr algn="ctr" indent="0" marL="0">
              <a:buNone/>
            </a:pPr>
            <a:r>
              <a:rPr lang="en-US" sz="2000" b="1" dirty="0">
                <a:solidFill>
                  <a:srgbClr val="1F2A3C"/>
                </a:solidFill>
                <a:latin typeface="Calibri" pitchFamily="34" charset="0"/>
                <a:ea typeface="Calibri" pitchFamily="34" charset="-122"/>
                <a:cs typeface="Calibri" pitchFamily="34" charset="-120"/>
              </a:rPr>
              <a:t>FP32</a:t>
            </a:r>
            <a:endParaRPr lang="en-US" sz="2000" dirty="0"/>
          </a:p>
        </p:txBody>
      </p:sp>
      <p:sp>
        <p:nvSpPr>
          <p:cNvPr id="23" name="Text 21"/>
          <p:cNvSpPr txBox="1"/>
          <p:nvPr/>
        </p:nvSpPr>
        <p:spPr>
          <a:xfrm>
            <a:off x="9445752" y="1938528"/>
            <a:ext cx="2514600" cy="914400"/>
          </a:xfrm>
          <a:prstGeom prst="rect">
            <a:avLst/>
          </a:prstGeom>
          <a:noFill/>
          <a:ln/>
        </p:spPr>
        <p:txBody>
          <a:bodyPr wrap="square" rtlCol="0" anchor="ctr"/>
          <a:lstStyle/>
          <a:p>
            <a:pPr algn="l" indent="0" marL="0">
              <a:buNone/>
            </a:pPr>
            <a:r>
              <a:rPr lang="en-US" sz="1050" dirty="0">
                <a:solidFill>
                  <a:srgbClr val="6B7480"/>
                </a:solidFill>
                <a:latin typeface="Calibri" pitchFamily="34" charset="0"/>
                <a:ea typeface="Calibri" pitchFamily="34" charset="-122"/>
                <a:cs typeface="Calibri" pitchFamily="34" charset="-120"/>
              </a:rPr>
              <a:t>32-bit floating point → higher storage &amp; compute cost per value</a:t>
            </a:r>
            <a:endParaRPr lang="en-US" sz="1050" dirty="0"/>
          </a:p>
        </p:txBody>
      </p:sp>
      <p:sp>
        <p:nvSpPr>
          <p:cNvPr id="24" name="Shape 22"/>
          <p:cNvSpPr/>
          <p:nvPr/>
        </p:nvSpPr>
        <p:spPr>
          <a:xfrm>
            <a:off x="8092440" y="2880360"/>
            <a:ext cx="0" cy="457200"/>
          </a:xfrm>
          <a:prstGeom prst="line">
            <a:avLst/>
          </a:prstGeom>
          <a:noFill/>
          <a:ln w="19050">
            <a:solidFill>
              <a:srgbClr val="6B7480"/>
            </a:solidFill>
            <a:prstDash val="solid"/>
            <a:tailEnd type="triangle"/>
          </a:ln>
        </p:spPr>
      </p:sp>
      <p:sp>
        <p:nvSpPr>
          <p:cNvPr id="25" name="Shape 23"/>
          <p:cNvSpPr/>
          <p:nvPr/>
        </p:nvSpPr>
        <p:spPr>
          <a:xfrm>
            <a:off x="7269480" y="3337560"/>
            <a:ext cx="1645920" cy="685800"/>
          </a:xfrm>
          <a:prstGeom prst="rect">
            <a:avLst/>
          </a:prstGeom>
          <a:solidFill>
            <a:srgbClr val="E4EEF0"/>
          </a:solidFill>
          <a:ln w="12700">
            <a:solidFill>
              <a:srgbClr val="2E6E7E"/>
            </a:solidFill>
            <a:prstDash val="solid"/>
          </a:ln>
        </p:spPr>
      </p:sp>
      <p:sp>
        <p:nvSpPr>
          <p:cNvPr id="26" name="Text 24"/>
          <p:cNvSpPr txBox="1"/>
          <p:nvPr/>
        </p:nvSpPr>
        <p:spPr>
          <a:xfrm>
            <a:off x="7296912" y="3337560"/>
            <a:ext cx="1591056" cy="685800"/>
          </a:xfrm>
          <a:prstGeom prst="rect">
            <a:avLst/>
          </a:prstGeom>
          <a:noFill/>
          <a:ln/>
        </p:spPr>
        <p:txBody>
          <a:bodyPr wrap="square" lIns="0" tIns="0" rIns="0" bIns="0" rtlCol="0" anchor="ctr"/>
          <a:lstStyle/>
          <a:p>
            <a:pPr algn="ctr" indent="0" marL="0">
              <a:buNone/>
            </a:pPr>
            <a:r>
              <a:rPr lang="en-US" sz="1700" b="1" dirty="0">
                <a:solidFill>
                  <a:srgbClr val="2E6E7E"/>
                </a:solidFill>
                <a:latin typeface="Calibri" pitchFamily="34" charset="0"/>
                <a:ea typeface="Calibri" pitchFamily="34" charset="-122"/>
                <a:cs typeface="Calibri" pitchFamily="34" charset="-120"/>
              </a:rPr>
              <a:t>INT8</a:t>
            </a:r>
            <a:endParaRPr lang="en-US" sz="1700" dirty="0"/>
          </a:p>
        </p:txBody>
      </p:sp>
      <p:sp>
        <p:nvSpPr>
          <p:cNvPr id="27" name="Text 25"/>
          <p:cNvSpPr txBox="1"/>
          <p:nvPr/>
        </p:nvSpPr>
        <p:spPr>
          <a:xfrm>
            <a:off x="9445752" y="3364992"/>
            <a:ext cx="2514600" cy="685800"/>
          </a:xfrm>
          <a:prstGeom prst="rect">
            <a:avLst/>
          </a:prstGeom>
          <a:noFill/>
          <a:ln/>
        </p:spPr>
        <p:txBody>
          <a:bodyPr wrap="square" rtlCol="0" anchor="ctr"/>
          <a:lstStyle/>
          <a:p>
            <a:pPr algn="l" indent="0" marL="0">
              <a:buNone/>
            </a:pPr>
            <a:r>
              <a:rPr lang="en-US" sz="1050" dirty="0">
                <a:solidFill>
                  <a:srgbClr val="6B7480"/>
                </a:solidFill>
                <a:latin typeface="Calibri" pitchFamily="34" charset="0"/>
                <a:ea typeface="Calibri" pitchFamily="34" charset="-122"/>
                <a:cs typeface="Calibri" pitchFamily="34" charset="-120"/>
              </a:rPr>
              <a:t>8-bit integer → lower storage footprint</a:t>
            </a:r>
            <a:endParaRPr lang="en-US" sz="1050" dirty="0"/>
          </a:p>
        </p:txBody>
      </p:sp>
      <p:sp>
        <p:nvSpPr>
          <p:cNvPr id="28" name="Shape 26"/>
          <p:cNvSpPr/>
          <p:nvPr/>
        </p:nvSpPr>
        <p:spPr>
          <a:xfrm>
            <a:off x="6903720" y="4343400"/>
            <a:ext cx="4754880" cy="868680"/>
          </a:xfrm>
          <a:prstGeom prst="rect">
            <a:avLst/>
          </a:prstGeom>
          <a:solidFill>
            <a:srgbClr val="F4F6F8"/>
          </a:solidFill>
          <a:ln w="12700">
            <a:solidFill>
              <a:srgbClr val="D6DCE2"/>
            </a:solidFill>
            <a:prstDash val="solid"/>
          </a:ln>
        </p:spPr>
      </p:sp>
      <p:sp>
        <p:nvSpPr>
          <p:cNvPr id="29" name="Text 27"/>
          <p:cNvSpPr txBox="1"/>
          <p:nvPr/>
        </p:nvSpPr>
        <p:spPr>
          <a:xfrm>
            <a:off x="7086600" y="4434840"/>
            <a:ext cx="4389120" cy="685800"/>
          </a:xfrm>
          <a:prstGeom prst="rect">
            <a:avLst/>
          </a:prstGeom>
          <a:noFill/>
          <a:ln/>
        </p:spPr>
        <p:txBody>
          <a:bodyPr wrap="square" rtlCol="0" anchor="ctr"/>
          <a:lstStyle/>
          <a:p>
            <a:pPr algn="l" indent="0" marL="0">
              <a:buNone/>
            </a:pPr>
            <a:r>
              <a:rPr lang="en-US" sz="1150" i="1" dirty="0">
                <a:solidFill>
                  <a:srgbClr val="1F2A3C"/>
                </a:solidFill>
                <a:latin typeface="Calibri" pitchFamily="34" charset="0"/>
                <a:ea typeface="Calibri" pitchFamily="34" charset="-122"/>
                <a:cs typeface="Calibri" pitchFamily="34" charset="-120"/>
              </a:rPr>
              <a:t>But converting FP32 → INT8 blindly is unsafe — the compiler must first prove it is safe for each value.</a:t>
            </a:r>
            <a:endParaRPr lang="en-US" sz="1150" dirty="0"/>
          </a:p>
        </p:txBody>
      </p:sp>
      <p:sp>
        <p:nvSpPr>
          <p:cNvPr id="30" name="Text 28"/>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31" name="Text 29"/>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The Central Question</a:t>
            </a:r>
            <a:endParaRPr lang="en-US" sz="2900" dirty="0"/>
          </a:p>
        </p:txBody>
      </p:sp>
      <p:sp>
        <p:nvSpPr>
          <p:cNvPr id="4" name="Shape 2"/>
          <p:cNvSpPr/>
          <p:nvPr/>
        </p:nvSpPr>
        <p:spPr>
          <a:xfrm>
            <a:off x="731520" y="1600200"/>
            <a:ext cx="10725912" cy="960120"/>
          </a:xfrm>
          <a:prstGeom prst="rect">
            <a:avLst/>
          </a:prstGeom>
          <a:solidFill>
            <a:srgbClr val="F4F6F8"/>
          </a:solidFill>
          <a:ln w="12700">
            <a:solidFill>
              <a:srgbClr val="D6DCE2"/>
            </a:solidFill>
            <a:prstDash val="solid"/>
          </a:ln>
        </p:spPr>
      </p:sp>
      <p:sp>
        <p:nvSpPr>
          <p:cNvPr id="5" name="Text 3"/>
          <p:cNvSpPr txBox="1"/>
          <p:nvPr/>
        </p:nvSpPr>
        <p:spPr>
          <a:xfrm>
            <a:off x="1051560" y="1600200"/>
            <a:ext cx="10058400" cy="960120"/>
          </a:xfrm>
          <a:prstGeom prst="rect">
            <a:avLst/>
          </a:prstGeom>
          <a:noFill/>
          <a:ln/>
        </p:spPr>
        <p:txBody>
          <a:bodyPr wrap="square" rtlCol="0" anchor="ctr"/>
          <a:lstStyle/>
          <a:p>
            <a:pPr algn="ctr" indent="0" marL="0">
              <a:buNone/>
            </a:pPr>
            <a:r>
              <a:rPr lang="en-US" sz="1600" i="1" dirty="0">
                <a:solidFill>
                  <a:srgbClr val="1F2A3C"/>
                </a:solidFill>
                <a:latin typeface="Cambria" pitchFamily="34" charset="0"/>
                <a:ea typeface="Cambria" pitchFamily="34" charset="-122"/>
                <a:cs typeface="Cambria" pitchFamily="34" charset="-120"/>
              </a:rPr>
              <a:t>“Can a compiler statically determine which numerical computations can be safely represented using INT8, and transform only those computations for which safety can be proven?”</a:t>
            </a:r>
            <a:endParaRPr lang="en-US" sz="1600" dirty="0"/>
          </a:p>
        </p:txBody>
      </p:sp>
      <p:sp>
        <p:nvSpPr>
          <p:cNvPr id="6" name="Shape 4"/>
          <p:cNvSpPr/>
          <p:nvPr/>
        </p:nvSpPr>
        <p:spPr>
          <a:xfrm>
            <a:off x="4998568" y="2788920"/>
            <a:ext cx="2194560" cy="548640"/>
          </a:xfrm>
          <a:prstGeom prst="rect">
            <a:avLst/>
          </a:prstGeom>
          <a:solidFill>
            <a:srgbClr val="F4F6F8"/>
          </a:solidFill>
          <a:ln w="12700">
            <a:solidFill>
              <a:srgbClr val="1F2A3C"/>
            </a:solidFill>
            <a:prstDash val="solid"/>
          </a:ln>
        </p:spPr>
      </p:sp>
      <p:sp>
        <p:nvSpPr>
          <p:cNvPr id="7" name="Text 5"/>
          <p:cNvSpPr txBox="1"/>
          <p:nvPr/>
        </p:nvSpPr>
        <p:spPr>
          <a:xfrm>
            <a:off x="5026000" y="2788920"/>
            <a:ext cx="2139696" cy="548640"/>
          </a:xfrm>
          <a:prstGeom prst="rect">
            <a:avLst/>
          </a:prstGeom>
          <a:noFill/>
          <a:ln/>
        </p:spPr>
        <p:txBody>
          <a:bodyPr wrap="square" lIns="0" tIns="0" rIns="0" bIns="0" rtlCol="0" anchor="ctr"/>
          <a:lstStyle/>
          <a:p>
            <a:pPr algn="ctr" indent="0" marL="0">
              <a:buNone/>
            </a:pPr>
            <a:r>
              <a:rPr lang="en-US" sz="1300" b="1" dirty="0">
                <a:solidFill>
                  <a:srgbClr val="1F2A3C"/>
                </a:solidFill>
                <a:latin typeface="Calibri" pitchFamily="34" charset="0"/>
                <a:ea typeface="Calibri" pitchFamily="34" charset="-122"/>
                <a:cs typeface="Calibri" pitchFamily="34" charset="-120"/>
              </a:rPr>
              <a:t>FP32 Value</a:t>
            </a:r>
            <a:endParaRPr lang="en-US" sz="1300" dirty="0"/>
          </a:p>
        </p:txBody>
      </p:sp>
      <p:sp>
        <p:nvSpPr>
          <p:cNvPr id="8" name="Shape 6"/>
          <p:cNvSpPr/>
          <p:nvPr/>
        </p:nvSpPr>
        <p:spPr>
          <a:xfrm>
            <a:off x="6095848" y="3337560"/>
            <a:ext cx="0" cy="274320"/>
          </a:xfrm>
          <a:prstGeom prst="line">
            <a:avLst/>
          </a:prstGeom>
          <a:noFill/>
          <a:ln w="19050">
            <a:solidFill>
              <a:srgbClr val="6B7480"/>
            </a:solidFill>
            <a:prstDash val="solid"/>
            <a:tailEnd type="triangle"/>
          </a:ln>
        </p:spPr>
      </p:sp>
      <p:sp>
        <p:nvSpPr>
          <p:cNvPr id="9" name="Shape 7"/>
          <p:cNvSpPr/>
          <p:nvPr/>
        </p:nvSpPr>
        <p:spPr>
          <a:xfrm>
            <a:off x="3626968" y="3611880"/>
            <a:ext cx="4937760" cy="1097280"/>
          </a:xfrm>
          <a:prstGeom prst="rect">
            <a:avLst/>
          </a:prstGeom>
          <a:solidFill>
            <a:srgbClr val="FFFFFF"/>
          </a:solidFill>
          <a:ln w="15875">
            <a:solidFill>
              <a:srgbClr val="1F2A3C"/>
            </a:solidFill>
            <a:prstDash val="solid"/>
          </a:ln>
        </p:spPr>
      </p:sp>
      <p:sp>
        <p:nvSpPr>
          <p:cNvPr id="10" name="Text 8"/>
          <p:cNvSpPr txBox="1"/>
          <p:nvPr/>
        </p:nvSpPr>
        <p:spPr>
          <a:xfrm>
            <a:off x="3809848" y="3657600"/>
            <a:ext cx="4572000" cy="256032"/>
          </a:xfrm>
          <a:prstGeom prst="rect">
            <a:avLst/>
          </a:prstGeom>
          <a:noFill/>
          <a:ln/>
        </p:spPr>
        <p:txBody>
          <a:bodyPr wrap="square" rtlCol="0" anchor="t"/>
          <a:lstStyle/>
          <a:p>
            <a:pPr algn="l" indent="0" marL="0">
              <a:buNone/>
            </a:pPr>
            <a:r>
              <a:rPr lang="en-US" sz="1150" b="1" dirty="0">
                <a:solidFill>
                  <a:srgbClr val="1F2A3C"/>
                </a:solidFill>
                <a:latin typeface="Calibri" pitchFamily="34" charset="0"/>
                <a:ea typeface="Calibri" pitchFamily="34" charset="-122"/>
                <a:cs typeface="Calibri" pitchFamily="34" charset="-120"/>
              </a:rPr>
              <a:t>Can the compiler prove:</a:t>
            </a:r>
            <a:endParaRPr lang="en-US" sz="1150" dirty="0"/>
          </a:p>
        </p:txBody>
      </p:sp>
      <p:sp>
        <p:nvSpPr>
          <p:cNvPr id="11" name="Text 9"/>
          <p:cNvSpPr txBox="1"/>
          <p:nvPr/>
        </p:nvSpPr>
        <p:spPr>
          <a:xfrm>
            <a:off x="3855568" y="3931920"/>
            <a:ext cx="4572000" cy="731520"/>
          </a:xfrm>
          <a:prstGeom prst="rect">
            <a:avLst/>
          </a:prstGeom>
          <a:noFill/>
          <a:ln/>
        </p:spPr>
        <p:txBody>
          <a:bodyPr wrap="square" rtlCol="0" anchor="ctr"/>
          <a:lstStyle/>
          <a:p>
            <a:pPr marL="342900" indent="-342900">
              <a:lnSpc>
                <a:spcPct val="105000"/>
              </a:lnSpc>
              <a:buSzPct val="100000"/>
              <a:buChar char="▪"/>
            </a:pPr>
            <a:r>
              <a:rPr lang="en-US" sz="1000" dirty="0">
                <a:solidFill>
                  <a:srgbClr val="23262B"/>
                </a:solidFill>
                <a:latin typeface="Calibri" pitchFamily="34" charset="0"/>
                <a:ea typeface="Calibri" pitchFamily="34" charset="-122"/>
                <a:cs typeface="Calibri" pitchFamily="34" charset="-120"/>
              </a:rPr>
              <a:t>Bounded range within [−128, 127]?</a:t>
            </a:r>
            <a:endParaRPr lang="en-US" sz="1000" dirty="0"/>
          </a:p>
          <a:p>
            <a:pPr marL="342900" indent="-342900">
              <a:lnSpc>
                <a:spcPct val="105000"/>
              </a:lnSpc>
              <a:buSzPct val="100000"/>
              <a:buChar char="▪"/>
            </a:pPr>
            <a:r>
              <a:rPr lang="en-US" sz="1000" dirty="0">
                <a:solidFill>
                  <a:srgbClr val="23262B"/>
                </a:solidFill>
                <a:latin typeface="Calibri" pitchFamily="34" charset="0"/>
                <a:ea typeface="Calibri" pitchFamily="34" charset="-122"/>
                <a:cs typeface="Calibri" pitchFamily="34" charset="-120"/>
              </a:rPr>
              <a:t>Value guaranteed integral?</a:t>
            </a:r>
            <a:endParaRPr lang="en-US" sz="1000" dirty="0"/>
          </a:p>
          <a:p>
            <a:pPr marL="342900" indent="-342900">
              <a:lnSpc>
                <a:spcPct val="105000"/>
              </a:lnSpc>
              <a:buSzPct val="100000"/>
              <a:buChar char="▪"/>
            </a:pPr>
            <a:r>
              <a:rPr lang="en-US" sz="1000" dirty="0">
                <a:solidFill>
                  <a:srgbClr val="23262B"/>
                </a:solidFill>
                <a:latin typeface="Calibri" pitchFamily="34" charset="0"/>
                <a:ea typeface="Calibri" pitchFamily="34" charset="-122"/>
                <a:cs typeface="Calibri" pitchFamily="34" charset="-120"/>
              </a:rPr>
              <a:t>No possible overflow?</a:t>
            </a:r>
            <a:endParaRPr lang="en-US" sz="1000" dirty="0"/>
          </a:p>
          <a:p>
            <a:pPr marL="342900" indent="-342900">
              <a:lnSpc>
                <a:spcPct val="105000"/>
              </a:lnSpc>
              <a:buSzPct val="100000"/>
              <a:buChar char="▪"/>
            </a:pPr>
            <a:r>
              <a:rPr lang="en-US" sz="1000" dirty="0">
                <a:solidFill>
                  <a:srgbClr val="23262B"/>
                </a:solidFill>
                <a:latin typeface="Calibri" pitchFamily="34" charset="0"/>
                <a:ea typeface="Calibri" pitchFamily="34" charset="-122"/>
                <a:cs typeface="Calibri" pitchFamily="34" charset="-120"/>
              </a:rPr>
              <a:t>Operation supported for quantization?</a:t>
            </a:r>
            <a:endParaRPr lang="en-US" sz="1000" dirty="0"/>
          </a:p>
        </p:txBody>
      </p:sp>
      <p:sp>
        <p:nvSpPr>
          <p:cNvPr id="12" name="Shape 10"/>
          <p:cNvSpPr/>
          <p:nvPr/>
        </p:nvSpPr>
        <p:spPr>
          <a:xfrm>
            <a:off x="6095848" y="4709160"/>
            <a:ext cx="0" cy="182880"/>
          </a:xfrm>
          <a:prstGeom prst="line">
            <a:avLst/>
          </a:prstGeom>
          <a:noFill/>
          <a:ln w="19050">
            <a:solidFill>
              <a:srgbClr val="6B7480"/>
            </a:solidFill>
            <a:prstDash val="solid"/>
          </a:ln>
        </p:spPr>
      </p:sp>
      <p:sp>
        <p:nvSpPr>
          <p:cNvPr id="13" name="Shape 11"/>
          <p:cNvSpPr/>
          <p:nvPr/>
        </p:nvSpPr>
        <p:spPr>
          <a:xfrm flipH="1">
            <a:off x="3200400" y="4892040"/>
            <a:ext cx="2895448" cy="320040"/>
          </a:xfrm>
          <a:prstGeom prst="line">
            <a:avLst/>
          </a:prstGeom>
          <a:noFill/>
          <a:ln w="19050">
            <a:solidFill>
              <a:srgbClr val="2E6E7E"/>
            </a:solidFill>
            <a:prstDash val="solid"/>
            <a:tailEnd type="triangle"/>
          </a:ln>
        </p:spPr>
      </p:sp>
      <p:sp>
        <p:nvSpPr>
          <p:cNvPr id="14" name="Shape 12"/>
          <p:cNvSpPr/>
          <p:nvPr/>
        </p:nvSpPr>
        <p:spPr>
          <a:xfrm>
            <a:off x="6095848" y="4892040"/>
            <a:ext cx="2892704" cy="320040"/>
          </a:xfrm>
          <a:prstGeom prst="line">
            <a:avLst/>
          </a:prstGeom>
          <a:noFill/>
          <a:ln w="19050">
            <a:solidFill>
              <a:srgbClr val="9C4A3E"/>
            </a:solidFill>
            <a:prstDash val="solid"/>
            <a:tailEnd type="triangle"/>
          </a:ln>
        </p:spPr>
      </p:sp>
      <p:sp>
        <p:nvSpPr>
          <p:cNvPr id="15" name="Shape 13"/>
          <p:cNvSpPr/>
          <p:nvPr/>
        </p:nvSpPr>
        <p:spPr>
          <a:xfrm>
            <a:off x="1920240" y="5212080"/>
            <a:ext cx="2560320" cy="777240"/>
          </a:xfrm>
          <a:prstGeom prst="rect">
            <a:avLst/>
          </a:prstGeom>
          <a:solidFill>
            <a:srgbClr val="2E6E7E"/>
          </a:solidFill>
          <a:ln w="12700">
            <a:solidFill>
              <a:srgbClr val="2E6E7E"/>
            </a:solidFill>
            <a:prstDash val="solid"/>
          </a:ln>
        </p:spPr>
      </p:sp>
      <p:sp>
        <p:nvSpPr>
          <p:cNvPr id="16" name="Text 14"/>
          <p:cNvSpPr txBox="1"/>
          <p:nvPr/>
        </p:nvSpPr>
        <p:spPr>
          <a:xfrm>
            <a:off x="1947672" y="5212080"/>
            <a:ext cx="2505456"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YES → Quantize to INT8</a:t>
            </a:r>
            <a:endParaRPr lang="en-US" sz="1300" dirty="0"/>
          </a:p>
        </p:txBody>
      </p:sp>
      <p:sp>
        <p:nvSpPr>
          <p:cNvPr id="17" name="Shape 15"/>
          <p:cNvSpPr/>
          <p:nvPr/>
        </p:nvSpPr>
        <p:spPr>
          <a:xfrm>
            <a:off x="7708392" y="5212080"/>
            <a:ext cx="2560320" cy="777240"/>
          </a:xfrm>
          <a:prstGeom prst="rect">
            <a:avLst/>
          </a:prstGeom>
          <a:solidFill>
            <a:srgbClr val="F3E7E5"/>
          </a:solidFill>
          <a:ln w="12700">
            <a:solidFill>
              <a:srgbClr val="9C4A3E"/>
            </a:solidFill>
            <a:prstDash val="solid"/>
          </a:ln>
        </p:spPr>
      </p:sp>
      <p:sp>
        <p:nvSpPr>
          <p:cNvPr id="18" name="Text 16"/>
          <p:cNvSpPr txBox="1"/>
          <p:nvPr/>
        </p:nvSpPr>
        <p:spPr>
          <a:xfrm>
            <a:off x="7735824" y="5212080"/>
            <a:ext cx="2505456" cy="777240"/>
          </a:xfrm>
          <a:prstGeom prst="rect">
            <a:avLst/>
          </a:prstGeom>
          <a:noFill/>
          <a:ln/>
        </p:spPr>
        <p:txBody>
          <a:bodyPr wrap="square" lIns="0" tIns="0" rIns="0" bIns="0" rtlCol="0" anchor="ctr"/>
          <a:lstStyle/>
          <a:p>
            <a:pPr algn="ctr" indent="0" marL="0">
              <a:buNone/>
            </a:pPr>
            <a:r>
              <a:rPr lang="en-US" sz="1300" b="1" dirty="0">
                <a:solidFill>
                  <a:srgbClr val="9C4A3E"/>
                </a:solidFill>
                <a:latin typeface="Calibri" pitchFamily="34" charset="0"/>
                <a:ea typeface="Calibri" pitchFamily="34" charset="-122"/>
                <a:cs typeface="Calibri" pitchFamily="34" charset="-120"/>
              </a:rPr>
              <a:t>NO → Preserve FP32</a:t>
            </a:r>
            <a:endParaRPr lang="en-US" sz="1300" dirty="0"/>
          </a:p>
        </p:txBody>
      </p:sp>
      <p:sp>
        <p:nvSpPr>
          <p:cNvPr id="19" name="Text 17"/>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20" name="Text 18"/>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Why Compiler-Based Analysis?</a:t>
            </a:r>
            <a:endParaRPr lang="en-US" sz="2900" dirty="0"/>
          </a:p>
        </p:txBody>
      </p:sp>
      <p:sp>
        <p:nvSpPr>
          <p:cNvPr id="4" name="Shape 2"/>
          <p:cNvSpPr/>
          <p:nvPr/>
        </p:nvSpPr>
        <p:spPr>
          <a:xfrm>
            <a:off x="548640" y="1783080"/>
            <a:ext cx="11091672" cy="1005840"/>
          </a:xfrm>
          <a:prstGeom prst="rect">
            <a:avLst/>
          </a:prstGeom>
          <a:solidFill>
            <a:srgbClr val="F4F6F8"/>
          </a:solidFill>
          <a:ln w="12700">
            <a:solidFill>
              <a:srgbClr val="D6DCE2"/>
            </a:solidFill>
            <a:prstDash val="solid"/>
          </a:ln>
        </p:spPr>
      </p:sp>
      <p:sp>
        <p:nvSpPr>
          <p:cNvPr id="5" name="Text 3"/>
          <p:cNvSpPr txBox="1"/>
          <p:nvPr/>
        </p:nvSpPr>
        <p:spPr>
          <a:xfrm>
            <a:off x="868680" y="1783080"/>
            <a:ext cx="4206240" cy="1005840"/>
          </a:xfrm>
          <a:prstGeom prst="rect">
            <a:avLst/>
          </a:prstGeom>
          <a:noFill/>
          <a:ln/>
        </p:spPr>
        <p:txBody>
          <a:bodyPr wrap="square" rtlCol="0" anchor="ctr"/>
          <a:lstStyle/>
          <a:p>
            <a:pPr algn="l" indent="0" marL="0">
              <a:buNone/>
            </a:pPr>
            <a:r>
              <a:rPr lang="en-US" sz="1500" b="1" dirty="0">
                <a:solidFill>
                  <a:srgbClr val="1F2A3C"/>
                </a:solidFill>
                <a:latin typeface="Calibri" pitchFamily="34" charset="0"/>
                <a:ea typeface="Calibri" pitchFamily="34" charset="-122"/>
                <a:cs typeface="Calibri" pitchFamily="34" charset="-120"/>
              </a:rPr>
              <a:t>Manual Conversion</a:t>
            </a:r>
            <a:endParaRPr lang="en-US" sz="1500" dirty="0"/>
          </a:p>
        </p:txBody>
      </p:sp>
      <p:sp>
        <p:nvSpPr>
          <p:cNvPr id="6" name="Shape 4"/>
          <p:cNvSpPr/>
          <p:nvPr/>
        </p:nvSpPr>
        <p:spPr>
          <a:xfrm>
            <a:off x="5212080" y="2286000"/>
            <a:ext cx="822960" cy="0"/>
          </a:xfrm>
          <a:prstGeom prst="line">
            <a:avLst/>
          </a:prstGeom>
          <a:noFill/>
          <a:ln w="19050">
            <a:solidFill>
              <a:srgbClr val="1F2A3C"/>
            </a:solidFill>
            <a:prstDash val="solid"/>
            <a:tailEnd type="triangle"/>
          </a:ln>
        </p:spPr>
      </p:sp>
      <p:sp>
        <p:nvSpPr>
          <p:cNvPr id="7" name="Text 5"/>
          <p:cNvSpPr txBox="1"/>
          <p:nvPr/>
        </p:nvSpPr>
        <p:spPr>
          <a:xfrm>
            <a:off x="6217920" y="1783080"/>
            <a:ext cx="5212080" cy="1005840"/>
          </a:xfrm>
          <a:prstGeom prst="rect">
            <a:avLst/>
          </a:prstGeom>
          <a:noFill/>
          <a:ln/>
        </p:spPr>
        <p:txBody>
          <a:bodyPr wrap="square" rtlCol="0" anchor="ctr"/>
          <a:lstStyle/>
          <a:p>
            <a:pPr algn="l" indent="0" marL="0">
              <a:buNone/>
            </a:pPr>
            <a:r>
              <a:rPr lang="en-US" sz="1300" dirty="0">
                <a:solidFill>
                  <a:srgbClr val="1F2A3C"/>
                </a:solidFill>
                <a:latin typeface="Calibri" pitchFamily="34" charset="0"/>
                <a:ea typeface="Calibri" pitchFamily="34" charset="-122"/>
                <a:cs typeface="Calibri" pitchFamily="34" charset="-120"/>
              </a:rPr>
              <a:t>Error-prone, difficult to scale across programs</a:t>
            </a:r>
            <a:endParaRPr lang="en-US" sz="1300" dirty="0"/>
          </a:p>
        </p:txBody>
      </p:sp>
      <p:sp>
        <p:nvSpPr>
          <p:cNvPr id="8" name="Shape 6"/>
          <p:cNvSpPr/>
          <p:nvPr/>
        </p:nvSpPr>
        <p:spPr>
          <a:xfrm>
            <a:off x="548640" y="2953512"/>
            <a:ext cx="11091672" cy="1005840"/>
          </a:xfrm>
          <a:prstGeom prst="rect">
            <a:avLst/>
          </a:prstGeom>
          <a:solidFill>
            <a:srgbClr val="F4F6F8"/>
          </a:solidFill>
          <a:ln w="12700">
            <a:solidFill>
              <a:srgbClr val="D6DCE2"/>
            </a:solidFill>
            <a:prstDash val="solid"/>
          </a:ln>
        </p:spPr>
      </p:sp>
      <p:sp>
        <p:nvSpPr>
          <p:cNvPr id="9" name="Text 7"/>
          <p:cNvSpPr txBox="1"/>
          <p:nvPr/>
        </p:nvSpPr>
        <p:spPr>
          <a:xfrm>
            <a:off x="868680" y="2953512"/>
            <a:ext cx="4206240" cy="1005840"/>
          </a:xfrm>
          <a:prstGeom prst="rect">
            <a:avLst/>
          </a:prstGeom>
          <a:noFill/>
          <a:ln/>
        </p:spPr>
        <p:txBody>
          <a:bodyPr wrap="square" rtlCol="0" anchor="ctr"/>
          <a:lstStyle/>
          <a:p>
            <a:pPr algn="l" indent="0" marL="0">
              <a:buNone/>
            </a:pPr>
            <a:r>
              <a:rPr lang="en-US" sz="1500" b="1" dirty="0">
                <a:solidFill>
                  <a:srgbClr val="1F2A3C"/>
                </a:solidFill>
                <a:latin typeface="Calibri" pitchFamily="34" charset="0"/>
                <a:ea typeface="Calibri" pitchFamily="34" charset="-122"/>
                <a:cs typeface="Calibri" pitchFamily="34" charset="-120"/>
              </a:rPr>
              <a:t>Dynamic / Runtime Checking</a:t>
            </a:r>
            <a:endParaRPr lang="en-US" sz="1500" dirty="0"/>
          </a:p>
        </p:txBody>
      </p:sp>
      <p:sp>
        <p:nvSpPr>
          <p:cNvPr id="10" name="Shape 8"/>
          <p:cNvSpPr/>
          <p:nvPr/>
        </p:nvSpPr>
        <p:spPr>
          <a:xfrm>
            <a:off x="5212080" y="3456432"/>
            <a:ext cx="822960" cy="0"/>
          </a:xfrm>
          <a:prstGeom prst="line">
            <a:avLst/>
          </a:prstGeom>
          <a:noFill/>
          <a:ln w="19050">
            <a:solidFill>
              <a:srgbClr val="1F2A3C"/>
            </a:solidFill>
            <a:prstDash val="solid"/>
            <a:tailEnd type="triangle"/>
          </a:ln>
        </p:spPr>
      </p:sp>
      <p:sp>
        <p:nvSpPr>
          <p:cNvPr id="11" name="Text 9"/>
          <p:cNvSpPr txBox="1"/>
          <p:nvPr/>
        </p:nvSpPr>
        <p:spPr>
          <a:xfrm>
            <a:off x="6217920" y="2953512"/>
            <a:ext cx="5212080" cy="1005840"/>
          </a:xfrm>
          <a:prstGeom prst="rect">
            <a:avLst/>
          </a:prstGeom>
          <a:noFill/>
          <a:ln/>
        </p:spPr>
        <p:txBody>
          <a:bodyPr wrap="square" rtlCol="0" anchor="ctr"/>
          <a:lstStyle/>
          <a:p>
            <a:pPr algn="l" indent="0" marL="0">
              <a:buNone/>
            </a:pPr>
            <a:r>
              <a:rPr lang="en-US" sz="1300" dirty="0">
                <a:solidFill>
                  <a:srgbClr val="1F2A3C"/>
                </a:solidFill>
                <a:latin typeface="Calibri" pitchFamily="34" charset="0"/>
                <a:ea typeface="Calibri" pitchFamily="34" charset="-122"/>
                <a:cs typeface="Calibri" pitchFamily="34" charset="-120"/>
              </a:rPr>
              <a:t>Correct, but adds overhead on every execution</a:t>
            </a:r>
            <a:endParaRPr lang="en-US" sz="1300" dirty="0"/>
          </a:p>
        </p:txBody>
      </p:sp>
      <p:sp>
        <p:nvSpPr>
          <p:cNvPr id="12" name="Shape 10"/>
          <p:cNvSpPr/>
          <p:nvPr/>
        </p:nvSpPr>
        <p:spPr>
          <a:xfrm>
            <a:off x="548640" y="4123944"/>
            <a:ext cx="11091672" cy="1005840"/>
          </a:xfrm>
          <a:prstGeom prst="rect">
            <a:avLst/>
          </a:prstGeom>
          <a:solidFill>
            <a:srgbClr val="2E6E7E"/>
          </a:solidFill>
          <a:ln w="12700">
            <a:solidFill>
              <a:srgbClr val="2E6E7E"/>
            </a:solidFill>
            <a:prstDash val="solid"/>
          </a:ln>
        </p:spPr>
      </p:sp>
      <p:sp>
        <p:nvSpPr>
          <p:cNvPr id="13" name="Text 11"/>
          <p:cNvSpPr txBox="1"/>
          <p:nvPr/>
        </p:nvSpPr>
        <p:spPr>
          <a:xfrm>
            <a:off x="868680" y="4123944"/>
            <a:ext cx="4206240" cy="100584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Static Compiler Analysis</a:t>
            </a:r>
            <a:endParaRPr lang="en-US" sz="1500" dirty="0"/>
          </a:p>
        </p:txBody>
      </p:sp>
      <p:sp>
        <p:nvSpPr>
          <p:cNvPr id="14" name="Shape 12"/>
          <p:cNvSpPr/>
          <p:nvPr/>
        </p:nvSpPr>
        <p:spPr>
          <a:xfrm>
            <a:off x="5212080" y="4626864"/>
            <a:ext cx="822960" cy="0"/>
          </a:xfrm>
          <a:prstGeom prst="line">
            <a:avLst/>
          </a:prstGeom>
          <a:noFill/>
          <a:ln w="19050">
            <a:solidFill>
              <a:srgbClr val="FFFFFF"/>
            </a:solidFill>
            <a:prstDash val="solid"/>
            <a:tailEnd type="triangle"/>
          </a:ln>
        </p:spPr>
      </p:sp>
      <p:sp>
        <p:nvSpPr>
          <p:cNvPr id="15" name="Text 13"/>
          <p:cNvSpPr txBox="1"/>
          <p:nvPr/>
        </p:nvSpPr>
        <p:spPr>
          <a:xfrm>
            <a:off x="6217920" y="4123944"/>
            <a:ext cx="5212080" cy="100584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Decision made once, before execution — our approach</a:t>
            </a:r>
            <a:endParaRPr lang="en-US" sz="1300" dirty="0"/>
          </a:p>
        </p:txBody>
      </p:sp>
      <p:sp>
        <p:nvSpPr>
          <p:cNvPr id="16" name="Text 14"/>
          <p:cNvSpPr txBox="1"/>
          <p:nvPr/>
        </p:nvSpPr>
        <p:spPr>
          <a:xfrm>
            <a:off x="548640" y="5486400"/>
            <a:ext cx="11091672" cy="548640"/>
          </a:xfrm>
          <a:prstGeom prst="rect">
            <a:avLst/>
          </a:prstGeom>
          <a:noFill/>
          <a:ln/>
        </p:spPr>
        <p:txBody>
          <a:bodyPr wrap="square" rtlCol="0" anchor="t"/>
          <a:lstStyle/>
          <a:p>
            <a:pPr algn="l" indent="0" marL="0">
              <a:buNone/>
            </a:pPr>
            <a:r>
              <a:rPr lang="en-US" sz="1200" i="1" dirty="0">
                <a:solidFill>
                  <a:srgbClr val="6B7480"/>
                </a:solidFill>
                <a:latin typeface="Calibri" pitchFamily="34" charset="0"/>
                <a:ea typeface="Calibri" pitchFamily="34" charset="-122"/>
                <a:cs typeface="Calibri" pitchFamily="34" charset="-120"/>
              </a:rPr>
              <a:t>The compiler inspects intermediate representation and reasons about value ranges before performing the optimization — the safety decision is explainable and made once, at compile time.</a:t>
            </a:r>
            <a:endParaRPr lang="en-US" sz="1200" dirty="0"/>
          </a:p>
        </p:txBody>
      </p:sp>
      <p:sp>
        <p:nvSpPr>
          <p:cNvPr id="17" name="Text 15"/>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8" name="Text 16"/>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OBJECTIVES</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Project Objectives</a:t>
            </a:r>
            <a:endParaRPr lang="en-US" sz="2900" dirty="0"/>
          </a:p>
        </p:txBody>
      </p:sp>
      <p:sp>
        <p:nvSpPr>
          <p:cNvPr id="4" name="Shape 2"/>
          <p:cNvSpPr/>
          <p:nvPr/>
        </p:nvSpPr>
        <p:spPr>
          <a:xfrm>
            <a:off x="502920" y="1783080"/>
            <a:ext cx="329184" cy="329184"/>
          </a:xfrm>
          <a:prstGeom prst="ellipse">
            <a:avLst/>
          </a:prstGeom>
          <a:solidFill>
            <a:srgbClr val="2E6E7E"/>
          </a:solidFill>
          <a:ln/>
        </p:spPr>
      </p:sp>
      <p:sp>
        <p:nvSpPr>
          <p:cNvPr id="5" name="Text 3"/>
          <p:cNvSpPr txBox="1"/>
          <p:nvPr/>
        </p:nvSpPr>
        <p:spPr>
          <a:xfrm>
            <a:off x="502920" y="17830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005840" y="1728216"/>
            <a:ext cx="4800600" cy="365760"/>
          </a:xfrm>
          <a:prstGeom prst="rect">
            <a:avLst/>
          </a:prstGeom>
          <a:noFill/>
          <a:ln/>
        </p:spPr>
        <p:txBody>
          <a:bodyPr wrap="square" rtlCol="0" anchor="t"/>
          <a:lstStyle/>
          <a:p>
            <a:pPr algn="l" indent="0" marL="0">
              <a:buNone/>
            </a:pPr>
            <a:r>
              <a:rPr lang="en-US" sz="1250" b="1" dirty="0">
                <a:solidFill>
                  <a:srgbClr val="1F2A3C"/>
                </a:solidFill>
                <a:latin typeface="Calibri" pitchFamily="34" charset="0"/>
                <a:ea typeface="Calibri" pitchFamily="34" charset="-122"/>
                <a:cs typeface="Calibri" pitchFamily="34" charset="-120"/>
              </a:rPr>
              <a:t>Build a small numerical C-like compiler front end.</a:t>
            </a:r>
            <a:endParaRPr lang="en-US" sz="1250" dirty="0"/>
          </a:p>
        </p:txBody>
      </p:sp>
      <p:sp>
        <p:nvSpPr>
          <p:cNvPr id="7" name="Text 5"/>
          <p:cNvSpPr txBox="1"/>
          <p:nvPr/>
        </p:nvSpPr>
        <p:spPr>
          <a:xfrm>
            <a:off x="1005840" y="2093976"/>
            <a:ext cx="4800600" cy="50292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Lexer, parser and AST for a deliberately compact language.</a:t>
            </a:r>
            <a:endParaRPr lang="en-US" sz="1050" dirty="0"/>
          </a:p>
        </p:txBody>
      </p:sp>
      <p:sp>
        <p:nvSpPr>
          <p:cNvPr id="8" name="Shape 6"/>
          <p:cNvSpPr/>
          <p:nvPr/>
        </p:nvSpPr>
        <p:spPr>
          <a:xfrm>
            <a:off x="502920" y="3081528"/>
            <a:ext cx="329184" cy="329184"/>
          </a:xfrm>
          <a:prstGeom prst="ellipse">
            <a:avLst/>
          </a:prstGeom>
          <a:solidFill>
            <a:srgbClr val="2E6E7E"/>
          </a:solidFill>
          <a:ln/>
        </p:spPr>
      </p:sp>
      <p:sp>
        <p:nvSpPr>
          <p:cNvPr id="9" name="Text 7"/>
          <p:cNvSpPr txBox="1"/>
          <p:nvPr/>
        </p:nvSpPr>
        <p:spPr>
          <a:xfrm>
            <a:off x="502920" y="3081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005840" y="3026664"/>
            <a:ext cx="4800600" cy="365760"/>
          </a:xfrm>
          <a:prstGeom prst="rect">
            <a:avLst/>
          </a:prstGeom>
          <a:noFill/>
          <a:ln/>
        </p:spPr>
        <p:txBody>
          <a:bodyPr wrap="square" rtlCol="0" anchor="t"/>
          <a:lstStyle/>
          <a:p>
            <a:pPr algn="l" indent="0" marL="0">
              <a:buNone/>
            </a:pPr>
            <a:r>
              <a:rPr lang="en-US" sz="1250" b="1" dirty="0">
                <a:solidFill>
                  <a:srgbClr val="1F2A3C"/>
                </a:solidFill>
                <a:latin typeface="Calibri" pitchFamily="34" charset="0"/>
                <a:ea typeface="Calibri" pitchFamily="34" charset="-122"/>
                <a:cs typeface="Calibri" pitchFamily="34" charset="-120"/>
              </a:rPr>
              <a:t>Generate Three Address Code and construct CFG.</a:t>
            </a:r>
            <a:endParaRPr lang="en-US" sz="1250" dirty="0"/>
          </a:p>
        </p:txBody>
      </p:sp>
      <p:sp>
        <p:nvSpPr>
          <p:cNvPr id="11" name="Text 9"/>
          <p:cNvSpPr txBox="1"/>
          <p:nvPr/>
        </p:nvSpPr>
        <p:spPr>
          <a:xfrm>
            <a:off x="1005840" y="3392424"/>
            <a:ext cx="4800600" cy="50292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Lower AST to TAC and form basic blocks.</a:t>
            </a:r>
            <a:endParaRPr lang="en-US" sz="1050" dirty="0"/>
          </a:p>
        </p:txBody>
      </p:sp>
      <p:sp>
        <p:nvSpPr>
          <p:cNvPr id="12" name="Shape 10"/>
          <p:cNvSpPr/>
          <p:nvPr/>
        </p:nvSpPr>
        <p:spPr>
          <a:xfrm>
            <a:off x="502920" y="4379976"/>
            <a:ext cx="329184" cy="329184"/>
          </a:xfrm>
          <a:prstGeom prst="ellipse">
            <a:avLst/>
          </a:prstGeom>
          <a:solidFill>
            <a:srgbClr val="2E6E7E"/>
          </a:solidFill>
          <a:ln/>
        </p:spPr>
      </p:sp>
      <p:sp>
        <p:nvSpPr>
          <p:cNvPr id="13" name="Text 11"/>
          <p:cNvSpPr txBox="1"/>
          <p:nvPr/>
        </p:nvSpPr>
        <p:spPr>
          <a:xfrm>
            <a:off x="502920" y="43799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005840" y="4325112"/>
            <a:ext cx="4800600" cy="365760"/>
          </a:xfrm>
          <a:prstGeom prst="rect">
            <a:avLst/>
          </a:prstGeom>
          <a:noFill/>
          <a:ln/>
        </p:spPr>
        <p:txBody>
          <a:bodyPr wrap="square" rtlCol="0" anchor="t"/>
          <a:lstStyle/>
          <a:p>
            <a:pPr algn="l" indent="0" marL="0">
              <a:buNone/>
            </a:pPr>
            <a:r>
              <a:rPr lang="en-US" sz="1250" b="1" dirty="0">
                <a:solidFill>
                  <a:srgbClr val="1F2A3C"/>
                </a:solidFill>
                <a:latin typeface="Calibri" pitchFamily="34" charset="0"/>
                <a:ea typeface="Calibri" pitchFamily="34" charset="-122"/>
                <a:cs typeface="Calibri" pitchFamily="34" charset="-120"/>
              </a:rPr>
              <a:t>Convert the IR into SSA form.</a:t>
            </a:r>
            <a:endParaRPr lang="en-US" sz="1250" dirty="0"/>
          </a:p>
        </p:txBody>
      </p:sp>
      <p:sp>
        <p:nvSpPr>
          <p:cNvPr id="15" name="Text 13"/>
          <p:cNvSpPr txBox="1"/>
          <p:nvPr/>
        </p:nvSpPr>
        <p:spPr>
          <a:xfrm>
            <a:off x="1005840" y="4690872"/>
            <a:ext cx="4800600" cy="50292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Enable precise, flow-sensitive analysis.</a:t>
            </a:r>
            <a:endParaRPr lang="en-US" sz="1050" dirty="0"/>
          </a:p>
        </p:txBody>
      </p:sp>
      <p:sp>
        <p:nvSpPr>
          <p:cNvPr id="16" name="Shape 14"/>
          <p:cNvSpPr/>
          <p:nvPr/>
        </p:nvSpPr>
        <p:spPr>
          <a:xfrm>
            <a:off x="502920" y="5678424"/>
            <a:ext cx="329184" cy="329184"/>
          </a:xfrm>
          <a:prstGeom prst="ellipse">
            <a:avLst/>
          </a:prstGeom>
          <a:solidFill>
            <a:srgbClr val="2E6E7E"/>
          </a:solidFill>
          <a:ln/>
        </p:spPr>
      </p:sp>
      <p:sp>
        <p:nvSpPr>
          <p:cNvPr id="17" name="Text 15"/>
          <p:cNvSpPr txBox="1"/>
          <p:nvPr/>
        </p:nvSpPr>
        <p:spPr>
          <a:xfrm>
            <a:off x="502920" y="5678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05840" y="5623560"/>
            <a:ext cx="4800600" cy="365760"/>
          </a:xfrm>
          <a:prstGeom prst="rect">
            <a:avLst/>
          </a:prstGeom>
          <a:noFill/>
          <a:ln/>
        </p:spPr>
        <p:txBody>
          <a:bodyPr wrap="square" rtlCol="0" anchor="t"/>
          <a:lstStyle/>
          <a:p>
            <a:pPr algn="l" indent="0" marL="0">
              <a:buNone/>
            </a:pPr>
            <a:r>
              <a:rPr lang="en-US" sz="1250" b="1" dirty="0">
                <a:solidFill>
                  <a:srgbClr val="1F2A3C"/>
                </a:solidFill>
                <a:latin typeface="Calibri" pitchFamily="34" charset="0"/>
                <a:ea typeface="Calibri" pitchFamily="34" charset="-122"/>
                <a:cs typeface="Calibri" pitchFamily="34" charset="-120"/>
              </a:rPr>
              <a:t>Perform static range and integrality analysis.</a:t>
            </a:r>
            <a:endParaRPr lang="en-US" sz="1250" dirty="0"/>
          </a:p>
        </p:txBody>
      </p:sp>
      <p:sp>
        <p:nvSpPr>
          <p:cNvPr id="19" name="Text 17"/>
          <p:cNvSpPr txBox="1"/>
          <p:nvPr/>
        </p:nvSpPr>
        <p:spPr>
          <a:xfrm>
            <a:off x="1005840" y="5989320"/>
            <a:ext cx="4800600" cy="50292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Interval reasoning over SSA values, including loops.</a:t>
            </a:r>
            <a:endParaRPr lang="en-US" sz="1050" dirty="0"/>
          </a:p>
        </p:txBody>
      </p:sp>
      <p:sp>
        <p:nvSpPr>
          <p:cNvPr id="20" name="Shape 18"/>
          <p:cNvSpPr/>
          <p:nvPr/>
        </p:nvSpPr>
        <p:spPr>
          <a:xfrm>
            <a:off x="6263640" y="1783080"/>
            <a:ext cx="329184" cy="329184"/>
          </a:xfrm>
          <a:prstGeom prst="ellipse">
            <a:avLst/>
          </a:prstGeom>
          <a:solidFill>
            <a:srgbClr val="2E6E7E"/>
          </a:solidFill>
          <a:ln/>
        </p:spPr>
      </p:sp>
      <p:sp>
        <p:nvSpPr>
          <p:cNvPr id="21" name="Text 19"/>
          <p:cNvSpPr txBox="1"/>
          <p:nvPr/>
        </p:nvSpPr>
        <p:spPr>
          <a:xfrm>
            <a:off x="6263640" y="17830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6766560" y="1728216"/>
            <a:ext cx="4800600" cy="365760"/>
          </a:xfrm>
          <a:prstGeom prst="rect">
            <a:avLst/>
          </a:prstGeom>
          <a:noFill/>
          <a:ln/>
        </p:spPr>
        <p:txBody>
          <a:bodyPr wrap="square" rtlCol="0" anchor="t"/>
          <a:lstStyle/>
          <a:p>
            <a:pPr algn="l" indent="0" marL="0">
              <a:buNone/>
            </a:pPr>
            <a:r>
              <a:rPr lang="en-US" sz="1250" b="1" dirty="0">
                <a:solidFill>
                  <a:srgbClr val="1F2A3C"/>
                </a:solidFill>
                <a:latin typeface="Calibri" pitchFamily="34" charset="0"/>
                <a:ea typeface="Calibri" pitchFamily="34" charset="-122"/>
                <a:cs typeface="Calibri" pitchFamily="34" charset="-120"/>
              </a:rPr>
              <a:t>Develop conservative INT8 safety checks.</a:t>
            </a:r>
            <a:endParaRPr lang="en-US" sz="1250" dirty="0"/>
          </a:p>
        </p:txBody>
      </p:sp>
      <p:sp>
        <p:nvSpPr>
          <p:cNvPr id="23" name="Text 21"/>
          <p:cNvSpPr txBox="1"/>
          <p:nvPr/>
        </p:nvSpPr>
        <p:spPr>
          <a:xfrm>
            <a:off x="6766560" y="2093976"/>
            <a:ext cx="4800600" cy="50292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Reject whenever safety cannot be proven.</a:t>
            </a:r>
            <a:endParaRPr lang="en-US" sz="1050" dirty="0"/>
          </a:p>
        </p:txBody>
      </p:sp>
      <p:sp>
        <p:nvSpPr>
          <p:cNvPr id="24" name="Shape 22"/>
          <p:cNvSpPr/>
          <p:nvPr/>
        </p:nvSpPr>
        <p:spPr>
          <a:xfrm>
            <a:off x="6263640" y="3081528"/>
            <a:ext cx="329184" cy="329184"/>
          </a:xfrm>
          <a:prstGeom prst="ellipse">
            <a:avLst/>
          </a:prstGeom>
          <a:solidFill>
            <a:srgbClr val="2E6E7E"/>
          </a:solidFill>
          <a:ln/>
        </p:spPr>
      </p:sp>
      <p:sp>
        <p:nvSpPr>
          <p:cNvPr id="25" name="Text 23"/>
          <p:cNvSpPr txBox="1"/>
          <p:nvPr/>
        </p:nvSpPr>
        <p:spPr>
          <a:xfrm>
            <a:off x="6263640" y="3081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txBox="1"/>
          <p:nvPr/>
        </p:nvSpPr>
        <p:spPr>
          <a:xfrm>
            <a:off x="6766560" y="3026664"/>
            <a:ext cx="4800600" cy="365760"/>
          </a:xfrm>
          <a:prstGeom prst="rect">
            <a:avLst/>
          </a:prstGeom>
          <a:noFill/>
          <a:ln/>
        </p:spPr>
        <p:txBody>
          <a:bodyPr wrap="square" rtlCol="0" anchor="t"/>
          <a:lstStyle/>
          <a:p>
            <a:pPr algn="l" indent="0" marL="0">
              <a:buNone/>
            </a:pPr>
            <a:r>
              <a:rPr lang="en-US" sz="1250" b="1" dirty="0">
                <a:solidFill>
                  <a:srgbClr val="1F2A3C"/>
                </a:solidFill>
                <a:latin typeface="Calibri" pitchFamily="34" charset="0"/>
                <a:ea typeface="Calibri" pitchFamily="34" charset="-122"/>
                <a:cs typeface="Calibri" pitchFamily="34" charset="-120"/>
              </a:rPr>
              <a:t>Transform proven-safe computations to INT8 IR.</a:t>
            </a:r>
            <a:endParaRPr lang="en-US" sz="1250" dirty="0"/>
          </a:p>
        </p:txBody>
      </p:sp>
      <p:sp>
        <p:nvSpPr>
          <p:cNvPr id="27" name="Text 25"/>
          <p:cNvSpPr txBox="1"/>
          <p:nvPr/>
        </p:nvSpPr>
        <p:spPr>
          <a:xfrm>
            <a:off x="6766560" y="3392424"/>
            <a:ext cx="4800600" cy="50292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Quantize only what is provably safe.</a:t>
            </a:r>
            <a:endParaRPr lang="en-US" sz="1050" dirty="0"/>
          </a:p>
        </p:txBody>
      </p:sp>
      <p:sp>
        <p:nvSpPr>
          <p:cNvPr id="28" name="Shape 26"/>
          <p:cNvSpPr/>
          <p:nvPr/>
        </p:nvSpPr>
        <p:spPr>
          <a:xfrm>
            <a:off x="6263640" y="4379976"/>
            <a:ext cx="329184" cy="329184"/>
          </a:xfrm>
          <a:prstGeom prst="ellipse">
            <a:avLst/>
          </a:prstGeom>
          <a:solidFill>
            <a:srgbClr val="2E6E7E"/>
          </a:solidFill>
          <a:ln/>
        </p:spPr>
      </p:sp>
      <p:sp>
        <p:nvSpPr>
          <p:cNvPr id="29" name="Text 27"/>
          <p:cNvSpPr txBox="1"/>
          <p:nvPr/>
        </p:nvSpPr>
        <p:spPr>
          <a:xfrm>
            <a:off x="6263640" y="43799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0" name="Text 28"/>
          <p:cNvSpPr txBox="1"/>
          <p:nvPr/>
        </p:nvSpPr>
        <p:spPr>
          <a:xfrm>
            <a:off x="6766560" y="4325112"/>
            <a:ext cx="4800600" cy="365760"/>
          </a:xfrm>
          <a:prstGeom prst="rect">
            <a:avLst/>
          </a:prstGeom>
          <a:noFill/>
          <a:ln/>
        </p:spPr>
        <p:txBody>
          <a:bodyPr wrap="square" rtlCol="0" anchor="t"/>
          <a:lstStyle/>
          <a:p>
            <a:pPr algn="l" indent="0" marL="0">
              <a:buNone/>
            </a:pPr>
            <a:r>
              <a:rPr lang="en-US" sz="1250" b="1" dirty="0">
                <a:solidFill>
                  <a:srgbClr val="1F2A3C"/>
                </a:solidFill>
                <a:latin typeface="Calibri" pitchFamily="34" charset="0"/>
                <a:ea typeface="Calibri" pitchFamily="34" charset="-122"/>
                <a:cs typeface="Calibri" pitchFamily="34" charset="-120"/>
              </a:rPr>
              <a:t>Preserve source-level traceability throughout.</a:t>
            </a:r>
            <a:endParaRPr lang="en-US" sz="1250" dirty="0"/>
          </a:p>
        </p:txBody>
      </p:sp>
      <p:sp>
        <p:nvSpPr>
          <p:cNvPr id="31" name="Text 29"/>
          <p:cNvSpPr txBox="1"/>
          <p:nvPr/>
        </p:nvSpPr>
        <p:spPr>
          <a:xfrm>
            <a:off x="6766560" y="4690872"/>
            <a:ext cx="4800600" cy="502920"/>
          </a:xfrm>
          <a:prstGeom prst="rect">
            <a:avLst/>
          </a:prstGeom>
          <a:noFill/>
          <a:ln/>
        </p:spPr>
        <p:txBody>
          <a:bodyPr wrap="square" rtlCol="0" anchor="t"/>
          <a:lstStyle/>
          <a:p>
            <a:pPr algn="l" indent="0" marL="0">
              <a:buNone/>
            </a:pPr>
            <a:r>
              <a:rPr lang="en-US" sz="1050" dirty="0">
                <a:solidFill>
                  <a:srgbClr val="6B7480"/>
                </a:solidFill>
                <a:latin typeface="Calibri" pitchFamily="34" charset="0"/>
                <a:ea typeface="Calibri" pitchFamily="34" charset="-122"/>
                <a:cs typeface="Calibri" pitchFamily="34" charset="-120"/>
              </a:rPr>
              <a:t>Line/column tracked from lexer to diagnostics.</a:t>
            </a:r>
            <a:endParaRPr lang="en-US" sz="1050" dirty="0"/>
          </a:p>
        </p:txBody>
      </p:sp>
      <p:sp>
        <p:nvSpPr>
          <p:cNvPr id="32" name="Text 30"/>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33" name="Text 31"/>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LITERATURE SURVEY</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Research Landscape</a:t>
            </a:r>
            <a:endParaRPr lang="en-US" sz="2900" dirty="0"/>
          </a:p>
        </p:txBody>
      </p:sp>
      <p:sp>
        <p:nvSpPr>
          <p:cNvPr id="4" name="Shape 2"/>
          <p:cNvSpPr/>
          <p:nvPr/>
        </p:nvSpPr>
        <p:spPr>
          <a:xfrm>
            <a:off x="502920" y="1783080"/>
            <a:ext cx="5394960" cy="1554480"/>
          </a:xfrm>
          <a:prstGeom prst="rect">
            <a:avLst/>
          </a:prstGeom>
          <a:solidFill>
            <a:srgbClr val="F4F6F8"/>
          </a:solidFill>
          <a:ln w="12700">
            <a:solidFill>
              <a:srgbClr val="D6DCE2"/>
            </a:solidFill>
            <a:prstDash val="solid"/>
          </a:ln>
        </p:spPr>
      </p:sp>
      <p:sp>
        <p:nvSpPr>
          <p:cNvPr id="5" name="Text 3"/>
          <p:cNvSpPr txBox="1"/>
          <p:nvPr/>
        </p:nvSpPr>
        <p:spPr>
          <a:xfrm>
            <a:off x="777240" y="1984248"/>
            <a:ext cx="4846320" cy="411480"/>
          </a:xfrm>
          <a:prstGeom prst="rect">
            <a:avLst/>
          </a:prstGeom>
          <a:noFill/>
          <a:ln/>
        </p:spPr>
        <p:txBody>
          <a:bodyPr wrap="square" rtlCol="0" anchor="t"/>
          <a:lstStyle/>
          <a:p>
            <a:pPr algn="l" indent="0" marL="0">
              <a:buNone/>
            </a:pPr>
            <a:r>
              <a:rPr lang="en-US" sz="1450" b="1" dirty="0">
                <a:solidFill>
                  <a:srgbClr val="1F2A3C"/>
                </a:solidFill>
                <a:latin typeface="Calibri" pitchFamily="34" charset="0"/>
                <a:ea typeface="Calibri" pitchFamily="34" charset="-122"/>
                <a:cs typeface="Calibri" pitchFamily="34" charset="-120"/>
              </a:rPr>
              <a:t>Edge AI / Efficient Inference</a:t>
            </a:r>
            <a:endParaRPr lang="en-US" sz="1450" dirty="0"/>
          </a:p>
        </p:txBody>
      </p:sp>
      <p:sp>
        <p:nvSpPr>
          <p:cNvPr id="6" name="Text 4"/>
          <p:cNvSpPr txBox="1"/>
          <p:nvPr/>
        </p:nvSpPr>
        <p:spPr>
          <a:xfrm>
            <a:off x="777240" y="2441448"/>
            <a:ext cx="4846320" cy="777240"/>
          </a:xfrm>
          <a:prstGeom prst="rect">
            <a:avLst/>
          </a:prstGeom>
          <a:noFill/>
          <a:ln/>
        </p:spPr>
        <p:txBody>
          <a:bodyPr wrap="square" rtlCol="0" anchor="t"/>
          <a:lstStyle/>
          <a:p>
            <a:pPr algn="l" indent="0" marL="0">
              <a:buNone/>
            </a:pPr>
            <a:r>
              <a:rPr lang="en-US" sz="1100" dirty="0">
                <a:solidFill>
                  <a:srgbClr val="6B7480"/>
                </a:solidFill>
                <a:latin typeface="Calibri" pitchFamily="34" charset="0"/>
                <a:ea typeface="Calibri" pitchFamily="34" charset="-122"/>
                <a:cs typeface="Calibri" pitchFamily="34" charset="-120"/>
              </a:rPr>
              <a:t>Resource-constrained deployment of ML workloads on devices.</a:t>
            </a:r>
            <a:endParaRPr lang="en-US" sz="1100" dirty="0"/>
          </a:p>
        </p:txBody>
      </p:sp>
      <p:sp>
        <p:nvSpPr>
          <p:cNvPr id="7" name="Shape 5"/>
          <p:cNvSpPr/>
          <p:nvPr/>
        </p:nvSpPr>
        <p:spPr>
          <a:xfrm>
            <a:off x="6263640" y="1783080"/>
            <a:ext cx="5394960" cy="1554480"/>
          </a:xfrm>
          <a:prstGeom prst="rect">
            <a:avLst/>
          </a:prstGeom>
          <a:solidFill>
            <a:srgbClr val="F4F6F8"/>
          </a:solidFill>
          <a:ln w="12700">
            <a:solidFill>
              <a:srgbClr val="D6DCE2"/>
            </a:solidFill>
            <a:prstDash val="solid"/>
          </a:ln>
        </p:spPr>
      </p:sp>
      <p:sp>
        <p:nvSpPr>
          <p:cNvPr id="8" name="Text 6"/>
          <p:cNvSpPr txBox="1"/>
          <p:nvPr/>
        </p:nvSpPr>
        <p:spPr>
          <a:xfrm>
            <a:off x="6537960" y="1984248"/>
            <a:ext cx="4846320" cy="411480"/>
          </a:xfrm>
          <a:prstGeom prst="rect">
            <a:avLst/>
          </a:prstGeom>
          <a:noFill/>
          <a:ln/>
        </p:spPr>
        <p:txBody>
          <a:bodyPr wrap="square" rtlCol="0" anchor="t"/>
          <a:lstStyle/>
          <a:p>
            <a:pPr algn="l" indent="0" marL="0">
              <a:buNone/>
            </a:pPr>
            <a:r>
              <a:rPr lang="en-US" sz="1450" b="1" dirty="0">
                <a:solidFill>
                  <a:srgbClr val="1F2A3C"/>
                </a:solidFill>
                <a:latin typeface="Calibri" pitchFamily="34" charset="0"/>
                <a:ea typeface="Calibri" pitchFamily="34" charset="-122"/>
                <a:cs typeface="Calibri" pitchFamily="34" charset="-120"/>
              </a:rPr>
              <a:t>Quantization / Reduced Precision</a:t>
            </a:r>
            <a:endParaRPr lang="en-US" sz="1450" dirty="0"/>
          </a:p>
        </p:txBody>
      </p:sp>
      <p:sp>
        <p:nvSpPr>
          <p:cNvPr id="9" name="Text 7"/>
          <p:cNvSpPr txBox="1"/>
          <p:nvPr/>
        </p:nvSpPr>
        <p:spPr>
          <a:xfrm>
            <a:off x="6537960" y="2441448"/>
            <a:ext cx="4846320" cy="777240"/>
          </a:xfrm>
          <a:prstGeom prst="rect">
            <a:avLst/>
          </a:prstGeom>
          <a:noFill/>
          <a:ln/>
        </p:spPr>
        <p:txBody>
          <a:bodyPr wrap="square" rtlCol="0" anchor="t"/>
          <a:lstStyle/>
          <a:p>
            <a:pPr algn="l" indent="0" marL="0">
              <a:buNone/>
            </a:pPr>
            <a:r>
              <a:rPr lang="en-US" sz="1100" dirty="0">
                <a:solidFill>
                  <a:srgbClr val="6B7480"/>
                </a:solidFill>
                <a:latin typeface="Calibri" pitchFamily="34" charset="0"/>
                <a:ea typeface="Calibri" pitchFamily="34" charset="-122"/>
                <a:cs typeface="Calibri" pitchFamily="34" charset="-120"/>
              </a:rPr>
              <a:t>Representing values/weights with fewer bits (e.g. INT8).</a:t>
            </a:r>
            <a:endParaRPr lang="en-US" sz="1100" dirty="0"/>
          </a:p>
        </p:txBody>
      </p:sp>
      <p:sp>
        <p:nvSpPr>
          <p:cNvPr id="10" name="Shape 8"/>
          <p:cNvSpPr/>
          <p:nvPr/>
        </p:nvSpPr>
        <p:spPr>
          <a:xfrm>
            <a:off x="502920" y="4434840"/>
            <a:ext cx="5394960" cy="1554480"/>
          </a:xfrm>
          <a:prstGeom prst="rect">
            <a:avLst/>
          </a:prstGeom>
          <a:solidFill>
            <a:srgbClr val="F4F6F8"/>
          </a:solidFill>
          <a:ln w="12700">
            <a:solidFill>
              <a:srgbClr val="D6DCE2"/>
            </a:solidFill>
            <a:prstDash val="solid"/>
          </a:ln>
        </p:spPr>
      </p:sp>
      <p:sp>
        <p:nvSpPr>
          <p:cNvPr id="11" name="Text 9"/>
          <p:cNvSpPr txBox="1"/>
          <p:nvPr/>
        </p:nvSpPr>
        <p:spPr>
          <a:xfrm>
            <a:off x="777240" y="4636008"/>
            <a:ext cx="4846320" cy="411480"/>
          </a:xfrm>
          <a:prstGeom prst="rect">
            <a:avLst/>
          </a:prstGeom>
          <a:noFill/>
          <a:ln/>
        </p:spPr>
        <p:txBody>
          <a:bodyPr wrap="square" rtlCol="0" anchor="t"/>
          <a:lstStyle/>
          <a:p>
            <a:pPr algn="l" indent="0" marL="0">
              <a:buNone/>
            </a:pPr>
            <a:r>
              <a:rPr lang="en-US" sz="1450" b="1" dirty="0">
                <a:solidFill>
                  <a:srgbClr val="1F2A3C"/>
                </a:solidFill>
                <a:latin typeface="Calibri" pitchFamily="34" charset="0"/>
                <a:ea typeface="Calibri" pitchFamily="34" charset="-122"/>
                <a:cs typeface="Calibri" pitchFamily="34" charset="-120"/>
              </a:rPr>
              <a:t>Compiler-Based Optimization</a:t>
            </a:r>
            <a:endParaRPr lang="en-US" sz="1450" dirty="0"/>
          </a:p>
        </p:txBody>
      </p:sp>
      <p:sp>
        <p:nvSpPr>
          <p:cNvPr id="12" name="Text 10"/>
          <p:cNvSpPr txBox="1"/>
          <p:nvPr/>
        </p:nvSpPr>
        <p:spPr>
          <a:xfrm>
            <a:off x="777240" y="5093208"/>
            <a:ext cx="4846320" cy="777240"/>
          </a:xfrm>
          <a:prstGeom prst="rect">
            <a:avLst/>
          </a:prstGeom>
          <a:noFill/>
          <a:ln/>
        </p:spPr>
        <p:txBody>
          <a:bodyPr wrap="square" rtlCol="0" anchor="t"/>
          <a:lstStyle/>
          <a:p>
            <a:pPr algn="l" indent="0" marL="0">
              <a:buNone/>
            </a:pPr>
            <a:r>
              <a:rPr lang="en-US" sz="1100" dirty="0">
                <a:solidFill>
                  <a:srgbClr val="6B7480"/>
                </a:solidFill>
                <a:latin typeface="Calibri" pitchFamily="34" charset="0"/>
                <a:ea typeface="Calibri" pitchFamily="34" charset="-122"/>
                <a:cs typeface="Calibri" pitchFamily="34" charset="-120"/>
              </a:rPr>
              <a:t>Using compiler passes/IR to drive performance transformations.</a:t>
            </a:r>
            <a:endParaRPr lang="en-US" sz="1100" dirty="0"/>
          </a:p>
        </p:txBody>
      </p:sp>
      <p:sp>
        <p:nvSpPr>
          <p:cNvPr id="13" name="Shape 11"/>
          <p:cNvSpPr/>
          <p:nvPr/>
        </p:nvSpPr>
        <p:spPr>
          <a:xfrm>
            <a:off x="6263640" y="4434840"/>
            <a:ext cx="5394960" cy="1554480"/>
          </a:xfrm>
          <a:prstGeom prst="rect">
            <a:avLst/>
          </a:prstGeom>
          <a:solidFill>
            <a:srgbClr val="F4F6F8"/>
          </a:solidFill>
          <a:ln w="12700">
            <a:solidFill>
              <a:srgbClr val="D6DCE2"/>
            </a:solidFill>
            <a:prstDash val="solid"/>
          </a:ln>
        </p:spPr>
      </p:sp>
      <p:sp>
        <p:nvSpPr>
          <p:cNvPr id="14" name="Text 12"/>
          <p:cNvSpPr txBox="1"/>
          <p:nvPr/>
        </p:nvSpPr>
        <p:spPr>
          <a:xfrm>
            <a:off x="6537960" y="4636008"/>
            <a:ext cx="4846320" cy="411480"/>
          </a:xfrm>
          <a:prstGeom prst="rect">
            <a:avLst/>
          </a:prstGeom>
          <a:noFill/>
          <a:ln/>
        </p:spPr>
        <p:txBody>
          <a:bodyPr wrap="square" rtlCol="0" anchor="t"/>
          <a:lstStyle/>
          <a:p>
            <a:pPr algn="l" indent="0" marL="0">
              <a:buNone/>
            </a:pPr>
            <a:r>
              <a:rPr lang="en-US" sz="1450" b="1" dirty="0">
                <a:solidFill>
                  <a:srgbClr val="1F2A3C"/>
                </a:solidFill>
                <a:latin typeface="Calibri" pitchFamily="34" charset="0"/>
                <a:ea typeface="Calibri" pitchFamily="34" charset="-122"/>
                <a:cs typeface="Calibri" pitchFamily="34" charset="-120"/>
              </a:rPr>
              <a:t>Static Analysis / SSA</a:t>
            </a:r>
            <a:endParaRPr lang="en-US" sz="1450" dirty="0"/>
          </a:p>
        </p:txBody>
      </p:sp>
      <p:sp>
        <p:nvSpPr>
          <p:cNvPr id="15" name="Text 13"/>
          <p:cNvSpPr txBox="1"/>
          <p:nvPr/>
        </p:nvSpPr>
        <p:spPr>
          <a:xfrm>
            <a:off x="6537960" y="5093208"/>
            <a:ext cx="4846320" cy="777240"/>
          </a:xfrm>
          <a:prstGeom prst="rect">
            <a:avLst/>
          </a:prstGeom>
          <a:noFill/>
          <a:ln/>
        </p:spPr>
        <p:txBody>
          <a:bodyPr wrap="square" rtlCol="0" anchor="t"/>
          <a:lstStyle/>
          <a:p>
            <a:pPr algn="l" indent="0" marL="0">
              <a:buNone/>
            </a:pPr>
            <a:r>
              <a:rPr lang="en-US" sz="1100" dirty="0">
                <a:solidFill>
                  <a:srgbClr val="6B7480"/>
                </a:solidFill>
                <a:latin typeface="Calibri" pitchFamily="34" charset="0"/>
                <a:ea typeface="Calibri" pitchFamily="34" charset="-122"/>
                <a:cs typeface="Calibri" pitchFamily="34" charset="-120"/>
              </a:rPr>
              <a:t>Flow-sensitive, provable reasoning over program values.</a:t>
            </a:r>
            <a:endParaRPr lang="en-US" sz="1100" dirty="0"/>
          </a:p>
        </p:txBody>
      </p:sp>
      <p:sp>
        <p:nvSpPr>
          <p:cNvPr id="16" name="Shape 14"/>
          <p:cNvSpPr/>
          <p:nvPr/>
        </p:nvSpPr>
        <p:spPr>
          <a:xfrm>
            <a:off x="4449928" y="3456432"/>
            <a:ext cx="3291840" cy="777240"/>
          </a:xfrm>
          <a:prstGeom prst="rect">
            <a:avLst/>
          </a:prstGeom>
          <a:solidFill>
            <a:srgbClr val="2E6E7E"/>
          </a:solidFill>
          <a:ln w="12700">
            <a:solidFill>
              <a:srgbClr val="2E6E7E"/>
            </a:solidFill>
            <a:prstDash val="solid"/>
          </a:ln>
        </p:spPr>
      </p:sp>
      <p:sp>
        <p:nvSpPr>
          <p:cNvPr id="17" name="Text 15"/>
          <p:cNvSpPr txBox="1"/>
          <p:nvPr/>
        </p:nvSpPr>
        <p:spPr>
          <a:xfrm>
            <a:off x="4587088" y="3456432"/>
            <a:ext cx="3017520" cy="7772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This Project — Intersection of all four areas</a:t>
            </a:r>
            <a:endParaRPr lang="en-US" sz="1200" dirty="0"/>
          </a:p>
        </p:txBody>
      </p:sp>
      <p:sp>
        <p:nvSpPr>
          <p:cNvPr id="18" name="Text 16"/>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9" name="Text 17"/>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LITERATURE SURVEY</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Key Related Work</a:t>
            </a:r>
            <a:endParaRPr lang="en-US" sz="2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92840" cy="914400"/>
        </p:xfrm>
        <a:graphic>
          <a:graphicData uri="http://schemas.openxmlformats.org/drawingml/2006/table">
            <a:tbl>
              <a:tblPr/>
              <a:tblGrid>
                <a:gridCol w="1965960"/>
                <a:gridCol w="3246120"/>
                <a:gridCol w="3063240"/>
                <a:gridCol w="3017520"/>
              </a:tblGrid>
              <a:tr h="475488">
                <a:tc>
                  <a:txBody>
                    <a:bodyPr/>
                    <a:lstStyle/>
                    <a:p>
                      <a:pPr indent="0" marL="0">
                        <a:buNone/>
                      </a:pPr>
                      <a:r>
                        <a:rPr lang="en-US" sz="1050" b="1" dirty="0">
                          <a:solidFill>
                            <a:srgbClr val="FFFFFF"/>
                          </a:solidFill>
                        </a:rPr>
                        <a:t>Work</a:t>
                      </a:r>
                      <a:endParaRPr lang="en-US" sz="10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indent="0" marL="0">
                        <a:buNone/>
                      </a:pPr>
                      <a:r>
                        <a:rPr lang="en-US" sz="1050" b="1" dirty="0">
                          <a:solidFill>
                            <a:srgbClr val="FFFFFF"/>
                          </a:solidFill>
                        </a:rPr>
                        <a:t>Main Idea</a:t>
                      </a:r>
                      <a:endParaRPr lang="en-US" sz="10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indent="0" marL="0">
                        <a:buNone/>
                      </a:pPr>
                      <a:r>
                        <a:rPr lang="en-US" sz="1050" b="1" dirty="0">
                          <a:solidFill>
                            <a:srgbClr val="FFFFFF"/>
                          </a:solidFill>
                        </a:rPr>
                        <a:t>Relevance</a:t>
                      </a:r>
                      <a:endParaRPr lang="en-US" sz="10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indent="0" marL="0">
                        <a:buNone/>
                      </a:pPr>
                      <a:r>
                        <a:rPr lang="en-US" sz="1050" b="1" dirty="0">
                          <a:solidFill>
                            <a:srgbClr val="FFFFFF"/>
                          </a:solidFill>
                        </a:rPr>
                        <a:t>Difference from Our Project</a:t>
                      </a:r>
                      <a:endParaRPr lang="en-US" sz="10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r>
              <a:tr h="475488">
                <a:tc>
                  <a:txBody>
                    <a:bodyPr/>
                    <a:lstStyle/>
                    <a:p>
                      <a:pPr indent="0" marL="0">
                        <a:buNone/>
                      </a:pPr>
                      <a:r>
                        <a:rPr lang="en-US" sz="950" b="1" dirty="0">
                          <a:solidFill>
                            <a:srgbClr val="23262B"/>
                          </a:solidFill>
                        </a:rPr>
                        <a:t>Jacob et al. [1]</a:t>
                      </a:r>
                      <a:endParaRPr lang="en-US" sz="950" dirty="0"/>
                    </a:p>
                    <a:p>
                      <a:pPr indent="0" marL="0">
                        <a:buNone/>
                      </a:pPr>
                      <a:r>
                        <a:rPr lang="en-US" sz="950" b="1" dirty="0">
                          <a:solidFill>
                            <a:srgbClr val="23262B"/>
                          </a:solidFill>
                        </a:rPr>
                        <a:t>CVPR 2018</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Integer-only inference with quantization-aware training</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Shows INT8 arithmetic can match FP32 accuracy</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Trains a full network; we statically analyze a program IR</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r>
              <a:tr h="475488">
                <a:tc>
                  <a:txBody>
                    <a:bodyPr/>
                    <a:lstStyle/>
                    <a:p>
                      <a:pPr indent="0" marL="0">
                        <a:buNone/>
                      </a:pPr>
                      <a:r>
                        <a:rPr lang="en-US" sz="950" b="1" dirty="0">
                          <a:solidFill>
                            <a:srgbClr val="23262B"/>
                          </a:solidFill>
                        </a:rPr>
                        <a:t>Krishnamoorthi [2]</a:t>
                      </a:r>
                      <a:endParaRPr lang="en-US" sz="950" dirty="0"/>
                    </a:p>
                    <a:p>
                      <a:pPr indent="0" marL="0">
                        <a:buNone/>
                      </a:pPr>
                      <a:r>
                        <a:rPr lang="en-US" sz="950" b="1" dirty="0">
                          <a:solidFill>
                            <a:srgbClr val="23262B"/>
                          </a:solidFill>
                        </a:rPr>
                        <a:t>arXiv 2018</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Practical guide to post-training &amp; QAT quantization</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Documents which value ranges are typically safe</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Empirical guidelines; we derive safety via static proof</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23262B"/>
                          </a:solidFill>
                        </a:rPr>
                        <a:t>Bourdoncle [3]</a:t>
                      </a:r>
                      <a:endParaRPr lang="en-US" sz="950" dirty="0"/>
                    </a:p>
                    <a:p>
                      <a:pPr indent="0" marL="0">
                        <a:buNone/>
                      </a:pPr>
                      <a:r>
                        <a:rPr lang="en-US" sz="950" b="1" dirty="0">
                          <a:solidFill>
                            <a:srgbClr val="23262B"/>
                          </a:solidFill>
                        </a:rPr>
                        <a:t>LNCS 1993</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Widening/narrowing for chaotic fixed-point iteration</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Basis for our loop-convergence / widening strategy</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General technique; applied here at small, teaching scale</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r>
              <a:tr h="475488">
                <a:tc>
                  <a:txBody>
                    <a:bodyPr/>
                    <a:lstStyle/>
                    <a:p>
                      <a:pPr indent="0" marL="0">
                        <a:buNone/>
                      </a:pPr>
                      <a:r>
                        <a:rPr lang="en-US" sz="950" b="1" dirty="0">
                          <a:solidFill>
                            <a:srgbClr val="23262B"/>
                          </a:solidFill>
                        </a:rPr>
                        <a:t>Zhou et al. [4]</a:t>
                      </a:r>
                      <a:endParaRPr lang="en-US" sz="950" dirty="0"/>
                    </a:p>
                    <a:p>
                      <a:pPr indent="0" marL="0">
                        <a:buNone/>
                      </a:pPr>
                      <a:r>
                        <a:rPr lang="en-US" sz="950" b="1" dirty="0">
                          <a:solidFill>
                            <a:srgbClr val="23262B"/>
                          </a:solidFill>
                        </a:rPr>
                        <a:t>Proc. IEEE 2019</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Edge intelligence: survey of on-device AI</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Frames the resource-constraint motivation for Edge AI</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Survey/motivation only; we build a compiler pipeline</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23262B"/>
                          </a:solidFill>
                        </a:rPr>
                        <a:t>Chen et al. (TVM) [5]</a:t>
                      </a:r>
                      <a:endParaRPr lang="en-US" sz="950" dirty="0"/>
                    </a:p>
                    <a:p>
                      <a:pPr indent="0" marL="0">
                        <a:buNone/>
                      </a:pPr>
                      <a:r>
                        <a:rPr lang="en-US" sz="950" b="1" dirty="0">
                          <a:solidFill>
                            <a:srgbClr val="23262B"/>
                          </a:solidFill>
                        </a:rPr>
                        <a:t>OSDI 2018</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End-to-end compiler for portable DL execution</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Shows compilers can drive precision/backend decisions</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Whole-framework compiler; ours is a teaching-scale one</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r>
              <a:tr h="475488">
                <a:tc>
                  <a:txBody>
                    <a:bodyPr/>
                    <a:lstStyle/>
                    <a:p>
                      <a:pPr indent="0" marL="0">
                        <a:buNone/>
                      </a:pPr>
                      <a:r>
                        <a:rPr lang="en-US" sz="950" b="1" dirty="0">
                          <a:solidFill>
                            <a:srgbClr val="23262B"/>
                          </a:solidFill>
                        </a:rPr>
                        <a:t>Cytron et al. [6]</a:t>
                      </a:r>
                      <a:endParaRPr lang="en-US" sz="950" dirty="0"/>
                    </a:p>
                    <a:p>
                      <a:pPr indent="0" marL="0">
                        <a:buNone/>
                      </a:pPr>
                      <a:r>
                        <a:rPr lang="en-US" sz="950" b="1" dirty="0">
                          <a:solidFill>
                            <a:srgbClr val="23262B"/>
                          </a:solidFill>
                        </a:rPr>
                        <a:t>ACM TOPLAS 1991</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Efficient construction of SSA form</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Provides the SSA construction our pipeline relies on</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General SSA algorithm; we add range/integrality analysis</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23262B"/>
                          </a:solidFill>
                        </a:rPr>
                        <a:t>Cousot &amp; Cousot [7]</a:t>
                      </a:r>
                      <a:endParaRPr lang="en-US" sz="950" dirty="0"/>
                    </a:p>
                    <a:p>
                      <a:pPr indent="0" marL="0">
                        <a:buNone/>
                      </a:pPr>
                      <a:r>
                        <a:rPr lang="en-US" sz="950" b="1" dirty="0">
                          <a:solidFill>
                            <a:srgbClr val="23262B"/>
                          </a:solidFill>
                        </a:rPr>
                        <a:t>POPL 1977</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Abstract interpretation and fixed-point analysis</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Theoretical basis for interval analysis over loops</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950" dirty="0">
                          <a:solidFill>
                            <a:srgbClr val="23262B"/>
                          </a:solidFill>
                        </a:rPr>
                        <a:t>General framework; we specialize it to INT8 safety</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r>
              <a:tr h="475488">
                <a:tc>
                  <a:txBody>
                    <a:bodyPr/>
                    <a:lstStyle/>
                    <a:p>
                      <a:pPr indent="0" marL="0">
                        <a:buNone/>
                      </a:pPr>
                      <a:r>
                        <a:rPr lang="en-US" sz="950" b="1" dirty="0">
                          <a:solidFill>
                            <a:srgbClr val="23262B"/>
                          </a:solidFill>
                        </a:rPr>
                        <a:t>Lattner &amp; Adve (LLVM) [8]</a:t>
                      </a:r>
                      <a:endParaRPr lang="en-US" sz="950" dirty="0"/>
                    </a:p>
                    <a:p>
                      <a:pPr indent="0" marL="0">
                        <a:buNone/>
                      </a:pPr>
                      <a:r>
                        <a:rPr lang="en-US" sz="950" b="1" dirty="0">
                          <a:solidFill>
                            <a:srgbClr val="23262B"/>
                          </a:solidFill>
                        </a:rPr>
                        <a:t>CGO 2004</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SSA-based IR for lifelong optimization</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Shows SSA IR scales to a production compiler</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950" dirty="0">
                          <a:solidFill>
                            <a:srgbClr val="23262B"/>
                          </a:solidFill>
                        </a:rPr>
                        <a:t>Full compiler infrastructure; ours is single-purpose</a:t>
                      </a:r>
                      <a:endParaRPr lang="en-US" sz="9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263640"/>
            <a:ext cx="11292840" cy="320040"/>
          </a:xfrm>
          <a:prstGeom prst="rect">
            <a:avLst/>
          </a:prstGeom>
          <a:noFill/>
          <a:ln/>
        </p:spPr>
        <p:txBody>
          <a:bodyPr wrap="square" rtlCol="0" anchor="t"/>
          <a:lstStyle/>
          <a:p>
            <a:pPr algn="l" indent="0" marL="0">
              <a:buNone/>
            </a:pPr>
            <a:r>
              <a:rPr lang="en-US" sz="730" i="1" dirty="0">
                <a:solidFill>
                  <a:srgbClr val="6B7480"/>
                </a:solidFill>
                <a:latin typeface="Calibri" pitchFamily="34" charset="0"/>
                <a:ea typeface="Calibri" pitchFamily="34" charset="-122"/>
                <a:cs typeface="Calibri" pitchFamily="34" charset="-120"/>
              </a:rPr>
              <a:t>[1] Jacob et al., CVPR 2018 • [2] Krishnamoorthi, arXiv:1806.08342, 2018 • [3] Bourdoncle, LNCS 735, 1993 • [4] Zhou et al., Proc. IEEE, 2019 • [5] Chen et al., OSDI 2018 • [6] Cytron et al., ACM TOPLAS, 1991 • [7] Cousot &amp; Cousot, POPL 1977 • [8] Lattner &amp; Adve, CGO 2004</a:t>
            </a:r>
            <a:endParaRPr lang="en-US" sz="7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POSITIONING</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Where This Project Fits</a:t>
            </a:r>
            <a:endParaRPr lang="en-US" sz="2900" dirty="0"/>
          </a:p>
        </p:txBody>
      </p:sp>
      <p:sp>
        <p:nvSpPr>
          <p:cNvPr id="4" name="Text 2"/>
          <p:cNvSpPr txBox="1"/>
          <p:nvPr/>
        </p:nvSpPr>
        <p:spPr>
          <a:xfrm>
            <a:off x="548640" y="1828800"/>
            <a:ext cx="5029200" cy="3017520"/>
          </a:xfrm>
          <a:prstGeom prst="rect">
            <a:avLst/>
          </a:prstGeom>
          <a:noFill/>
          <a:ln/>
        </p:spPr>
        <p:txBody>
          <a:bodyPr wrap="square" rtlCol="0" anchor="t"/>
          <a:lstStyle/>
          <a:p>
            <a:pPr algn="l" indent="0" marL="0">
              <a:lnSpc>
                <a:spcPct val="125000"/>
              </a:lnSpc>
              <a:buNone/>
            </a:pPr>
            <a:r>
              <a:rPr lang="en-US" sz="1300" dirty="0">
                <a:solidFill>
                  <a:srgbClr val="23262B"/>
                </a:solidFill>
                <a:latin typeface="Calibri" pitchFamily="34" charset="0"/>
                <a:ea typeface="Calibri" pitchFamily="34" charset="-122"/>
                <a:cs typeface="Calibri" pitchFamily="34" charset="-120"/>
              </a:rPr>
              <a:t>Existing industrial and research systems for quantization typically operate at a substantially larger model, compiler, or framework scale (e.g. whole deep-learning compilers or training frameworks).</a:t>
            </a:r>
            <a:endParaRPr lang="en-US" sz="1300" dirty="0"/>
          </a:p>
          <a:p>
            <a:pPr algn="l" indent="0" marL="0">
              <a:lnSpc>
                <a:spcPct val="125000"/>
              </a:lnSpc>
              <a:buNone/>
            </a:pPr>
            <a:endParaRPr lang="en-US" sz="1300" dirty="0"/>
          </a:p>
          <a:p>
            <a:pPr algn="l" indent="0" marL="0">
              <a:lnSpc>
                <a:spcPct val="125000"/>
              </a:lnSpc>
              <a:buNone/>
            </a:pPr>
            <a:r>
              <a:rPr lang="en-US" sz="1300" dirty="0">
                <a:solidFill>
                  <a:srgbClr val="23262B"/>
                </a:solidFill>
                <a:latin typeface="Calibri" pitchFamily="34" charset="0"/>
                <a:ea typeface="Calibri" pitchFamily="34" charset="-122"/>
                <a:cs typeface="Calibri" pitchFamily="34" charset="-120"/>
              </a:rPr>
              <a:t>This project instead focuses on a small, explainable compiler pipeline in which every quantization decision is directly justified by SSA structure, static range analysis, and integrality checking — making the underlying optimization principle easy to inspect and verify.</a:t>
            </a:r>
            <a:endParaRPr lang="en-US" sz="1300" dirty="0"/>
          </a:p>
        </p:txBody>
      </p:sp>
      <p:sp>
        <p:nvSpPr>
          <p:cNvPr id="5" name="Shape 3"/>
          <p:cNvSpPr/>
          <p:nvPr/>
        </p:nvSpPr>
        <p:spPr>
          <a:xfrm>
            <a:off x="6126480" y="1965960"/>
            <a:ext cx="5394960" cy="960120"/>
          </a:xfrm>
          <a:prstGeom prst="rect">
            <a:avLst/>
          </a:prstGeom>
          <a:solidFill>
            <a:srgbClr val="F4F6F8"/>
          </a:solidFill>
          <a:ln w="12700">
            <a:solidFill>
              <a:srgbClr val="1F2A3C"/>
            </a:solidFill>
            <a:prstDash val="solid"/>
          </a:ln>
        </p:spPr>
      </p:sp>
      <p:sp>
        <p:nvSpPr>
          <p:cNvPr id="6" name="Text 4"/>
          <p:cNvSpPr txBox="1"/>
          <p:nvPr/>
        </p:nvSpPr>
        <p:spPr>
          <a:xfrm>
            <a:off x="6153912" y="1965960"/>
            <a:ext cx="5340096" cy="960120"/>
          </a:xfrm>
          <a:prstGeom prst="rect">
            <a:avLst/>
          </a:prstGeom>
          <a:noFill/>
          <a:ln/>
        </p:spPr>
        <p:txBody>
          <a:bodyPr wrap="square" lIns="0" tIns="0" rIns="0" bIns="0" rtlCol="0" anchor="ctr"/>
          <a:lstStyle/>
          <a:p>
            <a:pPr algn="ctr" indent="0" marL="0">
              <a:buNone/>
            </a:pPr>
            <a:r>
              <a:rPr lang="en-US" sz="1250" b="1" dirty="0">
                <a:solidFill>
                  <a:srgbClr val="1F2A3C"/>
                </a:solidFill>
                <a:latin typeface="Calibri" pitchFamily="34" charset="0"/>
                <a:ea typeface="Calibri" pitchFamily="34" charset="-122"/>
                <a:cs typeface="Calibri" pitchFamily="34" charset="-120"/>
              </a:rPr>
              <a:t>Existing Systems</a:t>
            </a:r>
            <a:endParaRPr lang="en-US" sz="1250" dirty="0"/>
          </a:p>
          <a:p>
            <a:pPr algn="ctr" indent="0" marL="0">
              <a:buNone/>
            </a:pPr>
            <a:r>
              <a:rPr lang="en-US" sz="1250" b="1" dirty="0">
                <a:solidFill>
                  <a:srgbClr val="1F2A3C"/>
                </a:solidFill>
                <a:latin typeface="Calibri" pitchFamily="34" charset="0"/>
                <a:ea typeface="Calibri" pitchFamily="34" charset="-122"/>
                <a:cs typeface="Calibri" pitchFamily="34" charset="-120"/>
              </a:rPr>
              <a:t>Framework / Model / Compiler Scale</a:t>
            </a:r>
            <a:endParaRPr lang="en-US" sz="1250" dirty="0"/>
          </a:p>
        </p:txBody>
      </p:sp>
      <p:sp>
        <p:nvSpPr>
          <p:cNvPr id="7" name="Shape 5"/>
          <p:cNvSpPr/>
          <p:nvPr/>
        </p:nvSpPr>
        <p:spPr>
          <a:xfrm>
            <a:off x="8823960" y="2926080"/>
            <a:ext cx="0" cy="502920"/>
          </a:xfrm>
          <a:prstGeom prst="line">
            <a:avLst/>
          </a:prstGeom>
          <a:noFill/>
          <a:ln w="19050">
            <a:solidFill>
              <a:srgbClr val="6B7480"/>
            </a:solidFill>
            <a:prstDash val="solid"/>
            <a:tailEnd type="triangle"/>
          </a:ln>
        </p:spPr>
      </p:sp>
      <p:sp>
        <p:nvSpPr>
          <p:cNvPr id="8" name="Shape 6"/>
          <p:cNvSpPr/>
          <p:nvPr/>
        </p:nvSpPr>
        <p:spPr>
          <a:xfrm>
            <a:off x="6126480" y="3429000"/>
            <a:ext cx="5394960" cy="1691640"/>
          </a:xfrm>
          <a:prstGeom prst="rect">
            <a:avLst/>
          </a:prstGeom>
          <a:solidFill>
            <a:srgbClr val="E4EEF0"/>
          </a:solidFill>
          <a:ln w="19050">
            <a:solidFill>
              <a:srgbClr val="2E6E7E"/>
            </a:solidFill>
            <a:prstDash val="solid"/>
          </a:ln>
        </p:spPr>
      </p:sp>
      <p:sp>
        <p:nvSpPr>
          <p:cNvPr id="9" name="Text 7"/>
          <p:cNvSpPr txBox="1"/>
          <p:nvPr/>
        </p:nvSpPr>
        <p:spPr>
          <a:xfrm>
            <a:off x="6400800" y="3566160"/>
            <a:ext cx="4846320" cy="365760"/>
          </a:xfrm>
          <a:prstGeom prst="rect">
            <a:avLst/>
          </a:prstGeom>
          <a:noFill/>
          <a:ln/>
        </p:spPr>
        <p:txBody>
          <a:bodyPr wrap="square" rtlCol="0" anchor="t"/>
          <a:lstStyle/>
          <a:p>
            <a:pPr algn="ctr" indent="0" marL="0">
              <a:buNone/>
            </a:pPr>
            <a:r>
              <a:rPr lang="en-US" sz="1400" b="1" dirty="0">
                <a:solidFill>
                  <a:srgbClr val="2E6E7E"/>
                </a:solidFill>
                <a:latin typeface="Calibri" pitchFamily="34" charset="0"/>
                <a:ea typeface="Calibri" pitchFamily="34" charset="-122"/>
                <a:cs typeface="Calibri" pitchFamily="34" charset="-120"/>
              </a:rPr>
              <a:t>PROPOSED FOCUS</a:t>
            </a:r>
            <a:endParaRPr lang="en-US" sz="1400" dirty="0"/>
          </a:p>
        </p:txBody>
      </p:sp>
      <p:sp>
        <p:nvSpPr>
          <p:cNvPr id="10" name="Text 8"/>
          <p:cNvSpPr txBox="1"/>
          <p:nvPr/>
        </p:nvSpPr>
        <p:spPr>
          <a:xfrm>
            <a:off x="6400800" y="3931920"/>
            <a:ext cx="4846320" cy="1097280"/>
          </a:xfrm>
          <a:prstGeom prst="rect">
            <a:avLst/>
          </a:prstGeom>
          <a:noFill/>
          <a:ln/>
        </p:spPr>
        <p:txBody>
          <a:bodyPr wrap="square" rtlCol="0" anchor="ctr"/>
          <a:lstStyle/>
          <a:p>
            <a:pPr algn="ctr" indent="0" marL="0">
              <a:lnSpc>
                <a:spcPct val="130000"/>
              </a:lnSpc>
              <a:buNone/>
            </a:pPr>
            <a:r>
              <a:rPr lang="en-US" sz="1250" b="1" dirty="0">
                <a:solidFill>
                  <a:srgbClr val="1F2A3C"/>
                </a:solidFill>
                <a:latin typeface="Calibri" pitchFamily="34" charset="0"/>
                <a:ea typeface="Calibri" pitchFamily="34" charset="-122"/>
                <a:cs typeface="Calibri" pitchFamily="34" charset="-120"/>
              </a:rPr>
              <a:t>SSA  +  Range &amp; Integrality Analysis  +  INT8 Safety Checking</a:t>
            </a:r>
            <a:endParaRPr lang="en-US" sz="1250" dirty="0"/>
          </a:p>
        </p:txBody>
      </p:sp>
      <p:sp>
        <p:nvSpPr>
          <p:cNvPr id="11" name="Text 9"/>
          <p:cNvSpPr txBox="1"/>
          <p:nvPr/>
        </p:nvSpPr>
        <p:spPr>
          <a:xfrm>
            <a:off x="6126480" y="5257800"/>
            <a:ext cx="5394960" cy="457200"/>
          </a:xfrm>
          <a:prstGeom prst="rect">
            <a:avLst/>
          </a:prstGeom>
          <a:noFill/>
          <a:ln/>
        </p:spPr>
        <p:txBody>
          <a:bodyPr wrap="square" rtlCol="0" anchor="t"/>
          <a:lstStyle/>
          <a:p>
            <a:pPr algn="ctr" indent="0" marL="0">
              <a:buNone/>
            </a:pPr>
            <a:r>
              <a:rPr lang="en-US" sz="1050" i="1" dirty="0">
                <a:solidFill>
                  <a:srgbClr val="6B7480"/>
                </a:solidFill>
                <a:latin typeface="Calibri" pitchFamily="34" charset="0"/>
                <a:ea typeface="Calibri" pitchFamily="34" charset="-122"/>
                <a:cs typeface="Calibri" pitchFamily="34" charset="-120"/>
              </a:rPr>
              <a:t>Explainable compiler IR + static safety analysis + safe precision reduction</a:t>
            </a:r>
            <a:endParaRPr lang="en-US" sz="1050" dirty="0"/>
          </a:p>
        </p:txBody>
      </p:sp>
      <p:sp>
        <p:nvSpPr>
          <p:cNvPr id="12" name="Text 10"/>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3" name="Text 11"/>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Compiler Pipeline Architecture</a:t>
            </a:r>
            <a:endParaRPr lang="en-US" sz="2900" dirty="0"/>
          </a:p>
        </p:txBody>
      </p:sp>
      <p:sp>
        <p:nvSpPr>
          <p:cNvPr id="4" name="Shape 2"/>
          <p:cNvSpPr/>
          <p:nvPr/>
        </p:nvSpPr>
        <p:spPr>
          <a:xfrm>
            <a:off x="457200" y="1965960"/>
            <a:ext cx="1472184" cy="868680"/>
          </a:xfrm>
          <a:prstGeom prst="rect">
            <a:avLst/>
          </a:prstGeom>
          <a:solidFill>
            <a:srgbClr val="FFFFFF"/>
          </a:solidFill>
          <a:ln w="12700">
            <a:solidFill>
              <a:srgbClr val="1F2A3C"/>
            </a:solidFill>
            <a:prstDash val="solid"/>
          </a:ln>
        </p:spPr>
      </p:sp>
      <p:sp>
        <p:nvSpPr>
          <p:cNvPr id="5" name="Text 3"/>
          <p:cNvSpPr txBox="1"/>
          <p:nvPr/>
        </p:nvSpPr>
        <p:spPr>
          <a:xfrm>
            <a:off x="484632" y="196596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Source</a:t>
            </a:r>
            <a:endParaRPr lang="en-US" sz="950" dirty="0"/>
          </a:p>
          <a:p>
            <a:pPr algn="ctr" indent="0" marL="0">
              <a:buNone/>
            </a:pPr>
            <a:r>
              <a:rPr lang="en-US" sz="950" b="1" dirty="0">
                <a:solidFill>
                  <a:srgbClr val="1F2A3C"/>
                </a:solidFill>
                <a:latin typeface="Calibri" pitchFamily="34" charset="0"/>
                <a:ea typeface="Calibri" pitchFamily="34" charset="-122"/>
                <a:cs typeface="Calibri" pitchFamily="34" charset="-120"/>
              </a:rPr>
              <a:t>Program</a:t>
            </a:r>
            <a:endParaRPr lang="en-US" sz="950" dirty="0"/>
          </a:p>
        </p:txBody>
      </p:sp>
      <p:sp>
        <p:nvSpPr>
          <p:cNvPr id="6" name="Shape 4"/>
          <p:cNvSpPr/>
          <p:nvPr/>
        </p:nvSpPr>
        <p:spPr>
          <a:xfrm>
            <a:off x="1929384" y="2400300"/>
            <a:ext cx="164592" cy="0"/>
          </a:xfrm>
          <a:prstGeom prst="line">
            <a:avLst/>
          </a:prstGeom>
          <a:noFill/>
          <a:ln w="13970">
            <a:solidFill>
              <a:srgbClr val="6B7480"/>
            </a:solidFill>
            <a:prstDash val="solid"/>
            <a:tailEnd type="triangle"/>
          </a:ln>
        </p:spPr>
      </p:sp>
      <p:sp>
        <p:nvSpPr>
          <p:cNvPr id="7" name="Shape 5"/>
          <p:cNvSpPr/>
          <p:nvPr/>
        </p:nvSpPr>
        <p:spPr>
          <a:xfrm>
            <a:off x="2093976" y="1965960"/>
            <a:ext cx="1472184" cy="868680"/>
          </a:xfrm>
          <a:prstGeom prst="rect">
            <a:avLst/>
          </a:prstGeom>
          <a:solidFill>
            <a:srgbClr val="FFFFFF"/>
          </a:solidFill>
          <a:ln w="12700">
            <a:solidFill>
              <a:srgbClr val="1F2A3C"/>
            </a:solidFill>
            <a:prstDash val="solid"/>
          </a:ln>
        </p:spPr>
      </p:sp>
      <p:sp>
        <p:nvSpPr>
          <p:cNvPr id="8" name="Text 6"/>
          <p:cNvSpPr txBox="1"/>
          <p:nvPr/>
        </p:nvSpPr>
        <p:spPr>
          <a:xfrm>
            <a:off x="2121408" y="196596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Lexer</a:t>
            </a:r>
            <a:endParaRPr lang="en-US" sz="950" dirty="0"/>
          </a:p>
        </p:txBody>
      </p:sp>
      <p:sp>
        <p:nvSpPr>
          <p:cNvPr id="9" name="Shape 7"/>
          <p:cNvSpPr/>
          <p:nvPr/>
        </p:nvSpPr>
        <p:spPr>
          <a:xfrm>
            <a:off x="3566160" y="2400300"/>
            <a:ext cx="164592" cy="0"/>
          </a:xfrm>
          <a:prstGeom prst="line">
            <a:avLst/>
          </a:prstGeom>
          <a:noFill/>
          <a:ln w="13970">
            <a:solidFill>
              <a:srgbClr val="6B7480"/>
            </a:solidFill>
            <a:prstDash val="solid"/>
            <a:tailEnd type="triangle"/>
          </a:ln>
        </p:spPr>
      </p:sp>
      <p:sp>
        <p:nvSpPr>
          <p:cNvPr id="10" name="Shape 8"/>
          <p:cNvSpPr/>
          <p:nvPr/>
        </p:nvSpPr>
        <p:spPr>
          <a:xfrm>
            <a:off x="3730752" y="1965960"/>
            <a:ext cx="1472184" cy="868680"/>
          </a:xfrm>
          <a:prstGeom prst="rect">
            <a:avLst/>
          </a:prstGeom>
          <a:solidFill>
            <a:srgbClr val="FFFFFF"/>
          </a:solidFill>
          <a:ln w="12700">
            <a:solidFill>
              <a:srgbClr val="1F2A3C"/>
            </a:solidFill>
            <a:prstDash val="solid"/>
          </a:ln>
        </p:spPr>
      </p:sp>
      <p:sp>
        <p:nvSpPr>
          <p:cNvPr id="11" name="Text 9"/>
          <p:cNvSpPr txBox="1"/>
          <p:nvPr/>
        </p:nvSpPr>
        <p:spPr>
          <a:xfrm>
            <a:off x="3758184" y="196596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Parser</a:t>
            </a:r>
            <a:endParaRPr lang="en-US" sz="950" dirty="0"/>
          </a:p>
        </p:txBody>
      </p:sp>
      <p:sp>
        <p:nvSpPr>
          <p:cNvPr id="12" name="Shape 10"/>
          <p:cNvSpPr/>
          <p:nvPr/>
        </p:nvSpPr>
        <p:spPr>
          <a:xfrm>
            <a:off x="5202936" y="2400300"/>
            <a:ext cx="164592" cy="0"/>
          </a:xfrm>
          <a:prstGeom prst="line">
            <a:avLst/>
          </a:prstGeom>
          <a:noFill/>
          <a:ln w="13970">
            <a:solidFill>
              <a:srgbClr val="6B7480"/>
            </a:solidFill>
            <a:prstDash val="solid"/>
            <a:tailEnd type="triangle"/>
          </a:ln>
        </p:spPr>
      </p:sp>
      <p:sp>
        <p:nvSpPr>
          <p:cNvPr id="13" name="Shape 11"/>
          <p:cNvSpPr/>
          <p:nvPr/>
        </p:nvSpPr>
        <p:spPr>
          <a:xfrm>
            <a:off x="5367528" y="1965960"/>
            <a:ext cx="1472184" cy="868680"/>
          </a:xfrm>
          <a:prstGeom prst="rect">
            <a:avLst/>
          </a:prstGeom>
          <a:solidFill>
            <a:srgbClr val="FFFFFF"/>
          </a:solidFill>
          <a:ln w="12700">
            <a:solidFill>
              <a:srgbClr val="1F2A3C"/>
            </a:solidFill>
            <a:prstDash val="solid"/>
          </a:ln>
        </p:spPr>
      </p:sp>
      <p:sp>
        <p:nvSpPr>
          <p:cNvPr id="14" name="Text 12"/>
          <p:cNvSpPr txBox="1"/>
          <p:nvPr/>
        </p:nvSpPr>
        <p:spPr>
          <a:xfrm>
            <a:off x="5394960" y="196596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AST</a:t>
            </a:r>
            <a:endParaRPr lang="en-US" sz="950" dirty="0"/>
          </a:p>
        </p:txBody>
      </p:sp>
      <p:sp>
        <p:nvSpPr>
          <p:cNvPr id="15" name="Shape 13"/>
          <p:cNvSpPr/>
          <p:nvPr/>
        </p:nvSpPr>
        <p:spPr>
          <a:xfrm>
            <a:off x="6839712" y="2400300"/>
            <a:ext cx="164592" cy="0"/>
          </a:xfrm>
          <a:prstGeom prst="line">
            <a:avLst/>
          </a:prstGeom>
          <a:noFill/>
          <a:ln w="13970">
            <a:solidFill>
              <a:srgbClr val="6B7480"/>
            </a:solidFill>
            <a:prstDash val="solid"/>
            <a:tailEnd type="triangle"/>
          </a:ln>
        </p:spPr>
      </p:sp>
      <p:sp>
        <p:nvSpPr>
          <p:cNvPr id="16" name="Shape 14"/>
          <p:cNvSpPr/>
          <p:nvPr/>
        </p:nvSpPr>
        <p:spPr>
          <a:xfrm>
            <a:off x="7004304" y="1965960"/>
            <a:ext cx="1472184" cy="868680"/>
          </a:xfrm>
          <a:prstGeom prst="rect">
            <a:avLst/>
          </a:prstGeom>
          <a:solidFill>
            <a:srgbClr val="FFFFFF"/>
          </a:solidFill>
          <a:ln w="12700">
            <a:solidFill>
              <a:srgbClr val="1F2A3C"/>
            </a:solidFill>
            <a:prstDash val="solid"/>
          </a:ln>
        </p:spPr>
      </p:sp>
      <p:sp>
        <p:nvSpPr>
          <p:cNvPr id="17" name="Text 15"/>
          <p:cNvSpPr txBox="1"/>
          <p:nvPr/>
        </p:nvSpPr>
        <p:spPr>
          <a:xfrm>
            <a:off x="7031736" y="196596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Semantic</a:t>
            </a:r>
            <a:endParaRPr lang="en-US" sz="950" dirty="0"/>
          </a:p>
          <a:p>
            <a:pPr algn="ctr" indent="0" marL="0">
              <a:buNone/>
            </a:pPr>
            <a:r>
              <a:rPr lang="en-US" sz="950" b="1" dirty="0">
                <a:solidFill>
                  <a:srgbClr val="1F2A3C"/>
                </a:solidFill>
                <a:latin typeface="Calibri" pitchFamily="34" charset="0"/>
                <a:ea typeface="Calibri" pitchFamily="34" charset="-122"/>
                <a:cs typeface="Calibri" pitchFamily="34" charset="-120"/>
              </a:rPr>
              <a:t>Analysis</a:t>
            </a:r>
            <a:endParaRPr lang="en-US" sz="950" dirty="0"/>
          </a:p>
        </p:txBody>
      </p:sp>
      <p:sp>
        <p:nvSpPr>
          <p:cNvPr id="18" name="Shape 16"/>
          <p:cNvSpPr/>
          <p:nvPr/>
        </p:nvSpPr>
        <p:spPr>
          <a:xfrm>
            <a:off x="8476488" y="2400300"/>
            <a:ext cx="164592" cy="0"/>
          </a:xfrm>
          <a:prstGeom prst="line">
            <a:avLst/>
          </a:prstGeom>
          <a:noFill/>
          <a:ln w="13970">
            <a:solidFill>
              <a:srgbClr val="6B7480"/>
            </a:solidFill>
            <a:prstDash val="solid"/>
            <a:tailEnd type="triangle"/>
          </a:ln>
        </p:spPr>
      </p:sp>
      <p:sp>
        <p:nvSpPr>
          <p:cNvPr id="19" name="Shape 17"/>
          <p:cNvSpPr/>
          <p:nvPr/>
        </p:nvSpPr>
        <p:spPr>
          <a:xfrm>
            <a:off x="8641080" y="1965960"/>
            <a:ext cx="1472184" cy="868680"/>
          </a:xfrm>
          <a:prstGeom prst="rect">
            <a:avLst/>
          </a:prstGeom>
          <a:solidFill>
            <a:srgbClr val="FFFFFF"/>
          </a:solidFill>
          <a:ln w="12700">
            <a:solidFill>
              <a:srgbClr val="1F2A3C"/>
            </a:solidFill>
            <a:prstDash val="solid"/>
          </a:ln>
        </p:spPr>
      </p:sp>
      <p:sp>
        <p:nvSpPr>
          <p:cNvPr id="20" name="Text 18"/>
          <p:cNvSpPr txBox="1"/>
          <p:nvPr/>
        </p:nvSpPr>
        <p:spPr>
          <a:xfrm>
            <a:off x="8668512" y="196596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TAC</a:t>
            </a:r>
            <a:endParaRPr lang="en-US" sz="950" dirty="0"/>
          </a:p>
        </p:txBody>
      </p:sp>
      <p:sp>
        <p:nvSpPr>
          <p:cNvPr id="21" name="Shape 19"/>
          <p:cNvSpPr/>
          <p:nvPr/>
        </p:nvSpPr>
        <p:spPr>
          <a:xfrm>
            <a:off x="10113264" y="2400300"/>
            <a:ext cx="164592" cy="0"/>
          </a:xfrm>
          <a:prstGeom prst="line">
            <a:avLst/>
          </a:prstGeom>
          <a:noFill/>
          <a:ln w="13970">
            <a:solidFill>
              <a:srgbClr val="6B7480"/>
            </a:solidFill>
            <a:prstDash val="solid"/>
            <a:tailEnd type="triangle"/>
          </a:ln>
        </p:spPr>
      </p:sp>
      <p:sp>
        <p:nvSpPr>
          <p:cNvPr id="22" name="Shape 20"/>
          <p:cNvSpPr/>
          <p:nvPr/>
        </p:nvSpPr>
        <p:spPr>
          <a:xfrm>
            <a:off x="10277856" y="1965960"/>
            <a:ext cx="1472184" cy="868680"/>
          </a:xfrm>
          <a:prstGeom prst="rect">
            <a:avLst/>
          </a:prstGeom>
          <a:solidFill>
            <a:srgbClr val="FFFFFF"/>
          </a:solidFill>
          <a:ln w="12700">
            <a:solidFill>
              <a:srgbClr val="1F2A3C"/>
            </a:solidFill>
            <a:prstDash val="solid"/>
          </a:ln>
        </p:spPr>
      </p:sp>
      <p:sp>
        <p:nvSpPr>
          <p:cNvPr id="23" name="Text 21"/>
          <p:cNvSpPr txBox="1"/>
          <p:nvPr/>
        </p:nvSpPr>
        <p:spPr>
          <a:xfrm>
            <a:off x="10305288" y="196596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Basic Blocks</a:t>
            </a:r>
            <a:endParaRPr lang="en-US" sz="950" dirty="0"/>
          </a:p>
          <a:p>
            <a:pPr algn="ctr" indent="0" marL="0">
              <a:buNone/>
            </a:pPr>
            <a:r>
              <a:rPr lang="en-US" sz="950" b="1" dirty="0">
                <a:solidFill>
                  <a:srgbClr val="1F2A3C"/>
                </a:solidFill>
                <a:latin typeface="Calibri" pitchFamily="34" charset="0"/>
                <a:ea typeface="Calibri" pitchFamily="34" charset="-122"/>
                <a:cs typeface="Calibri" pitchFamily="34" charset="-120"/>
              </a:rPr>
              <a:t>/ CFG</a:t>
            </a:r>
            <a:endParaRPr lang="en-US" sz="950" dirty="0"/>
          </a:p>
        </p:txBody>
      </p:sp>
      <p:sp>
        <p:nvSpPr>
          <p:cNvPr id="24" name="Shape 22"/>
          <p:cNvSpPr/>
          <p:nvPr/>
        </p:nvSpPr>
        <p:spPr>
          <a:xfrm>
            <a:off x="457200" y="3520440"/>
            <a:ext cx="1472184" cy="868680"/>
          </a:xfrm>
          <a:prstGeom prst="rect">
            <a:avLst/>
          </a:prstGeom>
          <a:solidFill>
            <a:srgbClr val="2E6E7E"/>
          </a:solidFill>
          <a:ln w="12700">
            <a:solidFill>
              <a:srgbClr val="2E6E7E"/>
            </a:solidFill>
            <a:prstDash val="solid"/>
          </a:ln>
        </p:spPr>
      </p:sp>
      <p:sp>
        <p:nvSpPr>
          <p:cNvPr id="25" name="Text 23"/>
          <p:cNvSpPr txBox="1"/>
          <p:nvPr/>
        </p:nvSpPr>
        <p:spPr>
          <a:xfrm>
            <a:off x="484632" y="3520440"/>
            <a:ext cx="1417320"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SSA</a:t>
            </a:r>
            <a:endParaRPr lang="en-US" sz="950" dirty="0"/>
          </a:p>
        </p:txBody>
      </p:sp>
      <p:sp>
        <p:nvSpPr>
          <p:cNvPr id="26" name="Shape 24"/>
          <p:cNvSpPr/>
          <p:nvPr/>
        </p:nvSpPr>
        <p:spPr>
          <a:xfrm>
            <a:off x="1929384" y="3954780"/>
            <a:ext cx="164592" cy="0"/>
          </a:xfrm>
          <a:prstGeom prst="line">
            <a:avLst/>
          </a:prstGeom>
          <a:noFill/>
          <a:ln w="13970">
            <a:solidFill>
              <a:srgbClr val="6B7480"/>
            </a:solidFill>
            <a:prstDash val="solid"/>
            <a:tailEnd type="triangle"/>
          </a:ln>
        </p:spPr>
      </p:sp>
      <p:sp>
        <p:nvSpPr>
          <p:cNvPr id="27" name="Shape 25"/>
          <p:cNvSpPr/>
          <p:nvPr/>
        </p:nvSpPr>
        <p:spPr>
          <a:xfrm>
            <a:off x="2093976" y="3520440"/>
            <a:ext cx="1472184" cy="868680"/>
          </a:xfrm>
          <a:prstGeom prst="rect">
            <a:avLst/>
          </a:prstGeom>
          <a:solidFill>
            <a:srgbClr val="2E6E7E"/>
          </a:solidFill>
          <a:ln w="12700">
            <a:solidFill>
              <a:srgbClr val="2E6E7E"/>
            </a:solidFill>
            <a:prstDash val="solid"/>
          </a:ln>
        </p:spPr>
      </p:sp>
      <p:sp>
        <p:nvSpPr>
          <p:cNvPr id="28" name="Text 26"/>
          <p:cNvSpPr txBox="1"/>
          <p:nvPr/>
        </p:nvSpPr>
        <p:spPr>
          <a:xfrm>
            <a:off x="2121408" y="3520440"/>
            <a:ext cx="1417320"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Range +</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Integrality Analysis</a:t>
            </a:r>
            <a:endParaRPr lang="en-US" sz="950" dirty="0"/>
          </a:p>
        </p:txBody>
      </p:sp>
      <p:sp>
        <p:nvSpPr>
          <p:cNvPr id="29" name="Shape 27"/>
          <p:cNvSpPr/>
          <p:nvPr/>
        </p:nvSpPr>
        <p:spPr>
          <a:xfrm>
            <a:off x="3566160" y="3954780"/>
            <a:ext cx="164592" cy="0"/>
          </a:xfrm>
          <a:prstGeom prst="line">
            <a:avLst/>
          </a:prstGeom>
          <a:noFill/>
          <a:ln w="13970">
            <a:solidFill>
              <a:srgbClr val="6B7480"/>
            </a:solidFill>
            <a:prstDash val="solid"/>
            <a:tailEnd type="triangle"/>
          </a:ln>
        </p:spPr>
      </p:sp>
      <p:sp>
        <p:nvSpPr>
          <p:cNvPr id="30" name="Shape 28"/>
          <p:cNvSpPr/>
          <p:nvPr/>
        </p:nvSpPr>
        <p:spPr>
          <a:xfrm>
            <a:off x="3730752" y="3520440"/>
            <a:ext cx="1472184" cy="868680"/>
          </a:xfrm>
          <a:prstGeom prst="rect">
            <a:avLst/>
          </a:prstGeom>
          <a:solidFill>
            <a:srgbClr val="2E6E7E"/>
          </a:solidFill>
          <a:ln w="12700">
            <a:solidFill>
              <a:srgbClr val="2E6E7E"/>
            </a:solidFill>
            <a:prstDash val="solid"/>
          </a:ln>
        </p:spPr>
      </p:sp>
      <p:sp>
        <p:nvSpPr>
          <p:cNvPr id="31" name="Text 29"/>
          <p:cNvSpPr txBox="1"/>
          <p:nvPr/>
        </p:nvSpPr>
        <p:spPr>
          <a:xfrm>
            <a:off x="3758184" y="3520440"/>
            <a:ext cx="1417320"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INT8 Safety</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p>
        </p:txBody>
      </p:sp>
      <p:sp>
        <p:nvSpPr>
          <p:cNvPr id="32" name="Shape 30"/>
          <p:cNvSpPr/>
          <p:nvPr/>
        </p:nvSpPr>
        <p:spPr>
          <a:xfrm>
            <a:off x="5202936" y="3954780"/>
            <a:ext cx="164592" cy="0"/>
          </a:xfrm>
          <a:prstGeom prst="line">
            <a:avLst/>
          </a:prstGeom>
          <a:noFill/>
          <a:ln w="13970">
            <a:solidFill>
              <a:srgbClr val="6B7480"/>
            </a:solidFill>
            <a:prstDash val="solid"/>
            <a:tailEnd type="triangle"/>
          </a:ln>
        </p:spPr>
      </p:sp>
      <p:sp>
        <p:nvSpPr>
          <p:cNvPr id="33" name="Shape 31"/>
          <p:cNvSpPr/>
          <p:nvPr/>
        </p:nvSpPr>
        <p:spPr>
          <a:xfrm>
            <a:off x="5367528" y="3520440"/>
            <a:ext cx="1472184" cy="868680"/>
          </a:xfrm>
          <a:prstGeom prst="rect">
            <a:avLst/>
          </a:prstGeom>
          <a:solidFill>
            <a:srgbClr val="FFFFFF"/>
          </a:solidFill>
          <a:ln w="12700">
            <a:solidFill>
              <a:srgbClr val="1F2A3C"/>
            </a:solidFill>
            <a:prstDash val="solid"/>
          </a:ln>
        </p:spPr>
      </p:sp>
      <p:sp>
        <p:nvSpPr>
          <p:cNvPr id="34" name="Text 32"/>
          <p:cNvSpPr txBox="1"/>
          <p:nvPr/>
        </p:nvSpPr>
        <p:spPr>
          <a:xfrm>
            <a:off x="5394960" y="352044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Quantization</a:t>
            </a:r>
            <a:endParaRPr lang="en-US" sz="950" dirty="0"/>
          </a:p>
          <a:p>
            <a:pPr algn="ctr" indent="0" marL="0">
              <a:buNone/>
            </a:pPr>
            <a:r>
              <a:rPr lang="en-US" sz="950" b="1" dirty="0">
                <a:solidFill>
                  <a:srgbClr val="1F2A3C"/>
                </a:solidFill>
                <a:latin typeface="Calibri" pitchFamily="34" charset="0"/>
                <a:ea typeface="Calibri" pitchFamily="34" charset="-122"/>
                <a:cs typeface="Calibri" pitchFamily="34" charset="-120"/>
              </a:rPr>
              <a:t>Transform</a:t>
            </a:r>
            <a:endParaRPr lang="en-US" sz="950" dirty="0"/>
          </a:p>
        </p:txBody>
      </p:sp>
      <p:sp>
        <p:nvSpPr>
          <p:cNvPr id="35" name="Shape 33"/>
          <p:cNvSpPr/>
          <p:nvPr/>
        </p:nvSpPr>
        <p:spPr>
          <a:xfrm>
            <a:off x="6839712" y="3954780"/>
            <a:ext cx="164592" cy="0"/>
          </a:xfrm>
          <a:prstGeom prst="line">
            <a:avLst/>
          </a:prstGeom>
          <a:noFill/>
          <a:ln w="13970">
            <a:solidFill>
              <a:srgbClr val="6B7480"/>
            </a:solidFill>
            <a:prstDash val="solid"/>
            <a:tailEnd type="triangle"/>
          </a:ln>
        </p:spPr>
      </p:sp>
      <p:sp>
        <p:nvSpPr>
          <p:cNvPr id="36" name="Shape 34"/>
          <p:cNvSpPr/>
          <p:nvPr/>
        </p:nvSpPr>
        <p:spPr>
          <a:xfrm>
            <a:off x="7004304" y="3520440"/>
            <a:ext cx="1472184" cy="868680"/>
          </a:xfrm>
          <a:prstGeom prst="rect">
            <a:avLst/>
          </a:prstGeom>
          <a:solidFill>
            <a:srgbClr val="FFFFFF"/>
          </a:solidFill>
          <a:ln w="12700">
            <a:solidFill>
              <a:srgbClr val="1F2A3C"/>
            </a:solidFill>
            <a:prstDash val="solid"/>
          </a:ln>
        </p:spPr>
      </p:sp>
      <p:sp>
        <p:nvSpPr>
          <p:cNvPr id="37" name="Text 35"/>
          <p:cNvSpPr txBox="1"/>
          <p:nvPr/>
        </p:nvSpPr>
        <p:spPr>
          <a:xfrm>
            <a:off x="7031736" y="352044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Quantized</a:t>
            </a:r>
            <a:endParaRPr lang="en-US" sz="950" dirty="0"/>
          </a:p>
          <a:p>
            <a:pPr algn="ctr" indent="0" marL="0">
              <a:buNone/>
            </a:pPr>
            <a:r>
              <a:rPr lang="en-US" sz="950" b="1" dirty="0">
                <a:solidFill>
                  <a:srgbClr val="1F2A3C"/>
                </a:solidFill>
                <a:latin typeface="Calibri" pitchFamily="34" charset="0"/>
                <a:ea typeface="Calibri" pitchFamily="34" charset="-122"/>
                <a:cs typeface="Calibri" pitchFamily="34" charset="-120"/>
              </a:rPr>
              <a:t>SSA IR</a:t>
            </a:r>
            <a:endParaRPr lang="en-US" sz="950" dirty="0"/>
          </a:p>
        </p:txBody>
      </p:sp>
      <p:sp>
        <p:nvSpPr>
          <p:cNvPr id="38" name="Shape 36"/>
          <p:cNvSpPr/>
          <p:nvPr/>
        </p:nvSpPr>
        <p:spPr>
          <a:xfrm>
            <a:off x="8476488" y="3954780"/>
            <a:ext cx="164592" cy="0"/>
          </a:xfrm>
          <a:prstGeom prst="line">
            <a:avLst/>
          </a:prstGeom>
          <a:noFill/>
          <a:ln w="13970">
            <a:solidFill>
              <a:srgbClr val="6B7480"/>
            </a:solidFill>
            <a:prstDash val="solid"/>
            <a:tailEnd type="triangle"/>
          </a:ln>
        </p:spPr>
      </p:sp>
      <p:sp>
        <p:nvSpPr>
          <p:cNvPr id="39" name="Shape 37"/>
          <p:cNvSpPr/>
          <p:nvPr/>
        </p:nvSpPr>
        <p:spPr>
          <a:xfrm>
            <a:off x="8641080" y="3520440"/>
            <a:ext cx="1472184" cy="868680"/>
          </a:xfrm>
          <a:prstGeom prst="rect">
            <a:avLst/>
          </a:prstGeom>
          <a:solidFill>
            <a:srgbClr val="FFFFFF"/>
          </a:solidFill>
          <a:ln w="12700">
            <a:solidFill>
              <a:srgbClr val="1F2A3C"/>
            </a:solidFill>
            <a:prstDash val="solid"/>
          </a:ln>
        </p:spPr>
      </p:sp>
      <p:sp>
        <p:nvSpPr>
          <p:cNvPr id="40" name="Text 38"/>
          <p:cNvSpPr txBox="1"/>
          <p:nvPr/>
        </p:nvSpPr>
        <p:spPr>
          <a:xfrm>
            <a:off x="8668512" y="352044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Simulator /</a:t>
            </a:r>
            <a:endParaRPr lang="en-US" sz="950" dirty="0"/>
          </a:p>
          <a:p>
            <a:pPr algn="ctr" indent="0" marL="0">
              <a:buNone/>
            </a:pPr>
            <a:r>
              <a:rPr lang="en-US" sz="950" b="1" dirty="0">
                <a:solidFill>
                  <a:srgbClr val="1F2A3C"/>
                </a:solidFill>
                <a:latin typeface="Calibri" pitchFamily="34" charset="0"/>
                <a:ea typeface="Calibri" pitchFamily="34" charset="-122"/>
                <a:cs typeface="Calibri" pitchFamily="34" charset="-120"/>
              </a:rPr>
              <a:t>Backend</a:t>
            </a:r>
            <a:endParaRPr lang="en-US" sz="950" dirty="0"/>
          </a:p>
        </p:txBody>
      </p:sp>
      <p:sp>
        <p:nvSpPr>
          <p:cNvPr id="41" name="Shape 39"/>
          <p:cNvSpPr/>
          <p:nvPr/>
        </p:nvSpPr>
        <p:spPr>
          <a:xfrm>
            <a:off x="10113264" y="3954780"/>
            <a:ext cx="164592" cy="0"/>
          </a:xfrm>
          <a:prstGeom prst="line">
            <a:avLst/>
          </a:prstGeom>
          <a:noFill/>
          <a:ln w="13970">
            <a:solidFill>
              <a:srgbClr val="6B7480"/>
            </a:solidFill>
            <a:prstDash val="solid"/>
            <a:tailEnd type="triangle"/>
          </a:ln>
        </p:spPr>
      </p:sp>
      <p:sp>
        <p:nvSpPr>
          <p:cNvPr id="42" name="Shape 40"/>
          <p:cNvSpPr/>
          <p:nvPr/>
        </p:nvSpPr>
        <p:spPr>
          <a:xfrm>
            <a:off x="10277856" y="3520440"/>
            <a:ext cx="1472184" cy="868680"/>
          </a:xfrm>
          <a:prstGeom prst="rect">
            <a:avLst/>
          </a:prstGeom>
          <a:solidFill>
            <a:srgbClr val="FFFFFF"/>
          </a:solidFill>
          <a:ln w="12700">
            <a:solidFill>
              <a:srgbClr val="1F2A3C"/>
            </a:solidFill>
            <a:prstDash val="solid"/>
          </a:ln>
        </p:spPr>
      </p:sp>
      <p:sp>
        <p:nvSpPr>
          <p:cNvPr id="43" name="Text 41"/>
          <p:cNvSpPr txBox="1"/>
          <p:nvPr/>
        </p:nvSpPr>
        <p:spPr>
          <a:xfrm>
            <a:off x="10305288" y="352044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pitchFamily="34" charset="0"/>
                <a:ea typeface="Calibri" pitchFamily="34" charset="-122"/>
                <a:cs typeface="Calibri" pitchFamily="34" charset="-120"/>
              </a:rPr>
              <a:t>Diagnostics +</a:t>
            </a:r>
            <a:endParaRPr lang="en-US" sz="950" dirty="0"/>
          </a:p>
          <a:p>
            <a:pPr algn="ctr" indent="0" marL="0">
              <a:buNone/>
            </a:pPr>
            <a:r>
              <a:rPr lang="en-US" sz="950" b="1" dirty="0">
                <a:solidFill>
                  <a:srgbClr val="1F2A3C"/>
                </a:solidFill>
                <a:latin typeface="Calibri" pitchFamily="34" charset="0"/>
                <a:ea typeface="Calibri" pitchFamily="34" charset="-122"/>
                <a:cs typeface="Calibri" pitchFamily="34" charset="-120"/>
              </a:rPr>
              <a:t>Evaluation</a:t>
            </a:r>
            <a:endParaRPr lang="en-US" sz="950" dirty="0"/>
          </a:p>
        </p:txBody>
      </p:sp>
      <p:sp>
        <p:nvSpPr>
          <p:cNvPr id="44" name="Shape 42"/>
          <p:cNvSpPr/>
          <p:nvPr/>
        </p:nvSpPr>
        <p:spPr>
          <a:xfrm>
            <a:off x="11013948" y="2834640"/>
            <a:ext cx="0" cy="365760"/>
          </a:xfrm>
          <a:prstGeom prst="line">
            <a:avLst/>
          </a:prstGeom>
          <a:noFill/>
          <a:ln w="13970">
            <a:solidFill>
              <a:srgbClr val="6B7480"/>
            </a:solidFill>
            <a:prstDash val="solid"/>
          </a:ln>
        </p:spPr>
      </p:sp>
      <p:sp>
        <p:nvSpPr>
          <p:cNvPr id="45" name="Shape 43"/>
          <p:cNvSpPr/>
          <p:nvPr/>
        </p:nvSpPr>
        <p:spPr>
          <a:xfrm>
            <a:off x="1193292" y="3200400"/>
            <a:ext cx="9820656" cy="0"/>
          </a:xfrm>
          <a:prstGeom prst="line">
            <a:avLst/>
          </a:prstGeom>
          <a:noFill/>
          <a:ln w="13970">
            <a:solidFill>
              <a:srgbClr val="6B7480"/>
            </a:solidFill>
            <a:prstDash val="solid"/>
          </a:ln>
        </p:spPr>
      </p:sp>
      <p:sp>
        <p:nvSpPr>
          <p:cNvPr id="46" name="Shape 44"/>
          <p:cNvSpPr/>
          <p:nvPr/>
        </p:nvSpPr>
        <p:spPr>
          <a:xfrm>
            <a:off x="1193292" y="3200400"/>
            <a:ext cx="0" cy="320040"/>
          </a:xfrm>
          <a:prstGeom prst="line">
            <a:avLst/>
          </a:prstGeom>
          <a:noFill/>
          <a:ln w="13970">
            <a:solidFill>
              <a:srgbClr val="6B7480"/>
            </a:solidFill>
            <a:prstDash val="solid"/>
            <a:tailEnd type="triangle"/>
          </a:ln>
        </p:spPr>
      </p:sp>
      <p:sp>
        <p:nvSpPr>
          <p:cNvPr id="47" name="Text 45"/>
          <p:cNvSpPr txBox="1"/>
          <p:nvPr/>
        </p:nvSpPr>
        <p:spPr>
          <a:xfrm>
            <a:off x="457200" y="4526280"/>
            <a:ext cx="11292840" cy="320040"/>
          </a:xfrm>
          <a:prstGeom prst="rect">
            <a:avLst/>
          </a:prstGeom>
          <a:noFill/>
          <a:ln/>
        </p:spPr>
        <p:txBody>
          <a:bodyPr wrap="square" rtlCol="0" anchor="t"/>
          <a:lstStyle/>
          <a:p>
            <a:pPr algn="ctr" indent="0" marL="0">
              <a:buNone/>
            </a:pPr>
            <a:r>
              <a:rPr lang="en-US" sz="1050" i="1" dirty="0">
                <a:solidFill>
                  <a:srgbClr val="6B7480"/>
                </a:solidFill>
                <a:latin typeface="Calibri" pitchFamily="34" charset="0"/>
                <a:ea typeface="Calibri" pitchFamily="34" charset="-122"/>
                <a:cs typeface="Calibri" pitchFamily="34" charset="-120"/>
              </a:rPr>
              <a:t>Shaded stages form the core static-analysis contribution of this project.</a:t>
            </a:r>
            <a:endParaRPr lang="en-US" sz="1050" dirty="0"/>
          </a:p>
        </p:txBody>
      </p:sp>
      <p:sp>
        <p:nvSpPr>
          <p:cNvPr id="48" name="Text 46"/>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49" name="Text 47"/>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COURSE ALIGNMENT</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Mapping to BCSE307L Concepts</a:t>
            </a:r>
            <a:endParaRPr lang="en-US" sz="2900" dirty="0"/>
          </a:p>
        </p:txBody>
      </p:sp>
      <p:sp>
        <p:nvSpPr>
          <p:cNvPr id="4" name="Text 2"/>
          <p:cNvSpPr txBox="1"/>
          <p:nvPr/>
        </p:nvSpPr>
        <p:spPr>
          <a:xfrm>
            <a:off x="548640" y="1691640"/>
            <a:ext cx="10515600" cy="365760"/>
          </a:xfrm>
          <a:prstGeom prst="rect">
            <a:avLst/>
          </a:prstGeom>
          <a:noFill/>
          <a:ln/>
        </p:spPr>
        <p:txBody>
          <a:bodyPr wrap="square" rtlCol="0" anchor="t"/>
          <a:lstStyle/>
          <a:p>
            <a:pPr algn="l" indent="0" marL="0">
              <a:buNone/>
            </a:pPr>
            <a:r>
              <a:rPr lang="en-US" sz="1300" dirty="0">
                <a:solidFill>
                  <a:srgbClr val="23262B"/>
                </a:solidFill>
                <a:latin typeface="Calibri" pitchFamily="34" charset="0"/>
                <a:ea typeface="Calibri" pitchFamily="34" charset="-122"/>
                <a:cs typeface="Calibri" pitchFamily="34" charset="-120"/>
              </a:rPr>
              <a:t>The pipeline directly exercises core compiler-design concepts from the course syllabus: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14400" y="2194560"/>
          <a:ext cx="10378440" cy="914400"/>
        </p:xfrm>
        <a:graphic>
          <a:graphicData uri="http://schemas.openxmlformats.org/drawingml/2006/table">
            <a:tbl>
              <a:tblPr/>
              <a:tblGrid>
                <a:gridCol w="5943600"/>
                <a:gridCol w="4434840"/>
              </a:tblGrid>
              <a:tr h="420624">
                <a:tc>
                  <a:txBody>
                    <a:bodyPr/>
                    <a:lstStyle/>
                    <a:p>
                      <a:pPr indent="0" marL="0">
                        <a:buNone/>
                      </a:pPr>
                      <a:r>
                        <a:rPr lang="en-US" sz="1300" b="1" dirty="0">
                          <a:solidFill>
                            <a:srgbClr val="FFFFFF"/>
                          </a:solidFill>
                        </a:rPr>
                        <a:t>BCSE307L Topic</a:t>
                      </a:r>
                      <a:endParaRPr lang="en-US" sz="130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indent="0" marL="0">
                        <a:buNone/>
                      </a:pPr>
                      <a:r>
                        <a:rPr lang="en-US" sz="1300" b="1" dirty="0">
                          <a:solidFill>
                            <a:srgbClr val="FFFFFF"/>
                          </a:solidFill>
                        </a:rPr>
                        <a:t>Project Component</a:t>
                      </a:r>
                      <a:endParaRPr lang="en-US" sz="130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r>
              <a:tr h="420624">
                <a:tc>
                  <a:txBody>
                    <a:bodyPr/>
                    <a:lstStyle/>
                    <a:p>
                      <a:pPr indent="0" marL="0">
                        <a:buNone/>
                      </a:pPr>
                      <a:r>
                        <a:rPr lang="en-US" sz="1250" dirty="0">
                          <a:solidFill>
                            <a:srgbClr val="23262B"/>
                          </a:solidFill>
                        </a:rPr>
                        <a:t>Intermediate Code Generation</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1250" dirty="0">
                          <a:solidFill>
                            <a:srgbClr val="23262B"/>
                          </a:solidFill>
                        </a:rPr>
                        <a:t>Three Address Code (TAC)</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23262B"/>
                          </a:solidFill>
                        </a:rPr>
                        <a:t>Control Flow / Backpatching</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1250" dirty="0">
                          <a:solidFill>
                            <a:srgbClr val="23262B"/>
                          </a:solidFill>
                        </a:rPr>
                        <a:t>Control Flow Graph (CFG) construction</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r>
              <a:tr h="420624">
                <a:tc>
                  <a:txBody>
                    <a:bodyPr/>
                    <a:lstStyle/>
                    <a:p>
                      <a:pPr indent="0" marL="0">
                        <a:buNone/>
                      </a:pPr>
                      <a:r>
                        <a:rPr lang="en-US" sz="1250" dirty="0">
                          <a:solidFill>
                            <a:srgbClr val="23262B"/>
                          </a:solidFill>
                        </a:rPr>
                        <a:t>Data-Flow Analysis</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1250" dirty="0">
                          <a:solidFill>
                            <a:srgbClr val="23262B"/>
                          </a:solidFill>
                        </a:rPr>
                        <a:t>Static range &amp; integrality analysis</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23262B"/>
                          </a:solidFill>
                        </a:rPr>
                        <a:t>Basic Blocks</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1250" dirty="0">
                          <a:solidFill>
                            <a:srgbClr val="23262B"/>
                          </a:solidFill>
                        </a:rPr>
                        <a:t>CFG partitioning for analysis</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r>
              <a:tr h="420624">
                <a:tc>
                  <a:txBody>
                    <a:bodyPr/>
                    <a:lstStyle/>
                    <a:p>
                      <a:pPr indent="0" marL="0">
                        <a:buNone/>
                      </a:pPr>
                      <a:r>
                        <a:rPr lang="en-US" sz="1250" dirty="0">
                          <a:solidFill>
                            <a:srgbClr val="23262B"/>
                          </a:solidFill>
                        </a:rPr>
                        <a:t>Machine-Independent Optimization</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1250" dirty="0">
                          <a:solidFill>
                            <a:srgbClr val="23262B"/>
                          </a:solidFill>
                        </a:rPr>
                        <a:t>Quantization transformation pass</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23262B"/>
                          </a:solidFill>
                        </a:rPr>
                        <a:t>Static Single Assignment (SSA)</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indent="0" marL="0">
                        <a:buNone/>
                      </a:pPr>
                      <a:r>
                        <a:rPr lang="en-US" sz="1250" dirty="0">
                          <a:solidFill>
                            <a:srgbClr val="23262B"/>
                          </a:solidFill>
                        </a:rPr>
                        <a:t>SSA intermediate representation</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r>
              <a:tr h="420624">
                <a:tc>
                  <a:txBody>
                    <a:bodyPr/>
                    <a:lstStyle/>
                    <a:p>
                      <a:pPr indent="0" marL="0">
                        <a:buNone/>
                      </a:pPr>
                      <a:r>
                        <a:rPr lang="en-US" sz="1250" dirty="0">
                          <a:solidFill>
                            <a:srgbClr val="23262B"/>
                          </a:solidFill>
                        </a:rPr>
                        <a:t>Code Generation</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indent="0" marL="0">
                        <a:buNone/>
                      </a:pPr>
                      <a:r>
                        <a:rPr lang="en-US" sz="1250" dirty="0">
                          <a:solidFill>
                            <a:srgbClr val="23262B"/>
                          </a:solidFill>
                        </a:rPr>
                        <a:t>Backend / lightweight simulator</a:t>
                      </a:r>
                      <a:endParaRPr lang="en-US" sz="12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914400" y="5989320"/>
            <a:ext cx="10378440" cy="365760"/>
          </a:xfrm>
          <a:prstGeom prst="rect">
            <a:avLst/>
          </a:prstGeom>
          <a:noFill/>
          <a:ln/>
        </p:spPr>
        <p:txBody>
          <a:bodyPr wrap="square" rtlCol="0" anchor="t"/>
          <a:lstStyle/>
          <a:p>
            <a:pPr algn="ctr" indent="0" marL="0">
              <a:buNone/>
            </a:pPr>
            <a:r>
              <a:rPr lang="en-US" sz="1050" i="1" dirty="0">
                <a:solidFill>
                  <a:srgbClr val="6B7480"/>
                </a:solidFill>
                <a:latin typeface="Calibri" pitchFamily="34" charset="0"/>
                <a:ea typeface="Calibri" pitchFamily="34" charset="-122"/>
                <a:cs typeface="Calibri" pitchFamily="34" charset="-120"/>
              </a:rPr>
              <a:t>Only concepts that genuinely contribute to the design are shown.</a:t>
            </a:r>
            <a:endParaRPr lang="en-US" sz="1050" dirty="0"/>
          </a:p>
        </p:txBody>
      </p:sp>
      <p:sp>
        <p:nvSpPr>
          <p:cNvPr id="7" name="Text 4"/>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8" name="Text 5"/>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TECHNICAL MECHANISM</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SSA Construction &amp; Range Propagation</a:t>
            </a:r>
            <a:endParaRPr lang="en-US" sz="2900" dirty="0"/>
          </a:p>
        </p:txBody>
      </p:sp>
      <p:sp>
        <p:nvSpPr>
          <p:cNvPr id="4" name="Text 2"/>
          <p:cNvSpPr txBox="1"/>
          <p:nvPr/>
        </p:nvSpPr>
        <p:spPr>
          <a:xfrm>
            <a:off x="548640" y="1783080"/>
            <a:ext cx="3200400" cy="274320"/>
          </a:xfrm>
          <a:prstGeom prst="rect">
            <a:avLst/>
          </a:prstGeom>
          <a:noFill/>
          <a:ln/>
        </p:spPr>
        <p:txBody>
          <a:bodyPr wrap="square" rtlCol="0" anchor="t"/>
          <a:lstStyle/>
          <a:p>
            <a:pPr algn="l" indent="0" marL="0">
              <a:buNone/>
            </a:pPr>
            <a:r>
              <a:rPr lang="en-US" sz="1200" b="1" dirty="0">
                <a:solidFill>
                  <a:srgbClr val="1F2A3C"/>
                </a:solidFill>
                <a:latin typeface="Calibri" pitchFamily="34" charset="0"/>
                <a:ea typeface="Calibri" pitchFamily="34" charset="-122"/>
                <a:cs typeface="Calibri" pitchFamily="34" charset="-120"/>
              </a:rPr>
              <a:t>Source</a:t>
            </a:r>
            <a:endParaRPr lang="en-US" sz="1200" dirty="0"/>
          </a:p>
        </p:txBody>
      </p:sp>
      <p:sp>
        <p:nvSpPr>
          <p:cNvPr id="5" name="Shape 3"/>
          <p:cNvSpPr/>
          <p:nvPr/>
        </p:nvSpPr>
        <p:spPr>
          <a:xfrm>
            <a:off x="548640" y="2103120"/>
            <a:ext cx="3200400" cy="1600200"/>
          </a:xfrm>
          <a:prstGeom prst="rect">
            <a:avLst/>
          </a:prstGeom>
          <a:solidFill>
            <a:srgbClr val="1F2A3C"/>
          </a:solidFill>
          <a:ln w="12700">
            <a:solidFill>
              <a:srgbClr val="1F2A3C"/>
            </a:solidFill>
            <a:prstDash val="solid"/>
          </a:ln>
        </p:spPr>
      </p:sp>
      <p:sp>
        <p:nvSpPr>
          <p:cNvPr id="6" name="Text 4"/>
          <p:cNvSpPr txBox="1"/>
          <p:nvPr/>
        </p:nvSpPr>
        <p:spPr>
          <a:xfrm>
            <a:off x="731520" y="2103120"/>
            <a:ext cx="2834640" cy="1600200"/>
          </a:xfrm>
          <a:prstGeom prst="rect">
            <a:avLst/>
          </a:prstGeom>
          <a:noFill/>
          <a:ln/>
        </p:spPr>
        <p:txBody>
          <a:bodyPr wrap="square" rtlCol="0" anchor="ctr"/>
          <a:lstStyle/>
          <a:p>
            <a:pPr indent="0" marL="0">
              <a:lnSpc>
                <a:spcPct val="130000"/>
              </a:lnSpc>
              <a:buNone/>
            </a:pPr>
            <a:r>
              <a:rPr lang="en-US" sz="1250" dirty="0">
                <a:solidFill>
                  <a:srgbClr val="D8E6EA"/>
                </a:solidFill>
                <a:latin typeface="Courier New" pitchFamily="34" charset="0"/>
                <a:ea typeface="Courier New" pitchFamily="34" charset="-122"/>
                <a:cs typeface="Courier New" pitchFamily="34" charset="-120"/>
              </a:rPr>
              <a:t>x = 10</a:t>
            </a:r>
            <a:endParaRPr lang="en-US" sz="1250" dirty="0"/>
          </a:p>
          <a:p>
            <a:pPr indent="0" marL="0">
              <a:lnSpc>
                <a:spcPct val="130000"/>
              </a:lnSpc>
              <a:buNone/>
            </a:pPr>
            <a:r>
              <a:rPr lang="en-US" sz="1250" dirty="0">
                <a:solidFill>
                  <a:srgbClr val="D8E6EA"/>
                </a:solidFill>
                <a:latin typeface="Courier New" pitchFamily="34" charset="0"/>
                <a:ea typeface="Courier New" pitchFamily="34" charset="-122"/>
                <a:cs typeface="Courier New" pitchFamily="34" charset="-120"/>
              </a:rPr>
              <a:t>if (c)</a:t>
            </a:r>
            <a:endParaRPr lang="en-US" sz="1250" dirty="0"/>
          </a:p>
          <a:p>
            <a:pPr indent="0" marL="0">
              <a:lnSpc>
                <a:spcPct val="130000"/>
              </a:lnSpc>
              <a:buNone/>
            </a:pPr>
            <a:r>
              <a:rPr lang="en-US" sz="1250" dirty="0">
                <a:solidFill>
                  <a:srgbClr val="D8E6EA"/>
                </a:solidFill>
                <a:latin typeface="Courier New" pitchFamily="34" charset="0"/>
                <a:ea typeface="Courier New" pitchFamily="34" charset="-122"/>
                <a:cs typeface="Courier New" pitchFamily="34" charset="-120"/>
              </a:rPr>
              <a:t>  x = 20</a:t>
            </a:r>
            <a:endParaRPr lang="en-US" sz="1250" dirty="0"/>
          </a:p>
          <a:p>
            <a:pPr indent="0" marL="0">
              <a:lnSpc>
                <a:spcPct val="130000"/>
              </a:lnSpc>
              <a:buNone/>
            </a:pPr>
            <a:r>
              <a:rPr lang="en-US" sz="1250" dirty="0">
                <a:solidFill>
                  <a:srgbClr val="D8E6EA"/>
                </a:solidFill>
                <a:latin typeface="Courier New" pitchFamily="34" charset="0"/>
                <a:ea typeface="Courier New" pitchFamily="34" charset="-122"/>
                <a:cs typeface="Courier New" pitchFamily="34" charset="-120"/>
              </a:rPr>
              <a:t>y = x + 5</a:t>
            </a:r>
            <a:endParaRPr lang="en-US" sz="1250" dirty="0"/>
          </a:p>
        </p:txBody>
      </p:sp>
      <p:sp>
        <p:nvSpPr>
          <p:cNvPr id="7" name="Shape 5"/>
          <p:cNvSpPr/>
          <p:nvPr/>
        </p:nvSpPr>
        <p:spPr>
          <a:xfrm>
            <a:off x="3886200" y="2898648"/>
            <a:ext cx="365760" cy="0"/>
          </a:xfrm>
          <a:prstGeom prst="line">
            <a:avLst/>
          </a:prstGeom>
          <a:noFill/>
          <a:ln w="19050">
            <a:solidFill>
              <a:srgbClr val="6B7480"/>
            </a:solidFill>
            <a:prstDash val="solid"/>
            <a:tailEnd type="triangle"/>
          </a:ln>
        </p:spPr>
      </p:sp>
      <p:sp>
        <p:nvSpPr>
          <p:cNvPr id="8" name="Text 6"/>
          <p:cNvSpPr txBox="1"/>
          <p:nvPr/>
        </p:nvSpPr>
        <p:spPr>
          <a:xfrm>
            <a:off x="4343400" y="1783080"/>
            <a:ext cx="3200400" cy="274320"/>
          </a:xfrm>
          <a:prstGeom prst="rect">
            <a:avLst/>
          </a:prstGeom>
          <a:noFill/>
          <a:ln/>
        </p:spPr>
        <p:txBody>
          <a:bodyPr wrap="square" rtlCol="0" anchor="t"/>
          <a:lstStyle/>
          <a:p>
            <a:pPr algn="l" indent="0" marL="0">
              <a:buNone/>
            </a:pPr>
            <a:r>
              <a:rPr lang="en-US" sz="1200" b="1" dirty="0">
                <a:solidFill>
                  <a:srgbClr val="1F2A3C"/>
                </a:solidFill>
                <a:latin typeface="Calibri" pitchFamily="34" charset="0"/>
                <a:ea typeface="Calibri" pitchFamily="34" charset="-122"/>
                <a:cs typeface="Calibri" pitchFamily="34" charset="-120"/>
              </a:rPr>
              <a:t>SSA Form</a:t>
            </a:r>
            <a:endParaRPr lang="en-US" sz="1200" dirty="0"/>
          </a:p>
        </p:txBody>
      </p:sp>
      <p:sp>
        <p:nvSpPr>
          <p:cNvPr id="9" name="Shape 7"/>
          <p:cNvSpPr/>
          <p:nvPr/>
        </p:nvSpPr>
        <p:spPr>
          <a:xfrm>
            <a:off x="4343400" y="2103120"/>
            <a:ext cx="3200400" cy="1600200"/>
          </a:xfrm>
          <a:prstGeom prst="rect">
            <a:avLst/>
          </a:prstGeom>
          <a:solidFill>
            <a:srgbClr val="1F2A3C"/>
          </a:solidFill>
          <a:ln w="12700">
            <a:solidFill>
              <a:srgbClr val="1F2A3C"/>
            </a:solidFill>
            <a:prstDash val="solid"/>
          </a:ln>
        </p:spPr>
      </p:sp>
      <p:sp>
        <p:nvSpPr>
          <p:cNvPr id="10" name="Text 8"/>
          <p:cNvSpPr txBox="1"/>
          <p:nvPr/>
        </p:nvSpPr>
        <p:spPr>
          <a:xfrm>
            <a:off x="4526280" y="2103120"/>
            <a:ext cx="2834640" cy="1600200"/>
          </a:xfrm>
          <a:prstGeom prst="rect">
            <a:avLst/>
          </a:prstGeom>
          <a:noFill/>
          <a:ln/>
        </p:spPr>
        <p:txBody>
          <a:bodyPr wrap="square" rtlCol="0" anchor="ctr"/>
          <a:lstStyle/>
          <a:p>
            <a:pPr indent="0" marL="0">
              <a:lnSpc>
                <a:spcPct val="130000"/>
              </a:lnSpc>
              <a:buNone/>
            </a:pPr>
            <a:r>
              <a:rPr lang="en-US" sz="1250" dirty="0">
                <a:solidFill>
                  <a:srgbClr val="D8E6EA"/>
                </a:solidFill>
                <a:latin typeface="Courier New" pitchFamily="34" charset="0"/>
                <a:ea typeface="Courier New" pitchFamily="34" charset="-122"/>
                <a:cs typeface="Courier New" pitchFamily="34" charset="-120"/>
              </a:rPr>
              <a:t>x1 = 10</a:t>
            </a:r>
            <a:endParaRPr lang="en-US" sz="1250" dirty="0"/>
          </a:p>
          <a:p>
            <a:pPr indent="0" marL="0">
              <a:lnSpc>
                <a:spcPct val="130000"/>
              </a:lnSpc>
              <a:buNone/>
            </a:pPr>
            <a:r>
              <a:rPr lang="en-US" sz="1250" dirty="0">
                <a:solidFill>
                  <a:srgbClr val="D8E6EA"/>
                </a:solidFill>
                <a:latin typeface="Courier New" pitchFamily="34" charset="0"/>
                <a:ea typeface="Courier New" pitchFamily="34" charset="-122"/>
                <a:cs typeface="Courier New" pitchFamily="34" charset="-120"/>
              </a:rPr>
              <a:t>x2 = 20</a:t>
            </a:r>
            <a:endParaRPr lang="en-US" sz="1250" dirty="0"/>
          </a:p>
          <a:p>
            <a:pPr indent="0" marL="0">
              <a:lnSpc>
                <a:spcPct val="130000"/>
              </a:lnSpc>
              <a:buNone/>
            </a:pPr>
            <a:r>
              <a:rPr lang="en-US" sz="1250" dirty="0">
                <a:solidFill>
                  <a:srgbClr val="D8E6EA"/>
                </a:solidFill>
                <a:latin typeface="Courier New" pitchFamily="34" charset="0"/>
                <a:ea typeface="Courier New" pitchFamily="34" charset="-122"/>
                <a:cs typeface="Courier New" pitchFamily="34" charset="-120"/>
              </a:rPr>
              <a:t>x3 = φ(x1, x2)</a:t>
            </a:r>
            <a:endParaRPr lang="en-US" sz="1250" dirty="0"/>
          </a:p>
          <a:p>
            <a:pPr indent="0" marL="0">
              <a:lnSpc>
                <a:spcPct val="130000"/>
              </a:lnSpc>
              <a:buNone/>
            </a:pPr>
            <a:r>
              <a:rPr lang="en-US" sz="1250" dirty="0">
                <a:solidFill>
                  <a:srgbClr val="D8E6EA"/>
                </a:solidFill>
                <a:latin typeface="Courier New" pitchFamily="34" charset="0"/>
                <a:ea typeface="Courier New" pitchFamily="34" charset="-122"/>
                <a:cs typeface="Courier New" pitchFamily="34" charset="-120"/>
              </a:rPr>
              <a:t>y1 = x3 + 5</a:t>
            </a:r>
            <a:endParaRPr lang="en-US" sz="1250" dirty="0"/>
          </a:p>
        </p:txBody>
      </p:sp>
      <p:sp>
        <p:nvSpPr>
          <p:cNvPr id="11" name="Text 9"/>
          <p:cNvSpPr txBox="1"/>
          <p:nvPr/>
        </p:nvSpPr>
        <p:spPr>
          <a:xfrm>
            <a:off x="7909560" y="1783080"/>
            <a:ext cx="3749040" cy="274320"/>
          </a:xfrm>
          <a:prstGeom prst="rect">
            <a:avLst/>
          </a:prstGeom>
          <a:noFill/>
          <a:ln/>
        </p:spPr>
        <p:txBody>
          <a:bodyPr wrap="square" rtlCol="0" anchor="t"/>
          <a:lstStyle/>
          <a:p>
            <a:pPr algn="l" indent="0" marL="0">
              <a:buNone/>
            </a:pPr>
            <a:r>
              <a:rPr lang="en-US" sz="1200" b="1" dirty="0">
                <a:solidFill>
                  <a:srgbClr val="1F2A3C"/>
                </a:solidFill>
                <a:latin typeface="Calibri" pitchFamily="34" charset="0"/>
                <a:ea typeface="Calibri" pitchFamily="34" charset="-122"/>
                <a:cs typeface="Calibri" pitchFamily="34" charset="-120"/>
              </a:rPr>
              <a:t>Inferred Ranges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909560" y="2103120"/>
          <a:ext cx="3749040" cy="914400"/>
        </p:xfrm>
        <a:graphic>
          <a:graphicData uri="http://schemas.openxmlformats.org/drawingml/2006/table">
            <a:tbl>
              <a:tblPr/>
              <a:tblGrid>
                <a:gridCol w="1463040"/>
                <a:gridCol w="2286000"/>
              </a:tblGrid>
              <a:tr h="320040">
                <a:tc>
                  <a:txBody>
                    <a:bodyPr/>
                    <a:lstStyle/>
                    <a:p>
                      <a:pPr indent="0" marL="0">
                        <a:buNone/>
                      </a:pPr>
                      <a:r>
                        <a:rPr lang="en-US" sz="1100" b="1" dirty="0">
                          <a:solidFill>
                            <a:srgbClr val="FFFFFF"/>
                          </a:solidFill>
                        </a:rPr>
                        <a:t>Variable</a:t>
                      </a:r>
                      <a:endParaRPr lang="en-US" sz="110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indent="0" marL="0">
                        <a:buNone/>
                      </a:pPr>
                      <a:r>
                        <a:rPr lang="en-US" sz="1100" b="1" dirty="0">
                          <a:solidFill>
                            <a:srgbClr val="FFFFFF"/>
                          </a:solidFill>
                        </a:rPr>
                        <a:t>Inferred Range</a:t>
                      </a:r>
                      <a:endParaRPr lang="en-US" sz="110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r>
              <a:tr h="320040">
                <a:tc>
                  <a:txBody>
                    <a:bodyPr/>
                    <a:lstStyle/>
                    <a:p>
                      <a:pPr algn="l" indent="0" marL="0">
                        <a:buNone/>
                      </a:pPr>
                      <a:r>
                        <a:rPr lang="en-US" sz="1150" dirty="0">
                          <a:solidFill>
                            <a:srgbClr val="23262B"/>
                          </a:solidFill>
                        </a:rPr>
                        <a:t>x1</a:t>
                      </a:r>
                      <a:endParaRPr lang="en-US" sz="11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62B"/>
                          </a:solidFill>
                        </a:rPr>
                        <a:t>[10, 10]</a:t>
                      </a:r>
                      <a:endParaRPr lang="en-US" sz="11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r h="320040">
                <a:tc>
                  <a:txBody>
                    <a:bodyPr/>
                    <a:lstStyle/>
                    <a:p>
                      <a:pPr algn="l" indent="0" marL="0">
                        <a:buNone/>
                      </a:pPr>
                      <a:r>
                        <a:rPr lang="en-US" sz="1150" dirty="0">
                          <a:solidFill>
                            <a:srgbClr val="23262B"/>
                          </a:solidFill>
                        </a:rPr>
                        <a:t>x2</a:t>
                      </a:r>
                      <a:endParaRPr lang="en-US" sz="11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algn="ctr" indent="0" marL="0">
                        <a:buNone/>
                      </a:pPr>
                      <a:r>
                        <a:rPr lang="en-US" sz="1150" dirty="0">
                          <a:solidFill>
                            <a:srgbClr val="23262B"/>
                          </a:solidFill>
                        </a:rPr>
                        <a:t>[20, 20]</a:t>
                      </a:r>
                      <a:endParaRPr lang="en-US" sz="11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r>
              <a:tr h="320040">
                <a:tc>
                  <a:txBody>
                    <a:bodyPr/>
                    <a:lstStyle/>
                    <a:p>
                      <a:pPr algn="l" indent="0" marL="0">
                        <a:buNone/>
                      </a:pPr>
                      <a:r>
                        <a:rPr lang="en-US" sz="1150" dirty="0">
                          <a:solidFill>
                            <a:srgbClr val="23262B"/>
                          </a:solidFill>
                        </a:rPr>
                        <a:t>x3</a:t>
                      </a:r>
                      <a:endParaRPr lang="en-US" sz="11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62B"/>
                          </a:solidFill>
                        </a:rPr>
                        <a:t>[10, 20]</a:t>
                      </a:r>
                      <a:endParaRPr lang="en-US" sz="11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r>
              <a:tr h="320040">
                <a:tc>
                  <a:txBody>
                    <a:bodyPr/>
                    <a:lstStyle/>
                    <a:p>
                      <a:pPr algn="l" indent="0" marL="0">
                        <a:buNone/>
                      </a:pPr>
                      <a:r>
                        <a:rPr lang="en-US" sz="1150" dirty="0">
                          <a:solidFill>
                            <a:srgbClr val="23262B"/>
                          </a:solidFill>
                        </a:rPr>
                        <a:t>y1</a:t>
                      </a:r>
                      <a:endParaRPr lang="en-US" sz="11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algn="ctr" indent="0" marL="0">
                        <a:buNone/>
                      </a:pPr>
                      <a:r>
                        <a:rPr lang="en-US" sz="1150" dirty="0">
                          <a:solidFill>
                            <a:srgbClr val="23262B"/>
                          </a:solidFill>
                        </a:rPr>
                        <a:t>[15, 25]</a:t>
                      </a:r>
                      <a:endParaRPr lang="en-US" sz="1150" dirty="0"/>
                    </a:p>
                  </a:txBody>
                  <a:tcPr marL="91440" marR="91440" marT="45720" marB="4572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r>
            </a:tbl>
          </a:graphicData>
        </a:graphic>
      </p:graphicFrame>
      <p:sp>
        <p:nvSpPr>
          <p:cNvPr id="13" name="Shape 10"/>
          <p:cNvSpPr/>
          <p:nvPr/>
        </p:nvSpPr>
        <p:spPr>
          <a:xfrm>
            <a:off x="3566160" y="4114800"/>
            <a:ext cx="2377440" cy="685800"/>
          </a:xfrm>
          <a:prstGeom prst="rect">
            <a:avLst/>
          </a:prstGeom>
          <a:solidFill>
            <a:srgbClr val="F4F6F8"/>
          </a:solidFill>
          <a:ln w="12700">
            <a:solidFill>
              <a:srgbClr val="1F2A3C"/>
            </a:solidFill>
            <a:prstDash val="solid"/>
          </a:ln>
        </p:spPr>
      </p:sp>
      <p:sp>
        <p:nvSpPr>
          <p:cNvPr id="14" name="Text 11"/>
          <p:cNvSpPr txBox="1"/>
          <p:nvPr/>
        </p:nvSpPr>
        <p:spPr>
          <a:xfrm>
            <a:off x="3593592" y="4114800"/>
            <a:ext cx="2322576" cy="685800"/>
          </a:xfrm>
          <a:prstGeom prst="rect">
            <a:avLst/>
          </a:prstGeom>
          <a:noFill/>
          <a:ln/>
        </p:spPr>
        <p:txBody>
          <a:bodyPr wrap="square" lIns="0" tIns="0" rIns="0" bIns="0" rtlCol="0" anchor="ctr"/>
          <a:lstStyle/>
          <a:p>
            <a:pPr algn="ctr" indent="0" marL="0">
              <a:buNone/>
            </a:pPr>
            <a:r>
              <a:rPr lang="en-US" sz="1200" b="1" dirty="0">
                <a:solidFill>
                  <a:srgbClr val="1F2A3C"/>
                </a:solidFill>
                <a:latin typeface="Calibri" pitchFamily="34" charset="0"/>
                <a:ea typeface="Calibri" pitchFamily="34" charset="-122"/>
                <a:cs typeface="Calibri" pitchFamily="34" charset="-120"/>
              </a:rPr>
              <a:t>Range + Integrality</a:t>
            </a:r>
            <a:endParaRPr lang="en-US" sz="1200" dirty="0"/>
          </a:p>
        </p:txBody>
      </p:sp>
      <p:sp>
        <p:nvSpPr>
          <p:cNvPr id="15" name="Shape 12"/>
          <p:cNvSpPr/>
          <p:nvPr/>
        </p:nvSpPr>
        <p:spPr>
          <a:xfrm>
            <a:off x="5943600" y="4457700"/>
            <a:ext cx="457200" cy="0"/>
          </a:xfrm>
          <a:prstGeom prst="line">
            <a:avLst/>
          </a:prstGeom>
          <a:noFill/>
          <a:ln w="19050">
            <a:solidFill>
              <a:srgbClr val="6B7480"/>
            </a:solidFill>
            <a:prstDash val="solid"/>
            <a:tailEnd type="triangle"/>
          </a:ln>
        </p:spPr>
      </p:sp>
      <p:sp>
        <p:nvSpPr>
          <p:cNvPr id="16" name="Shape 13"/>
          <p:cNvSpPr/>
          <p:nvPr/>
        </p:nvSpPr>
        <p:spPr>
          <a:xfrm>
            <a:off x="6492240" y="4114800"/>
            <a:ext cx="2377440" cy="685800"/>
          </a:xfrm>
          <a:prstGeom prst="rect">
            <a:avLst/>
          </a:prstGeom>
          <a:solidFill>
            <a:srgbClr val="2E6E7E"/>
          </a:solidFill>
          <a:ln w="12700">
            <a:solidFill>
              <a:srgbClr val="2E6E7E"/>
            </a:solidFill>
            <a:prstDash val="solid"/>
          </a:ln>
        </p:spPr>
      </p:sp>
      <p:sp>
        <p:nvSpPr>
          <p:cNvPr id="17" name="Text 14"/>
          <p:cNvSpPr txBox="1"/>
          <p:nvPr/>
        </p:nvSpPr>
        <p:spPr>
          <a:xfrm>
            <a:off x="6519672" y="4114800"/>
            <a:ext cx="2322576"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Quantization Decision</a:t>
            </a:r>
            <a:endParaRPr lang="en-US" sz="1200" dirty="0"/>
          </a:p>
        </p:txBody>
      </p:sp>
      <p:sp>
        <p:nvSpPr>
          <p:cNvPr id="18" name="Text 15"/>
          <p:cNvSpPr txBox="1"/>
          <p:nvPr/>
        </p:nvSpPr>
        <p:spPr>
          <a:xfrm>
            <a:off x="548640" y="5074920"/>
            <a:ext cx="11064240" cy="731520"/>
          </a:xfrm>
          <a:prstGeom prst="rect">
            <a:avLst/>
          </a:prstGeom>
          <a:noFill/>
          <a:ln/>
        </p:spPr>
        <p:txBody>
          <a:bodyPr wrap="square" rtlCol="0" anchor="t"/>
          <a:lstStyle/>
          <a:p>
            <a:pPr algn="l" indent="0" marL="0">
              <a:buNone/>
            </a:pPr>
            <a:r>
              <a:rPr lang="en-US" sz="1150" i="1" dirty="0">
                <a:solidFill>
                  <a:srgbClr val="6B7480"/>
                </a:solidFill>
                <a:latin typeface="Calibri" pitchFamily="34" charset="0"/>
                <a:ea typeface="Calibri" pitchFamily="34" charset="-122"/>
                <a:cs typeface="Calibri" pitchFamily="34" charset="-120"/>
              </a:rPr>
              <a:t>Range analysis propagates interval bounds through SSA operations; φ-nodes conservatively merge the ranges of incoming branches (union of bounds), so a value's range after a branch always covers every path that reaches it.</a:t>
            </a:r>
            <a:endParaRPr lang="en-US" sz="1150" dirty="0"/>
          </a:p>
        </p:txBody>
      </p:sp>
      <p:sp>
        <p:nvSpPr>
          <p:cNvPr id="19" name="Text 16"/>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20" name="Text 17"/>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DECISION LOGIC</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Safe vs. Unsafe Quantization</a:t>
            </a:r>
            <a:endParaRPr lang="en-US" sz="2900" dirty="0"/>
          </a:p>
        </p:txBody>
      </p:sp>
      <p:sp>
        <p:nvSpPr>
          <p:cNvPr id="4" name="Shape 2"/>
          <p:cNvSpPr/>
          <p:nvPr/>
        </p:nvSpPr>
        <p:spPr>
          <a:xfrm>
            <a:off x="548640" y="1783080"/>
            <a:ext cx="5349240" cy="2880360"/>
          </a:xfrm>
          <a:prstGeom prst="rect">
            <a:avLst/>
          </a:prstGeom>
          <a:solidFill>
            <a:srgbClr val="FFFFFF"/>
          </a:solidFill>
          <a:ln w="19050">
            <a:solidFill>
              <a:srgbClr val="2E6E7E"/>
            </a:solidFill>
            <a:prstDash val="solid"/>
          </a:ln>
        </p:spPr>
      </p:sp>
      <p:sp>
        <p:nvSpPr>
          <p:cNvPr id="5" name="Text 3"/>
          <p:cNvSpPr txBox="1"/>
          <p:nvPr/>
        </p:nvSpPr>
        <p:spPr>
          <a:xfrm>
            <a:off x="822960" y="1920240"/>
            <a:ext cx="4846320" cy="320040"/>
          </a:xfrm>
          <a:prstGeom prst="rect">
            <a:avLst/>
          </a:prstGeom>
          <a:noFill/>
          <a:ln/>
        </p:spPr>
        <p:txBody>
          <a:bodyPr wrap="square" rtlCol="0" anchor="t"/>
          <a:lstStyle/>
          <a:p>
            <a:pPr algn="l" indent="0" marL="0">
              <a:buNone/>
            </a:pPr>
            <a:r>
              <a:rPr lang="en-US" sz="1500" b="1" dirty="0">
                <a:solidFill>
                  <a:srgbClr val="2E6E7E"/>
                </a:solidFill>
                <a:latin typeface="Calibri" pitchFamily="34" charset="0"/>
                <a:ea typeface="Calibri" pitchFamily="34" charset="-122"/>
                <a:cs typeface="Calibri" pitchFamily="34" charset="-120"/>
              </a:rPr>
              <a:t>CASE A — SAFE</a:t>
            </a:r>
            <a:endParaRPr lang="en-US" sz="1500" dirty="0"/>
          </a:p>
        </p:txBody>
      </p:sp>
      <p:sp>
        <p:nvSpPr>
          <p:cNvPr id="6" name="Text 4"/>
          <p:cNvSpPr txBox="1"/>
          <p:nvPr/>
        </p:nvSpPr>
        <p:spPr>
          <a:xfrm>
            <a:off x="822960" y="2377440"/>
            <a:ext cx="4846320" cy="1371600"/>
          </a:xfrm>
          <a:prstGeom prst="rect">
            <a:avLst/>
          </a:prstGeom>
          <a:noFill/>
          <a:ln/>
        </p:spPr>
        <p:txBody>
          <a:bodyPr wrap="square" rtlCol="0" anchor="ctr"/>
          <a:lstStyle/>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x ∈ [10, 20],  integral = true</a:t>
            </a:r>
            <a:endParaRPr lang="en-US" sz="1300" dirty="0"/>
          </a:p>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10 ≥ −128   ✓</a:t>
            </a:r>
            <a:endParaRPr lang="en-US" sz="1300" dirty="0"/>
          </a:p>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20 ≤ 127   ✓</a:t>
            </a:r>
            <a:endParaRPr lang="en-US" sz="1300" dirty="0"/>
          </a:p>
        </p:txBody>
      </p:sp>
      <p:sp>
        <p:nvSpPr>
          <p:cNvPr id="7" name="Shape 5"/>
          <p:cNvSpPr/>
          <p:nvPr/>
        </p:nvSpPr>
        <p:spPr>
          <a:xfrm>
            <a:off x="822960" y="4023360"/>
            <a:ext cx="4800600" cy="502920"/>
          </a:xfrm>
          <a:prstGeom prst="rect">
            <a:avLst/>
          </a:prstGeom>
          <a:solidFill>
            <a:srgbClr val="2E6E7E"/>
          </a:solidFill>
          <a:ln w="12700">
            <a:solidFill>
              <a:srgbClr val="2E6E7E"/>
            </a:solidFill>
            <a:prstDash val="solid"/>
          </a:ln>
        </p:spPr>
      </p:sp>
      <p:sp>
        <p:nvSpPr>
          <p:cNvPr id="8" name="Text 6"/>
          <p:cNvSpPr txBox="1"/>
          <p:nvPr/>
        </p:nvSpPr>
        <p:spPr>
          <a:xfrm>
            <a:off x="822960" y="4023360"/>
            <a:ext cx="48006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SAFE: FP32 → INT8</a:t>
            </a:r>
            <a:endParaRPr lang="en-US" sz="1300" dirty="0"/>
          </a:p>
        </p:txBody>
      </p:sp>
      <p:sp>
        <p:nvSpPr>
          <p:cNvPr id="9" name="Shape 7"/>
          <p:cNvSpPr/>
          <p:nvPr/>
        </p:nvSpPr>
        <p:spPr>
          <a:xfrm>
            <a:off x="6263640" y="1783080"/>
            <a:ext cx="5349240" cy="2880360"/>
          </a:xfrm>
          <a:prstGeom prst="rect">
            <a:avLst/>
          </a:prstGeom>
          <a:solidFill>
            <a:srgbClr val="FFFFFF"/>
          </a:solidFill>
          <a:ln w="19050">
            <a:solidFill>
              <a:srgbClr val="9C4A3E"/>
            </a:solidFill>
            <a:prstDash val="solid"/>
          </a:ln>
        </p:spPr>
      </p:sp>
      <p:sp>
        <p:nvSpPr>
          <p:cNvPr id="10" name="Text 8"/>
          <p:cNvSpPr txBox="1"/>
          <p:nvPr/>
        </p:nvSpPr>
        <p:spPr>
          <a:xfrm>
            <a:off x="6537960" y="1920240"/>
            <a:ext cx="4846320" cy="320040"/>
          </a:xfrm>
          <a:prstGeom prst="rect">
            <a:avLst/>
          </a:prstGeom>
          <a:noFill/>
          <a:ln/>
        </p:spPr>
        <p:txBody>
          <a:bodyPr wrap="square" rtlCol="0" anchor="t"/>
          <a:lstStyle/>
          <a:p>
            <a:pPr algn="l" indent="0" marL="0">
              <a:buNone/>
            </a:pPr>
            <a:r>
              <a:rPr lang="en-US" sz="1500" b="1" dirty="0">
                <a:solidFill>
                  <a:srgbClr val="9C4A3E"/>
                </a:solidFill>
                <a:latin typeface="Calibri" pitchFamily="34" charset="0"/>
                <a:ea typeface="Calibri" pitchFamily="34" charset="-122"/>
                <a:cs typeface="Calibri" pitchFamily="34" charset="-120"/>
              </a:rPr>
              <a:t>CASE B — UNSAFE (Overflow)</a:t>
            </a:r>
            <a:endParaRPr lang="en-US" sz="1500" dirty="0"/>
          </a:p>
        </p:txBody>
      </p:sp>
      <p:sp>
        <p:nvSpPr>
          <p:cNvPr id="11" name="Text 9"/>
          <p:cNvSpPr txBox="1"/>
          <p:nvPr/>
        </p:nvSpPr>
        <p:spPr>
          <a:xfrm>
            <a:off x="6537960" y="2377440"/>
            <a:ext cx="4846320" cy="1371600"/>
          </a:xfrm>
          <a:prstGeom prst="rect">
            <a:avLst/>
          </a:prstGeom>
          <a:noFill/>
          <a:ln/>
        </p:spPr>
        <p:txBody>
          <a:bodyPr wrap="square" rtlCol="0" anchor="ctr"/>
          <a:lstStyle/>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x ∈ [120, 200],  integral = true</a:t>
            </a:r>
            <a:endParaRPr lang="en-US" sz="1300" dirty="0"/>
          </a:p>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200 &gt; 127   ✗  (out of INT8 range)</a:t>
            </a:r>
            <a:endParaRPr lang="en-US" sz="1300" dirty="0"/>
          </a:p>
        </p:txBody>
      </p:sp>
      <p:sp>
        <p:nvSpPr>
          <p:cNvPr id="12" name="Shape 10"/>
          <p:cNvSpPr/>
          <p:nvPr/>
        </p:nvSpPr>
        <p:spPr>
          <a:xfrm>
            <a:off x="6537960" y="4023360"/>
            <a:ext cx="4800600" cy="502920"/>
          </a:xfrm>
          <a:prstGeom prst="rect">
            <a:avLst/>
          </a:prstGeom>
          <a:solidFill>
            <a:srgbClr val="F3E7E5"/>
          </a:solidFill>
          <a:ln w="15240">
            <a:solidFill>
              <a:srgbClr val="9C4A3E"/>
            </a:solidFill>
            <a:prstDash val="solid"/>
          </a:ln>
        </p:spPr>
      </p:sp>
      <p:sp>
        <p:nvSpPr>
          <p:cNvPr id="13" name="Text 11"/>
          <p:cNvSpPr txBox="1"/>
          <p:nvPr/>
        </p:nvSpPr>
        <p:spPr>
          <a:xfrm>
            <a:off x="6537960" y="4023360"/>
            <a:ext cx="4800600" cy="502920"/>
          </a:xfrm>
          <a:prstGeom prst="rect">
            <a:avLst/>
          </a:prstGeom>
          <a:noFill/>
          <a:ln/>
        </p:spPr>
        <p:txBody>
          <a:bodyPr wrap="square" rtlCol="0" anchor="ctr"/>
          <a:lstStyle/>
          <a:p>
            <a:pPr algn="ctr" indent="0" marL="0">
              <a:buNone/>
            </a:pPr>
            <a:r>
              <a:rPr lang="en-US" sz="1300" b="1" dirty="0">
                <a:solidFill>
                  <a:srgbClr val="9C4A3E"/>
                </a:solidFill>
                <a:latin typeface="Calibri" pitchFamily="34" charset="0"/>
                <a:ea typeface="Calibri" pitchFamily="34" charset="-122"/>
                <a:cs typeface="Calibri" pitchFamily="34" charset="-120"/>
              </a:rPr>
              <a:t>→ REJECT: retain FP32</a:t>
            </a:r>
            <a:endParaRPr lang="en-US" sz="1300" dirty="0"/>
          </a:p>
        </p:txBody>
      </p:sp>
      <p:sp>
        <p:nvSpPr>
          <p:cNvPr id="14" name="Shape 12"/>
          <p:cNvSpPr/>
          <p:nvPr/>
        </p:nvSpPr>
        <p:spPr>
          <a:xfrm>
            <a:off x="548640" y="4983480"/>
            <a:ext cx="11064240" cy="1051560"/>
          </a:xfrm>
          <a:prstGeom prst="rect">
            <a:avLst/>
          </a:prstGeom>
          <a:solidFill>
            <a:srgbClr val="F4F6F8"/>
          </a:solidFill>
          <a:ln w="12700">
            <a:solidFill>
              <a:srgbClr val="D6DCE2"/>
            </a:solidFill>
            <a:prstDash val="solid"/>
          </a:ln>
        </p:spPr>
      </p:sp>
      <p:sp>
        <p:nvSpPr>
          <p:cNvPr id="15" name="Text 13"/>
          <p:cNvSpPr txBox="1"/>
          <p:nvPr/>
        </p:nvSpPr>
        <p:spPr>
          <a:xfrm>
            <a:off x="822960" y="5074920"/>
            <a:ext cx="2743200" cy="822960"/>
          </a:xfrm>
          <a:prstGeom prst="rect">
            <a:avLst/>
          </a:prstGeom>
          <a:noFill/>
          <a:ln/>
        </p:spPr>
        <p:txBody>
          <a:bodyPr wrap="square" rtlCol="0" anchor="ctr"/>
          <a:lstStyle/>
          <a:p>
            <a:pPr algn="l" indent="0" marL="0">
              <a:buNone/>
            </a:pPr>
            <a:r>
              <a:rPr lang="en-US" sz="1250" b="1" dirty="0">
                <a:solidFill>
                  <a:srgbClr val="1F2A3C"/>
                </a:solidFill>
                <a:latin typeface="Calibri" pitchFamily="34" charset="0"/>
                <a:ea typeface="Calibri" pitchFamily="34" charset="-122"/>
                <a:cs typeface="Calibri" pitchFamily="34" charset="-120"/>
              </a:rPr>
              <a:t>Edge Case —</a:t>
            </a:r>
            <a:endParaRPr lang="en-US" sz="1250" dirty="0"/>
          </a:p>
          <a:p>
            <a:pPr algn="l" indent="0" marL="0">
              <a:buNone/>
            </a:pPr>
            <a:r>
              <a:rPr lang="en-US" sz="1250" b="1" dirty="0">
                <a:solidFill>
                  <a:srgbClr val="1F2A3C"/>
                </a:solidFill>
                <a:latin typeface="Calibri" pitchFamily="34" charset="0"/>
                <a:ea typeface="Calibri" pitchFamily="34" charset="-122"/>
                <a:cs typeface="Calibri" pitchFamily="34" charset="-120"/>
              </a:rPr>
              <a:t>Integrality Matters</a:t>
            </a:r>
            <a:endParaRPr lang="en-US" sz="1250" dirty="0"/>
          </a:p>
        </p:txBody>
      </p:sp>
      <p:sp>
        <p:nvSpPr>
          <p:cNvPr id="16" name="Text 14"/>
          <p:cNvSpPr txBox="1"/>
          <p:nvPr/>
        </p:nvSpPr>
        <p:spPr>
          <a:xfrm>
            <a:off x="3657600" y="5074920"/>
            <a:ext cx="7680960" cy="822960"/>
          </a:xfrm>
          <a:prstGeom prst="rect">
            <a:avLst/>
          </a:prstGeom>
          <a:noFill/>
          <a:ln/>
        </p:spPr>
        <p:txBody>
          <a:bodyPr wrap="square" rtlCol="0" anchor="ctr"/>
          <a:lstStyle/>
          <a:p>
            <a:pPr algn="l" indent="0" marL="0">
              <a:buNone/>
            </a:pPr>
            <a:r>
              <a:rPr lang="en-US" sz="1350" b="1" dirty="0">
                <a:solidFill>
                  <a:srgbClr val="9C4A3E"/>
                </a:solidFill>
                <a:latin typeface="Calibri" pitchFamily="34" charset="0"/>
                <a:ea typeface="Calibri" pitchFamily="34" charset="-122"/>
                <a:cs typeface="Calibri" pitchFamily="34" charset="-120"/>
              </a:rPr>
              <a:t>x = 1.5   →   range fits numerically, BUT integral = false   →   ✗ REJECT</a:t>
            </a:r>
            <a:endParaRPr lang="en-US" sz="1350" dirty="0"/>
          </a:p>
        </p:txBody>
      </p:sp>
      <p:sp>
        <p:nvSpPr>
          <p:cNvPr id="17" name="Text 15"/>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8" name="Text 16"/>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CONTROL FLOW</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Handling Loops Safely</a:t>
            </a:r>
            <a:endParaRPr lang="en-US" sz="2900" dirty="0"/>
          </a:p>
        </p:txBody>
      </p:sp>
      <p:sp>
        <p:nvSpPr>
          <p:cNvPr id="4" name="Text 2"/>
          <p:cNvSpPr txBox="1"/>
          <p:nvPr/>
        </p:nvSpPr>
        <p:spPr>
          <a:xfrm>
            <a:off x="548640" y="1783080"/>
            <a:ext cx="4846320" cy="274320"/>
          </a:xfrm>
          <a:prstGeom prst="rect">
            <a:avLst/>
          </a:prstGeom>
          <a:noFill/>
          <a:ln/>
        </p:spPr>
        <p:txBody>
          <a:bodyPr wrap="square" rtlCol="0" anchor="t"/>
          <a:lstStyle/>
          <a:p>
            <a:pPr algn="l" indent="0" marL="0">
              <a:buNone/>
            </a:pPr>
            <a:r>
              <a:rPr lang="en-US" sz="1200" b="1" dirty="0">
                <a:solidFill>
                  <a:srgbClr val="1F2A3C"/>
                </a:solidFill>
                <a:latin typeface="Calibri" pitchFamily="34" charset="0"/>
                <a:ea typeface="Calibri" pitchFamily="34" charset="-122"/>
                <a:cs typeface="Calibri" pitchFamily="34" charset="-120"/>
              </a:rPr>
              <a:t>Example</a:t>
            </a:r>
            <a:endParaRPr lang="en-US" sz="1200" dirty="0"/>
          </a:p>
        </p:txBody>
      </p:sp>
      <p:sp>
        <p:nvSpPr>
          <p:cNvPr id="5" name="Shape 3"/>
          <p:cNvSpPr/>
          <p:nvPr/>
        </p:nvSpPr>
        <p:spPr>
          <a:xfrm>
            <a:off x="548640" y="2103120"/>
            <a:ext cx="4846320" cy="1234440"/>
          </a:xfrm>
          <a:prstGeom prst="rect">
            <a:avLst/>
          </a:prstGeom>
          <a:solidFill>
            <a:srgbClr val="1F2A3C"/>
          </a:solidFill>
          <a:ln w="12700">
            <a:solidFill>
              <a:srgbClr val="1F2A3C"/>
            </a:solidFill>
            <a:prstDash val="solid"/>
          </a:ln>
        </p:spPr>
      </p:sp>
      <p:sp>
        <p:nvSpPr>
          <p:cNvPr id="6" name="Text 4"/>
          <p:cNvSpPr txBox="1"/>
          <p:nvPr/>
        </p:nvSpPr>
        <p:spPr>
          <a:xfrm>
            <a:off x="777240" y="2103120"/>
            <a:ext cx="4389120" cy="1234440"/>
          </a:xfrm>
          <a:prstGeom prst="rect">
            <a:avLst/>
          </a:prstGeom>
          <a:noFill/>
          <a:ln/>
        </p:spPr>
        <p:txBody>
          <a:bodyPr wrap="square" rtlCol="0" anchor="ctr"/>
          <a:lstStyle/>
          <a:p>
            <a:pPr indent="0" marL="0">
              <a:lnSpc>
                <a:spcPct val="130000"/>
              </a:lnSpc>
              <a:buNone/>
            </a:pPr>
            <a:r>
              <a:rPr lang="en-US" sz="1350" dirty="0">
                <a:solidFill>
                  <a:srgbClr val="D8E6EA"/>
                </a:solidFill>
                <a:latin typeface="Courier New" pitchFamily="34" charset="0"/>
                <a:ea typeface="Courier New" pitchFamily="34" charset="-122"/>
                <a:cs typeface="Courier New" pitchFamily="34" charset="-120"/>
              </a:rPr>
              <a:t>i = 0</a:t>
            </a:r>
            <a:endParaRPr lang="en-US" sz="1350" dirty="0"/>
          </a:p>
          <a:p>
            <a:pPr indent="0" marL="0">
              <a:lnSpc>
                <a:spcPct val="130000"/>
              </a:lnSpc>
              <a:buNone/>
            </a:pPr>
            <a:r>
              <a:rPr lang="en-US" sz="1350" dirty="0">
                <a:solidFill>
                  <a:srgbClr val="D8E6EA"/>
                </a:solidFill>
                <a:latin typeface="Courier New" pitchFamily="34" charset="0"/>
                <a:ea typeface="Courier New" pitchFamily="34" charset="-122"/>
                <a:cs typeface="Courier New" pitchFamily="34" charset="-120"/>
              </a:rPr>
              <a:t>while (i &lt; 100)</a:t>
            </a:r>
            <a:endParaRPr lang="en-US" sz="1350" dirty="0"/>
          </a:p>
          <a:p>
            <a:pPr indent="0" marL="0">
              <a:lnSpc>
                <a:spcPct val="130000"/>
              </a:lnSpc>
              <a:buNone/>
            </a:pPr>
            <a:r>
              <a:rPr lang="en-US" sz="1350" dirty="0">
                <a:solidFill>
                  <a:srgbClr val="D8E6EA"/>
                </a:solidFill>
                <a:latin typeface="Courier New" pitchFamily="34" charset="0"/>
                <a:ea typeface="Courier New" pitchFamily="34" charset="-122"/>
                <a:cs typeface="Courier New" pitchFamily="34" charset="-120"/>
              </a:rPr>
              <a:t>  i = i + 1</a:t>
            </a:r>
            <a:endParaRPr lang="en-US" sz="1350" dirty="0"/>
          </a:p>
        </p:txBody>
      </p:sp>
      <p:sp>
        <p:nvSpPr>
          <p:cNvPr id="7" name="Text 5"/>
          <p:cNvSpPr txBox="1"/>
          <p:nvPr/>
        </p:nvSpPr>
        <p:spPr>
          <a:xfrm>
            <a:off x="548640" y="3611880"/>
            <a:ext cx="4846320" cy="1737360"/>
          </a:xfrm>
          <a:prstGeom prst="rect">
            <a:avLst/>
          </a:prstGeom>
          <a:noFill/>
          <a:ln/>
        </p:spPr>
        <p:txBody>
          <a:bodyPr wrap="square" rtlCol="0" anchor="t"/>
          <a:lstStyle/>
          <a:p>
            <a:pPr algn="l" indent="0" marL="0">
              <a:lnSpc>
                <a:spcPct val="130000"/>
              </a:lnSpc>
              <a:buNone/>
            </a:pPr>
            <a:r>
              <a:rPr lang="en-US" sz="1250" i="1" dirty="0">
                <a:solidFill>
                  <a:srgbClr val="6B7480"/>
                </a:solidFill>
                <a:latin typeface="Calibri" pitchFamily="34" charset="0"/>
                <a:ea typeface="Calibri" pitchFamily="34" charset="-122"/>
                <a:cs typeface="Calibri" pitchFamily="34" charset="-120"/>
              </a:rPr>
              <a:t>Loop ranges must be computed via fixed-point iteration; naive propagation may not terminate.</a:t>
            </a:r>
            <a:endParaRPr lang="en-US" sz="1250" dirty="0"/>
          </a:p>
          <a:p>
            <a:pPr algn="l" indent="0" marL="0">
              <a:lnSpc>
                <a:spcPct val="130000"/>
              </a:lnSpc>
              <a:buNone/>
            </a:pPr>
            <a:endParaRPr lang="en-US" sz="1250" dirty="0"/>
          </a:p>
          <a:p>
            <a:pPr algn="l" indent="0" marL="0">
              <a:lnSpc>
                <a:spcPct val="130000"/>
              </a:lnSpc>
              <a:buNone/>
            </a:pPr>
            <a:r>
              <a:rPr lang="en-US" sz="1250" i="1" dirty="0">
                <a:solidFill>
                  <a:srgbClr val="6B7480"/>
                </a:solidFill>
                <a:latin typeface="Calibri" pitchFamily="34" charset="0"/>
                <a:ea typeface="Calibri" pitchFamily="34" charset="-122"/>
                <a:cs typeface="Calibri" pitchFamily="34" charset="-120"/>
              </a:rPr>
              <a:t>A bounded / widening strategy guarantees the analysis converges to a conservative range in finite time.</a:t>
            </a:r>
            <a:endParaRPr lang="en-US" sz="1250" dirty="0"/>
          </a:p>
        </p:txBody>
      </p:sp>
      <p:sp>
        <p:nvSpPr>
          <p:cNvPr id="8" name="Shape 6"/>
          <p:cNvSpPr/>
          <p:nvPr/>
        </p:nvSpPr>
        <p:spPr>
          <a:xfrm>
            <a:off x="6035040" y="1874520"/>
            <a:ext cx="5669280" cy="658368"/>
          </a:xfrm>
          <a:prstGeom prst="rect">
            <a:avLst/>
          </a:prstGeom>
          <a:solidFill>
            <a:srgbClr val="F4F6F8"/>
          </a:solidFill>
          <a:ln w="12700">
            <a:solidFill>
              <a:srgbClr val="1F2A3C"/>
            </a:solidFill>
            <a:prstDash val="solid"/>
          </a:ln>
        </p:spPr>
      </p:sp>
      <p:sp>
        <p:nvSpPr>
          <p:cNvPr id="9" name="Text 7"/>
          <p:cNvSpPr txBox="1"/>
          <p:nvPr/>
        </p:nvSpPr>
        <p:spPr>
          <a:xfrm>
            <a:off x="6062472" y="1874520"/>
            <a:ext cx="5614416" cy="658368"/>
          </a:xfrm>
          <a:prstGeom prst="rect">
            <a:avLst/>
          </a:prstGeom>
          <a:noFill/>
          <a:ln/>
        </p:spPr>
        <p:txBody>
          <a:bodyPr wrap="square" lIns="0" tIns="0" rIns="0" bIns="0" rtlCol="0" anchor="ctr"/>
          <a:lstStyle/>
          <a:p>
            <a:pPr algn="ctr" indent="0" marL="0">
              <a:buNone/>
            </a:pPr>
            <a:r>
              <a:rPr lang="en-US" sz="1200" b="1" dirty="0">
                <a:solidFill>
                  <a:srgbClr val="1F2A3C"/>
                </a:solidFill>
                <a:latin typeface="Calibri" pitchFamily="34" charset="0"/>
                <a:ea typeface="Calibri" pitchFamily="34" charset="-122"/>
                <a:cs typeface="Calibri" pitchFamily="34" charset="-120"/>
              </a:rPr>
              <a:t>CFG Construction</a:t>
            </a:r>
            <a:endParaRPr lang="en-US" sz="1200" dirty="0"/>
          </a:p>
        </p:txBody>
      </p:sp>
      <p:sp>
        <p:nvSpPr>
          <p:cNvPr id="10" name="Shape 8"/>
          <p:cNvSpPr/>
          <p:nvPr/>
        </p:nvSpPr>
        <p:spPr>
          <a:xfrm>
            <a:off x="8869680" y="2532888"/>
            <a:ext cx="0" cy="201168"/>
          </a:xfrm>
          <a:prstGeom prst="line">
            <a:avLst/>
          </a:prstGeom>
          <a:noFill/>
          <a:ln w="15875">
            <a:solidFill>
              <a:srgbClr val="6B7480"/>
            </a:solidFill>
            <a:prstDash val="solid"/>
            <a:tailEnd type="triangle"/>
          </a:ln>
        </p:spPr>
      </p:sp>
      <p:sp>
        <p:nvSpPr>
          <p:cNvPr id="11" name="Shape 9"/>
          <p:cNvSpPr/>
          <p:nvPr/>
        </p:nvSpPr>
        <p:spPr>
          <a:xfrm>
            <a:off x="6035040" y="2734056"/>
            <a:ext cx="5669280" cy="658368"/>
          </a:xfrm>
          <a:prstGeom prst="rect">
            <a:avLst/>
          </a:prstGeom>
          <a:solidFill>
            <a:srgbClr val="F4F6F8"/>
          </a:solidFill>
          <a:ln w="12700">
            <a:solidFill>
              <a:srgbClr val="1F2A3C"/>
            </a:solidFill>
            <a:prstDash val="solid"/>
          </a:ln>
        </p:spPr>
      </p:sp>
      <p:sp>
        <p:nvSpPr>
          <p:cNvPr id="12" name="Text 10"/>
          <p:cNvSpPr txBox="1"/>
          <p:nvPr/>
        </p:nvSpPr>
        <p:spPr>
          <a:xfrm>
            <a:off x="6062472" y="2734056"/>
            <a:ext cx="5614416" cy="658368"/>
          </a:xfrm>
          <a:prstGeom prst="rect">
            <a:avLst/>
          </a:prstGeom>
          <a:noFill/>
          <a:ln/>
        </p:spPr>
        <p:txBody>
          <a:bodyPr wrap="square" lIns="0" tIns="0" rIns="0" bIns="0" rtlCol="0" anchor="ctr"/>
          <a:lstStyle/>
          <a:p>
            <a:pPr algn="ctr" indent="0" marL="0">
              <a:buNone/>
            </a:pPr>
            <a:r>
              <a:rPr lang="en-US" sz="1200" b="1" dirty="0">
                <a:solidFill>
                  <a:srgbClr val="1F2A3C"/>
                </a:solidFill>
                <a:latin typeface="Calibri" pitchFamily="34" charset="0"/>
                <a:ea typeface="Calibri" pitchFamily="34" charset="-122"/>
                <a:cs typeface="Calibri" pitchFamily="34" charset="-120"/>
              </a:rPr>
              <a:t>SSA φ-node at Loop Header</a:t>
            </a:r>
            <a:endParaRPr lang="en-US" sz="1200" dirty="0"/>
          </a:p>
        </p:txBody>
      </p:sp>
      <p:sp>
        <p:nvSpPr>
          <p:cNvPr id="13" name="Shape 11"/>
          <p:cNvSpPr/>
          <p:nvPr/>
        </p:nvSpPr>
        <p:spPr>
          <a:xfrm>
            <a:off x="8869680" y="3392424"/>
            <a:ext cx="0" cy="201168"/>
          </a:xfrm>
          <a:prstGeom prst="line">
            <a:avLst/>
          </a:prstGeom>
          <a:noFill/>
          <a:ln w="15875">
            <a:solidFill>
              <a:srgbClr val="6B7480"/>
            </a:solidFill>
            <a:prstDash val="solid"/>
            <a:tailEnd type="triangle"/>
          </a:ln>
        </p:spPr>
      </p:sp>
      <p:sp>
        <p:nvSpPr>
          <p:cNvPr id="14" name="Shape 12"/>
          <p:cNvSpPr/>
          <p:nvPr/>
        </p:nvSpPr>
        <p:spPr>
          <a:xfrm>
            <a:off x="6035040" y="3593592"/>
            <a:ext cx="5669280" cy="658368"/>
          </a:xfrm>
          <a:prstGeom prst="rect">
            <a:avLst/>
          </a:prstGeom>
          <a:solidFill>
            <a:srgbClr val="F4F6F8"/>
          </a:solidFill>
          <a:ln w="12700">
            <a:solidFill>
              <a:srgbClr val="1F2A3C"/>
            </a:solidFill>
            <a:prstDash val="solid"/>
          </a:ln>
        </p:spPr>
      </p:sp>
      <p:sp>
        <p:nvSpPr>
          <p:cNvPr id="15" name="Text 13"/>
          <p:cNvSpPr txBox="1"/>
          <p:nvPr/>
        </p:nvSpPr>
        <p:spPr>
          <a:xfrm>
            <a:off x="6062472" y="3593592"/>
            <a:ext cx="5614416" cy="658368"/>
          </a:xfrm>
          <a:prstGeom prst="rect">
            <a:avLst/>
          </a:prstGeom>
          <a:noFill/>
          <a:ln/>
        </p:spPr>
        <p:txBody>
          <a:bodyPr wrap="square" lIns="0" tIns="0" rIns="0" bIns="0" rtlCol="0" anchor="ctr"/>
          <a:lstStyle/>
          <a:p>
            <a:pPr algn="ctr" indent="0" marL="0">
              <a:buNone/>
            </a:pPr>
            <a:r>
              <a:rPr lang="en-US" sz="1200" b="1" dirty="0">
                <a:solidFill>
                  <a:srgbClr val="1F2A3C"/>
                </a:solidFill>
                <a:latin typeface="Calibri" pitchFamily="34" charset="0"/>
                <a:ea typeface="Calibri" pitchFamily="34" charset="-122"/>
                <a:cs typeface="Calibri" pitchFamily="34" charset="-120"/>
              </a:rPr>
              <a:t>Range Propagation</a:t>
            </a:r>
            <a:endParaRPr lang="en-US" sz="1200" dirty="0"/>
          </a:p>
        </p:txBody>
      </p:sp>
      <p:sp>
        <p:nvSpPr>
          <p:cNvPr id="16" name="Shape 14"/>
          <p:cNvSpPr/>
          <p:nvPr/>
        </p:nvSpPr>
        <p:spPr>
          <a:xfrm>
            <a:off x="8869680" y="4251960"/>
            <a:ext cx="0" cy="201168"/>
          </a:xfrm>
          <a:prstGeom prst="line">
            <a:avLst/>
          </a:prstGeom>
          <a:noFill/>
          <a:ln w="15875">
            <a:solidFill>
              <a:srgbClr val="6B7480"/>
            </a:solidFill>
            <a:prstDash val="solid"/>
            <a:tailEnd type="triangle"/>
          </a:ln>
        </p:spPr>
      </p:sp>
      <p:sp>
        <p:nvSpPr>
          <p:cNvPr id="17" name="Shape 15"/>
          <p:cNvSpPr/>
          <p:nvPr/>
        </p:nvSpPr>
        <p:spPr>
          <a:xfrm>
            <a:off x="6035040" y="4453128"/>
            <a:ext cx="5669280" cy="658368"/>
          </a:xfrm>
          <a:prstGeom prst="rect">
            <a:avLst/>
          </a:prstGeom>
          <a:solidFill>
            <a:srgbClr val="F4F6F8"/>
          </a:solidFill>
          <a:ln w="12700">
            <a:solidFill>
              <a:srgbClr val="1F2A3C"/>
            </a:solidFill>
            <a:prstDash val="solid"/>
          </a:ln>
        </p:spPr>
      </p:sp>
      <p:sp>
        <p:nvSpPr>
          <p:cNvPr id="18" name="Text 16"/>
          <p:cNvSpPr txBox="1"/>
          <p:nvPr/>
        </p:nvSpPr>
        <p:spPr>
          <a:xfrm>
            <a:off x="6062472" y="4453128"/>
            <a:ext cx="5614416" cy="658368"/>
          </a:xfrm>
          <a:prstGeom prst="rect">
            <a:avLst/>
          </a:prstGeom>
          <a:noFill/>
          <a:ln/>
        </p:spPr>
        <p:txBody>
          <a:bodyPr wrap="square" lIns="0" tIns="0" rIns="0" bIns="0" rtlCol="0" anchor="ctr"/>
          <a:lstStyle/>
          <a:p>
            <a:pPr algn="ctr" indent="0" marL="0">
              <a:buNone/>
            </a:pPr>
            <a:r>
              <a:rPr lang="en-US" sz="1200" b="1" dirty="0">
                <a:solidFill>
                  <a:srgbClr val="1F2A3C"/>
                </a:solidFill>
                <a:latin typeface="Calibri" pitchFamily="34" charset="0"/>
                <a:ea typeface="Calibri" pitchFamily="34" charset="-122"/>
                <a:cs typeface="Calibri" pitchFamily="34" charset="-120"/>
              </a:rPr>
              <a:t>Fixed-Point Convergence</a:t>
            </a:r>
            <a:endParaRPr lang="en-US" sz="1200" dirty="0"/>
          </a:p>
        </p:txBody>
      </p:sp>
      <p:sp>
        <p:nvSpPr>
          <p:cNvPr id="19" name="Shape 17"/>
          <p:cNvSpPr/>
          <p:nvPr/>
        </p:nvSpPr>
        <p:spPr>
          <a:xfrm>
            <a:off x="8869680" y="5111496"/>
            <a:ext cx="0" cy="201168"/>
          </a:xfrm>
          <a:prstGeom prst="line">
            <a:avLst/>
          </a:prstGeom>
          <a:noFill/>
          <a:ln w="15875">
            <a:solidFill>
              <a:srgbClr val="6B7480"/>
            </a:solidFill>
            <a:prstDash val="solid"/>
            <a:tailEnd type="triangle"/>
          </a:ln>
        </p:spPr>
      </p:sp>
      <p:sp>
        <p:nvSpPr>
          <p:cNvPr id="20" name="Shape 18"/>
          <p:cNvSpPr/>
          <p:nvPr/>
        </p:nvSpPr>
        <p:spPr>
          <a:xfrm>
            <a:off x="6035040" y="5312664"/>
            <a:ext cx="5669280" cy="658368"/>
          </a:xfrm>
          <a:prstGeom prst="rect">
            <a:avLst/>
          </a:prstGeom>
          <a:solidFill>
            <a:srgbClr val="2E6E7E"/>
          </a:solidFill>
          <a:ln w="12700">
            <a:solidFill>
              <a:srgbClr val="2E6E7E"/>
            </a:solidFill>
            <a:prstDash val="solid"/>
          </a:ln>
        </p:spPr>
      </p:sp>
      <p:sp>
        <p:nvSpPr>
          <p:cNvPr id="21" name="Text 19"/>
          <p:cNvSpPr txBox="1"/>
          <p:nvPr/>
        </p:nvSpPr>
        <p:spPr>
          <a:xfrm>
            <a:off x="6062472" y="5312664"/>
            <a:ext cx="5614416"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Safe Termination</a:t>
            </a:r>
            <a:endParaRPr lang="en-US" sz="1200" dirty="0"/>
          </a:p>
        </p:txBody>
      </p:sp>
      <p:sp>
        <p:nvSpPr>
          <p:cNvPr id="22" name="Text 20"/>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23" name="Text 21"/>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DEMONSTRATION</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Sample Compiler Diagnostics</a:t>
            </a:r>
            <a:endParaRPr lang="en-US" sz="2900" dirty="0"/>
          </a:p>
        </p:txBody>
      </p:sp>
      <p:sp>
        <p:nvSpPr>
          <p:cNvPr id="4" name="Shape 2"/>
          <p:cNvSpPr/>
          <p:nvPr/>
        </p:nvSpPr>
        <p:spPr>
          <a:xfrm>
            <a:off x="457200" y="1783080"/>
            <a:ext cx="2112264" cy="731520"/>
          </a:xfrm>
          <a:prstGeom prst="rect">
            <a:avLst/>
          </a:prstGeom>
          <a:solidFill>
            <a:srgbClr val="F4F6F8"/>
          </a:solidFill>
          <a:ln w="12700">
            <a:solidFill>
              <a:srgbClr val="1F2A3C"/>
            </a:solidFill>
            <a:prstDash val="solid"/>
          </a:ln>
        </p:spPr>
      </p:sp>
      <p:sp>
        <p:nvSpPr>
          <p:cNvPr id="5" name="Text 3"/>
          <p:cNvSpPr txBox="1"/>
          <p:nvPr/>
        </p:nvSpPr>
        <p:spPr>
          <a:xfrm>
            <a:off x="484632" y="1783080"/>
            <a:ext cx="2057400" cy="731520"/>
          </a:xfrm>
          <a:prstGeom prst="rect">
            <a:avLst/>
          </a:prstGeom>
          <a:noFill/>
          <a:ln/>
        </p:spPr>
        <p:txBody>
          <a:bodyPr wrap="square" lIns="0" tIns="0" rIns="0" bIns="0" rtlCol="0" anchor="ctr"/>
          <a:lstStyle/>
          <a:p>
            <a:pPr algn="ctr" indent="0" marL="0">
              <a:buNone/>
            </a:pPr>
            <a:r>
              <a:rPr lang="en-US" sz="1100" b="1" dirty="0">
                <a:solidFill>
                  <a:srgbClr val="1F2A3C"/>
                </a:solidFill>
                <a:latin typeface="Calibri" pitchFamily="34" charset="0"/>
                <a:ea typeface="Calibri" pitchFamily="34" charset="-122"/>
                <a:cs typeface="Calibri" pitchFamily="34" charset="-120"/>
              </a:rPr>
              <a:t>Source</a:t>
            </a:r>
            <a:endParaRPr lang="en-US" sz="1100" dirty="0"/>
          </a:p>
        </p:txBody>
      </p:sp>
      <p:sp>
        <p:nvSpPr>
          <p:cNvPr id="6" name="Shape 4"/>
          <p:cNvSpPr/>
          <p:nvPr/>
        </p:nvSpPr>
        <p:spPr>
          <a:xfrm>
            <a:off x="2569464" y="2148840"/>
            <a:ext cx="182880" cy="0"/>
          </a:xfrm>
          <a:prstGeom prst="line">
            <a:avLst/>
          </a:prstGeom>
          <a:noFill/>
          <a:ln w="15875">
            <a:solidFill>
              <a:srgbClr val="6B7480"/>
            </a:solidFill>
            <a:prstDash val="solid"/>
            <a:tailEnd type="triangle"/>
          </a:ln>
        </p:spPr>
      </p:sp>
      <p:sp>
        <p:nvSpPr>
          <p:cNvPr id="7" name="Shape 5"/>
          <p:cNvSpPr/>
          <p:nvPr/>
        </p:nvSpPr>
        <p:spPr>
          <a:xfrm>
            <a:off x="2752344" y="1783080"/>
            <a:ext cx="2112264" cy="731520"/>
          </a:xfrm>
          <a:prstGeom prst="rect">
            <a:avLst/>
          </a:prstGeom>
          <a:solidFill>
            <a:srgbClr val="F4F6F8"/>
          </a:solidFill>
          <a:ln w="12700">
            <a:solidFill>
              <a:srgbClr val="1F2A3C"/>
            </a:solidFill>
            <a:prstDash val="solid"/>
          </a:ln>
        </p:spPr>
      </p:sp>
      <p:sp>
        <p:nvSpPr>
          <p:cNvPr id="8" name="Text 6"/>
          <p:cNvSpPr txBox="1"/>
          <p:nvPr/>
        </p:nvSpPr>
        <p:spPr>
          <a:xfrm>
            <a:off x="2779776" y="1783080"/>
            <a:ext cx="2057400" cy="731520"/>
          </a:xfrm>
          <a:prstGeom prst="rect">
            <a:avLst/>
          </a:prstGeom>
          <a:noFill/>
          <a:ln/>
        </p:spPr>
        <p:txBody>
          <a:bodyPr wrap="square" lIns="0" tIns="0" rIns="0" bIns="0" rtlCol="0" anchor="ctr"/>
          <a:lstStyle/>
          <a:p>
            <a:pPr algn="ctr" indent="0" marL="0">
              <a:buNone/>
            </a:pPr>
            <a:r>
              <a:rPr lang="en-US" sz="1100" b="1" dirty="0">
                <a:solidFill>
                  <a:srgbClr val="1F2A3C"/>
                </a:solidFill>
                <a:latin typeface="Calibri" pitchFamily="34" charset="0"/>
                <a:ea typeface="Calibri" pitchFamily="34" charset="-122"/>
                <a:cs typeface="Calibri" pitchFamily="34" charset="-120"/>
              </a:rPr>
              <a:t>SSA Analysis</a:t>
            </a:r>
            <a:endParaRPr lang="en-US" sz="1100" dirty="0"/>
          </a:p>
        </p:txBody>
      </p:sp>
      <p:sp>
        <p:nvSpPr>
          <p:cNvPr id="9" name="Shape 7"/>
          <p:cNvSpPr/>
          <p:nvPr/>
        </p:nvSpPr>
        <p:spPr>
          <a:xfrm>
            <a:off x="4864608" y="2148840"/>
            <a:ext cx="182880" cy="0"/>
          </a:xfrm>
          <a:prstGeom prst="line">
            <a:avLst/>
          </a:prstGeom>
          <a:noFill/>
          <a:ln w="15875">
            <a:solidFill>
              <a:srgbClr val="6B7480"/>
            </a:solidFill>
            <a:prstDash val="solid"/>
            <a:tailEnd type="triangle"/>
          </a:ln>
        </p:spPr>
      </p:sp>
      <p:sp>
        <p:nvSpPr>
          <p:cNvPr id="10" name="Shape 8"/>
          <p:cNvSpPr/>
          <p:nvPr/>
        </p:nvSpPr>
        <p:spPr>
          <a:xfrm>
            <a:off x="5047488" y="1783080"/>
            <a:ext cx="2112264" cy="731520"/>
          </a:xfrm>
          <a:prstGeom prst="rect">
            <a:avLst/>
          </a:prstGeom>
          <a:solidFill>
            <a:srgbClr val="F4F6F8"/>
          </a:solidFill>
          <a:ln w="12700">
            <a:solidFill>
              <a:srgbClr val="1F2A3C"/>
            </a:solidFill>
            <a:prstDash val="solid"/>
          </a:ln>
        </p:spPr>
      </p:sp>
      <p:sp>
        <p:nvSpPr>
          <p:cNvPr id="11" name="Text 9"/>
          <p:cNvSpPr txBox="1"/>
          <p:nvPr/>
        </p:nvSpPr>
        <p:spPr>
          <a:xfrm>
            <a:off x="5074920" y="1783080"/>
            <a:ext cx="2057400" cy="731520"/>
          </a:xfrm>
          <a:prstGeom prst="rect">
            <a:avLst/>
          </a:prstGeom>
          <a:noFill/>
          <a:ln/>
        </p:spPr>
        <p:txBody>
          <a:bodyPr wrap="square" lIns="0" tIns="0" rIns="0" bIns="0" rtlCol="0" anchor="ctr"/>
          <a:lstStyle/>
          <a:p>
            <a:pPr algn="ctr" indent="0" marL="0">
              <a:buNone/>
            </a:pPr>
            <a:r>
              <a:rPr lang="en-US" sz="1100" b="1" dirty="0">
                <a:solidFill>
                  <a:srgbClr val="1F2A3C"/>
                </a:solidFill>
                <a:latin typeface="Calibri" pitchFamily="34" charset="0"/>
                <a:ea typeface="Calibri" pitchFamily="34" charset="-122"/>
                <a:cs typeface="Calibri" pitchFamily="34" charset="-120"/>
              </a:rPr>
              <a:t>Range Report</a:t>
            </a:r>
            <a:endParaRPr lang="en-US" sz="1100" dirty="0"/>
          </a:p>
        </p:txBody>
      </p:sp>
      <p:sp>
        <p:nvSpPr>
          <p:cNvPr id="12" name="Shape 10"/>
          <p:cNvSpPr/>
          <p:nvPr/>
        </p:nvSpPr>
        <p:spPr>
          <a:xfrm>
            <a:off x="7159752" y="2148840"/>
            <a:ext cx="182880" cy="0"/>
          </a:xfrm>
          <a:prstGeom prst="line">
            <a:avLst/>
          </a:prstGeom>
          <a:noFill/>
          <a:ln w="15875">
            <a:solidFill>
              <a:srgbClr val="6B7480"/>
            </a:solidFill>
            <a:prstDash val="solid"/>
            <a:tailEnd type="triangle"/>
          </a:ln>
        </p:spPr>
      </p:sp>
      <p:sp>
        <p:nvSpPr>
          <p:cNvPr id="13" name="Shape 11"/>
          <p:cNvSpPr/>
          <p:nvPr/>
        </p:nvSpPr>
        <p:spPr>
          <a:xfrm>
            <a:off x="7342632" y="1783080"/>
            <a:ext cx="2112264" cy="731520"/>
          </a:xfrm>
          <a:prstGeom prst="rect">
            <a:avLst/>
          </a:prstGeom>
          <a:solidFill>
            <a:srgbClr val="F4F6F8"/>
          </a:solidFill>
          <a:ln w="12700">
            <a:solidFill>
              <a:srgbClr val="1F2A3C"/>
            </a:solidFill>
            <a:prstDash val="solid"/>
          </a:ln>
        </p:spPr>
      </p:sp>
      <p:sp>
        <p:nvSpPr>
          <p:cNvPr id="14" name="Text 12"/>
          <p:cNvSpPr txBox="1"/>
          <p:nvPr/>
        </p:nvSpPr>
        <p:spPr>
          <a:xfrm>
            <a:off x="7370064" y="1783080"/>
            <a:ext cx="2057400" cy="731520"/>
          </a:xfrm>
          <a:prstGeom prst="rect">
            <a:avLst/>
          </a:prstGeom>
          <a:noFill/>
          <a:ln/>
        </p:spPr>
        <p:txBody>
          <a:bodyPr wrap="square" lIns="0" tIns="0" rIns="0" bIns="0" rtlCol="0" anchor="ctr"/>
          <a:lstStyle/>
          <a:p>
            <a:pPr algn="ctr" indent="0" marL="0">
              <a:buNone/>
            </a:pPr>
            <a:r>
              <a:rPr lang="en-US" sz="1100" b="1" dirty="0">
                <a:solidFill>
                  <a:srgbClr val="1F2A3C"/>
                </a:solidFill>
                <a:latin typeface="Calibri" pitchFamily="34" charset="0"/>
                <a:ea typeface="Calibri" pitchFamily="34" charset="-122"/>
                <a:cs typeface="Calibri" pitchFamily="34" charset="-120"/>
              </a:rPr>
              <a:t>Quantization</a:t>
            </a:r>
            <a:endParaRPr lang="en-US" sz="1100" dirty="0"/>
          </a:p>
          <a:p>
            <a:pPr algn="ctr" indent="0" marL="0">
              <a:buNone/>
            </a:pPr>
            <a:r>
              <a:rPr lang="en-US" sz="1100" b="1" dirty="0">
                <a:solidFill>
                  <a:srgbClr val="1F2A3C"/>
                </a:solidFill>
                <a:latin typeface="Calibri" pitchFamily="34" charset="0"/>
                <a:ea typeface="Calibri" pitchFamily="34" charset="-122"/>
                <a:cs typeface="Calibri" pitchFamily="34" charset="-120"/>
              </a:rPr>
              <a:t>Decision</a:t>
            </a:r>
            <a:endParaRPr lang="en-US" sz="1100" dirty="0"/>
          </a:p>
        </p:txBody>
      </p:sp>
      <p:sp>
        <p:nvSpPr>
          <p:cNvPr id="15" name="Shape 13"/>
          <p:cNvSpPr/>
          <p:nvPr/>
        </p:nvSpPr>
        <p:spPr>
          <a:xfrm>
            <a:off x="9454896" y="2148840"/>
            <a:ext cx="182880" cy="0"/>
          </a:xfrm>
          <a:prstGeom prst="line">
            <a:avLst/>
          </a:prstGeom>
          <a:noFill/>
          <a:ln w="15875">
            <a:solidFill>
              <a:srgbClr val="6B7480"/>
            </a:solidFill>
            <a:prstDash val="solid"/>
            <a:tailEnd type="triangle"/>
          </a:ln>
        </p:spPr>
      </p:sp>
      <p:sp>
        <p:nvSpPr>
          <p:cNvPr id="16" name="Shape 14"/>
          <p:cNvSpPr/>
          <p:nvPr/>
        </p:nvSpPr>
        <p:spPr>
          <a:xfrm>
            <a:off x="9637776" y="1783080"/>
            <a:ext cx="2112264" cy="731520"/>
          </a:xfrm>
          <a:prstGeom prst="rect">
            <a:avLst/>
          </a:prstGeom>
          <a:solidFill>
            <a:srgbClr val="F4F6F8"/>
          </a:solidFill>
          <a:ln w="12700">
            <a:solidFill>
              <a:srgbClr val="1F2A3C"/>
            </a:solidFill>
            <a:prstDash val="solid"/>
          </a:ln>
        </p:spPr>
      </p:sp>
      <p:sp>
        <p:nvSpPr>
          <p:cNvPr id="17" name="Text 15"/>
          <p:cNvSpPr txBox="1"/>
          <p:nvPr/>
        </p:nvSpPr>
        <p:spPr>
          <a:xfrm>
            <a:off x="9665208" y="1783080"/>
            <a:ext cx="2057400" cy="731520"/>
          </a:xfrm>
          <a:prstGeom prst="rect">
            <a:avLst/>
          </a:prstGeom>
          <a:noFill/>
          <a:ln/>
        </p:spPr>
        <p:txBody>
          <a:bodyPr wrap="square" lIns="0" tIns="0" rIns="0" bIns="0" rtlCol="0" anchor="ctr"/>
          <a:lstStyle/>
          <a:p>
            <a:pPr algn="ctr" indent="0" marL="0">
              <a:buNone/>
            </a:pPr>
            <a:r>
              <a:rPr lang="en-US" sz="1100" b="1" dirty="0">
                <a:solidFill>
                  <a:srgbClr val="1F2A3C"/>
                </a:solidFill>
                <a:latin typeface="Calibri" pitchFamily="34" charset="0"/>
                <a:ea typeface="Calibri" pitchFamily="34" charset="-122"/>
                <a:cs typeface="Calibri" pitchFamily="34" charset="-120"/>
              </a:rPr>
              <a:t>Quantized IR</a:t>
            </a:r>
            <a:endParaRPr lang="en-US" sz="1100" dirty="0"/>
          </a:p>
        </p:txBody>
      </p:sp>
      <p:sp>
        <p:nvSpPr>
          <p:cNvPr id="18" name="Shape 16"/>
          <p:cNvSpPr/>
          <p:nvPr/>
        </p:nvSpPr>
        <p:spPr>
          <a:xfrm>
            <a:off x="548640" y="2880360"/>
            <a:ext cx="5349240" cy="2606040"/>
          </a:xfrm>
          <a:prstGeom prst="rect">
            <a:avLst/>
          </a:prstGeom>
          <a:solidFill>
            <a:srgbClr val="1F2A3C"/>
          </a:solidFill>
          <a:ln w="19050">
            <a:solidFill>
              <a:srgbClr val="2E6E7E"/>
            </a:solidFill>
            <a:prstDash val="solid"/>
          </a:ln>
        </p:spPr>
      </p:sp>
      <p:sp>
        <p:nvSpPr>
          <p:cNvPr id="19" name="Text 17"/>
          <p:cNvSpPr txBox="1"/>
          <p:nvPr/>
        </p:nvSpPr>
        <p:spPr>
          <a:xfrm>
            <a:off x="822960" y="3063240"/>
            <a:ext cx="4800600" cy="2286000"/>
          </a:xfrm>
          <a:prstGeom prst="rect">
            <a:avLst/>
          </a:prstGeom>
          <a:noFill/>
          <a:ln/>
        </p:spPr>
        <p:txBody>
          <a:bodyPr wrap="square" rtlCol="0" anchor="t"/>
          <a:lstStyle/>
          <a:p>
            <a:pPr indent="0" marL="0">
              <a:lnSpc>
                <a:spcPct val="135000"/>
              </a:lnSpc>
              <a:buNone/>
            </a:pPr>
            <a:r>
              <a:rPr lang="en-US" sz="1250" dirty="0">
                <a:solidFill>
                  <a:srgbClr val="9FE3C8"/>
                </a:solidFill>
                <a:latin typeface="Courier New" pitchFamily="34" charset="0"/>
                <a:ea typeface="Courier New" pitchFamily="34" charset="-122"/>
                <a:cs typeface="Courier New" pitchFamily="34" charset="-120"/>
              </a:rPr>
              <a:t>Variable: z</a:t>
            </a:r>
            <a:endParaRPr lang="en-US" sz="1250" dirty="0"/>
          </a:p>
          <a:p>
            <a:pPr indent="0" marL="0">
              <a:lnSpc>
                <a:spcPct val="135000"/>
              </a:lnSpc>
              <a:buNone/>
            </a:pPr>
            <a:r>
              <a:rPr lang="en-US" sz="1250" dirty="0">
                <a:solidFill>
                  <a:srgbClr val="9FE3C8"/>
                </a:solidFill>
                <a:latin typeface="Courier New" pitchFamily="34" charset="0"/>
                <a:ea typeface="Courier New" pitchFamily="34" charset="-122"/>
                <a:cs typeface="Courier New" pitchFamily="34" charset="-120"/>
              </a:rPr>
              <a:t>Source: line 18, column 9</a:t>
            </a:r>
            <a:endParaRPr lang="en-US" sz="1250" dirty="0"/>
          </a:p>
          <a:p>
            <a:pPr indent="0" marL="0">
              <a:lnSpc>
                <a:spcPct val="135000"/>
              </a:lnSpc>
              <a:buNone/>
            </a:pPr>
            <a:r>
              <a:rPr lang="en-US" sz="1250" dirty="0">
                <a:solidFill>
                  <a:srgbClr val="9FE3C8"/>
                </a:solidFill>
                <a:latin typeface="Courier New" pitchFamily="34" charset="0"/>
                <a:ea typeface="Courier New" pitchFamily="34" charset="-122"/>
                <a:cs typeface="Courier New" pitchFamily="34" charset="-120"/>
              </a:rPr>
              <a:t>Range: [30, 60]</a:t>
            </a:r>
            <a:endParaRPr lang="en-US" sz="1250" dirty="0"/>
          </a:p>
          <a:p>
            <a:pPr indent="0" marL="0">
              <a:lnSpc>
                <a:spcPct val="135000"/>
              </a:lnSpc>
              <a:buNone/>
            </a:pPr>
            <a:r>
              <a:rPr lang="en-US" sz="1250" dirty="0">
                <a:solidFill>
                  <a:srgbClr val="9FE3C8"/>
                </a:solidFill>
                <a:latin typeface="Courier New" pitchFamily="34" charset="0"/>
                <a:ea typeface="Courier New" pitchFamily="34" charset="-122"/>
                <a:cs typeface="Courier New" pitchFamily="34" charset="-120"/>
              </a:rPr>
              <a:t>Integral: YES</a:t>
            </a:r>
            <a:endParaRPr lang="en-US" sz="1250" dirty="0"/>
          </a:p>
          <a:p>
            <a:pPr indent="0" marL="0">
              <a:lnSpc>
                <a:spcPct val="135000"/>
              </a:lnSpc>
              <a:buNone/>
            </a:pPr>
            <a:r>
              <a:rPr lang="en-US" sz="1250" dirty="0">
                <a:solidFill>
                  <a:srgbClr val="9FE3C8"/>
                </a:solidFill>
                <a:latin typeface="Courier New" pitchFamily="34" charset="0"/>
                <a:ea typeface="Courier New" pitchFamily="34" charset="-122"/>
                <a:cs typeface="Courier New" pitchFamily="34" charset="-120"/>
              </a:rPr>
              <a:t>INT8 Safety: PASS</a:t>
            </a:r>
            <a:endParaRPr lang="en-US" sz="1250" dirty="0"/>
          </a:p>
          <a:p>
            <a:pPr indent="0" marL="0">
              <a:lnSpc>
                <a:spcPct val="135000"/>
              </a:lnSpc>
              <a:buNone/>
            </a:pPr>
            <a:r>
              <a:rPr lang="en-US" sz="1250" dirty="0">
                <a:solidFill>
                  <a:srgbClr val="9FE3C8"/>
                </a:solidFill>
                <a:latin typeface="Courier New" pitchFamily="34" charset="0"/>
                <a:ea typeface="Courier New" pitchFamily="34" charset="-122"/>
                <a:cs typeface="Courier New" pitchFamily="34" charset="-120"/>
              </a:rPr>
              <a:t>Transformation: FP32 → INT8</a:t>
            </a:r>
            <a:endParaRPr lang="en-US" sz="1250" dirty="0"/>
          </a:p>
        </p:txBody>
      </p:sp>
      <p:sp>
        <p:nvSpPr>
          <p:cNvPr id="20" name="Shape 18"/>
          <p:cNvSpPr/>
          <p:nvPr/>
        </p:nvSpPr>
        <p:spPr>
          <a:xfrm>
            <a:off x="6263640" y="2880360"/>
            <a:ext cx="5349240" cy="2606040"/>
          </a:xfrm>
          <a:prstGeom prst="rect">
            <a:avLst/>
          </a:prstGeom>
          <a:solidFill>
            <a:srgbClr val="1F2A3C"/>
          </a:solidFill>
          <a:ln w="19050">
            <a:solidFill>
              <a:srgbClr val="9C4A3E"/>
            </a:solidFill>
            <a:prstDash val="solid"/>
          </a:ln>
        </p:spPr>
      </p:sp>
      <p:sp>
        <p:nvSpPr>
          <p:cNvPr id="21" name="Text 19"/>
          <p:cNvSpPr txBox="1"/>
          <p:nvPr/>
        </p:nvSpPr>
        <p:spPr>
          <a:xfrm>
            <a:off x="6537960" y="3063240"/>
            <a:ext cx="4800600" cy="2286000"/>
          </a:xfrm>
          <a:prstGeom prst="rect">
            <a:avLst/>
          </a:prstGeom>
          <a:noFill/>
          <a:ln/>
        </p:spPr>
        <p:txBody>
          <a:bodyPr wrap="square" rtlCol="0" anchor="t"/>
          <a:lstStyle/>
          <a:p>
            <a:pPr indent="0" marL="0">
              <a:lnSpc>
                <a:spcPct val="135000"/>
              </a:lnSpc>
              <a:buNone/>
            </a:pPr>
            <a:r>
              <a:rPr lang="en-US" sz="1250" dirty="0">
                <a:solidFill>
                  <a:srgbClr val="F0AFA4"/>
                </a:solidFill>
                <a:latin typeface="Courier New" pitchFamily="34" charset="0"/>
                <a:ea typeface="Courier New" pitchFamily="34" charset="-122"/>
                <a:cs typeface="Courier New" pitchFamily="34" charset="-120"/>
              </a:rPr>
              <a:t>Variable: x</a:t>
            </a:r>
            <a:endParaRPr lang="en-US" sz="1250" dirty="0"/>
          </a:p>
          <a:p>
            <a:pPr indent="0" marL="0">
              <a:lnSpc>
                <a:spcPct val="135000"/>
              </a:lnSpc>
              <a:buNone/>
            </a:pPr>
            <a:r>
              <a:rPr lang="en-US" sz="1250" dirty="0">
                <a:solidFill>
                  <a:srgbClr val="F0AFA4"/>
                </a:solidFill>
                <a:latin typeface="Courier New" pitchFamily="34" charset="0"/>
                <a:ea typeface="Courier New" pitchFamily="34" charset="-122"/>
                <a:cs typeface="Courier New" pitchFamily="34" charset="-120"/>
              </a:rPr>
              <a:t>Source: line 14, column 7</a:t>
            </a:r>
            <a:endParaRPr lang="en-US" sz="1250" dirty="0"/>
          </a:p>
          <a:p>
            <a:pPr indent="0" marL="0">
              <a:lnSpc>
                <a:spcPct val="135000"/>
              </a:lnSpc>
              <a:buNone/>
            </a:pPr>
            <a:r>
              <a:rPr lang="en-US" sz="1250" dirty="0">
                <a:solidFill>
                  <a:srgbClr val="F0AFA4"/>
                </a:solidFill>
                <a:latin typeface="Courier New" pitchFamily="34" charset="0"/>
                <a:ea typeface="Courier New" pitchFamily="34" charset="-122"/>
                <a:cs typeface="Courier New" pitchFamily="34" charset="-120"/>
              </a:rPr>
              <a:t>Range: [120, 200]</a:t>
            </a:r>
            <a:endParaRPr lang="en-US" sz="1250" dirty="0"/>
          </a:p>
          <a:p>
            <a:pPr indent="0" marL="0">
              <a:lnSpc>
                <a:spcPct val="135000"/>
              </a:lnSpc>
              <a:buNone/>
            </a:pPr>
            <a:r>
              <a:rPr lang="en-US" sz="1250" dirty="0">
                <a:solidFill>
                  <a:srgbClr val="F0AFA4"/>
                </a:solidFill>
                <a:latin typeface="Courier New" pitchFamily="34" charset="0"/>
                <a:ea typeface="Courier New" pitchFamily="34" charset="-122"/>
                <a:cs typeface="Courier New" pitchFamily="34" charset="-120"/>
              </a:rPr>
              <a:t>Integral: YES</a:t>
            </a:r>
            <a:endParaRPr lang="en-US" sz="1250" dirty="0"/>
          </a:p>
          <a:p>
            <a:pPr indent="0" marL="0">
              <a:lnSpc>
                <a:spcPct val="135000"/>
              </a:lnSpc>
              <a:buNone/>
            </a:pPr>
            <a:r>
              <a:rPr lang="en-US" sz="1250" dirty="0">
                <a:solidFill>
                  <a:srgbClr val="F0AFA4"/>
                </a:solidFill>
                <a:latin typeface="Courier New" pitchFamily="34" charset="0"/>
                <a:ea typeface="Courier New" pitchFamily="34" charset="-122"/>
                <a:cs typeface="Courier New" pitchFamily="34" charset="-120"/>
              </a:rPr>
              <a:t>INT8 Safety: FAIL</a:t>
            </a:r>
            <a:endParaRPr lang="en-US" sz="1250" dirty="0"/>
          </a:p>
          <a:p>
            <a:pPr indent="0" marL="0">
              <a:lnSpc>
                <a:spcPct val="135000"/>
              </a:lnSpc>
              <a:buNone/>
            </a:pPr>
            <a:r>
              <a:rPr lang="en-US" sz="1250" dirty="0">
                <a:solidFill>
                  <a:srgbClr val="F0AFA4"/>
                </a:solidFill>
                <a:latin typeface="Courier New" pitchFamily="34" charset="0"/>
                <a:ea typeface="Courier New" pitchFamily="34" charset="-122"/>
                <a:cs typeface="Courier New" pitchFamily="34" charset="-120"/>
              </a:rPr>
              <a:t>Reason: possible overflow</a:t>
            </a:r>
            <a:endParaRPr lang="en-US" sz="1250" dirty="0"/>
          </a:p>
        </p:txBody>
      </p:sp>
      <p:sp>
        <p:nvSpPr>
          <p:cNvPr id="22" name="Text 20"/>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23" name="Text 21"/>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 name="Text 3"/>
          <p:cNvSpPr txBox="1"/>
          <p:nvPr/>
        </p:nvSpPr>
        <p:spPr>
          <a:xfrm>
            <a:off x="502920" y="365760"/>
            <a:ext cx="10058400" cy="274320"/>
          </a:xfrm>
          <a:prstGeom prst="rect">
            <a:avLst/>
          </a:prstGeom>
          <a:noFill/>
          <a:ln/>
        </p:spPr>
        <p:txBody>
          <a:bodyPr wrap="square" rtlCol="0" anchor="ctr"/>
          <a:lstStyle/>
          <a:p>
            <a:pPr algn="l" indent="0" marL="0">
              <a:buNone/>
            </a:pPr>
            <a:r>
              <a:rPr lang="en-US" sz="1100" b="1" spc="200" dirty="0">
                <a:solidFill>
                  <a:srgbClr val="2E6E7E"/>
                </a:solidFill>
                <a:latin typeface="Calibri"/>
                <a:ea typeface="Calibri"/>
                <a:cs typeface="Calibri"/>
              </a:rPr>
              <a:t>REVIEW 2 · IMPLEMENTATION STATUS</a:t>
            </a:r>
          </a:p>
        </p:txBody>
      </p:sp>
      <p:sp>
        <p:nvSpPr>
          <p:cNvPr id="4" name="Text 4"/>
          <p:cNvSpPr txBox="1"/>
          <p:nvPr/>
        </p:nvSpPr>
        <p:spPr>
          <a:xfrm>
            <a:off x="502920" y="621792"/>
            <a:ext cx="11155680" cy="594360"/>
          </a:xfrm>
          <a:prstGeom prst="rect">
            <a:avLst/>
          </a:prstGeom>
          <a:noFill/>
          <a:ln/>
        </p:spPr>
        <p:txBody>
          <a:bodyPr wrap="square" rtlCol="0" anchor="ctr"/>
          <a:lstStyle/>
          <a:p>
            <a:pPr algn="l" indent="0" marL="0">
              <a:buNone/>
            </a:pPr>
            <a:r>
              <a:rPr lang="en-US" sz="2900" b="1" dirty="0">
                <a:solidFill>
                  <a:srgbClr val="1F2A3C"/>
                </a:solidFill>
                <a:latin typeface="Cambria"/>
                <a:ea typeface="Cambria"/>
                <a:cs typeface="Cambria"/>
              </a:rPr>
              <a:t>From Proposed Architecture to Implemented Compiler Core</a:t>
            </a:r>
          </a:p>
        </p:txBody>
      </p:sp>
      <p:sp>
        <p:nvSpPr>
          <p:cNvPr id="5" name="Shape 5"/>
          <p:cNvSpPr/>
          <p:nvPr/>
        </p:nvSpPr>
        <p:spPr>
          <a:xfrm>
            <a:off x="457200" y="1783080"/>
            <a:ext cx="1472184" cy="868680"/>
          </a:xfrm>
          <a:prstGeom prst="rect">
            <a:avLst/>
          </a:prstGeom>
          <a:solidFill>
            <a:srgbClr val="FFFFFF"/>
          </a:solidFill>
          <a:ln w="12700">
            <a:solidFill>
              <a:srgbClr val="1F2A3C"/>
            </a:solidFill>
            <a:prstDash val="solid"/>
          </a:ln>
        </p:spPr>
      </p:sp>
      <p:sp>
        <p:nvSpPr>
          <p:cNvPr id="6" name="Text 6"/>
          <p:cNvSpPr txBox="1"/>
          <p:nvPr/>
        </p:nvSpPr>
        <p:spPr>
          <a:xfrm>
            <a:off x="484632" y="178308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Source</a:t>
            </a:r>
          </a:p>
          <a:p>
            <a:pPr algn="ctr" indent="0" marL="0">
              <a:buNone/>
            </a:pPr>
            <a:r>
              <a:rPr lang="en-US" sz="950" b="1" dirty="0">
                <a:solidFill>
                  <a:srgbClr val="1F2A3C"/>
                </a:solidFill>
                <a:latin typeface="Calibri"/>
                <a:ea typeface="Calibri"/>
                <a:cs typeface="Calibri"/>
              </a:rPr>
              <a:t>Program</a:t>
            </a:r>
          </a:p>
        </p:txBody>
      </p:sp>
      <p:sp>
        <p:nvSpPr>
          <p:cNvPr id="7" name="Shape 7"/>
          <p:cNvSpPr/>
          <p:nvPr/>
        </p:nvSpPr>
        <p:spPr>
          <a:xfrm>
            <a:off x="1700784" y="1673352"/>
            <a:ext cx="228600" cy="228600"/>
          </a:xfrm>
          <a:prstGeom prst="ellipse">
            <a:avLst/>
          </a:prstGeom>
          <a:solidFill>
            <a:srgbClr val="FFFFFF"/>
          </a:solidFill>
          <a:ln w="12700">
            <a:solidFill>
              <a:srgbClr val="2E6E7E"/>
            </a:solidFill>
            <a:prstDash val="solid"/>
          </a:ln>
        </p:spPr>
      </p:sp>
      <p:sp>
        <p:nvSpPr>
          <p:cNvPr id="8" name="Shape 8"/>
          <p:cNvSpPr/>
          <p:nvPr/>
        </p:nvSpPr>
        <p:spPr>
          <a:xfrm>
            <a:off x="1728216" y="1700784"/>
            <a:ext cx="173736" cy="173736"/>
          </a:xfrm>
          <a:prstGeom prst="ellipse">
            <a:avLst/>
          </a:prstGeom>
          <a:solidFill>
            <a:srgbClr val="2E6E7E"/>
          </a:solidFill>
          <a:ln/>
        </p:spPr>
      </p:sp>
      <p:sp>
        <p:nvSpPr>
          <p:cNvPr id="9" name="Text 9"/>
          <p:cNvSpPr txBox="1"/>
          <p:nvPr/>
        </p:nvSpPr>
        <p:spPr>
          <a:xfrm>
            <a:off x="1728216" y="170078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10" name="Connector 10"/>
          <p:cNvCxnSpPr/>
          <p:nvPr/>
        </p:nvCxnSpPr>
        <p:spPr>
          <a:xfrm>
            <a:off x="1929384" y="2217420"/>
            <a:ext cx="164592" cy="0"/>
          </a:xfrm>
          <a:prstGeom prst="line">
            <a:avLst/>
          </a:prstGeom>
          <a:noFill/>
          <a:ln w="15875">
            <a:solidFill>
              <a:srgbClr val="6B7480"/>
            </a:solidFill>
            <a:prstDash val="solid"/>
            <a:tailEnd type="triangle"/>
          </a:ln>
        </p:spPr>
      </p:cxnSp>
      <p:sp>
        <p:nvSpPr>
          <p:cNvPr id="11" name="Shape 11"/>
          <p:cNvSpPr/>
          <p:nvPr/>
        </p:nvSpPr>
        <p:spPr>
          <a:xfrm>
            <a:off x="2093976" y="1783080"/>
            <a:ext cx="1472184" cy="868680"/>
          </a:xfrm>
          <a:prstGeom prst="rect">
            <a:avLst/>
          </a:prstGeom>
          <a:solidFill>
            <a:srgbClr val="FFFFFF"/>
          </a:solidFill>
          <a:ln w="12700">
            <a:solidFill>
              <a:srgbClr val="1F2A3C"/>
            </a:solidFill>
            <a:prstDash val="solid"/>
          </a:ln>
        </p:spPr>
      </p:sp>
      <p:sp>
        <p:nvSpPr>
          <p:cNvPr id="12" name="Text 12"/>
          <p:cNvSpPr txBox="1"/>
          <p:nvPr/>
        </p:nvSpPr>
        <p:spPr>
          <a:xfrm>
            <a:off x="2121408" y="178308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Lexer</a:t>
            </a:r>
          </a:p>
        </p:txBody>
      </p:sp>
      <p:sp>
        <p:nvSpPr>
          <p:cNvPr id="13" name="Shape 13"/>
          <p:cNvSpPr/>
          <p:nvPr/>
        </p:nvSpPr>
        <p:spPr>
          <a:xfrm>
            <a:off x="3337560" y="1673352"/>
            <a:ext cx="228600" cy="228600"/>
          </a:xfrm>
          <a:prstGeom prst="ellipse">
            <a:avLst/>
          </a:prstGeom>
          <a:solidFill>
            <a:srgbClr val="FFFFFF"/>
          </a:solidFill>
          <a:ln w="12700">
            <a:solidFill>
              <a:srgbClr val="2E6E7E"/>
            </a:solidFill>
            <a:prstDash val="solid"/>
          </a:ln>
        </p:spPr>
      </p:sp>
      <p:sp>
        <p:nvSpPr>
          <p:cNvPr id="14" name="Shape 14"/>
          <p:cNvSpPr/>
          <p:nvPr/>
        </p:nvSpPr>
        <p:spPr>
          <a:xfrm>
            <a:off x="3364992" y="1700784"/>
            <a:ext cx="173736" cy="173736"/>
          </a:xfrm>
          <a:prstGeom prst="ellipse">
            <a:avLst/>
          </a:prstGeom>
          <a:solidFill>
            <a:srgbClr val="2E6E7E"/>
          </a:solidFill>
          <a:ln/>
        </p:spPr>
      </p:sp>
      <p:sp>
        <p:nvSpPr>
          <p:cNvPr id="15" name="Text 15"/>
          <p:cNvSpPr txBox="1"/>
          <p:nvPr/>
        </p:nvSpPr>
        <p:spPr>
          <a:xfrm>
            <a:off x="3364992" y="170078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16" name="Connector 16"/>
          <p:cNvCxnSpPr/>
          <p:nvPr/>
        </p:nvCxnSpPr>
        <p:spPr>
          <a:xfrm>
            <a:off x="3566160" y="2217420"/>
            <a:ext cx="164592" cy="0"/>
          </a:xfrm>
          <a:prstGeom prst="line">
            <a:avLst/>
          </a:prstGeom>
          <a:noFill/>
          <a:ln w="15875">
            <a:solidFill>
              <a:srgbClr val="6B7480"/>
            </a:solidFill>
            <a:prstDash val="solid"/>
            <a:tailEnd type="triangle"/>
          </a:ln>
        </p:spPr>
      </p:cxnSp>
      <p:sp>
        <p:nvSpPr>
          <p:cNvPr id="17" name="Shape 17"/>
          <p:cNvSpPr/>
          <p:nvPr/>
        </p:nvSpPr>
        <p:spPr>
          <a:xfrm>
            <a:off x="3730752" y="1783080"/>
            <a:ext cx="1472184" cy="868680"/>
          </a:xfrm>
          <a:prstGeom prst="rect">
            <a:avLst/>
          </a:prstGeom>
          <a:solidFill>
            <a:srgbClr val="FFFFFF"/>
          </a:solidFill>
          <a:ln w="12700">
            <a:solidFill>
              <a:srgbClr val="1F2A3C"/>
            </a:solidFill>
            <a:prstDash val="solid"/>
          </a:ln>
        </p:spPr>
      </p:sp>
      <p:sp>
        <p:nvSpPr>
          <p:cNvPr id="18" name="Text 18"/>
          <p:cNvSpPr txBox="1"/>
          <p:nvPr/>
        </p:nvSpPr>
        <p:spPr>
          <a:xfrm>
            <a:off x="3758184" y="178308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Parser</a:t>
            </a:r>
          </a:p>
        </p:txBody>
      </p:sp>
      <p:sp>
        <p:nvSpPr>
          <p:cNvPr id="19" name="Shape 19"/>
          <p:cNvSpPr/>
          <p:nvPr/>
        </p:nvSpPr>
        <p:spPr>
          <a:xfrm>
            <a:off x="4974336" y="1673352"/>
            <a:ext cx="228600" cy="228600"/>
          </a:xfrm>
          <a:prstGeom prst="ellipse">
            <a:avLst/>
          </a:prstGeom>
          <a:solidFill>
            <a:srgbClr val="FFFFFF"/>
          </a:solidFill>
          <a:ln w="12700">
            <a:solidFill>
              <a:srgbClr val="2E6E7E"/>
            </a:solidFill>
            <a:prstDash val="solid"/>
          </a:ln>
        </p:spPr>
      </p:sp>
      <p:sp>
        <p:nvSpPr>
          <p:cNvPr id="20" name="Shape 20"/>
          <p:cNvSpPr/>
          <p:nvPr/>
        </p:nvSpPr>
        <p:spPr>
          <a:xfrm>
            <a:off x="5001768" y="1700784"/>
            <a:ext cx="173736" cy="173736"/>
          </a:xfrm>
          <a:prstGeom prst="ellipse">
            <a:avLst/>
          </a:prstGeom>
          <a:solidFill>
            <a:srgbClr val="2E6E7E"/>
          </a:solidFill>
          <a:ln/>
        </p:spPr>
      </p:sp>
      <p:sp>
        <p:nvSpPr>
          <p:cNvPr id="21" name="Text 21"/>
          <p:cNvSpPr txBox="1"/>
          <p:nvPr/>
        </p:nvSpPr>
        <p:spPr>
          <a:xfrm>
            <a:off x="5001768" y="170078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22" name="Connector 22"/>
          <p:cNvCxnSpPr/>
          <p:nvPr/>
        </p:nvCxnSpPr>
        <p:spPr>
          <a:xfrm>
            <a:off x="5202936" y="2217420"/>
            <a:ext cx="164592" cy="0"/>
          </a:xfrm>
          <a:prstGeom prst="line">
            <a:avLst/>
          </a:prstGeom>
          <a:noFill/>
          <a:ln w="15875">
            <a:solidFill>
              <a:srgbClr val="6B7480"/>
            </a:solidFill>
            <a:prstDash val="solid"/>
            <a:tailEnd type="triangle"/>
          </a:ln>
        </p:spPr>
      </p:cxnSp>
      <p:sp>
        <p:nvSpPr>
          <p:cNvPr id="23" name="Shape 23"/>
          <p:cNvSpPr/>
          <p:nvPr/>
        </p:nvSpPr>
        <p:spPr>
          <a:xfrm>
            <a:off x="5367528" y="1783080"/>
            <a:ext cx="1472184" cy="868680"/>
          </a:xfrm>
          <a:prstGeom prst="rect">
            <a:avLst/>
          </a:prstGeom>
          <a:solidFill>
            <a:srgbClr val="FFFFFF"/>
          </a:solidFill>
          <a:ln w="12700">
            <a:solidFill>
              <a:srgbClr val="1F2A3C"/>
            </a:solidFill>
            <a:prstDash val="solid"/>
          </a:ln>
        </p:spPr>
      </p:sp>
      <p:sp>
        <p:nvSpPr>
          <p:cNvPr id="24" name="Text 24"/>
          <p:cNvSpPr txBox="1"/>
          <p:nvPr/>
        </p:nvSpPr>
        <p:spPr>
          <a:xfrm>
            <a:off x="5394960" y="178308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AST</a:t>
            </a:r>
          </a:p>
        </p:txBody>
      </p:sp>
      <p:sp>
        <p:nvSpPr>
          <p:cNvPr id="25" name="Shape 25"/>
          <p:cNvSpPr/>
          <p:nvPr/>
        </p:nvSpPr>
        <p:spPr>
          <a:xfrm>
            <a:off x="6611112" y="1673352"/>
            <a:ext cx="228600" cy="228600"/>
          </a:xfrm>
          <a:prstGeom prst="ellipse">
            <a:avLst/>
          </a:prstGeom>
          <a:solidFill>
            <a:srgbClr val="FFFFFF"/>
          </a:solidFill>
          <a:ln w="12700">
            <a:solidFill>
              <a:srgbClr val="2E6E7E"/>
            </a:solidFill>
            <a:prstDash val="solid"/>
          </a:ln>
        </p:spPr>
      </p:sp>
      <p:sp>
        <p:nvSpPr>
          <p:cNvPr id="26" name="Shape 26"/>
          <p:cNvSpPr/>
          <p:nvPr/>
        </p:nvSpPr>
        <p:spPr>
          <a:xfrm>
            <a:off x="6638544" y="1700784"/>
            <a:ext cx="173736" cy="173736"/>
          </a:xfrm>
          <a:prstGeom prst="ellipse">
            <a:avLst/>
          </a:prstGeom>
          <a:solidFill>
            <a:srgbClr val="2E6E7E"/>
          </a:solidFill>
          <a:ln/>
        </p:spPr>
      </p:sp>
      <p:sp>
        <p:nvSpPr>
          <p:cNvPr id="27" name="Text 27"/>
          <p:cNvSpPr txBox="1"/>
          <p:nvPr/>
        </p:nvSpPr>
        <p:spPr>
          <a:xfrm>
            <a:off x="6638544" y="170078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28" name="Connector 28"/>
          <p:cNvCxnSpPr/>
          <p:nvPr/>
        </p:nvCxnSpPr>
        <p:spPr>
          <a:xfrm>
            <a:off x="6839712" y="2217420"/>
            <a:ext cx="164592" cy="0"/>
          </a:xfrm>
          <a:prstGeom prst="line">
            <a:avLst/>
          </a:prstGeom>
          <a:noFill/>
          <a:ln w="15875">
            <a:solidFill>
              <a:srgbClr val="6B7480"/>
            </a:solidFill>
            <a:prstDash val="solid"/>
            <a:tailEnd type="triangle"/>
          </a:ln>
        </p:spPr>
      </p:cxnSp>
      <p:sp>
        <p:nvSpPr>
          <p:cNvPr id="29" name="Shape 29"/>
          <p:cNvSpPr/>
          <p:nvPr/>
        </p:nvSpPr>
        <p:spPr>
          <a:xfrm>
            <a:off x="7004304" y="1783080"/>
            <a:ext cx="1472184" cy="868680"/>
          </a:xfrm>
          <a:prstGeom prst="rect">
            <a:avLst/>
          </a:prstGeom>
          <a:solidFill>
            <a:srgbClr val="FFFFFF"/>
          </a:solidFill>
          <a:ln w="12700">
            <a:solidFill>
              <a:srgbClr val="1F2A3C"/>
            </a:solidFill>
            <a:prstDash val="solid"/>
          </a:ln>
        </p:spPr>
      </p:sp>
      <p:sp>
        <p:nvSpPr>
          <p:cNvPr id="30" name="Text 30"/>
          <p:cNvSpPr txBox="1"/>
          <p:nvPr/>
        </p:nvSpPr>
        <p:spPr>
          <a:xfrm>
            <a:off x="7031736" y="178308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Semantic</a:t>
            </a:r>
          </a:p>
          <a:p>
            <a:pPr algn="ctr" indent="0" marL="0">
              <a:buNone/>
            </a:pPr>
            <a:r>
              <a:rPr lang="en-US" sz="950" b="1" dirty="0">
                <a:solidFill>
                  <a:srgbClr val="1F2A3C"/>
                </a:solidFill>
                <a:latin typeface="Calibri"/>
                <a:ea typeface="Calibri"/>
                <a:cs typeface="Calibri"/>
              </a:rPr>
              <a:t>Analysis</a:t>
            </a:r>
          </a:p>
        </p:txBody>
      </p:sp>
      <p:sp>
        <p:nvSpPr>
          <p:cNvPr id="31" name="Shape 31"/>
          <p:cNvSpPr/>
          <p:nvPr/>
        </p:nvSpPr>
        <p:spPr>
          <a:xfrm>
            <a:off x="8247888" y="1673352"/>
            <a:ext cx="228600" cy="228600"/>
          </a:xfrm>
          <a:prstGeom prst="ellipse">
            <a:avLst/>
          </a:prstGeom>
          <a:solidFill>
            <a:srgbClr val="FFFFFF"/>
          </a:solidFill>
          <a:ln w="12700">
            <a:solidFill>
              <a:srgbClr val="2E6E7E"/>
            </a:solidFill>
            <a:prstDash val="solid"/>
          </a:ln>
        </p:spPr>
      </p:sp>
      <p:sp>
        <p:nvSpPr>
          <p:cNvPr id="32" name="Shape 32"/>
          <p:cNvSpPr/>
          <p:nvPr/>
        </p:nvSpPr>
        <p:spPr>
          <a:xfrm>
            <a:off x="8275320" y="1700784"/>
            <a:ext cx="173736" cy="173736"/>
          </a:xfrm>
          <a:prstGeom prst="ellipse">
            <a:avLst/>
          </a:prstGeom>
          <a:solidFill>
            <a:srgbClr val="2E6E7E"/>
          </a:solidFill>
          <a:ln/>
        </p:spPr>
      </p:sp>
      <p:sp>
        <p:nvSpPr>
          <p:cNvPr id="33" name="Text 33"/>
          <p:cNvSpPr txBox="1"/>
          <p:nvPr/>
        </p:nvSpPr>
        <p:spPr>
          <a:xfrm>
            <a:off x="8275320" y="170078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34" name="Connector 34"/>
          <p:cNvCxnSpPr/>
          <p:nvPr/>
        </p:nvCxnSpPr>
        <p:spPr>
          <a:xfrm>
            <a:off x="8476488" y="2217420"/>
            <a:ext cx="164592" cy="0"/>
          </a:xfrm>
          <a:prstGeom prst="line">
            <a:avLst/>
          </a:prstGeom>
          <a:noFill/>
          <a:ln w="15875">
            <a:solidFill>
              <a:srgbClr val="6B7480"/>
            </a:solidFill>
            <a:prstDash val="solid"/>
            <a:tailEnd type="triangle"/>
          </a:ln>
        </p:spPr>
      </p:cxnSp>
      <p:sp>
        <p:nvSpPr>
          <p:cNvPr id="35" name="Shape 35"/>
          <p:cNvSpPr/>
          <p:nvPr/>
        </p:nvSpPr>
        <p:spPr>
          <a:xfrm>
            <a:off x="8641080" y="1783080"/>
            <a:ext cx="1472184" cy="868680"/>
          </a:xfrm>
          <a:prstGeom prst="rect">
            <a:avLst/>
          </a:prstGeom>
          <a:solidFill>
            <a:srgbClr val="FFFFFF"/>
          </a:solidFill>
          <a:ln w="12700">
            <a:solidFill>
              <a:srgbClr val="1F2A3C"/>
            </a:solidFill>
            <a:prstDash val="solid"/>
          </a:ln>
        </p:spPr>
      </p:sp>
      <p:sp>
        <p:nvSpPr>
          <p:cNvPr id="36" name="Text 36"/>
          <p:cNvSpPr txBox="1"/>
          <p:nvPr/>
        </p:nvSpPr>
        <p:spPr>
          <a:xfrm>
            <a:off x="8668512" y="178308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TAC</a:t>
            </a:r>
          </a:p>
        </p:txBody>
      </p:sp>
      <p:sp>
        <p:nvSpPr>
          <p:cNvPr id="37" name="Shape 37"/>
          <p:cNvSpPr/>
          <p:nvPr/>
        </p:nvSpPr>
        <p:spPr>
          <a:xfrm>
            <a:off x="9884664" y="1673352"/>
            <a:ext cx="228600" cy="228600"/>
          </a:xfrm>
          <a:prstGeom prst="ellipse">
            <a:avLst/>
          </a:prstGeom>
          <a:solidFill>
            <a:srgbClr val="FFFFFF"/>
          </a:solidFill>
          <a:ln w="12700">
            <a:solidFill>
              <a:srgbClr val="2E6E7E"/>
            </a:solidFill>
            <a:prstDash val="solid"/>
          </a:ln>
        </p:spPr>
      </p:sp>
      <p:sp>
        <p:nvSpPr>
          <p:cNvPr id="38" name="Shape 38"/>
          <p:cNvSpPr/>
          <p:nvPr/>
        </p:nvSpPr>
        <p:spPr>
          <a:xfrm>
            <a:off x="9912096" y="1700784"/>
            <a:ext cx="173736" cy="173736"/>
          </a:xfrm>
          <a:prstGeom prst="ellipse">
            <a:avLst/>
          </a:prstGeom>
          <a:solidFill>
            <a:srgbClr val="2E6E7E"/>
          </a:solidFill>
          <a:ln/>
        </p:spPr>
      </p:sp>
      <p:sp>
        <p:nvSpPr>
          <p:cNvPr id="39" name="Text 39"/>
          <p:cNvSpPr txBox="1"/>
          <p:nvPr/>
        </p:nvSpPr>
        <p:spPr>
          <a:xfrm>
            <a:off x="9912096" y="170078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40" name="Connector 40"/>
          <p:cNvCxnSpPr/>
          <p:nvPr/>
        </p:nvCxnSpPr>
        <p:spPr>
          <a:xfrm>
            <a:off x="10113264" y="2217420"/>
            <a:ext cx="164592" cy="0"/>
          </a:xfrm>
          <a:prstGeom prst="line">
            <a:avLst/>
          </a:prstGeom>
          <a:noFill/>
          <a:ln w="15875">
            <a:solidFill>
              <a:srgbClr val="6B7480"/>
            </a:solidFill>
            <a:prstDash val="solid"/>
            <a:tailEnd type="triangle"/>
          </a:ln>
        </p:spPr>
      </p:cxnSp>
      <p:sp>
        <p:nvSpPr>
          <p:cNvPr id="41" name="Shape 41"/>
          <p:cNvSpPr/>
          <p:nvPr/>
        </p:nvSpPr>
        <p:spPr>
          <a:xfrm>
            <a:off x="10277856" y="1783080"/>
            <a:ext cx="1472184" cy="868680"/>
          </a:xfrm>
          <a:prstGeom prst="rect">
            <a:avLst/>
          </a:prstGeom>
          <a:solidFill>
            <a:srgbClr val="FFFFFF"/>
          </a:solidFill>
          <a:ln w="12700">
            <a:solidFill>
              <a:srgbClr val="1F2A3C"/>
            </a:solidFill>
            <a:prstDash val="solid"/>
          </a:ln>
        </p:spPr>
      </p:sp>
      <p:sp>
        <p:nvSpPr>
          <p:cNvPr id="42" name="Text 42"/>
          <p:cNvSpPr txBox="1"/>
          <p:nvPr/>
        </p:nvSpPr>
        <p:spPr>
          <a:xfrm>
            <a:off x="10305288" y="178308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Basic Blocks</a:t>
            </a:r>
          </a:p>
          <a:p>
            <a:pPr algn="ctr" indent="0" marL="0">
              <a:buNone/>
            </a:pPr>
            <a:r>
              <a:rPr lang="en-US" sz="950" b="1" dirty="0">
                <a:solidFill>
                  <a:srgbClr val="1F2A3C"/>
                </a:solidFill>
                <a:latin typeface="Calibri"/>
                <a:ea typeface="Calibri"/>
                <a:cs typeface="Calibri"/>
              </a:rPr>
              <a:t>/ CFG</a:t>
            </a:r>
          </a:p>
        </p:txBody>
      </p:sp>
      <p:sp>
        <p:nvSpPr>
          <p:cNvPr id="43" name="Shape 43"/>
          <p:cNvSpPr/>
          <p:nvPr/>
        </p:nvSpPr>
        <p:spPr>
          <a:xfrm>
            <a:off x="11521440" y="1673352"/>
            <a:ext cx="228600" cy="228600"/>
          </a:xfrm>
          <a:prstGeom prst="ellipse">
            <a:avLst/>
          </a:prstGeom>
          <a:solidFill>
            <a:srgbClr val="FFFFFF"/>
          </a:solidFill>
          <a:ln w="12700">
            <a:solidFill>
              <a:srgbClr val="2E6E7E"/>
            </a:solidFill>
            <a:prstDash val="solid"/>
          </a:ln>
        </p:spPr>
      </p:sp>
      <p:sp>
        <p:nvSpPr>
          <p:cNvPr id="44" name="Shape 44"/>
          <p:cNvSpPr/>
          <p:nvPr/>
        </p:nvSpPr>
        <p:spPr>
          <a:xfrm>
            <a:off x="11548872" y="1700784"/>
            <a:ext cx="173736" cy="173736"/>
          </a:xfrm>
          <a:prstGeom prst="ellipse">
            <a:avLst/>
          </a:prstGeom>
          <a:solidFill>
            <a:srgbClr val="2E6E7E"/>
          </a:solidFill>
          <a:ln/>
        </p:spPr>
      </p:sp>
      <p:sp>
        <p:nvSpPr>
          <p:cNvPr id="45" name="Text 45"/>
          <p:cNvSpPr txBox="1"/>
          <p:nvPr/>
        </p:nvSpPr>
        <p:spPr>
          <a:xfrm>
            <a:off x="11548872" y="170078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sp>
        <p:nvSpPr>
          <p:cNvPr id="46" name="Shape 46"/>
          <p:cNvSpPr/>
          <p:nvPr/>
        </p:nvSpPr>
        <p:spPr>
          <a:xfrm>
            <a:off x="457200" y="3246120"/>
            <a:ext cx="1472184" cy="868680"/>
          </a:xfrm>
          <a:prstGeom prst="rect">
            <a:avLst/>
          </a:prstGeom>
          <a:solidFill>
            <a:srgbClr val="2E6E7E"/>
          </a:solidFill>
          <a:ln w="12700">
            <a:solidFill>
              <a:srgbClr val="2E6E7E"/>
            </a:solidFill>
            <a:prstDash val="solid"/>
          </a:ln>
        </p:spPr>
      </p:sp>
      <p:sp>
        <p:nvSpPr>
          <p:cNvPr id="47" name="Text 47"/>
          <p:cNvSpPr txBox="1"/>
          <p:nvPr/>
        </p:nvSpPr>
        <p:spPr>
          <a:xfrm>
            <a:off x="484632" y="3246120"/>
            <a:ext cx="1417320"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a:ea typeface="Calibri"/>
                <a:cs typeface="Calibri"/>
              </a:rPr>
              <a:t>SSA</a:t>
            </a:r>
          </a:p>
        </p:txBody>
      </p:sp>
      <p:sp>
        <p:nvSpPr>
          <p:cNvPr id="48" name="Shape 48"/>
          <p:cNvSpPr/>
          <p:nvPr/>
        </p:nvSpPr>
        <p:spPr>
          <a:xfrm>
            <a:off x="1700784" y="3136392"/>
            <a:ext cx="228600" cy="228600"/>
          </a:xfrm>
          <a:prstGeom prst="ellipse">
            <a:avLst/>
          </a:prstGeom>
          <a:solidFill>
            <a:srgbClr val="2E6E7E"/>
          </a:solidFill>
          <a:ln w="12700">
            <a:solidFill>
              <a:srgbClr val="2E6E7E"/>
            </a:solidFill>
            <a:prstDash val="solid"/>
          </a:ln>
        </p:spPr>
      </p:sp>
      <p:sp>
        <p:nvSpPr>
          <p:cNvPr id="49" name="Shape 49"/>
          <p:cNvSpPr/>
          <p:nvPr/>
        </p:nvSpPr>
        <p:spPr>
          <a:xfrm>
            <a:off x="1728216" y="3163824"/>
            <a:ext cx="173736" cy="173736"/>
          </a:xfrm>
          <a:prstGeom prst="ellipse">
            <a:avLst/>
          </a:prstGeom>
          <a:solidFill>
            <a:srgbClr val="2E6E7E"/>
          </a:solidFill>
          <a:ln/>
        </p:spPr>
      </p:sp>
      <p:sp>
        <p:nvSpPr>
          <p:cNvPr id="50" name="Text 50"/>
          <p:cNvSpPr txBox="1"/>
          <p:nvPr/>
        </p:nvSpPr>
        <p:spPr>
          <a:xfrm>
            <a:off x="1728216" y="316382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51" name="Connector 51"/>
          <p:cNvCxnSpPr/>
          <p:nvPr/>
        </p:nvCxnSpPr>
        <p:spPr>
          <a:xfrm>
            <a:off x="1929384" y="3680460"/>
            <a:ext cx="164592" cy="0"/>
          </a:xfrm>
          <a:prstGeom prst="line">
            <a:avLst/>
          </a:prstGeom>
          <a:noFill/>
          <a:ln w="15875">
            <a:solidFill>
              <a:srgbClr val="6B7480"/>
            </a:solidFill>
            <a:prstDash val="solid"/>
            <a:tailEnd type="triangle"/>
          </a:ln>
        </p:spPr>
      </p:cxnSp>
      <p:sp>
        <p:nvSpPr>
          <p:cNvPr id="52" name="Shape 52"/>
          <p:cNvSpPr/>
          <p:nvPr/>
        </p:nvSpPr>
        <p:spPr>
          <a:xfrm>
            <a:off x="2093976" y="3246120"/>
            <a:ext cx="1472184" cy="868680"/>
          </a:xfrm>
          <a:prstGeom prst="rect">
            <a:avLst/>
          </a:prstGeom>
          <a:solidFill>
            <a:srgbClr val="2E6E7E"/>
          </a:solidFill>
          <a:ln w="12700">
            <a:solidFill>
              <a:srgbClr val="2E6E7E"/>
            </a:solidFill>
            <a:prstDash val="solid"/>
          </a:ln>
        </p:spPr>
      </p:sp>
      <p:sp>
        <p:nvSpPr>
          <p:cNvPr id="53" name="Text 53"/>
          <p:cNvSpPr txBox="1"/>
          <p:nvPr/>
        </p:nvSpPr>
        <p:spPr>
          <a:xfrm>
            <a:off x="2121408" y="3246120"/>
            <a:ext cx="1417320"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a:ea typeface="Calibri"/>
                <a:cs typeface="Calibri"/>
              </a:rPr>
              <a:t>Range +</a:t>
            </a:r>
          </a:p>
          <a:p>
            <a:pPr algn="ctr" indent="0" marL="0">
              <a:buNone/>
            </a:pPr>
            <a:r>
              <a:rPr lang="en-US" sz="950" b="1" dirty="0">
                <a:solidFill>
                  <a:srgbClr val="FFFFFF"/>
                </a:solidFill>
                <a:latin typeface="Calibri"/>
                <a:ea typeface="Calibri"/>
                <a:cs typeface="Calibri"/>
              </a:rPr>
              <a:t>Integrality Analysis</a:t>
            </a:r>
          </a:p>
        </p:txBody>
      </p:sp>
      <p:sp>
        <p:nvSpPr>
          <p:cNvPr id="54" name="Shape 54"/>
          <p:cNvSpPr/>
          <p:nvPr/>
        </p:nvSpPr>
        <p:spPr>
          <a:xfrm>
            <a:off x="3337560" y="3136392"/>
            <a:ext cx="228600" cy="228600"/>
          </a:xfrm>
          <a:prstGeom prst="ellipse">
            <a:avLst/>
          </a:prstGeom>
          <a:solidFill>
            <a:srgbClr val="2E6E7E"/>
          </a:solidFill>
          <a:ln w="12700">
            <a:solidFill>
              <a:srgbClr val="2E6E7E"/>
            </a:solidFill>
            <a:prstDash val="solid"/>
          </a:ln>
        </p:spPr>
      </p:sp>
      <p:sp>
        <p:nvSpPr>
          <p:cNvPr id="55" name="Shape 55"/>
          <p:cNvSpPr/>
          <p:nvPr/>
        </p:nvSpPr>
        <p:spPr>
          <a:xfrm>
            <a:off x="3364992" y="3163824"/>
            <a:ext cx="173736" cy="173736"/>
          </a:xfrm>
          <a:prstGeom prst="ellipse">
            <a:avLst/>
          </a:prstGeom>
          <a:solidFill>
            <a:srgbClr val="2E6E7E"/>
          </a:solidFill>
          <a:ln/>
        </p:spPr>
      </p:sp>
      <p:sp>
        <p:nvSpPr>
          <p:cNvPr id="56" name="Text 56"/>
          <p:cNvSpPr txBox="1"/>
          <p:nvPr/>
        </p:nvSpPr>
        <p:spPr>
          <a:xfrm>
            <a:off x="3364992" y="316382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57" name="Connector 57"/>
          <p:cNvCxnSpPr/>
          <p:nvPr/>
        </p:nvCxnSpPr>
        <p:spPr>
          <a:xfrm>
            <a:off x="3566160" y="3680460"/>
            <a:ext cx="164592" cy="0"/>
          </a:xfrm>
          <a:prstGeom prst="line">
            <a:avLst/>
          </a:prstGeom>
          <a:noFill/>
          <a:ln w="15875">
            <a:solidFill>
              <a:srgbClr val="6B7480"/>
            </a:solidFill>
            <a:prstDash val="solid"/>
            <a:tailEnd type="triangle"/>
          </a:ln>
        </p:spPr>
      </p:cxnSp>
      <p:sp>
        <p:nvSpPr>
          <p:cNvPr id="58" name="Shape 58"/>
          <p:cNvSpPr/>
          <p:nvPr/>
        </p:nvSpPr>
        <p:spPr>
          <a:xfrm>
            <a:off x="3730752" y="3246120"/>
            <a:ext cx="1472184" cy="868680"/>
          </a:xfrm>
          <a:prstGeom prst="rect">
            <a:avLst/>
          </a:prstGeom>
          <a:solidFill>
            <a:srgbClr val="2E6E7E"/>
          </a:solidFill>
          <a:ln w="12700">
            <a:solidFill>
              <a:srgbClr val="2E6E7E"/>
            </a:solidFill>
            <a:prstDash val="solid"/>
          </a:ln>
        </p:spPr>
      </p:sp>
      <p:sp>
        <p:nvSpPr>
          <p:cNvPr id="59" name="Text 59"/>
          <p:cNvSpPr txBox="1"/>
          <p:nvPr/>
        </p:nvSpPr>
        <p:spPr>
          <a:xfrm>
            <a:off x="3758184" y="3246120"/>
            <a:ext cx="1417320"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a:ea typeface="Calibri"/>
                <a:cs typeface="Calibri"/>
              </a:rPr>
              <a:t>INT8 Safety</a:t>
            </a:r>
          </a:p>
          <a:p>
            <a:pPr algn="ctr" indent="0" marL="0">
              <a:buNone/>
            </a:pPr>
            <a:r>
              <a:rPr lang="en-US" sz="950" b="1" dirty="0">
                <a:solidFill>
                  <a:srgbClr val="FFFFFF"/>
                </a:solidFill>
                <a:latin typeface="Calibri"/>
                <a:ea typeface="Calibri"/>
                <a:cs typeface="Calibri"/>
              </a:rPr>
              <a:t>Analysis</a:t>
            </a:r>
          </a:p>
        </p:txBody>
      </p:sp>
      <p:sp>
        <p:nvSpPr>
          <p:cNvPr id="60" name="Shape 60"/>
          <p:cNvSpPr/>
          <p:nvPr/>
        </p:nvSpPr>
        <p:spPr>
          <a:xfrm>
            <a:off x="4974336" y="3136392"/>
            <a:ext cx="228600" cy="228600"/>
          </a:xfrm>
          <a:prstGeom prst="ellipse">
            <a:avLst/>
          </a:prstGeom>
          <a:solidFill>
            <a:srgbClr val="2E6E7E"/>
          </a:solidFill>
          <a:ln w="12700">
            <a:solidFill>
              <a:srgbClr val="2E6E7E"/>
            </a:solidFill>
            <a:prstDash val="solid"/>
          </a:ln>
        </p:spPr>
      </p:sp>
      <p:sp>
        <p:nvSpPr>
          <p:cNvPr id="61" name="Shape 61"/>
          <p:cNvSpPr/>
          <p:nvPr/>
        </p:nvSpPr>
        <p:spPr>
          <a:xfrm>
            <a:off x="5001768" y="3163824"/>
            <a:ext cx="173736" cy="173736"/>
          </a:xfrm>
          <a:prstGeom prst="ellipse">
            <a:avLst/>
          </a:prstGeom>
          <a:solidFill>
            <a:srgbClr val="2E6E7E"/>
          </a:solidFill>
          <a:ln/>
        </p:spPr>
      </p:sp>
      <p:sp>
        <p:nvSpPr>
          <p:cNvPr id="62" name="Text 62"/>
          <p:cNvSpPr txBox="1"/>
          <p:nvPr/>
        </p:nvSpPr>
        <p:spPr>
          <a:xfrm>
            <a:off x="5001768" y="316382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63" name="Connector 63"/>
          <p:cNvCxnSpPr/>
          <p:nvPr/>
        </p:nvCxnSpPr>
        <p:spPr>
          <a:xfrm>
            <a:off x="5202936" y="3680460"/>
            <a:ext cx="164592" cy="0"/>
          </a:xfrm>
          <a:prstGeom prst="line">
            <a:avLst/>
          </a:prstGeom>
          <a:noFill/>
          <a:ln w="15875">
            <a:solidFill>
              <a:srgbClr val="6B7480"/>
            </a:solidFill>
            <a:prstDash val="solid"/>
            <a:tailEnd type="triangle"/>
          </a:ln>
        </p:spPr>
      </p:cxnSp>
      <p:sp>
        <p:nvSpPr>
          <p:cNvPr id="64" name="Shape 64"/>
          <p:cNvSpPr/>
          <p:nvPr/>
        </p:nvSpPr>
        <p:spPr>
          <a:xfrm>
            <a:off x="5367528" y="3246120"/>
            <a:ext cx="1472184" cy="868680"/>
          </a:xfrm>
          <a:prstGeom prst="rect">
            <a:avLst/>
          </a:prstGeom>
          <a:solidFill>
            <a:srgbClr val="2E6E7E"/>
          </a:solidFill>
          <a:ln w="12700">
            <a:solidFill>
              <a:srgbClr val="2E6E7E"/>
            </a:solidFill>
            <a:prstDash val="solid"/>
          </a:ln>
        </p:spPr>
      </p:sp>
      <p:sp>
        <p:nvSpPr>
          <p:cNvPr id="65" name="Text 65"/>
          <p:cNvSpPr txBox="1"/>
          <p:nvPr/>
        </p:nvSpPr>
        <p:spPr>
          <a:xfrm>
            <a:off x="5394960" y="3246120"/>
            <a:ext cx="1417320"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a:ea typeface="Calibri"/>
                <a:cs typeface="Calibri"/>
              </a:rPr>
              <a:t>Selective</a:t>
            </a:r>
          </a:p>
          <a:p>
            <a:pPr algn="ctr" indent="0" marL="0">
              <a:buNone/>
            </a:pPr>
            <a:r>
              <a:rPr lang="en-US" sz="950" b="1" dirty="0">
                <a:solidFill>
                  <a:srgbClr val="FFFFFF"/>
                </a:solidFill>
                <a:latin typeface="Calibri"/>
                <a:ea typeface="Calibri"/>
                <a:cs typeface="Calibri"/>
              </a:rPr>
              <a:t>Quantization</a:t>
            </a:r>
          </a:p>
        </p:txBody>
      </p:sp>
      <p:sp>
        <p:nvSpPr>
          <p:cNvPr id="66" name="Shape 66"/>
          <p:cNvSpPr/>
          <p:nvPr/>
        </p:nvSpPr>
        <p:spPr>
          <a:xfrm>
            <a:off x="6611112" y="3136392"/>
            <a:ext cx="228600" cy="228600"/>
          </a:xfrm>
          <a:prstGeom prst="ellipse">
            <a:avLst/>
          </a:prstGeom>
          <a:solidFill>
            <a:srgbClr val="2E6E7E"/>
          </a:solidFill>
          <a:ln w="12700">
            <a:solidFill>
              <a:srgbClr val="2E6E7E"/>
            </a:solidFill>
            <a:prstDash val="solid"/>
          </a:ln>
        </p:spPr>
      </p:sp>
      <p:sp>
        <p:nvSpPr>
          <p:cNvPr id="67" name="Shape 67"/>
          <p:cNvSpPr/>
          <p:nvPr/>
        </p:nvSpPr>
        <p:spPr>
          <a:xfrm>
            <a:off x="6638544" y="3163824"/>
            <a:ext cx="173736" cy="173736"/>
          </a:xfrm>
          <a:prstGeom prst="ellipse">
            <a:avLst/>
          </a:prstGeom>
          <a:solidFill>
            <a:srgbClr val="2E6E7E"/>
          </a:solidFill>
          <a:ln/>
        </p:spPr>
      </p:sp>
      <p:sp>
        <p:nvSpPr>
          <p:cNvPr id="68" name="Text 68"/>
          <p:cNvSpPr txBox="1"/>
          <p:nvPr/>
        </p:nvSpPr>
        <p:spPr>
          <a:xfrm>
            <a:off x="6638544" y="316382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69" name="Connector 69"/>
          <p:cNvCxnSpPr/>
          <p:nvPr/>
        </p:nvCxnSpPr>
        <p:spPr>
          <a:xfrm>
            <a:off x="6839712" y="3680460"/>
            <a:ext cx="164592" cy="0"/>
          </a:xfrm>
          <a:prstGeom prst="line">
            <a:avLst/>
          </a:prstGeom>
          <a:noFill/>
          <a:ln w="15875">
            <a:solidFill>
              <a:srgbClr val="6B7480"/>
            </a:solidFill>
            <a:prstDash val="solid"/>
            <a:tailEnd type="triangle"/>
          </a:ln>
        </p:spPr>
      </p:cxnSp>
      <p:sp>
        <p:nvSpPr>
          <p:cNvPr id="70" name="Shape 70"/>
          <p:cNvSpPr/>
          <p:nvPr/>
        </p:nvSpPr>
        <p:spPr>
          <a:xfrm>
            <a:off x="7004304" y="3246120"/>
            <a:ext cx="1472184" cy="868680"/>
          </a:xfrm>
          <a:prstGeom prst="rect">
            <a:avLst/>
          </a:prstGeom>
          <a:solidFill>
            <a:srgbClr val="FFFFFF"/>
          </a:solidFill>
          <a:ln w="12700">
            <a:solidFill>
              <a:srgbClr val="1F2A3C"/>
            </a:solidFill>
            <a:prstDash val="solid"/>
          </a:ln>
        </p:spPr>
      </p:sp>
      <p:sp>
        <p:nvSpPr>
          <p:cNvPr id="71" name="Text 71"/>
          <p:cNvSpPr txBox="1"/>
          <p:nvPr/>
        </p:nvSpPr>
        <p:spPr>
          <a:xfrm>
            <a:off x="7031736" y="324612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Quantized</a:t>
            </a:r>
          </a:p>
          <a:p>
            <a:pPr algn="ctr" indent="0" marL="0">
              <a:buNone/>
            </a:pPr>
            <a:r>
              <a:rPr lang="en-US" sz="950" b="1" dirty="0">
                <a:solidFill>
                  <a:srgbClr val="1F2A3C"/>
                </a:solidFill>
                <a:latin typeface="Calibri"/>
                <a:ea typeface="Calibri"/>
                <a:cs typeface="Calibri"/>
              </a:rPr>
              <a:t>SSA IR</a:t>
            </a:r>
          </a:p>
        </p:txBody>
      </p:sp>
      <p:sp>
        <p:nvSpPr>
          <p:cNvPr id="72" name="Shape 72"/>
          <p:cNvSpPr/>
          <p:nvPr/>
        </p:nvSpPr>
        <p:spPr>
          <a:xfrm>
            <a:off x="8247888" y="3136392"/>
            <a:ext cx="228600" cy="228600"/>
          </a:xfrm>
          <a:prstGeom prst="ellipse">
            <a:avLst/>
          </a:prstGeom>
          <a:solidFill>
            <a:srgbClr val="FFFFFF"/>
          </a:solidFill>
          <a:ln w="12700">
            <a:solidFill>
              <a:srgbClr val="2E6E7E"/>
            </a:solidFill>
            <a:prstDash val="solid"/>
          </a:ln>
        </p:spPr>
      </p:sp>
      <p:sp>
        <p:nvSpPr>
          <p:cNvPr id="73" name="Shape 73"/>
          <p:cNvSpPr/>
          <p:nvPr/>
        </p:nvSpPr>
        <p:spPr>
          <a:xfrm>
            <a:off x="8275320" y="3163824"/>
            <a:ext cx="173736" cy="173736"/>
          </a:xfrm>
          <a:prstGeom prst="ellipse">
            <a:avLst/>
          </a:prstGeom>
          <a:solidFill>
            <a:srgbClr val="2E6E7E"/>
          </a:solidFill>
          <a:ln/>
        </p:spPr>
      </p:sp>
      <p:sp>
        <p:nvSpPr>
          <p:cNvPr id="74" name="Text 74"/>
          <p:cNvSpPr txBox="1"/>
          <p:nvPr/>
        </p:nvSpPr>
        <p:spPr>
          <a:xfrm>
            <a:off x="8275320" y="316382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75" name="Connector 75"/>
          <p:cNvCxnSpPr/>
          <p:nvPr/>
        </p:nvCxnSpPr>
        <p:spPr>
          <a:xfrm>
            <a:off x="8476488" y="3680460"/>
            <a:ext cx="164592" cy="0"/>
          </a:xfrm>
          <a:prstGeom prst="line">
            <a:avLst/>
          </a:prstGeom>
          <a:noFill/>
          <a:ln w="15875">
            <a:solidFill>
              <a:srgbClr val="6B7480"/>
            </a:solidFill>
            <a:prstDash val="solid"/>
            <a:tailEnd type="triangle"/>
          </a:ln>
        </p:spPr>
      </p:cxnSp>
      <p:sp>
        <p:nvSpPr>
          <p:cNvPr id="76" name="Shape 76"/>
          <p:cNvSpPr/>
          <p:nvPr/>
        </p:nvSpPr>
        <p:spPr>
          <a:xfrm>
            <a:off x="8641080" y="3246120"/>
            <a:ext cx="1472184" cy="868680"/>
          </a:xfrm>
          <a:prstGeom prst="rect">
            <a:avLst/>
          </a:prstGeom>
          <a:solidFill>
            <a:srgbClr val="FFFFFF"/>
          </a:solidFill>
          <a:ln w="12700">
            <a:solidFill>
              <a:srgbClr val="1F2A3C"/>
            </a:solidFill>
            <a:prstDash val="solid"/>
          </a:ln>
        </p:spPr>
      </p:sp>
      <p:sp>
        <p:nvSpPr>
          <p:cNvPr id="77" name="Text 77"/>
          <p:cNvSpPr txBox="1"/>
          <p:nvPr/>
        </p:nvSpPr>
        <p:spPr>
          <a:xfrm>
            <a:off x="8668512" y="324612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Lightweight</a:t>
            </a:r>
          </a:p>
          <a:p>
            <a:pPr algn="ctr" indent="0" marL="0">
              <a:buNone/>
            </a:pPr>
            <a:r>
              <a:rPr lang="en-US" sz="950" b="1" dirty="0">
                <a:solidFill>
                  <a:srgbClr val="1F2A3C"/>
                </a:solidFill>
                <a:latin typeface="Calibri"/>
                <a:ea typeface="Calibri"/>
                <a:cs typeface="Calibri"/>
              </a:rPr>
              <a:t>Simulator / Backend</a:t>
            </a:r>
          </a:p>
        </p:txBody>
      </p:sp>
      <p:sp>
        <p:nvSpPr>
          <p:cNvPr id="78" name="Shape 78"/>
          <p:cNvSpPr/>
          <p:nvPr/>
        </p:nvSpPr>
        <p:spPr>
          <a:xfrm>
            <a:off x="9884664" y="3136392"/>
            <a:ext cx="228600" cy="228600"/>
          </a:xfrm>
          <a:prstGeom prst="ellipse">
            <a:avLst/>
          </a:prstGeom>
          <a:solidFill>
            <a:srgbClr val="FFFFFF"/>
          </a:solidFill>
          <a:ln w="12700">
            <a:solidFill>
              <a:srgbClr val="2E6E7E"/>
            </a:solidFill>
            <a:prstDash val="solid"/>
          </a:ln>
        </p:spPr>
      </p:sp>
      <p:sp>
        <p:nvSpPr>
          <p:cNvPr id="79" name="Shape 79"/>
          <p:cNvSpPr/>
          <p:nvPr/>
        </p:nvSpPr>
        <p:spPr>
          <a:xfrm>
            <a:off x="9912096" y="3163824"/>
            <a:ext cx="173736" cy="173736"/>
          </a:xfrm>
          <a:prstGeom prst="ellipse">
            <a:avLst/>
          </a:prstGeom>
          <a:solidFill>
            <a:srgbClr val="2E6E7E"/>
          </a:solidFill>
          <a:ln/>
        </p:spPr>
      </p:sp>
      <p:sp>
        <p:nvSpPr>
          <p:cNvPr id="80" name="Text 80"/>
          <p:cNvSpPr txBox="1"/>
          <p:nvPr/>
        </p:nvSpPr>
        <p:spPr>
          <a:xfrm>
            <a:off x="9912096" y="316382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81" name="Connector 81"/>
          <p:cNvCxnSpPr/>
          <p:nvPr/>
        </p:nvCxnSpPr>
        <p:spPr>
          <a:xfrm>
            <a:off x="10113264" y="3680460"/>
            <a:ext cx="164592" cy="0"/>
          </a:xfrm>
          <a:prstGeom prst="line">
            <a:avLst/>
          </a:prstGeom>
          <a:noFill/>
          <a:ln w="15875">
            <a:solidFill>
              <a:srgbClr val="6B7480"/>
            </a:solidFill>
            <a:prstDash val="solid"/>
            <a:tailEnd type="triangle"/>
          </a:ln>
        </p:spPr>
      </p:cxnSp>
      <p:sp>
        <p:nvSpPr>
          <p:cNvPr id="82" name="Shape 82"/>
          <p:cNvSpPr/>
          <p:nvPr/>
        </p:nvSpPr>
        <p:spPr>
          <a:xfrm>
            <a:off x="10277856" y="3246120"/>
            <a:ext cx="1472184" cy="868680"/>
          </a:xfrm>
          <a:prstGeom prst="rect">
            <a:avLst/>
          </a:prstGeom>
          <a:solidFill>
            <a:srgbClr val="FFFFFF"/>
          </a:solidFill>
          <a:ln w="12700">
            <a:solidFill>
              <a:srgbClr val="1F2A3C"/>
            </a:solidFill>
            <a:prstDash val="solid"/>
          </a:ln>
        </p:spPr>
      </p:sp>
      <p:sp>
        <p:nvSpPr>
          <p:cNvPr id="83" name="Text 83"/>
          <p:cNvSpPr txBox="1"/>
          <p:nvPr/>
        </p:nvSpPr>
        <p:spPr>
          <a:xfrm>
            <a:off x="10305288" y="3246120"/>
            <a:ext cx="1417320" cy="868680"/>
          </a:xfrm>
          <a:prstGeom prst="rect">
            <a:avLst/>
          </a:prstGeom>
          <a:noFill/>
          <a:ln/>
        </p:spPr>
        <p:txBody>
          <a:bodyPr wrap="square" lIns="0" tIns="0" rIns="0" bIns="0" rtlCol="0" anchor="ctr"/>
          <a:lstStyle/>
          <a:p>
            <a:pPr algn="ctr" indent="0" marL="0">
              <a:buNone/>
            </a:pPr>
            <a:r>
              <a:rPr lang="en-US" sz="950" b="1" dirty="0">
                <a:solidFill>
                  <a:srgbClr val="1F2A3C"/>
                </a:solidFill>
                <a:latin typeface="Calibri"/>
                <a:ea typeface="Calibri"/>
                <a:cs typeface="Calibri"/>
              </a:rPr>
              <a:t>Diagnostics /</a:t>
            </a:r>
          </a:p>
          <a:p>
            <a:pPr algn="ctr" indent="0" marL="0">
              <a:buNone/>
            </a:pPr>
            <a:r>
              <a:rPr lang="en-US" sz="950" b="1" dirty="0">
                <a:solidFill>
                  <a:srgbClr val="1F2A3C"/>
                </a:solidFill>
                <a:latin typeface="Calibri"/>
                <a:ea typeface="Calibri"/>
                <a:cs typeface="Calibri"/>
              </a:rPr>
              <a:t>Evaluation</a:t>
            </a:r>
          </a:p>
        </p:txBody>
      </p:sp>
      <p:sp>
        <p:nvSpPr>
          <p:cNvPr id="84" name="Shape 84"/>
          <p:cNvSpPr/>
          <p:nvPr/>
        </p:nvSpPr>
        <p:spPr>
          <a:xfrm>
            <a:off x="11521440" y="3136392"/>
            <a:ext cx="228600" cy="228600"/>
          </a:xfrm>
          <a:prstGeom prst="ellipse">
            <a:avLst/>
          </a:prstGeom>
          <a:solidFill>
            <a:srgbClr val="FFFFFF"/>
          </a:solidFill>
          <a:ln w="12700">
            <a:solidFill>
              <a:srgbClr val="2E6E7E"/>
            </a:solidFill>
            <a:prstDash val="solid"/>
          </a:ln>
        </p:spPr>
      </p:sp>
      <p:sp>
        <p:nvSpPr>
          <p:cNvPr id="85" name="Shape 85"/>
          <p:cNvSpPr/>
          <p:nvPr/>
        </p:nvSpPr>
        <p:spPr>
          <a:xfrm>
            <a:off x="11548872" y="3163824"/>
            <a:ext cx="173736" cy="173736"/>
          </a:xfrm>
          <a:prstGeom prst="ellipse">
            <a:avLst/>
          </a:prstGeom>
          <a:solidFill>
            <a:srgbClr val="2E6E7E"/>
          </a:solidFill>
          <a:ln/>
        </p:spPr>
      </p:sp>
      <p:sp>
        <p:nvSpPr>
          <p:cNvPr id="86" name="Text 86"/>
          <p:cNvSpPr txBox="1"/>
          <p:nvPr/>
        </p:nvSpPr>
        <p:spPr>
          <a:xfrm>
            <a:off x="11548872" y="3163824"/>
            <a:ext cx="173736"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cxnSp>
        <p:nvCxnSpPr>
          <p:cNvPr id="87" name="Connector 87"/>
          <p:cNvCxnSpPr/>
          <p:nvPr/>
        </p:nvCxnSpPr>
        <p:spPr>
          <a:xfrm>
            <a:off x="11013948" y="2651760"/>
            <a:ext cx="0" cy="274320"/>
          </a:xfrm>
          <a:prstGeom prst="line">
            <a:avLst/>
          </a:prstGeom>
          <a:noFill/>
          <a:ln w="13970">
            <a:solidFill>
              <a:srgbClr val="6B7480"/>
            </a:solidFill>
            <a:prstDash val="solid"/>
          </a:ln>
        </p:spPr>
      </p:cxnSp>
      <p:cxnSp>
        <p:nvCxnSpPr>
          <p:cNvPr id="88" name="Connector 88"/>
          <p:cNvCxnSpPr/>
          <p:nvPr/>
        </p:nvCxnSpPr>
        <p:spPr>
          <a:xfrm flipH="1">
            <a:off x="1193292" y="2926080"/>
            <a:ext cx="9820656" cy="0"/>
          </a:xfrm>
          <a:prstGeom prst="line">
            <a:avLst/>
          </a:prstGeom>
          <a:noFill/>
          <a:ln w="13970">
            <a:solidFill>
              <a:srgbClr val="6B7480"/>
            </a:solidFill>
            <a:prstDash val="solid"/>
          </a:ln>
        </p:spPr>
      </p:cxnSp>
      <p:cxnSp>
        <p:nvCxnSpPr>
          <p:cNvPr id="89" name="Connector 89"/>
          <p:cNvCxnSpPr/>
          <p:nvPr/>
        </p:nvCxnSpPr>
        <p:spPr>
          <a:xfrm>
            <a:off x="1193292" y="2926080"/>
            <a:ext cx="0" cy="320040"/>
          </a:xfrm>
          <a:prstGeom prst="line">
            <a:avLst/>
          </a:prstGeom>
          <a:noFill/>
          <a:ln w="15875">
            <a:solidFill>
              <a:srgbClr val="6B7480"/>
            </a:solidFill>
            <a:prstDash val="solid"/>
            <a:tailEnd type="triangle"/>
          </a:ln>
        </p:spPr>
      </p:cxnSp>
      <p:sp>
        <p:nvSpPr>
          <p:cNvPr id="90" name="Text 90"/>
          <p:cNvSpPr txBox="1"/>
          <p:nvPr/>
        </p:nvSpPr>
        <p:spPr>
          <a:xfrm>
            <a:off x="457200" y="4206240"/>
            <a:ext cx="11247120" cy="390000"/>
          </a:xfrm>
          <a:prstGeom prst="rect">
            <a:avLst/>
          </a:prstGeom>
          <a:noFill/>
          <a:ln/>
        </p:spPr>
        <p:txBody>
          <a:bodyPr wrap="square" rtlCol="0" anchor="t"/>
          <a:lstStyle/>
          <a:p>
            <a:pPr algn="l" indent="0" marL="0">
              <a:buNone/>
            </a:pPr>
            <a:r>
              <a:rPr sz="900" b="0">
                <a:latin typeface="Calibri"/>
              </a:rPr>
              <a:t>✓ Implemented for the current teaching-scale scope. This is the 60% Review 2 milestone; remaining work focuses on coverage, backend maturity, and empirical evaluation.</a:t>
            </a:r>
          </a:p>
        </p:txBody>
      </p:sp>
      <p:sp>
        <p:nvSpPr>
          <p:cNvPr id="91" name="Shape 91"/>
          <p:cNvSpPr/>
          <p:nvPr/>
        </p:nvSpPr>
        <p:spPr>
          <a:xfrm>
            <a:off x="502920" y="4709160"/>
            <a:ext cx="3520440" cy="1417320"/>
          </a:xfrm>
          <a:prstGeom prst="rect">
            <a:avLst/>
          </a:prstGeom>
          <a:solidFill>
            <a:srgbClr val="F4F6F8"/>
          </a:solidFill>
          <a:ln w="12700">
            <a:solidFill>
              <a:srgbClr val="D6DCE2"/>
            </a:solidFill>
            <a:prstDash val="solid"/>
          </a:ln>
        </p:spPr>
      </p:sp>
      <p:sp>
        <p:nvSpPr>
          <p:cNvPr id="92" name="Text 92"/>
          <p:cNvSpPr txBox="1"/>
          <p:nvPr/>
        </p:nvSpPr>
        <p:spPr>
          <a:xfrm>
            <a:off x="731520" y="4846320"/>
            <a:ext cx="3063240" cy="256032"/>
          </a:xfrm>
          <a:prstGeom prst="rect">
            <a:avLst/>
          </a:prstGeom>
          <a:noFill/>
          <a:ln/>
        </p:spPr>
        <p:txBody>
          <a:bodyPr wrap="square" rtlCol="0" anchor="t"/>
          <a:lstStyle/>
          <a:p>
            <a:pPr algn="l" indent="0" marL="0">
              <a:buNone/>
            </a:pPr>
            <a:r>
              <a:rPr lang="en-US" sz="950" b="1" spc="150" dirty="0">
                <a:solidFill>
                  <a:srgbClr val="6B7480"/>
                </a:solidFill>
                <a:latin typeface="Calibri"/>
                <a:ea typeface="Calibri"/>
                <a:cs typeface="Calibri"/>
              </a:rPr>
              <a:t>REVIEW 1</a:t>
            </a:r>
          </a:p>
        </p:txBody>
      </p:sp>
      <p:sp>
        <p:nvSpPr>
          <p:cNvPr id="93" name="Text 93"/>
          <p:cNvSpPr txBox="1"/>
          <p:nvPr/>
        </p:nvSpPr>
        <p:spPr>
          <a:xfrm>
            <a:off x="731520" y="5120640"/>
            <a:ext cx="3063240" cy="411480"/>
          </a:xfrm>
          <a:prstGeom prst="rect">
            <a:avLst/>
          </a:prstGeom>
          <a:noFill/>
          <a:ln/>
        </p:spPr>
        <p:txBody>
          <a:bodyPr wrap="square" rtlCol="0" anchor="t"/>
          <a:lstStyle/>
          <a:p>
            <a:pPr algn="l" indent="0" marL="0">
              <a:buNone/>
            </a:pPr>
            <a:r>
              <a:rPr lang="en-US" sz="1700" b="1" dirty="0">
                <a:solidFill>
                  <a:srgbClr val="1F2A3C"/>
                </a:solidFill>
                <a:latin typeface="Cambria"/>
                <a:ea typeface="Cambria"/>
                <a:cs typeface="Cambria"/>
              </a:rPr>
              <a:t>Proposed architecture</a:t>
            </a:r>
          </a:p>
        </p:txBody>
      </p:sp>
      <p:sp>
        <p:nvSpPr>
          <p:cNvPr id="94" name="Text 94"/>
          <p:cNvSpPr txBox="1"/>
          <p:nvPr/>
        </p:nvSpPr>
        <p:spPr>
          <a:xfrm>
            <a:off x="731520" y="5577840"/>
            <a:ext cx="3063240" cy="457200"/>
          </a:xfrm>
          <a:prstGeom prst="rect">
            <a:avLst/>
          </a:prstGeom>
          <a:noFill/>
          <a:ln/>
        </p:spPr>
        <p:txBody>
          <a:bodyPr wrap="square" rtlCol="0" anchor="t"/>
          <a:lstStyle/>
          <a:p>
            <a:pPr algn="l" indent="0" marL="0">
              <a:buNone/>
            </a:pPr>
            <a:r>
              <a:rPr lang="en-US" sz="1050" dirty="0">
                <a:solidFill>
                  <a:srgbClr val="6B7480"/>
                </a:solidFill>
                <a:latin typeface="Calibri"/>
                <a:ea typeface="Calibri"/>
                <a:cs typeface="Calibri"/>
              </a:rPr>
              <a:t>Pipeline, IR choices and safety rules defined on paper.</a:t>
            </a:r>
          </a:p>
        </p:txBody>
      </p:sp>
      <p:sp>
        <p:nvSpPr>
          <p:cNvPr id="95" name="Shape 95"/>
          <p:cNvSpPr/>
          <p:nvPr/>
        </p:nvSpPr>
        <p:spPr>
          <a:xfrm>
            <a:off x="4370832" y="4709160"/>
            <a:ext cx="3520440" cy="1417320"/>
          </a:xfrm>
          <a:prstGeom prst="rect">
            <a:avLst/>
          </a:prstGeom>
          <a:solidFill>
            <a:srgbClr val="1F2A3C"/>
          </a:solidFill>
          <a:ln w="15875">
            <a:solidFill>
              <a:srgbClr val="2E6E7E"/>
            </a:solidFill>
            <a:prstDash val="solid"/>
          </a:ln>
        </p:spPr>
      </p:sp>
      <p:sp>
        <p:nvSpPr>
          <p:cNvPr id="96" name="Text 96"/>
          <p:cNvSpPr txBox="1"/>
          <p:nvPr/>
        </p:nvSpPr>
        <p:spPr>
          <a:xfrm>
            <a:off x="4599432" y="4846320"/>
            <a:ext cx="3063240" cy="256032"/>
          </a:xfrm>
          <a:prstGeom prst="rect">
            <a:avLst/>
          </a:prstGeom>
          <a:noFill/>
          <a:ln/>
        </p:spPr>
        <p:txBody>
          <a:bodyPr wrap="square" rtlCol="0" anchor="t"/>
          <a:lstStyle/>
          <a:p>
            <a:pPr algn="l" indent="0" marL="0">
              <a:buNone/>
            </a:pPr>
            <a:r>
              <a:rPr lang="en-US" sz="950" b="1" spc="150" dirty="0">
                <a:solidFill>
                  <a:srgbClr val="8FB6C2"/>
                </a:solidFill>
                <a:latin typeface="Calibri"/>
                <a:ea typeface="Calibri"/>
                <a:cs typeface="Calibri"/>
              </a:rPr>
              <a:t>REVIEW 2</a:t>
            </a:r>
          </a:p>
        </p:txBody>
      </p:sp>
      <p:sp>
        <p:nvSpPr>
          <p:cNvPr id="97" name="Text 97"/>
          <p:cNvSpPr txBox="1"/>
          <p:nvPr/>
        </p:nvSpPr>
        <p:spPr>
          <a:xfrm>
            <a:off x="4599432" y="5120640"/>
            <a:ext cx="3063240" cy="411480"/>
          </a:xfrm>
          <a:prstGeom prst="rect">
            <a:avLst/>
          </a:prstGeom>
          <a:noFill/>
          <a:ln/>
        </p:spPr>
        <p:txBody>
          <a:bodyPr wrap="square" rtlCol="0" anchor="t"/>
          <a:lstStyle/>
          <a:p>
            <a:pPr algn="l" indent="0" marL="0">
              <a:buNone/>
            </a:pPr>
            <a:r>
              <a:rPr lang="en-US" sz="1700" b="1" dirty="0">
                <a:solidFill>
                  <a:srgbClr val="FFFFFF"/>
                </a:solidFill>
                <a:latin typeface="Cambria"/>
                <a:ea typeface="Cambria"/>
                <a:cs typeface="Cambria"/>
              </a:rPr>
              <a:t>Working compiler core</a:t>
            </a:r>
          </a:p>
        </p:txBody>
      </p:sp>
      <p:sp>
        <p:nvSpPr>
          <p:cNvPr id="98" name="Text 98"/>
          <p:cNvSpPr txBox="1"/>
          <p:nvPr/>
        </p:nvSpPr>
        <p:spPr>
          <a:xfrm>
            <a:off x="4599432" y="5577840"/>
            <a:ext cx="3063240" cy="457200"/>
          </a:xfrm>
          <a:prstGeom prst="rect">
            <a:avLst/>
          </a:prstGeom>
          <a:noFill/>
          <a:ln/>
        </p:spPr>
        <p:txBody>
          <a:bodyPr wrap="square" rtlCol="0" anchor="t"/>
          <a:lstStyle/>
          <a:p>
            <a:pPr algn="l" indent="0" marL="0">
              <a:buNone/>
            </a:pPr>
            <a:r>
              <a:rPr lang="en-US" sz="1050" dirty="0">
                <a:solidFill>
                  <a:srgbClr val="C9D4DE"/>
                </a:solidFill>
                <a:latin typeface="Calibri"/>
                <a:ea typeface="Calibri"/>
                <a:cs typeface="Calibri"/>
              </a:rPr>
              <a:t>All stages run end-to-end for the current scope.</a:t>
            </a:r>
          </a:p>
        </p:txBody>
      </p:sp>
      <p:sp>
        <p:nvSpPr>
          <p:cNvPr id="99" name="Shape 99"/>
          <p:cNvSpPr/>
          <p:nvPr/>
        </p:nvSpPr>
        <p:spPr>
          <a:xfrm>
            <a:off x="8238744" y="4709160"/>
            <a:ext cx="3520440" cy="1417320"/>
          </a:xfrm>
          <a:prstGeom prst="rect">
            <a:avLst/>
          </a:prstGeom>
          <a:solidFill>
            <a:srgbClr val="1F2A3C"/>
          </a:solidFill>
          <a:ln w="15875">
            <a:solidFill>
              <a:srgbClr val="2E6E7E"/>
            </a:solidFill>
            <a:prstDash val="solid"/>
          </a:ln>
        </p:spPr>
      </p:sp>
      <p:sp>
        <p:nvSpPr>
          <p:cNvPr id="100" name="Text 100"/>
          <p:cNvSpPr txBox="1"/>
          <p:nvPr/>
        </p:nvSpPr>
        <p:spPr>
          <a:xfrm>
            <a:off x="8467344" y="4846320"/>
            <a:ext cx="3063240" cy="256032"/>
          </a:xfrm>
          <a:prstGeom prst="rect">
            <a:avLst/>
          </a:prstGeom>
          <a:noFill/>
          <a:ln/>
        </p:spPr>
        <p:txBody>
          <a:bodyPr wrap="square" rtlCol="0" anchor="t"/>
          <a:lstStyle/>
          <a:p>
            <a:pPr algn="l" indent="0" marL="0">
              <a:buNone/>
            </a:pPr>
            <a:r>
              <a:rPr lang="en-US" sz="950" b="1" spc="150" dirty="0">
                <a:solidFill>
                  <a:srgbClr val="8FB6C2"/>
                </a:solidFill>
                <a:latin typeface="Calibri"/>
                <a:ea typeface="Calibri"/>
                <a:cs typeface="Calibri"/>
              </a:rPr>
              <a:t>VERIFIED</a:t>
            </a:r>
          </a:p>
        </p:txBody>
      </p:sp>
      <p:sp>
        <p:nvSpPr>
          <p:cNvPr id="101" name="Text 101"/>
          <p:cNvSpPr txBox="1"/>
          <p:nvPr/>
        </p:nvSpPr>
        <p:spPr>
          <a:xfrm>
            <a:off x="8467344" y="5120640"/>
            <a:ext cx="3063240" cy="411480"/>
          </a:xfrm>
          <a:prstGeom prst="rect">
            <a:avLst/>
          </a:prstGeom>
          <a:noFill/>
          <a:ln/>
        </p:spPr>
        <p:txBody>
          <a:bodyPr wrap="square" rtlCol="0" anchor="t"/>
          <a:lstStyle/>
          <a:p>
            <a:pPr algn="l" indent="0" marL="0">
              <a:buNone/>
            </a:pPr>
            <a:r>
              <a:rPr lang="en-US" sz="1700" b="1" dirty="0">
                <a:solidFill>
                  <a:srgbClr val="FFFFFF"/>
                </a:solidFill>
                <a:latin typeface="Cambria"/>
                <a:ea typeface="Cambria"/>
                <a:cs typeface="Cambria"/>
              </a:rPr>
              <a:t>20 / 20 tests passed</a:t>
            </a:r>
          </a:p>
        </p:txBody>
      </p:sp>
      <p:sp>
        <p:nvSpPr>
          <p:cNvPr id="102" name="Text 102"/>
          <p:cNvSpPr txBox="1"/>
          <p:nvPr/>
        </p:nvSpPr>
        <p:spPr>
          <a:xfrm>
            <a:off x="8467344" y="5577840"/>
            <a:ext cx="3063240" cy="457200"/>
          </a:xfrm>
          <a:prstGeom prst="rect">
            <a:avLst/>
          </a:prstGeom>
          <a:noFill/>
          <a:ln/>
        </p:spPr>
        <p:txBody>
          <a:bodyPr wrap="square" rtlCol="0" anchor="t"/>
          <a:lstStyle/>
          <a:p>
            <a:pPr algn="l" indent="0" marL="0">
              <a:buNone/>
            </a:pPr>
            <a:r>
              <a:rPr lang="en-US" sz="1050" dirty="0">
                <a:solidFill>
                  <a:srgbClr val="C9D4DE"/>
                </a:solidFill>
                <a:latin typeface="Calibri"/>
                <a:ea typeface="Calibri"/>
                <a:cs typeface="Calibri"/>
              </a:rPr>
              <a:t>Plus 5 representative example programs, end-to-end.</a:t>
            </a:r>
          </a:p>
        </p:txBody>
      </p:sp>
      <p:cxnSp>
        <p:nvCxnSpPr>
          <p:cNvPr id="103" name="Connector 103"/>
          <p:cNvCxnSpPr/>
          <p:nvPr/>
        </p:nvCxnSpPr>
        <p:spPr>
          <a:xfrm>
            <a:off x="4078224" y="5422392"/>
            <a:ext cx="237744" cy="0"/>
          </a:xfrm>
          <a:prstGeom prst="line">
            <a:avLst/>
          </a:prstGeom>
          <a:noFill/>
          <a:ln w="15875">
            <a:solidFill>
              <a:srgbClr val="6B7480"/>
            </a:solidFill>
            <a:prstDash val="solid"/>
            <a:tailEnd type="triangle"/>
          </a:ln>
        </p:spPr>
      </p:cxnSp>
      <p:cxnSp>
        <p:nvCxnSpPr>
          <p:cNvPr id="104" name="Connector 104"/>
          <p:cNvCxnSpPr/>
          <p:nvPr/>
        </p:nvCxnSpPr>
        <p:spPr>
          <a:xfrm>
            <a:off x="7946136" y="5422392"/>
            <a:ext cx="237744" cy="0"/>
          </a:xfrm>
          <a:prstGeom prst="line">
            <a:avLst/>
          </a:prstGeom>
          <a:noFill/>
          <a:ln w="15875">
            <a:solidFill>
              <a:srgbClr val="6B7480"/>
            </a:solidFill>
            <a:prstDash val="solid"/>
            <a:tailEnd type="triangle"/>
          </a:ln>
        </p:spPr>
      </p:cxnSp>
      <p:sp>
        <p:nvSpPr>
          <p:cNvPr id="105" name="Text 105"/>
          <p:cNvSpPr txBox="1"/>
          <p:nvPr/>
        </p:nvSpPr>
        <p:spPr>
          <a:xfrm>
            <a:off x="502920" y="6492240"/>
            <a:ext cx="9601200" cy="237744"/>
          </a:xfrm>
          <a:prstGeom prst="rect">
            <a:avLst/>
          </a:prstGeom>
          <a:noFill/>
          <a:ln/>
        </p:spPr>
        <p:txBody>
          <a:bodyPr wrap="square" rtlCol="0" anchor="ctr"/>
          <a:lstStyle/>
          <a:p>
            <a:pPr algn="l" indent="0" marL="0">
              <a:buNone/>
            </a:pPr>
            <a:r>
              <a:rPr lang="en-US" sz="800" dirty="0">
                <a:solidFill>
                  <a:srgbClr val="9AA3AF"/>
                </a:solidFill>
                <a:latin typeface="Calibri"/>
                <a:ea typeface="Calibri"/>
                <a:cs typeface="Calibri"/>
              </a:rPr>
              <a:t xml:space="preserve">BCSE307L — Compiler Design   |   Range-Aware Edge AI Quantization Compiler</a:t>
            </a:r>
          </a:p>
        </p:txBody>
      </p:sp>
      <p:sp>
        <p:nvSpPr>
          <p:cNvPr id="106" name="Text 106"/>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a:ea typeface="Calibri"/>
                <a:cs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 name="Text 3"/>
          <p:cNvSpPr txBox="1"/>
          <p:nvPr/>
        </p:nvSpPr>
        <p:spPr>
          <a:xfrm>
            <a:off x="502920" y="365760"/>
            <a:ext cx="10058400" cy="274320"/>
          </a:xfrm>
          <a:prstGeom prst="rect">
            <a:avLst/>
          </a:prstGeom>
          <a:noFill/>
          <a:ln/>
        </p:spPr>
        <p:txBody>
          <a:bodyPr wrap="square" rtlCol="0" anchor="ctr"/>
          <a:lstStyle/>
          <a:p>
            <a:pPr algn="l" indent="0" marL="0">
              <a:buNone/>
            </a:pPr>
            <a:r>
              <a:rPr lang="en-US" sz="1100" b="1" spc="200" dirty="0">
                <a:solidFill>
                  <a:srgbClr val="2E6E7E"/>
                </a:solidFill>
                <a:latin typeface="Calibri"/>
                <a:ea typeface="Calibri"/>
                <a:cs typeface="Calibri"/>
              </a:rPr>
              <a:t>REVIEW 2 · COMPONENTS</a:t>
            </a:r>
          </a:p>
        </p:txBody>
      </p:sp>
      <p:sp>
        <p:nvSpPr>
          <p:cNvPr id="4" name="Text 4"/>
          <p:cNvSpPr txBox="1"/>
          <p:nvPr/>
        </p:nvSpPr>
        <p:spPr>
          <a:xfrm>
            <a:off x="502920" y="621792"/>
            <a:ext cx="11155680" cy="594360"/>
          </a:xfrm>
          <a:prstGeom prst="rect">
            <a:avLst/>
          </a:prstGeom>
          <a:noFill/>
          <a:ln/>
        </p:spPr>
        <p:txBody>
          <a:bodyPr wrap="square" rtlCol="0" anchor="ctr"/>
          <a:lstStyle/>
          <a:p>
            <a:pPr algn="l" indent="0" marL="0">
              <a:buNone/>
            </a:pPr>
            <a:r>
              <a:rPr lang="en-US" sz="2900" b="1" dirty="0">
                <a:solidFill>
                  <a:srgbClr val="1F2A3C"/>
                </a:solidFill>
                <a:latin typeface="Cambria"/>
                <a:ea typeface="Cambria"/>
                <a:cs typeface="Cambria"/>
              </a:rPr>
              <a:t>Implemented Compiler Components</a:t>
            </a:r>
          </a:p>
        </p:txBody>
      </p:sp>
      <p:sp>
        <p:nvSpPr>
          <p:cNvPr id="5" name="Shape 5"/>
          <p:cNvSpPr/>
          <p:nvPr/>
        </p:nvSpPr>
        <p:spPr>
          <a:xfrm>
            <a:off x="457200" y="1463040"/>
            <a:ext cx="1600200" cy="384048"/>
          </a:xfrm>
          <a:prstGeom prst="rect">
            <a:avLst/>
          </a:prstGeom>
          <a:solidFill>
            <a:srgbClr val="1F2A3C"/>
          </a:solidFill>
          <a:ln w="6350">
            <a:solidFill>
              <a:srgbClr val="D6DCE2"/>
            </a:solidFill>
            <a:prstDash val="solid"/>
          </a:ln>
        </p:spPr>
      </p:sp>
      <p:sp>
        <p:nvSpPr>
          <p:cNvPr id="6" name="Text 6"/>
          <p:cNvSpPr txBox="1"/>
          <p:nvPr/>
        </p:nvSpPr>
        <p:spPr>
          <a:xfrm>
            <a:off x="457200" y="1463040"/>
            <a:ext cx="1600200" cy="384048"/>
          </a:xfrm>
          <a:prstGeom prst="rect">
            <a:avLst/>
          </a:prstGeom>
          <a:noFill/>
          <a:ln/>
        </p:spPr>
        <p:txBody>
          <a:bodyPr wrap="square" rtlCol="0" anchor="ctr"/>
          <a:lstStyle/>
          <a:p>
            <a:pPr algn="l" indent="0" marL="0">
              <a:buNone/>
            </a:pPr>
            <a:r>
              <a:rPr lang="en-US" sz="1150" b="1" dirty="0">
                <a:solidFill>
                  <a:srgbClr val="FFFFFF"/>
                </a:solidFill>
                <a:latin typeface="Calibri"/>
                <a:ea typeface="Calibri"/>
                <a:cs typeface="Calibri"/>
              </a:rPr>
              <a:t>Component</a:t>
            </a:r>
          </a:p>
        </p:txBody>
      </p:sp>
      <p:sp>
        <p:nvSpPr>
          <p:cNvPr id="7" name="Shape 7"/>
          <p:cNvSpPr/>
          <p:nvPr/>
        </p:nvSpPr>
        <p:spPr>
          <a:xfrm>
            <a:off x="2057400" y="1463040"/>
            <a:ext cx="1417320" cy="384048"/>
          </a:xfrm>
          <a:prstGeom prst="rect">
            <a:avLst/>
          </a:prstGeom>
          <a:solidFill>
            <a:srgbClr val="1F2A3C"/>
          </a:solidFill>
          <a:ln w="6350">
            <a:solidFill>
              <a:srgbClr val="D6DCE2"/>
            </a:solidFill>
            <a:prstDash val="solid"/>
          </a:ln>
        </p:spPr>
      </p:sp>
      <p:sp>
        <p:nvSpPr>
          <p:cNvPr id="8" name="Text 8"/>
          <p:cNvSpPr txBox="1"/>
          <p:nvPr/>
        </p:nvSpPr>
        <p:spPr>
          <a:xfrm>
            <a:off x="2057400" y="1463040"/>
            <a:ext cx="1417320" cy="384048"/>
          </a:xfrm>
          <a:prstGeom prst="rect">
            <a:avLst/>
          </a:prstGeom>
          <a:noFill/>
          <a:ln/>
        </p:spPr>
        <p:txBody>
          <a:bodyPr wrap="square" rtlCol="0" anchor="ctr"/>
          <a:lstStyle/>
          <a:p>
            <a:pPr algn="l" indent="0" marL="0">
              <a:buNone/>
            </a:pPr>
            <a:r>
              <a:rPr lang="en-US" sz="1150" b="1" dirty="0">
                <a:solidFill>
                  <a:srgbClr val="FFFFFF"/>
                </a:solidFill>
                <a:latin typeface="Calibri"/>
                <a:ea typeface="Calibri"/>
                <a:cs typeface="Calibri"/>
              </a:rPr>
              <a:t>Status</a:t>
            </a:r>
          </a:p>
        </p:txBody>
      </p:sp>
      <p:sp>
        <p:nvSpPr>
          <p:cNvPr id="9" name="Shape 9"/>
          <p:cNvSpPr/>
          <p:nvPr/>
        </p:nvSpPr>
        <p:spPr>
          <a:xfrm>
            <a:off x="3474720" y="1463040"/>
            <a:ext cx="2377440" cy="384048"/>
          </a:xfrm>
          <a:prstGeom prst="rect">
            <a:avLst/>
          </a:prstGeom>
          <a:solidFill>
            <a:srgbClr val="1F2A3C"/>
          </a:solidFill>
          <a:ln w="6350">
            <a:solidFill>
              <a:srgbClr val="D6DCE2"/>
            </a:solidFill>
            <a:prstDash val="solid"/>
          </a:ln>
        </p:spPr>
      </p:sp>
      <p:sp>
        <p:nvSpPr>
          <p:cNvPr id="10" name="Text 10"/>
          <p:cNvSpPr txBox="1"/>
          <p:nvPr/>
        </p:nvSpPr>
        <p:spPr>
          <a:xfrm>
            <a:off x="3474720" y="1463040"/>
            <a:ext cx="2377440" cy="384048"/>
          </a:xfrm>
          <a:prstGeom prst="rect">
            <a:avLst/>
          </a:prstGeom>
          <a:noFill/>
          <a:ln/>
        </p:spPr>
        <p:txBody>
          <a:bodyPr wrap="square" rtlCol="0" anchor="ctr"/>
          <a:lstStyle/>
          <a:p>
            <a:pPr algn="l" indent="0" marL="0">
              <a:buNone/>
            </a:pPr>
            <a:r>
              <a:rPr lang="en-US" sz="1150" b="1" dirty="0">
                <a:solidFill>
                  <a:srgbClr val="FFFFFF"/>
                </a:solidFill>
                <a:latin typeface="Calibri"/>
                <a:ea typeface="Calibri"/>
                <a:cs typeface="Calibri"/>
              </a:rPr>
              <a:t>Evidence</a:t>
            </a:r>
          </a:p>
        </p:txBody>
      </p:sp>
      <p:sp>
        <p:nvSpPr>
          <p:cNvPr id="11" name="Shape 11"/>
          <p:cNvSpPr/>
          <p:nvPr/>
        </p:nvSpPr>
        <p:spPr>
          <a:xfrm>
            <a:off x="457200" y="1847088"/>
            <a:ext cx="1600200" cy="457200"/>
          </a:xfrm>
          <a:prstGeom prst="rect">
            <a:avLst/>
          </a:prstGeom>
          <a:solidFill>
            <a:srgbClr val="FFFFFF"/>
          </a:solidFill>
          <a:ln w="6350">
            <a:solidFill>
              <a:srgbClr val="D6DCE2"/>
            </a:solidFill>
            <a:prstDash val="solid"/>
          </a:ln>
        </p:spPr>
      </p:sp>
      <p:sp>
        <p:nvSpPr>
          <p:cNvPr id="12" name="Text 12"/>
          <p:cNvSpPr txBox="1"/>
          <p:nvPr/>
        </p:nvSpPr>
        <p:spPr>
          <a:xfrm>
            <a:off x="457200" y="18470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Lexer</a:t>
            </a:r>
          </a:p>
        </p:txBody>
      </p:sp>
      <p:sp>
        <p:nvSpPr>
          <p:cNvPr id="13" name="Shape 13"/>
          <p:cNvSpPr/>
          <p:nvPr/>
        </p:nvSpPr>
        <p:spPr>
          <a:xfrm>
            <a:off x="2057400" y="1847088"/>
            <a:ext cx="1417320" cy="457200"/>
          </a:xfrm>
          <a:prstGeom prst="rect">
            <a:avLst/>
          </a:prstGeom>
          <a:solidFill>
            <a:srgbClr val="D8E6EA"/>
          </a:solidFill>
          <a:ln w="6350">
            <a:solidFill>
              <a:srgbClr val="D6DCE2"/>
            </a:solidFill>
            <a:prstDash val="solid"/>
          </a:ln>
        </p:spPr>
      </p:sp>
      <p:sp>
        <p:nvSpPr>
          <p:cNvPr id="14" name="Text 14"/>
          <p:cNvSpPr txBox="1"/>
          <p:nvPr/>
        </p:nvSpPr>
        <p:spPr>
          <a:xfrm>
            <a:off x="2057400" y="18470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15" name="Shape 15"/>
          <p:cNvSpPr/>
          <p:nvPr/>
        </p:nvSpPr>
        <p:spPr>
          <a:xfrm>
            <a:off x="3474720" y="1847088"/>
            <a:ext cx="2377440" cy="457200"/>
          </a:xfrm>
          <a:prstGeom prst="rect">
            <a:avLst/>
          </a:prstGeom>
          <a:solidFill>
            <a:srgbClr val="FFFFFF"/>
          </a:solidFill>
          <a:ln w="6350">
            <a:solidFill>
              <a:srgbClr val="D6DCE2"/>
            </a:solidFill>
            <a:prstDash val="solid"/>
          </a:ln>
        </p:spPr>
      </p:sp>
      <p:sp>
        <p:nvSpPr>
          <p:cNvPr id="16" name="Text 16"/>
          <p:cNvSpPr txBox="1"/>
          <p:nvPr/>
        </p:nvSpPr>
        <p:spPr>
          <a:xfrm>
            <a:off x="3474720" y="18470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src/lexer/, lexer tests</a:t>
            </a:r>
          </a:p>
        </p:txBody>
      </p:sp>
      <p:sp>
        <p:nvSpPr>
          <p:cNvPr id="17" name="Shape 17"/>
          <p:cNvSpPr/>
          <p:nvPr/>
        </p:nvSpPr>
        <p:spPr>
          <a:xfrm>
            <a:off x="457200" y="2304288"/>
            <a:ext cx="1600200" cy="457200"/>
          </a:xfrm>
          <a:prstGeom prst="rect">
            <a:avLst/>
          </a:prstGeom>
          <a:solidFill>
            <a:srgbClr val="F4F6F8"/>
          </a:solidFill>
          <a:ln w="6350">
            <a:solidFill>
              <a:srgbClr val="D6DCE2"/>
            </a:solidFill>
            <a:prstDash val="solid"/>
          </a:ln>
        </p:spPr>
      </p:sp>
      <p:sp>
        <p:nvSpPr>
          <p:cNvPr id="18" name="Text 18"/>
          <p:cNvSpPr txBox="1"/>
          <p:nvPr/>
        </p:nvSpPr>
        <p:spPr>
          <a:xfrm>
            <a:off x="457200" y="23042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Parser</a:t>
            </a:r>
          </a:p>
        </p:txBody>
      </p:sp>
      <p:sp>
        <p:nvSpPr>
          <p:cNvPr id="19" name="Shape 19"/>
          <p:cNvSpPr/>
          <p:nvPr/>
        </p:nvSpPr>
        <p:spPr>
          <a:xfrm>
            <a:off x="2057400" y="2304288"/>
            <a:ext cx="1417320" cy="457200"/>
          </a:xfrm>
          <a:prstGeom prst="rect">
            <a:avLst/>
          </a:prstGeom>
          <a:solidFill>
            <a:srgbClr val="D8E6EA"/>
          </a:solidFill>
          <a:ln w="6350">
            <a:solidFill>
              <a:srgbClr val="D6DCE2"/>
            </a:solidFill>
            <a:prstDash val="solid"/>
          </a:ln>
        </p:spPr>
      </p:sp>
      <p:sp>
        <p:nvSpPr>
          <p:cNvPr id="20" name="Text 20"/>
          <p:cNvSpPr txBox="1"/>
          <p:nvPr/>
        </p:nvSpPr>
        <p:spPr>
          <a:xfrm>
            <a:off x="2057400" y="23042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21" name="Shape 21"/>
          <p:cNvSpPr/>
          <p:nvPr/>
        </p:nvSpPr>
        <p:spPr>
          <a:xfrm>
            <a:off x="3474720" y="2304288"/>
            <a:ext cx="2377440" cy="457200"/>
          </a:xfrm>
          <a:prstGeom prst="rect">
            <a:avLst/>
          </a:prstGeom>
          <a:solidFill>
            <a:srgbClr val="F4F6F8"/>
          </a:solidFill>
          <a:ln w="6350">
            <a:solidFill>
              <a:srgbClr val="D6DCE2"/>
            </a:solidFill>
            <a:prstDash val="solid"/>
          </a:ln>
        </p:spPr>
      </p:sp>
      <p:sp>
        <p:nvSpPr>
          <p:cNvPr id="22" name="Text 22"/>
          <p:cNvSpPr txBox="1"/>
          <p:nvPr/>
        </p:nvSpPr>
        <p:spPr>
          <a:xfrm>
            <a:off x="3474720" y="23042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src/parser/, parser tests</a:t>
            </a:r>
          </a:p>
        </p:txBody>
      </p:sp>
      <p:sp>
        <p:nvSpPr>
          <p:cNvPr id="23" name="Shape 23"/>
          <p:cNvSpPr/>
          <p:nvPr/>
        </p:nvSpPr>
        <p:spPr>
          <a:xfrm>
            <a:off x="457200" y="2761488"/>
            <a:ext cx="1600200" cy="457200"/>
          </a:xfrm>
          <a:prstGeom prst="rect">
            <a:avLst/>
          </a:prstGeom>
          <a:solidFill>
            <a:srgbClr val="FFFFFF"/>
          </a:solidFill>
          <a:ln w="6350">
            <a:solidFill>
              <a:srgbClr val="D6DCE2"/>
            </a:solidFill>
            <a:prstDash val="solid"/>
          </a:ln>
        </p:spPr>
      </p:sp>
      <p:sp>
        <p:nvSpPr>
          <p:cNvPr id="24" name="Text 24"/>
          <p:cNvSpPr txBox="1"/>
          <p:nvPr/>
        </p:nvSpPr>
        <p:spPr>
          <a:xfrm>
            <a:off x="457200" y="27614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AST</a:t>
            </a:r>
          </a:p>
        </p:txBody>
      </p:sp>
      <p:sp>
        <p:nvSpPr>
          <p:cNvPr id="25" name="Shape 25"/>
          <p:cNvSpPr/>
          <p:nvPr/>
        </p:nvSpPr>
        <p:spPr>
          <a:xfrm>
            <a:off x="2057400" y="2761488"/>
            <a:ext cx="1417320" cy="457200"/>
          </a:xfrm>
          <a:prstGeom prst="rect">
            <a:avLst/>
          </a:prstGeom>
          <a:solidFill>
            <a:srgbClr val="D8E6EA"/>
          </a:solidFill>
          <a:ln w="6350">
            <a:solidFill>
              <a:srgbClr val="D6DCE2"/>
            </a:solidFill>
            <a:prstDash val="solid"/>
          </a:ln>
        </p:spPr>
      </p:sp>
      <p:sp>
        <p:nvSpPr>
          <p:cNvPr id="26" name="Text 26"/>
          <p:cNvSpPr txBox="1"/>
          <p:nvPr/>
        </p:nvSpPr>
        <p:spPr>
          <a:xfrm>
            <a:off x="2057400" y="27614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27" name="Shape 27"/>
          <p:cNvSpPr/>
          <p:nvPr/>
        </p:nvSpPr>
        <p:spPr>
          <a:xfrm>
            <a:off x="3474720" y="2761488"/>
            <a:ext cx="2377440" cy="457200"/>
          </a:xfrm>
          <a:prstGeom prst="rect">
            <a:avLst/>
          </a:prstGeom>
          <a:solidFill>
            <a:srgbClr val="FFFFFF"/>
          </a:solidFill>
          <a:ln w="6350">
            <a:solidFill>
              <a:srgbClr val="D6DCE2"/>
            </a:solidFill>
            <a:prstDash val="solid"/>
          </a:ln>
        </p:spPr>
      </p:sp>
      <p:sp>
        <p:nvSpPr>
          <p:cNvPr id="28" name="Text 28"/>
          <p:cNvSpPr txBox="1"/>
          <p:nvPr/>
        </p:nvSpPr>
        <p:spPr>
          <a:xfrm>
            <a:off x="3474720" y="27614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src/ast/, AST tests</a:t>
            </a:r>
          </a:p>
        </p:txBody>
      </p:sp>
      <p:sp>
        <p:nvSpPr>
          <p:cNvPr id="29" name="Shape 29"/>
          <p:cNvSpPr/>
          <p:nvPr/>
        </p:nvSpPr>
        <p:spPr>
          <a:xfrm>
            <a:off x="457200" y="3218688"/>
            <a:ext cx="1600200" cy="457200"/>
          </a:xfrm>
          <a:prstGeom prst="rect">
            <a:avLst/>
          </a:prstGeom>
          <a:solidFill>
            <a:srgbClr val="F4F6F8"/>
          </a:solidFill>
          <a:ln w="6350">
            <a:solidFill>
              <a:srgbClr val="D6DCE2"/>
            </a:solidFill>
            <a:prstDash val="solid"/>
          </a:ln>
        </p:spPr>
      </p:sp>
      <p:sp>
        <p:nvSpPr>
          <p:cNvPr id="30" name="Text 30"/>
          <p:cNvSpPr txBox="1"/>
          <p:nvPr/>
        </p:nvSpPr>
        <p:spPr>
          <a:xfrm>
            <a:off x="457200" y="32186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Semantic Analysis</a:t>
            </a:r>
          </a:p>
        </p:txBody>
      </p:sp>
      <p:sp>
        <p:nvSpPr>
          <p:cNvPr id="31" name="Shape 31"/>
          <p:cNvSpPr/>
          <p:nvPr/>
        </p:nvSpPr>
        <p:spPr>
          <a:xfrm>
            <a:off x="2057400" y="3218688"/>
            <a:ext cx="1417320" cy="457200"/>
          </a:xfrm>
          <a:prstGeom prst="rect">
            <a:avLst/>
          </a:prstGeom>
          <a:solidFill>
            <a:srgbClr val="D8E6EA"/>
          </a:solidFill>
          <a:ln w="6350">
            <a:solidFill>
              <a:srgbClr val="D6DCE2"/>
            </a:solidFill>
            <a:prstDash val="solid"/>
          </a:ln>
        </p:spPr>
      </p:sp>
      <p:sp>
        <p:nvSpPr>
          <p:cNvPr id="32" name="Text 32"/>
          <p:cNvSpPr txBox="1"/>
          <p:nvPr/>
        </p:nvSpPr>
        <p:spPr>
          <a:xfrm>
            <a:off x="2057400" y="32186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33" name="Shape 33"/>
          <p:cNvSpPr/>
          <p:nvPr/>
        </p:nvSpPr>
        <p:spPr>
          <a:xfrm>
            <a:off x="3474720" y="3218688"/>
            <a:ext cx="2377440" cy="457200"/>
          </a:xfrm>
          <a:prstGeom prst="rect">
            <a:avLst/>
          </a:prstGeom>
          <a:solidFill>
            <a:srgbClr val="F4F6F8"/>
          </a:solidFill>
          <a:ln w="6350">
            <a:solidFill>
              <a:srgbClr val="D6DCE2"/>
            </a:solidFill>
            <a:prstDash val="solid"/>
          </a:ln>
        </p:spPr>
      </p:sp>
      <p:sp>
        <p:nvSpPr>
          <p:cNvPr id="34" name="Text 34"/>
          <p:cNvSpPr txBox="1"/>
          <p:nvPr/>
        </p:nvSpPr>
        <p:spPr>
          <a:xfrm>
            <a:off x="3474720" y="32186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src/semantic/, semantic tests</a:t>
            </a:r>
          </a:p>
        </p:txBody>
      </p:sp>
      <p:sp>
        <p:nvSpPr>
          <p:cNvPr id="35" name="Shape 35"/>
          <p:cNvSpPr/>
          <p:nvPr/>
        </p:nvSpPr>
        <p:spPr>
          <a:xfrm>
            <a:off x="457200" y="3675888"/>
            <a:ext cx="1600200" cy="457200"/>
          </a:xfrm>
          <a:prstGeom prst="rect">
            <a:avLst/>
          </a:prstGeom>
          <a:solidFill>
            <a:srgbClr val="FFFFFF"/>
          </a:solidFill>
          <a:ln w="6350">
            <a:solidFill>
              <a:srgbClr val="D6DCE2"/>
            </a:solidFill>
            <a:prstDash val="solid"/>
          </a:ln>
        </p:spPr>
      </p:sp>
      <p:sp>
        <p:nvSpPr>
          <p:cNvPr id="36" name="Text 36"/>
          <p:cNvSpPr txBox="1"/>
          <p:nvPr/>
        </p:nvSpPr>
        <p:spPr>
          <a:xfrm>
            <a:off x="457200" y="36758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TAC Generation</a:t>
            </a:r>
          </a:p>
        </p:txBody>
      </p:sp>
      <p:sp>
        <p:nvSpPr>
          <p:cNvPr id="37" name="Shape 37"/>
          <p:cNvSpPr/>
          <p:nvPr/>
        </p:nvSpPr>
        <p:spPr>
          <a:xfrm>
            <a:off x="2057400" y="3675888"/>
            <a:ext cx="1417320" cy="457200"/>
          </a:xfrm>
          <a:prstGeom prst="rect">
            <a:avLst/>
          </a:prstGeom>
          <a:solidFill>
            <a:srgbClr val="D8E6EA"/>
          </a:solidFill>
          <a:ln w="6350">
            <a:solidFill>
              <a:srgbClr val="D6DCE2"/>
            </a:solidFill>
            <a:prstDash val="solid"/>
          </a:ln>
        </p:spPr>
      </p:sp>
      <p:sp>
        <p:nvSpPr>
          <p:cNvPr id="38" name="Text 38"/>
          <p:cNvSpPr txBox="1"/>
          <p:nvPr/>
        </p:nvSpPr>
        <p:spPr>
          <a:xfrm>
            <a:off x="2057400" y="36758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39" name="Shape 39"/>
          <p:cNvSpPr/>
          <p:nvPr/>
        </p:nvSpPr>
        <p:spPr>
          <a:xfrm>
            <a:off x="3474720" y="3675888"/>
            <a:ext cx="2377440" cy="457200"/>
          </a:xfrm>
          <a:prstGeom prst="rect">
            <a:avLst/>
          </a:prstGeom>
          <a:solidFill>
            <a:srgbClr val="FFFFFF"/>
          </a:solidFill>
          <a:ln w="6350">
            <a:solidFill>
              <a:srgbClr val="D6DCE2"/>
            </a:solidFill>
            <a:prstDash val="solid"/>
          </a:ln>
        </p:spPr>
      </p:sp>
      <p:sp>
        <p:nvSpPr>
          <p:cNvPr id="40" name="Text 40"/>
          <p:cNvSpPr txBox="1"/>
          <p:nvPr/>
        </p:nvSpPr>
        <p:spPr>
          <a:xfrm>
            <a:off x="3474720" y="36758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src/ir/, TAC tests</a:t>
            </a:r>
          </a:p>
        </p:txBody>
      </p:sp>
      <p:sp>
        <p:nvSpPr>
          <p:cNvPr id="41" name="Shape 41"/>
          <p:cNvSpPr/>
          <p:nvPr/>
        </p:nvSpPr>
        <p:spPr>
          <a:xfrm>
            <a:off x="457200" y="4133088"/>
            <a:ext cx="1600200" cy="457200"/>
          </a:xfrm>
          <a:prstGeom prst="rect">
            <a:avLst/>
          </a:prstGeom>
          <a:solidFill>
            <a:srgbClr val="F4F6F8"/>
          </a:solidFill>
          <a:ln w="6350">
            <a:solidFill>
              <a:srgbClr val="D6DCE2"/>
            </a:solidFill>
            <a:prstDash val="solid"/>
          </a:ln>
        </p:spPr>
      </p:sp>
      <p:sp>
        <p:nvSpPr>
          <p:cNvPr id="42" name="Text 42"/>
          <p:cNvSpPr txBox="1"/>
          <p:nvPr/>
        </p:nvSpPr>
        <p:spPr>
          <a:xfrm>
            <a:off x="457200" y="41330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CFG / Basic Blocks</a:t>
            </a:r>
          </a:p>
        </p:txBody>
      </p:sp>
      <p:sp>
        <p:nvSpPr>
          <p:cNvPr id="43" name="Shape 43"/>
          <p:cNvSpPr/>
          <p:nvPr/>
        </p:nvSpPr>
        <p:spPr>
          <a:xfrm>
            <a:off x="2057400" y="4133088"/>
            <a:ext cx="1417320" cy="457200"/>
          </a:xfrm>
          <a:prstGeom prst="rect">
            <a:avLst/>
          </a:prstGeom>
          <a:solidFill>
            <a:srgbClr val="D8E6EA"/>
          </a:solidFill>
          <a:ln w="6350">
            <a:solidFill>
              <a:srgbClr val="D6DCE2"/>
            </a:solidFill>
            <a:prstDash val="solid"/>
          </a:ln>
        </p:spPr>
      </p:sp>
      <p:sp>
        <p:nvSpPr>
          <p:cNvPr id="44" name="Text 44"/>
          <p:cNvSpPr txBox="1"/>
          <p:nvPr/>
        </p:nvSpPr>
        <p:spPr>
          <a:xfrm>
            <a:off x="2057400" y="41330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45" name="Shape 45"/>
          <p:cNvSpPr/>
          <p:nvPr/>
        </p:nvSpPr>
        <p:spPr>
          <a:xfrm>
            <a:off x="3474720" y="4133088"/>
            <a:ext cx="2377440" cy="457200"/>
          </a:xfrm>
          <a:prstGeom prst="rect">
            <a:avLst/>
          </a:prstGeom>
          <a:solidFill>
            <a:srgbClr val="F4F6F8"/>
          </a:solidFill>
          <a:ln w="6350">
            <a:solidFill>
              <a:srgbClr val="D6DCE2"/>
            </a:solidFill>
            <a:prstDash val="solid"/>
          </a:ln>
        </p:spPr>
      </p:sp>
      <p:sp>
        <p:nvSpPr>
          <p:cNvPr id="46" name="Text 46"/>
          <p:cNvSpPr txBox="1"/>
          <p:nvPr/>
        </p:nvSpPr>
        <p:spPr>
          <a:xfrm>
            <a:off x="3474720" y="41330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src/cfg/, CFG tests</a:t>
            </a:r>
          </a:p>
        </p:txBody>
      </p:sp>
      <p:sp>
        <p:nvSpPr>
          <p:cNvPr id="47" name="Shape 47"/>
          <p:cNvSpPr/>
          <p:nvPr/>
        </p:nvSpPr>
        <p:spPr>
          <a:xfrm>
            <a:off x="457200" y="4590288"/>
            <a:ext cx="1600200" cy="457200"/>
          </a:xfrm>
          <a:prstGeom prst="rect">
            <a:avLst/>
          </a:prstGeom>
          <a:solidFill>
            <a:srgbClr val="FFFFFF"/>
          </a:solidFill>
          <a:ln w="6350">
            <a:solidFill>
              <a:srgbClr val="D6DCE2"/>
            </a:solidFill>
            <a:prstDash val="solid"/>
          </a:ln>
        </p:spPr>
      </p:sp>
      <p:sp>
        <p:nvSpPr>
          <p:cNvPr id="48" name="Text 48"/>
          <p:cNvSpPr txBox="1"/>
          <p:nvPr/>
        </p:nvSpPr>
        <p:spPr>
          <a:xfrm>
            <a:off x="457200" y="45902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SSA Construction</a:t>
            </a:r>
          </a:p>
        </p:txBody>
      </p:sp>
      <p:sp>
        <p:nvSpPr>
          <p:cNvPr id="49" name="Shape 49"/>
          <p:cNvSpPr/>
          <p:nvPr/>
        </p:nvSpPr>
        <p:spPr>
          <a:xfrm>
            <a:off x="2057400" y="4590288"/>
            <a:ext cx="1417320" cy="457200"/>
          </a:xfrm>
          <a:prstGeom prst="rect">
            <a:avLst/>
          </a:prstGeom>
          <a:solidFill>
            <a:srgbClr val="D8E6EA"/>
          </a:solidFill>
          <a:ln w="6350">
            <a:solidFill>
              <a:srgbClr val="D6DCE2"/>
            </a:solidFill>
            <a:prstDash val="solid"/>
          </a:ln>
        </p:spPr>
      </p:sp>
      <p:sp>
        <p:nvSpPr>
          <p:cNvPr id="50" name="Text 50"/>
          <p:cNvSpPr txBox="1"/>
          <p:nvPr/>
        </p:nvSpPr>
        <p:spPr>
          <a:xfrm>
            <a:off x="2057400" y="45902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51" name="Shape 51"/>
          <p:cNvSpPr/>
          <p:nvPr/>
        </p:nvSpPr>
        <p:spPr>
          <a:xfrm>
            <a:off x="3474720" y="4590288"/>
            <a:ext cx="2377440" cy="457200"/>
          </a:xfrm>
          <a:prstGeom prst="rect">
            <a:avLst/>
          </a:prstGeom>
          <a:solidFill>
            <a:srgbClr val="FFFFFF"/>
          </a:solidFill>
          <a:ln w="6350">
            <a:solidFill>
              <a:srgbClr val="D6DCE2"/>
            </a:solidFill>
            <a:prstDash val="solid"/>
          </a:ln>
        </p:spPr>
      </p:sp>
      <p:sp>
        <p:nvSpPr>
          <p:cNvPr id="52" name="Text 52"/>
          <p:cNvSpPr txBox="1"/>
          <p:nvPr/>
        </p:nvSpPr>
        <p:spPr>
          <a:xfrm>
            <a:off x="3474720" y="45902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src/ssa/, phi-node test and control-flow examples</a:t>
            </a:r>
          </a:p>
        </p:txBody>
      </p:sp>
      <p:sp>
        <p:nvSpPr>
          <p:cNvPr id="53" name="Shape 53"/>
          <p:cNvSpPr/>
          <p:nvPr/>
        </p:nvSpPr>
        <p:spPr>
          <a:xfrm>
            <a:off x="457200" y="5047488"/>
            <a:ext cx="1600200" cy="457200"/>
          </a:xfrm>
          <a:prstGeom prst="rect">
            <a:avLst/>
          </a:prstGeom>
          <a:solidFill>
            <a:srgbClr val="F4F6F8"/>
          </a:solidFill>
          <a:ln w="6350">
            <a:solidFill>
              <a:srgbClr val="D6DCE2"/>
            </a:solidFill>
            <a:prstDash val="solid"/>
          </a:ln>
        </p:spPr>
      </p:sp>
      <p:sp>
        <p:nvSpPr>
          <p:cNvPr id="54" name="Text 54"/>
          <p:cNvSpPr txBox="1"/>
          <p:nvPr/>
        </p:nvSpPr>
        <p:spPr>
          <a:xfrm>
            <a:off x="457200" y="50474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Range Analysis</a:t>
            </a:r>
          </a:p>
        </p:txBody>
      </p:sp>
      <p:sp>
        <p:nvSpPr>
          <p:cNvPr id="55" name="Shape 55"/>
          <p:cNvSpPr/>
          <p:nvPr/>
        </p:nvSpPr>
        <p:spPr>
          <a:xfrm>
            <a:off x="2057400" y="5047488"/>
            <a:ext cx="1417320" cy="457200"/>
          </a:xfrm>
          <a:prstGeom prst="rect">
            <a:avLst/>
          </a:prstGeom>
          <a:solidFill>
            <a:srgbClr val="D8E6EA"/>
          </a:solidFill>
          <a:ln w="6350">
            <a:solidFill>
              <a:srgbClr val="D6DCE2"/>
            </a:solidFill>
            <a:prstDash val="solid"/>
          </a:ln>
        </p:spPr>
      </p:sp>
      <p:sp>
        <p:nvSpPr>
          <p:cNvPr id="56" name="Text 56"/>
          <p:cNvSpPr txBox="1"/>
          <p:nvPr/>
        </p:nvSpPr>
        <p:spPr>
          <a:xfrm>
            <a:off x="2057400" y="50474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57" name="Shape 57"/>
          <p:cNvSpPr/>
          <p:nvPr/>
        </p:nvSpPr>
        <p:spPr>
          <a:xfrm>
            <a:off x="3474720" y="5047488"/>
            <a:ext cx="2377440" cy="457200"/>
          </a:xfrm>
          <a:prstGeom prst="rect">
            <a:avLst/>
          </a:prstGeom>
          <a:solidFill>
            <a:srgbClr val="F4F6F8"/>
          </a:solidFill>
          <a:ln w="6350">
            <a:solidFill>
              <a:srgbClr val="D6DCE2"/>
            </a:solidFill>
            <a:prstDash val="solid"/>
          </a:ln>
        </p:spPr>
      </p:sp>
      <p:sp>
        <p:nvSpPr>
          <p:cNvPr id="58" name="Text 58"/>
          <p:cNvSpPr txBox="1"/>
          <p:nvPr/>
        </p:nvSpPr>
        <p:spPr>
          <a:xfrm>
            <a:off x="3474720" y="50474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src/analysis/, interval propagation tests</a:t>
            </a:r>
          </a:p>
        </p:txBody>
      </p:sp>
      <p:sp>
        <p:nvSpPr>
          <p:cNvPr id="59" name="Shape 59"/>
          <p:cNvSpPr/>
          <p:nvPr/>
        </p:nvSpPr>
        <p:spPr>
          <a:xfrm>
            <a:off x="6245352" y="1463040"/>
            <a:ext cx="1600200" cy="384048"/>
          </a:xfrm>
          <a:prstGeom prst="rect">
            <a:avLst/>
          </a:prstGeom>
          <a:solidFill>
            <a:srgbClr val="1F2A3C"/>
          </a:solidFill>
          <a:ln w="6350">
            <a:solidFill>
              <a:srgbClr val="D6DCE2"/>
            </a:solidFill>
            <a:prstDash val="solid"/>
          </a:ln>
        </p:spPr>
      </p:sp>
      <p:sp>
        <p:nvSpPr>
          <p:cNvPr id="60" name="Text 60"/>
          <p:cNvSpPr txBox="1"/>
          <p:nvPr/>
        </p:nvSpPr>
        <p:spPr>
          <a:xfrm>
            <a:off x="6245352" y="1463040"/>
            <a:ext cx="1600200" cy="384048"/>
          </a:xfrm>
          <a:prstGeom prst="rect">
            <a:avLst/>
          </a:prstGeom>
          <a:noFill/>
          <a:ln/>
        </p:spPr>
        <p:txBody>
          <a:bodyPr wrap="square" rtlCol="0" anchor="ctr"/>
          <a:lstStyle/>
          <a:p>
            <a:pPr algn="l" indent="0" marL="0">
              <a:buNone/>
            </a:pPr>
            <a:r>
              <a:rPr lang="en-US" sz="1150" b="1" dirty="0">
                <a:solidFill>
                  <a:srgbClr val="FFFFFF"/>
                </a:solidFill>
                <a:latin typeface="Calibri"/>
                <a:ea typeface="Calibri"/>
                <a:cs typeface="Calibri"/>
              </a:rPr>
              <a:t>Component</a:t>
            </a:r>
          </a:p>
        </p:txBody>
      </p:sp>
      <p:sp>
        <p:nvSpPr>
          <p:cNvPr id="61" name="Shape 61"/>
          <p:cNvSpPr/>
          <p:nvPr/>
        </p:nvSpPr>
        <p:spPr>
          <a:xfrm>
            <a:off x="7845552" y="1463040"/>
            <a:ext cx="1417320" cy="384048"/>
          </a:xfrm>
          <a:prstGeom prst="rect">
            <a:avLst/>
          </a:prstGeom>
          <a:solidFill>
            <a:srgbClr val="1F2A3C"/>
          </a:solidFill>
          <a:ln w="6350">
            <a:solidFill>
              <a:srgbClr val="D6DCE2"/>
            </a:solidFill>
            <a:prstDash val="solid"/>
          </a:ln>
        </p:spPr>
      </p:sp>
      <p:sp>
        <p:nvSpPr>
          <p:cNvPr id="62" name="Text 62"/>
          <p:cNvSpPr txBox="1"/>
          <p:nvPr/>
        </p:nvSpPr>
        <p:spPr>
          <a:xfrm>
            <a:off x="7845552" y="1463040"/>
            <a:ext cx="1417320" cy="384048"/>
          </a:xfrm>
          <a:prstGeom prst="rect">
            <a:avLst/>
          </a:prstGeom>
          <a:noFill/>
          <a:ln/>
        </p:spPr>
        <p:txBody>
          <a:bodyPr wrap="square" rtlCol="0" anchor="ctr"/>
          <a:lstStyle/>
          <a:p>
            <a:pPr algn="l" indent="0" marL="0">
              <a:buNone/>
            </a:pPr>
            <a:r>
              <a:rPr lang="en-US" sz="1150" b="1" dirty="0">
                <a:solidFill>
                  <a:srgbClr val="FFFFFF"/>
                </a:solidFill>
                <a:latin typeface="Calibri"/>
                <a:ea typeface="Calibri"/>
                <a:cs typeface="Calibri"/>
              </a:rPr>
              <a:t>Status</a:t>
            </a:r>
          </a:p>
        </p:txBody>
      </p:sp>
      <p:sp>
        <p:nvSpPr>
          <p:cNvPr id="63" name="Shape 63"/>
          <p:cNvSpPr/>
          <p:nvPr/>
        </p:nvSpPr>
        <p:spPr>
          <a:xfrm>
            <a:off x="9262872" y="1463040"/>
            <a:ext cx="2377440" cy="384048"/>
          </a:xfrm>
          <a:prstGeom prst="rect">
            <a:avLst/>
          </a:prstGeom>
          <a:solidFill>
            <a:srgbClr val="1F2A3C"/>
          </a:solidFill>
          <a:ln w="6350">
            <a:solidFill>
              <a:srgbClr val="D6DCE2"/>
            </a:solidFill>
            <a:prstDash val="solid"/>
          </a:ln>
        </p:spPr>
      </p:sp>
      <p:sp>
        <p:nvSpPr>
          <p:cNvPr id="64" name="Text 64"/>
          <p:cNvSpPr txBox="1"/>
          <p:nvPr/>
        </p:nvSpPr>
        <p:spPr>
          <a:xfrm>
            <a:off x="9262872" y="1463040"/>
            <a:ext cx="2377440" cy="384048"/>
          </a:xfrm>
          <a:prstGeom prst="rect">
            <a:avLst/>
          </a:prstGeom>
          <a:noFill/>
          <a:ln/>
        </p:spPr>
        <p:txBody>
          <a:bodyPr wrap="square" rtlCol="0" anchor="ctr"/>
          <a:lstStyle/>
          <a:p>
            <a:pPr algn="l" indent="0" marL="0">
              <a:buNone/>
            </a:pPr>
            <a:r>
              <a:rPr lang="en-US" sz="1150" b="1" dirty="0">
                <a:solidFill>
                  <a:srgbClr val="FFFFFF"/>
                </a:solidFill>
                <a:latin typeface="Calibri"/>
                <a:ea typeface="Calibri"/>
                <a:cs typeface="Calibri"/>
              </a:rPr>
              <a:t>Evidence</a:t>
            </a:r>
          </a:p>
        </p:txBody>
      </p:sp>
      <p:sp>
        <p:nvSpPr>
          <p:cNvPr id="65" name="Shape 65"/>
          <p:cNvSpPr/>
          <p:nvPr/>
        </p:nvSpPr>
        <p:spPr>
          <a:xfrm>
            <a:off x="6245352" y="1847088"/>
            <a:ext cx="1600200" cy="457200"/>
          </a:xfrm>
          <a:prstGeom prst="rect">
            <a:avLst/>
          </a:prstGeom>
          <a:solidFill>
            <a:srgbClr val="FFFFFF"/>
          </a:solidFill>
          <a:ln w="6350">
            <a:solidFill>
              <a:srgbClr val="D6DCE2"/>
            </a:solidFill>
            <a:prstDash val="solid"/>
          </a:ln>
        </p:spPr>
      </p:sp>
      <p:sp>
        <p:nvSpPr>
          <p:cNvPr id="66" name="Text 66"/>
          <p:cNvSpPr txBox="1"/>
          <p:nvPr/>
        </p:nvSpPr>
        <p:spPr>
          <a:xfrm>
            <a:off x="6245352" y="18470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Integrality Analysis</a:t>
            </a:r>
          </a:p>
        </p:txBody>
      </p:sp>
      <p:sp>
        <p:nvSpPr>
          <p:cNvPr id="67" name="Shape 67"/>
          <p:cNvSpPr/>
          <p:nvPr/>
        </p:nvSpPr>
        <p:spPr>
          <a:xfrm>
            <a:off x="7845552" y="1847088"/>
            <a:ext cx="1417320" cy="457200"/>
          </a:xfrm>
          <a:prstGeom prst="rect">
            <a:avLst/>
          </a:prstGeom>
          <a:solidFill>
            <a:srgbClr val="D8E6EA"/>
          </a:solidFill>
          <a:ln w="6350">
            <a:solidFill>
              <a:srgbClr val="D6DCE2"/>
            </a:solidFill>
            <a:prstDash val="solid"/>
          </a:ln>
        </p:spPr>
      </p:sp>
      <p:sp>
        <p:nvSpPr>
          <p:cNvPr id="68" name="Text 68"/>
          <p:cNvSpPr txBox="1"/>
          <p:nvPr/>
        </p:nvSpPr>
        <p:spPr>
          <a:xfrm>
            <a:off x="7845552" y="18470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69" name="Shape 69"/>
          <p:cNvSpPr/>
          <p:nvPr/>
        </p:nvSpPr>
        <p:spPr>
          <a:xfrm>
            <a:off x="9262872" y="1847088"/>
            <a:ext cx="2377440" cy="457200"/>
          </a:xfrm>
          <a:prstGeom prst="rect">
            <a:avLst/>
          </a:prstGeom>
          <a:solidFill>
            <a:srgbClr val="FFFFFF"/>
          </a:solidFill>
          <a:ln w="6350">
            <a:solidFill>
              <a:srgbClr val="D6DCE2"/>
            </a:solidFill>
            <a:prstDash val="solid"/>
          </a:ln>
        </p:spPr>
      </p:sp>
      <p:sp>
        <p:nvSpPr>
          <p:cNvPr id="70" name="Text 70"/>
          <p:cNvSpPr txBox="1"/>
          <p:nvPr/>
        </p:nvSpPr>
        <p:spPr>
          <a:xfrm>
            <a:off x="9262872" y="18470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Analysis tests and non-integral example</a:t>
            </a:r>
          </a:p>
        </p:txBody>
      </p:sp>
      <p:sp>
        <p:nvSpPr>
          <p:cNvPr id="71" name="Shape 71"/>
          <p:cNvSpPr/>
          <p:nvPr/>
        </p:nvSpPr>
        <p:spPr>
          <a:xfrm>
            <a:off x="6245352" y="2304288"/>
            <a:ext cx="1600200" cy="457200"/>
          </a:xfrm>
          <a:prstGeom prst="rect">
            <a:avLst/>
          </a:prstGeom>
          <a:solidFill>
            <a:srgbClr val="F4F6F8"/>
          </a:solidFill>
          <a:ln w="6350">
            <a:solidFill>
              <a:srgbClr val="D6DCE2"/>
            </a:solidFill>
            <a:prstDash val="solid"/>
          </a:ln>
        </p:spPr>
      </p:sp>
      <p:sp>
        <p:nvSpPr>
          <p:cNvPr id="72" name="Text 72"/>
          <p:cNvSpPr txBox="1"/>
          <p:nvPr/>
        </p:nvSpPr>
        <p:spPr>
          <a:xfrm>
            <a:off x="6245352" y="23042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Loop Widening</a:t>
            </a:r>
          </a:p>
        </p:txBody>
      </p:sp>
      <p:sp>
        <p:nvSpPr>
          <p:cNvPr id="73" name="Shape 73"/>
          <p:cNvSpPr/>
          <p:nvPr/>
        </p:nvSpPr>
        <p:spPr>
          <a:xfrm>
            <a:off x="7845552" y="2304288"/>
            <a:ext cx="1417320" cy="457200"/>
          </a:xfrm>
          <a:prstGeom prst="rect">
            <a:avLst/>
          </a:prstGeom>
          <a:solidFill>
            <a:srgbClr val="E4EEF0"/>
          </a:solidFill>
          <a:ln w="6350">
            <a:solidFill>
              <a:srgbClr val="D6DCE2"/>
            </a:solidFill>
            <a:prstDash val="solid"/>
          </a:ln>
        </p:spPr>
      </p:sp>
      <p:sp>
        <p:nvSpPr>
          <p:cNvPr id="74" name="Text 74"/>
          <p:cNvSpPr txBox="1"/>
          <p:nvPr/>
        </p:nvSpPr>
        <p:spPr>
          <a:xfrm>
            <a:off x="7845552" y="2304288"/>
            <a:ext cx="1417320" cy="457200"/>
          </a:xfrm>
          <a:prstGeom prst="rect">
            <a:avLst/>
          </a:prstGeom>
          <a:noFill/>
          <a:ln/>
        </p:spPr>
        <p:txBody>
          <a:bodyPr wrap="square" rtlCol="0" anchor="ctr"/>
          <a:lstStyle/>
          <a:p>
            <a:pPr algn="l" indent="0" marL="0">
              <a:buNone/>
            </a:pPr>
            <a:r>
              <a:rPr lang="en-US" sz="1000" b="1" i="1" dirty="0">
                <a:solidFill>
                  <a:srgbClr val="2E6E7E"/>
                </a:solidFill>
                <a:latin typeface="Calibri"/>
                <a:ea typeface="Calibri"/>
                <a:cs typeface="Calibri"/>
              </a:rPr>
              <a:t>✓ Implemented — Conservative</a:t>
            </a:r>
          </a:p>
        </p:txBody>
      </p:sp>
      <p:sp>
        <p:nvSpPr>
          <p:cNvPr id="75" name="Shape 75"/>
          <p:cNvSpPr/>
          <p:nvPr/>
        </p:nvSpPr>
        <p:spPr>
          <a:xfrm>
            <a:off x="9262872" y="2304288"/>
            <a:ext cx="2377440" cy="457200"/>
          </a:xfrm>
          <a:prstGeom prst="rect">
            <a:avLst/>
          </a:prstGeom>
          <a:solidFill>
            <a:srgbClr val="F4F6F8"/>
          </a:solidFill>
          <a:ln w="6350">
            <a:solidFill>
              <a:srgbClr val="D6DCE2"/>
            </a:solidFill>
            <a:prstDash val="solid"/>
          </a:ln>
        </p:spPr>
      </p:sp>
      <p:sp>
        <p:nvSpPr>
          <p:cNvPr id="76" name="Text 76"/>
          <p:cNvSpPr txBox="1"/>
          <p:nvPr/>
        </p:nvSpPr>
        <p:spPr>
          <a:xfrm>
            <a:off x="9262872" y="23042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Loop analysis test and while-loop example</a:t>
            </a:r>
          </a:p>
        </p:txBody>
      </p:sp>
      <p:sp>
        <p:nvSpPr>
          <p:cNvPr id="77" name="Shape 77"/>
          <p:cNvSpPr/>
          <p:nvPr/>
        </p:nvSpPr>
        <p:spPr>
          <a:xfrm>
            <a:off x="6245352" y="2761488"/>
            <a:ext cx="1600200" cy="457200"/>
          </a:xfrm>
          <a:prstGeom prst="rect">
            <a:avLst/>
          </a:prstGeom>
          <a:solidFill>
            <a:srgbClr val="FFFFFF"/>
          </a:solidFill>
          <a:ln w="6350">
            <a:solidFill>
              <a:srgbClr val="D6DCE2"/>
            </a:solidFill>
            <a:prstDash val="solid"/>
          </a:ln>
        </p:spPr>
      </p:sp>
      <p:sp>
        <p:nvSpPr>
          <p:cNvPr id="78" name="Text 78"/>
          <p:cNvSpPr txBox="1"/>
          <p:nvPr/>
        </p:nvSpPr>
        <p:spPr>
          <a:xfrm>
            <a:off x="6245352" y="27614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INT8 Safety Analysis</a:t>
            </a:r>
          </a:p>
        </p:txBody>
      </p:sp>
      <p:sp>
        <p:nvSpPr>
          <p:cNvPr id="79" name="Shape 79"/>
          <p:cNvSpPr/>
          <p:nvPr/>
        </p:nvSpPr>
        <p:spPr>
          <a:xfrm>
            <a:off x="7845552" y="2761488"/>
            <a:ext cx="1417320" cy="457200"/>
          </a:xfrm>
          <a:prstGeom prst="rect">
            <a:avLst/>
          </a:prstGeom>
          <a:solidFill>
            <a:srgbClr val="D8E6EA"/>
          </a:solidFill>
          <a:ln w="6350">
            <a:solidFill>
              <a:srgbClr val="D6DCE2"/>
            </a:solidFill>
            <a:prstDash val="solid"/>
          </a:ln>
        </p:spPr>
      </p:sp>
      <p:sp>
        <p:nvSpPr>
          <p:cNvPr id="80" name="Text 80"/>
          <p:cNvSpPr txBox="1"/>
          <p:nvPr/>
        </p:nvSpPr>
        <p:spPr>
          <a:xfrm>
            <a:off x="7845552" y="27614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81" name="Shape 81"/>
          <p:cNvSpPr/>
          <p:nvPr/>
        </p:nvSpPr>
        <p:spPr>
          <a:xfrm>
            <a:off x="9262872" y="2761488"/>
            <a:ext cx="2377440" cy="457200"/>
          </a:xfrm>
          <a:prstGeom prst="rect">
            <a:avLst/>
          </a:prstGeom>
          <a:solidFill>
            <a:srgbClr val="FFFFFF"/>
          </a:solidFill>
          <a:ln w="6350">
            <a:solidFill>
              <a:srgbClr val="D6DCE2"/>
            </a:solidFill>
            <a:prstDash val="solid"/>
          </a:ln>
        </p:spPr>
      </p:sp>
      <p:sp>
        <p:nvSpPr>
          <p:cNvPr id="82" name="Text 82"/>
          <p:cNvSpPr txBox="1"/>
          <p:nvPr/>
        </p:nvSpPr>
        <p:spPr>
          <a:xfrm>
            <a:off x="9262872" y="27614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Quantization tests and rejection examples</a:t>
            </a:r>
          </a:p>
        </p:txBody>
      </p:sp>
      <p:sp>
        <p:nvSpPr>
          <p:cNvPr id="83" name="Shape 83"/>
          <p:cNvSpPr/>
          <p:nvPr/>
        </p:nvSpPr>
        <p:spPr>
          <a:xfrm>
            <a:off x="6245352" y="3218688"/>
            <a:ext cx="1600200" cy="457200"/>
          </a:xfrm>
          <a:prstGeom prst="rect">
            <a:avLst/>
          </a:prstGeom>
          <a:solidFill>
            <a:srgbClr val="F4F6F8"/>
          </a:solidFill>
          <a:ln w="6350">
            <a:solidFill>
              <a:srgbClr val="D6DCE2"/>
            </a:solidFill>
            <a:prstDash val="solid"/>
          </a:ln>
        </p:spPr>
      </p:sp>
      <p:sp>
        <p:nvSpPr>
          <p:cNvPr id="84" name="Text 84"/>
          <p:cNvSpPr txBox="1"/>
          <p:nvPr/>
        </p:nvSpPr>
        <p:spPr>
          <a:xfrm>
            <a:off x="6245352" y="32186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Quantization Transformation</a:t>
            </a:r>
          </a:p>
        </p:txBody>
      </p:sp>
      <p:sp>
        <p:nvSpPr>
          <p:cNvPr id="85" name="Shape 85"/>
          <p:cNvSpPr/>
          <p:nvPr/>
        </p:nvSpPr>
        <p:spPr>
          <a:xfrm>
            <a:off x="7845552" y="3218688"/>
            <a:ext cx="1417320" cy="457200"/>
          </a:xfrm>
          <a:prstGeom prst="rect">
            <a:avLst/>
          </a:prstGeom>
          <a:solidFill>
            <a:srgbClr val="D8E6EA"/>
          </a:solidFill>
          <a:ln w="6350">
            <a:solidFill>
              <a:srgbClr val="D6DCE2"/>
            </a:solidFill>
            <a:prstDash val="solid"/>
          </a:ln>
        </p:spPr>
      </p:sp>
      <p:sp>
        <p:nvSpPr>
          <p:cNvPr id="86" name="Text 86"/>
          <p:cNvSpPr txBox="1"/>
          <p:nvPr/>
        </p:nvSpPr>
        <p:spPr>
          <a:xfrm>
            <a:off x="7845552" y="32186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87" name="Shape 87"/>
          <p:cNvSpPr/>
          <p:nvPr/>
        </p:nvSpPr>
        <p:spPr>
          <a:xfrm>
            <a:off x="9262872" y="3218688"/>
            <a:ext cx="2377440" cy="457200"/>
          </a:xfrm>
          <a:prstGeom prst="rect">
            <a:avLst/>
          </a:prstGeom>
          <a:solidFill>
            <a:srgbClr val="F4F6F8"/>
          </a:solidFill>
          <a:ln w="6350">
            <a:solidFill>
              <a:srgbClr val="D6DCE2"/>
            </a:solidFill>
            <a:prstDash val="solid"/>
          </a:ln>
        </p:spPr>
      </p:sp>
      <p:sp>
        <p:nvSpPr>
          <p:cNvPr id="88" name="Text 88"/>
          <p:cNvSpPr txBox="1"/>
          <p:nvPr/>
        </p:nvSpPr>
        <p:spPr>
          <a:xfrm>
            <a:off x="9262872" y="32186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Quantization tests and safe arithmetic example</a:t>
            </a:r>
          </a:p>
        </p:txBody>
      </p:sp>
      <p:sp>
        <p:nvSpPr>
          <p:cNvPr id="89" name="Shape 89"/>
          <p:cNvSpPr/>
          <p:nvPr/>
        </p:nvSpPr>
        <p:spPr>
          <a:xfrm>
            <a:off x="6245352" y="3675888"/>
            <a:ext cx="1600200" cy="457200"/>
          </a:xfrm>
          <a:prstGeom prst="rect">
            <a:avLst/>
          </a:prstGeom>
          <a:solidFill>
            <a:srgbClr val="FFFFFF"/>
          </a:solidFill>
          <a:ln w="6350">
            <a:solidFill>
              <a:srgbClr val="D6DCE2"/>
            </a:solidFill>
            <a:prstDash val="solid"/>
          </a:ln>
        </p:spPr>
      </p:sp>
      <p:sp>
        <p:nvSpPr>
          <p:cNvPr id="90" name="Text 90"/>
          <p:cNvSpPr txBox="1"/>
          <p:nvPr/>
        </p:nvSpPr>
        <p:spPr>
          <a:xfrm>
            <a:off x="6245352" y="36758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Backend / Simulator</a:t>
            </a:r>
          </a:p>
        </p:txBody>
      </p:sp>
      <p:sp>
        <p:nvSpPr>
          <p:cNvPr id="91" name="Shape 91"/>
          <p:cNvSpPr/>
          <p:nvPr/>
        </p:nvSpPr>
        <p:spPr>
          <a:xfrm>
            <a:off x="7845552" y="3675888"/>
            <a:ext cx="1417320" cy="457200"/>
          </a:xfrm>
          <a:prstGeom prst="rect">
            <a:avLst/>
          </a:prstGeom>
          <a:solidFill>
            <a:srgbClr val="D8E6EA"/>
          </a:solidFill>
          <a:ln w="6350">
            <a:solidFill>
              <a:srgbClr val="D6DCE2"/>
            </a:solidFill>
            <a:prstDash val="solid"/>
          </a:ln>
        </p:spPr>
      </p:sp>
      <p:sp>
        <p:nvSpPr>
          <p:cNvPr id="92" name="Text 92"/>
          <p:cNvSpPr txBox="1"/>
          <p:nvPr/>
        </p:nvSpPr>
        <p:spPr>
          <a:xfrm>
            <a:off x="7845552" y="36758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93" name="Shape 93"/>
          <p:cNvSpPr/>
          <p:nvPr/>
        </p:nvSpPr>
        <p:spPr>
          <a:xfrm>
            <a:off x="9262872" y="3675888"/>
            <a:ext cx="2377440" cy="457200"/>
          </a:xfrm>
          <a:prstGeom prst="rect">
            <a:avLst/>
          </a:prstGeom>
          <a:solidFill>
            <a:srgbClr val="FFFFFF"/>
          </a:solidFill>
          <a:ln w="6350">
            <a:solidFill>
              <a:srgbClr val="D6DCE2"/>
            </a:solidFill>
            <a:prstDash val="solid"/>
          </a:ln>
        </p:spPr>
      </p:sp>
      <p:sp>
        <p:nvSpPr>
          <p:cNvPr id="94" name="Text 94"/>
          <p:cNvSpPr txBox="1"/>
          <p:nvPr/>
        </p:nvSpPr>
        <p:spPr>
          <a:xfrm>
            <a:off x="9262872" y="36758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Simulator and integration tests</a:t>
            </a:r>
          </a:p>
        </p:txBody>
      </p:sp>
      <p:sp>
        <p:nvSpPr>
          <p:cNvPr id="95" name="Shape 95"/>
          <p:cNvSpPr/>
          <p:nvPr/>
        </p:nvSpPr>
        <p:spPr>
          <a:xfrm>
            <a:off x="6245352" y="4133088"/>
            <a:ext cx="1600200" cy="457200"/>
          </a:xfrm>
          <a:prstGeom prst="rect">
            <a:avLst/>
          </a:prstGeom>
          <a:solidFill>
            <a:srgbClr val="F4F6F8"/>
          </a:solidFill>
          <a:ln w="6350">
            <a:solidFill>
              <a:srgbClr val="D6DCE2"/>
            </a:solidFill>
            <a:prstDash val="solid"/>
          </a:ln>
        </p:spPr>
      </p:sp>
      <p:sp>
        <p:nvSpPr>
          <p:cNvPr id="96" name="Text 96"/>
          <p:cNvSpPr txBox="1"/>
          <p:nvPr/>
        </p:nvSpPr>
        <p:spPr>
          <a:xfrm>
            <a:off x="6245352" y="41330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Diagnostics</a:t>
            </a:r>
          </a:p>
        </p:txBody>
      </p:sp>
      <p:sp>
        <p:nvSpPr>
          <p:cNvPr id="97" name="Shape 97"/>
          <p:cNvSpPr/>
          <p:nvPr/>
        </p:nvSpPr>
        <p:spPr>
          <a:xfrm>
            <a:off x="7845552" y="4133088"/>
            <a:ext cx="1417320" cy="457200"/>
          </a:xfrm>
          <a:prstGeom prst="rect">
            <a:avLst/>
          </a:prstGeom>
          <a:solidFill>
            <a:srgbClr val="D8E6EA"/>
          </a:solidFill>
          <a:ln w="6350">
            <a:solidFill>
              <a:srgbClr val="D6DCE2"/>
            </a:solidFill>
            <a:prstDash val="solid"/>
          </a:ln>
        </p:spPr>
      </p:sp>
      <p:sp>
        <p:nvSpPr>
          <p:cNvPr id="98" name="Text 98"/>
          <p:cNvSpPr txBox="1"/>
          <p:nvPr/>
        </p:nvSpPr>
        <p:spPr>
          <a:xfrm>
            <a:off x="7845552" y="4133088"/>
            <a:ext cx="1417320" cy="457200"/>
          </a:xfrm>
          <a:prstGeom prst="rect">
            <a:avLst/>
          </a:prstGeom>
          <a:noFill/>
          <a:ln/>
        </p:spPr>
        <p:txBody>
          <a:bodyPr wrap="square" rtlCol="0" anchor="ctr"/>
          <a:lstStyle/>
          <a:p>
            <a:pPr algn="l" indent="0" marL="0">
              <a:buNone/>
            </a:pPr>
            <a:r>
              <a:rPr lang="en-US" sz="1000" b="1" dirty="0">
                <a:solidFill>
                  <a:srgbClr val="2E6E7E"/>
                </a:solidFill>
                <a:latin typeface="Calibri"/>
                <a:ea typeface="Calibri"/>
                <a:cs typeface="Calibri"/>
              </a:rPr>
              <a:t>✓ Implemented</a:t>
            </a:r>
          </a:p>
        </p:txBody>
      </p:sp>
      <p:sp>
        <p:nvSpPr>
          <p:cNvPr id="99" name="Shape 99"/>
          <p:cNvSpPr/>
          <p:nvPr/>
        </p:nvSpPr>
        <p:spPr>
          <a:xfrm>
            <a:off x="9262872" y="4133088"/>
            <a:ext cx="2377440" cy="457200"/>
          </a:xfrm>
          <a:prstGeom prst="rect">
            <a:avLst/>
          </a:prstGeom>
          <a:solidFill>
            <a:srgbClr val="F4F6F8"/>
          </a:solidFill>
          <a:ln w="6350">
            <a:solidFill>
              <a:srgbClr val="D6DCE2"/>
            </a:solidFill>
            <a:prstDash val="solid"/>
          </a:ln>
        </p:spPr>
      </p:sp>
      <p:sp>
        <p:nvSpPr>
          <p:cNvPr id="100" name="Text 100"/>
          <p:cNvSpPr txBox="1"/>
          <p:nvPr/>
        </p:nvSpPr>
        <p:spPr>
          <a:xfrm>
            <a:off x="9262872" y="41330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Diagnostic outputs with source locations</a:t>
            </a:r>
          </a:p>
        </p:txBody>
      </p:sp>
      <p:sp>
        <p:nvSpPr>
          <p:cNvPr id="101" name="Shape 101"/>
          <p:cNvSpPr/>
          <p:nvPr/>
        </p:nvSpPr>
        <p:spPr>
          <a:xfrm>
            <a:off x="6245352" y="4590288"/>
            <a:ext cx="1600200" cy="457200"/>
          </a:xfrm>
          <a:prstGeom prst="rect">
            <a:avLst/>
          </a:prstGeom>
          <a:solidFill>
            <a:srgbClr val="FFFFFF"/>
          </a:solidFill>
          <a:ln w="6350">
            <a:solidFill>
              <a:srgbClr val="D6DCE2"/>
            </a:solidFill>
            <a:prstDash val="solid"/>
          </a:ln>
        </p:spPr>
      </p:sp>
      <p:sp>
        <p:nvSpPr>
          <p:cNvPr id="102" name="Text 102"/>
          <p:cNvSpPr txBox="1"/>
          <p:nvPr/>
        </p:nvSpPr>
        <p:spPr>
          <a:xfrm>
            <a:off x="6245352" y="4590288"/>
            <a:ext cx="1600200" cy="457200"/>
          </a:xfrm>
          <a:prstGeom prst="rect">
            <a:avLst/>
          </a:prstGeom>
          <a:noFill/>
          <a:ln/>
        </p:spPr>
        <p:txBody>
          <a:bodyPr wrap="square" rtlCol="0" anchor="ctr"/>
          <a:lstStyle/>
          <a:p>
            <a:pPr algn="l" indent="0" marL="0">
              <a:buNone/>
            </a:pPr>
            <a:r>
              <a:rPr lang="en-US" sz="1100" b="1" dirty="0">
                <a:solidFill>
                  <a:srgbClr val="23262B"/>
                </a:solidFill>
                <a:latin typeface="Calibri"/>
                <a:ea typeface="Calibri"/>
                <a:cs typeface="Calibri"/>
              </a:rPr>
              <a:t>End-to-End Pipeline</a:t>
            </a:r>
          </a:p>
        </p:txBody>
      </p:sp>
      <p:sp>
        <p:nvSpPr>
          <p:cNvPr id="103" name="Shape 103"/>
          <p:cNvSpPr/>
          <p:nvPr/>
        </p:nvSpPr>
        <p:spPr>
          <a:xfrm>
            <a:off x="7845552" y="4590288"/>
            <a:ext cx="1417320" cy="457200"/>
          </a:xfrm>
          <a:prstGeom prst="rect">
            <a:avLst/>
          </a:prstGeom>
          <a:solidFill>
            <a:srgbClr val="E4EEF0"/>
          </a:solidFill>
          <a:ln w="6350">
            <a:solidFill>
              <a:srgbClr val="D6DCE2"/>
            </a:solidFill>
            <a:prstDash val="solid"/>
          </a:ln>
        </p:spPr>
      </p:sp>
      <p:sp>
        <p:nvSpPr>
          <p:cNvPr id="104" name="Text 104"/>
          <p:cNvSpPr txBox="1"/>
          <p:nvPr/>
        </p:nvSpPr>
        <p:spPr>
          <a:xfrm>
            <a:off x="7845552" y="4590288"/>
            <a:ext cx="1417320" cy="457200"/>
          </a:xfrm>
          <a:prstGeom prst="rect">
            <a:avLst/>
          </a:prstGeom>
          <a:noFill/>
          <a:ln/>
        </p:spPr>
        <p:txBody>
          <a:bodyPr wrap="square" rtlCol="0" anchor="ctr"/>
          <a:lstStyle/>
          <a:p>
            <a:pPr algn="l" indent="0" marL="0">
              <a:buNone/>
            </a:pPr>
            <a:r>
              <a:rPr lang="en-US" sz="1000" b="1" i="1" dirty="0">
                <a:solidFill>
                  <a:srgbClr val="2E6E7E"/>
                </a:solidFill>
                <a:latin typeface="Calibri"/>
                <a:ea typeface="Calibri"/>
                <a:cs typeface="Calibri"/>
              </a:rPr>
              <a:t>✓ Implemented for Current Scope</a:t>
            </a:r>
          </a:p>
        </p:txBody>
      </p:sp>
      <p:sp>
        <p:nvSpPr>
          <p:cNvPr id="105" name="Shape 105"/>
          <p:cNvSpPr/>
          <p:nvPr/>
        </p:nvSpPr>
        <p:spPr>
          <a:xfrm>
            <a:off x="9262872" y="4590288"/>
            <a:ext cx="2377440" cy="457200"/>
          </a:xfrm>
          <a:prstGeom prst="rect">
            <a:avLst/>
          </a:prstGeom>
          <a:solidFill>
            <a:srgbClr val="FFFFFF"/>
          </a:solidFill>
          <a:ln w="6350">
            <a:solidFill>
              <a:srgbClr val="D6DCE2"/>
            </a:solidFill>
            <a:prstDash val="solid"/>
          </a:ln>
        </p:spPr>
      </p:sp>
      <p:sp>
        <p:nvSpPr>
          <p:cNvPr id="106" name="Text 106"/>
          <p:cNvSpPr txBox="1"/>
          <p:nvPr/>
        </p:nvSpPr>
        <p:spPr>
          <a:xfrm>
            <a:off x="9262872" y="4590288"/>
            <a:ext cx="2377440" cy="457200"/>
          </a:xfrm>
          <a:prstGeom prst="rect">
            <a:avLst/>
          </a:prstGeom>
          <a:noFill/>
          <a:ln/>
        </p:spPr>
        <p:txBody>
          <a:bodyPr wrap="square" rtlCol="0" anchor="ctr"/>
          <a:lstStyle/>
          <a:p>
            <a:pPr algn="l" indent="0" marL="0">
              <a:buNone/>
            </a:pPr>
            <a:r>
              <a:rPr lang="en-US" sz="950" dirty="0">
                <a:solidFill>
                  <a:srgbClr val="6B7480"/>
                </a:solidFill>
                <a:latin typeface="Calibri"/>
                <a:ea typeface="Calibri"/>
                <a:cs typeface="Calibri"/>
              </a:rPr>
              <a:t>Integration tests and example programs</a:t>
            </a:r>
          </a:p>
        </p:txBody>
      </p:sp>
      <p:sp>
        <p:nvSpPr>
          <p:cNvPr id="107" name="Text 107"/>
          <p:cNvSpPr txBox="1"/>
          <p:nvPr/>
        </p:nvSpPr>
        <p:spPr>
          <a:xfrm>
            <a:off x="457200" y="5623560"/>
            <a:ext cx="11274552" cy="502920"/>
          </a:xfrm>
          <a:prstGeom prst="rect">
            <a:avLst/>
          </a:prstGeom>
          <a:noFill/>
          <a:ln/>
        </p:spPr>
        <p:txBody>
          <a:bodyPr wrap="square" rtlCol="0" anchor="t"/>
          <a:lstStyle/>
          <a:p>
            <a:pPr algn="ctr" indent="0" marL="0">
              <a:buNone/>
            </a:pPr>
            <a:r>
              <a:rPr lang="en-US" sz="1050" i="1" dirty="0">
                <a:solidFill>
                  <a:srgbClr val="6B7480"/>
                </a:solidFill>
                <a:latin typeface="Calibri"/>
                <a:ea typeface="Calibri"/>
                <a:cs typeface="Calibri"/>
              </a:rPr>
              <a:t xml:space="preserve">Status and evidence as recorded in the Review 2 Report.  </a:t>
            </a:r>
            <a:r>
              <a:rPr lang="en-US" sz="1050" i="1" dirty="0">
                <a:solidFill>
                  <a:srgbClr val="6B7480"/>
                </a:solidFill>
                <a:latin typeface="Calibri"/>
                <a:ea typeface="Calibri"/>
                <a:cs typeface="Calibri"/>
              </a:rPr>
              <a:t>Qualified entries are stated exactly as scoped: loop widening is conservative, and the end-to-end pipeline is complete for the current scope.</a:t>
            </a:r>
          </a:p>
        </p:txBody>
      </p:sp>
      <p:sp>
        <p:nvSpPr>
          <p:cNvPr id="108" name="Text 108"/>
          <p:cNvSpPr txBox="1"/>
          <p:nvPr/>
        </p:nvSpPr>
        <p:spPr>
          <a:xfrm>
            <a:off x="502920" y="6492240"/>
            <a:ext cx="9601200" cy="237744"/>
          </a:xfrm>
          <a:prstGeom prst="rect">
            <a:avLst/>
          </a:prstGeom>
          <a:noFill/>
          <a:ln/>
        </p:spPr>
        <p:txBody>
          <a:bodyPr wrap="square" rtlCol="0" anchor="ctr"/>
          <a:lstStyle/>
          <a:p>
            <a:pPr algn="l" indent="0" marL="0">
              <a:buNone/>
            </a:pPr>
            <a:r>
              <a:rPr lang="en-US" sz="800" dirty="0">
                <a:solidFill>
                  <a:srgbClr val="9AA3AF"/>
                </a:solidFill>
                <a:latin typeface="Calibri"/>
                <a:ea typeface="Calibri"/>
                <a:cs typeface="Calibri"/>
              </a:rPr>
              <a:t xml:space="preserve">BCSE307L — Compiler Design   |   Range-Aware Edge AI Quantization Compiler</a:t>
            </a:r>
          </a:p>
        </p:txBody>
      </p:sp>
      <p:sp>
        <p:nvSpPr>
          <p:cNvPr id="109" name="Text 109"/>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a:ea typeface="Calibri"/>
                <a:cs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 name="Text 3"/>
          <p:cNvSpPr txBox="1"/>
          <p:nvPr/>
        </p:nvSpPr>
        <p:spPr>
          <a:xfrm>
            <a:off x="502920" y="365760"/>
            <a:ext cx="10058400" cy="274320"/>
          </a:xfrm>
          <a:prstGeom prst="rect">
            <a:avLst/>
          </a:prstGeom>
          <a:noFill/>
          <a:ln/>
        </p:spPr>
        <p:txBody>
          <a:bodyPr wrap="square" rtlCol="0" anchor="ctr"/>
          <a:lstStyle/>
          <a:p>
            <a:pPr algn="l" indent="0" marL="0">
              <a:buNone/>
            </a:pPr>
            <a:r>
              <a:rPr lang="en-US" sz="1100" b="1" spc="200" dirty="0">
                <a:solidFill>
                  <a:srgbClr val="2E6E7E"/>
                </a:solidFill>
                <a:latin typeface="Calibri"/>
                <a:ea typeface="Calibri"/>
                <a:cs typeface="Calibri"/>
              </a:rPr>
              <a:t>REVIEW 2 · VERIFICATION</a:t>
            </a:r>
          </a:p>
        </p:txBody>
      </p:sp>
      <p:sp>
        <p:nvSpPr>
          <p:cNvPr id="4" name="Text 4"/>
          <p:cNvSpPr txBox="1"/>
          <p:nvPr/>
        </p:nvSpPr>
        <p:spPr>
          <a:xfrm>
            <a:off x="502920" y="621792"/>
            <a:ext cx="11155680" cy="594360"/>
          </a:xfrm>
          <a:prstGeom prst="rect">
            <a:avLst/>
          </a:prstGeom>
          <a:noFill/>
          <a:ln/>
        </p:spPr>
        <p:txBody>
          <a:bodyPr wrap="square" rtlCol="0" anchor="ctr"/>
          <a:lstStyle/>
          <a:p>
            <a:pPr algn="l" indent="0" marL="0">
              <a:buNone/>
            </a:pPr>
            <a:r>
              <a:rPr lang="en-US" sz="2900" b="1" dirty="0">
                <a:solidFill>
                  <a:srgbClr val="1F2A3C"/>
                </a:solidFill>
                <a:latin typeface="Cambria"/>
                <a:ea typeface="Cambria"/>
                <a:cs typeface="Cambria"/>
              </a:rPr>
              <a:t>Test &amp; Verification Results</a:t>
            </a:r>
          </a:p>
        </p:txBody>
      </p:sp>
      <p:sp>
        <p:nvSpPr>
          <p:cNvPr id="5" name="Shape 5"/>
          <p:cNvSpPr/>
          <p:nvPr/>
        </p:nvSpPr>
        <p:spPr>
          <a:xfrm>
            <a:off x="502920" y="1463040"/>
            <a:ext cx="4160520" cy="2148840"/>
          </a:xfrm>
          <a:prstGeom prst="rect">
            <a:avLst/>
          </a:prstGeom>
          <a:solidFill>
            <a:srgbClr val="1F2A3C"/>
          </a:solidFill>
          <a:ln w="19050">
            <a:solidFill>
              <a:srgbClr val="2E6E7E"/>
            </a:solidFill>
            <a:prstDash val="solid"/>
          </a:ln>
        </p:spPr>
      </p:sp>
      <p:sp>
        <p:nvSpPr>
          <p:cNvPr id="6" name="Text 6"/>
          <p:cNvSpPr txBox="1"/>
          <p:nvPr/>
        </p:nvSpPr>
        <p:spPr>
          <a:xfrm>
            <a:off x="502920" y="1600200"/>
            <a:ext cx="4160520" cy="1143000"/>
          </a:xfrm>
          <a:prstGeom prst="rect">
            <a:avLst/>
          </a:prstGeom>
          <a:noFill/>
          <a:ln/>
        </p:spPr>
        <p:txBody>
          <a:bodyPr wrap="square" rtlCol="0" anchor="ctr"/>
          <a:lstStyle/>
          <a:p>
            <a:pPr algn="ctr" indent="0" marL="0">
              <a:buNone/>
            </a:pPr>
            <a:r>
              <a:rPr lang="en-US" sz="6600" b="1" dirty="0">
                <a:solidFill>
                  <a:srgbClr val="FFFFFF"/>
                </a:solidFill>
                <a:latin typeface="Cambria"/>
                <a:ea typeface="Cambria"/>
                <a:cs typeface="Cambria"/>
              </a:rPr>
              <a:t>20</a:t>
            </a:r>
            <a:r>
              <a:rPr lang="en-US" sz="4000" b="1" dirty="0">
                <a:solidFill>
                  <a:srgbClr val="8FB6C2"/>
                </a:solidFill>
                <a:latin typeface="Cambria"/>
                <a:ea typeface="Cambria"/>
                <a:cs typeface="Cambria"/>
              </a:rPr>
              <a:t xml:space="preserve"> / 20</a:t>
            </a:r>
          </a:p>
        </p:txBody>
      </p:sp>
      <p:sp>
        <p:nvSpPr>
          <p:cNvPr id="7" name="Text 7"/>
          <p:cNvSpPr txBox="1"/>
          <p:nvPr/>
        </p:nvSpPr>
        <p:spPr>
          <a:xfrm>
            <a:off x="502920" y="2743200"/>
            <a:ext cx="4160520" cy="320040"/>
          </a:xfrm>
          <a:prstGeom prst="rect">
            <a:avLst/>
          </a:prstGeom>
          <a:noFill/>
          <a:ln/>
        </p:spPr>
        <p:txBody>
          <a:bodyPr wrap="square" rtlCol="0" anchor="ctr"/>
          <a:lstStyle/>
          <a:p>
            <a:pPr algn="ctr" indent="0" marL="0">
              <a:buNone/>
            </a:pPr>
            <a:r>
              <a:rPr lang="en-US" sz="1300" b="1" spc="200" dirty="0">
                <a:solidFill>
                  <a:srgbClr val="9FE3C8"/>
                </a:solidFill>
                <a:latin typeface="Calibri"/>
                <a:ea typeface="Calibri"/>
                <a:cs typeface="Calibri"/>
              </a:rPr>
              <a:t>AUTOMATED TESTS PASSED</a:t>
            </a:r>
          </a:p>
        </p:txBody>
      </p:sp>
      <p:sp>
        <p:nvSpPr>
          <p:cNvPr id="8" name="Text 8"/>
          <p:cNvSpPr txBox="1"/>
          <p:nvPr/>
        </p:nvSpPr>
        <p:spPr>
          <a:xfrm>
            <a:off x="502920" y="3090672"/>
            <a:ext cx="4160520" cy="365760"/>
          </a:xfrm>
          <a:prstGeom prst="rect">
            <a:avLst/>
          </a:prstGeom>
          <a:noFill/>
          <a:ln/>
        </p:spPr>
        <p:txBody>
          <a:bodyPr wrap="square" rtlCol="0" anchor="ctr"/>
          <a:lstStyle/>
          <a:p>
            <a:pPr algn="ctr" indent="0" marL="0">
              <a:buNone/>
            </a:pPr>
            <a:r>
              <a:rPr lang="en-US" sz="1050" i="1" dirty="0">
                <a:solidFill>
                  <a:srgbClr val="C9D4DE"/>
                </a:solidFill>
                <a:latin typeface="Calibri"/>
                <a:ea typeface="Calibri"/>
                <a:cs typeface="Calibri"/>
              </a:rPr>
              <a:t>Compiler test suite — 0 failures</a:t>
            </a:r>
          </a:p>
        </p:txBody>
      </p:sp>
      <p:sp>
        <p:nvSpPr>
          <p:cNvPr id="9" name="Text 9"/>
          <p:cNvSpPr txBox="1"/>
          <p:nvPr/>
        </p:nvSpPr>
        <p:spPr>
          <a:xfrm>
            <a:off x="502920" y="3794760"/>
            <a:ext cx="4160520" cy="256032"/>
          </a:xfrm>
          <a:prstGeom prst="rect">
            <a:avLst/>
          </a:prstGeom>
          <a:noFill/>
          <a:ln/>
        </p:spPr>
        <p:txBody>
          <a:bodyPr wrap="square" rtlCol="0" anchor="t"/>
          <a:lstStyle/>
          <a:p>
            <a:pPr algn="l" indent="0" marL="0">
              <a:buNone/>
            </a:pPr>
            <a:r>
              <a:rPr lang="en-US" sz="1050" b="1" dirty="0">
                <a:solidFill>
                  <a:srgbClr val="6B7480"/>
                </a:solidFill>
                <a:latin typeface="Calibri"/>
                <a:ea typeface="Calibri"/>
                <a:cs typeface="Calibri"/>
              </a:rPr>
              <a:t>Test run (verbatim)</a:t>
            </a:r>
          </a:p>
        </p:txBody>
      </p:sp>
      <p:sp>
        <p:nvSpPr>
          <p:cNvPr id="10" name="Shape 10"/>
          <p:cNvSpPr/>
          <p:nvPr/>
        </p:nvSpPr>
        <p:spPr>
          <a:xfrm>
            <a:off x="502920" y="4069080"/>
            <a:ext cx="4160520" cy="1188720"/>
          </a:xfrm>
          <a:prstGeom prst="rect">
            <a:avLst/>
          </a:prstGeom>
          <a:solidFill>
            <a:srgbClr val="1F2A3C"/>
          </a:solidFill>
          <a:ln w="19050">
            <a:solidFill>
              <a:srgbClr val="2E6E7E"/>
            </a:solidFill>
            <a:prstDash val="solid"/>
          </a:ln>
        </p:spPr>
      </p:sp>
      <p:sp>
        <p:nvSpPr>
          <p:cNvPr id="11" name="Text 11"/>
          <p:cNvSpPr txBox="1"/>
          <p:nvPr/>
        </p:nvSpPr>
        <p:spPr>
          <a:xfrm>
            <a:off x="704088" y="4178808"/>
            <a:ext cx="3758184" cy="1005840"/>
          </a:xfrm>
          <a:prstGeom prst="rect">
            <a:avLst/>
          </a:prstGeom>
          <a:noFill/>
          <a:ln/>
        </p:spPr>
        <p:txBody>
          <a:bodyPr wrap="square" lIns="0" tIns="0" rIns="0" bIns="0" rtlCol="0" anchor="t"/>
          <a:lstStyle/>
          <a:p>
            <a:pPr algn="l" indent="0" marL="0">
              <a:lnSpc>
                <a:spcPct val="115000"/>
              </a:lnSpc>
              <a:buNone/>
            </a:pPr>
            <a:r>
              <a:rPr lang="en-US" sz="1050" b="1" dirty="0">
                <a:solidFill>
                  <a:srgbClr val="FFFFFF"/>
                </a:solidFill>
                <a:latin typeface="Courier New"/>
                <a:ea typeface="Courier New"/>
                <a:cs typeface="Courier New"/>
              </a:rPr>
              <a:t>python -m unittest discover -s tests -v</a:t>
            </a:r>
          </a:p>
          <a:p>
            <a:pPr algn="l" indent="0" marL="0">
              <a:lnSpc>
                <a:spcPct val="115000"/>
              </a:lnSpc>
              <a:buNone/>
            </a:pPr>
            <a:r>
              <a:rPr lang="en-US" sz="1050" dirty="0">
                <a:solidFill>
                  <a:srgbClr val="9FE3C8"/>
                </a:solidFill>
                <a:latin typeface="Courier New"/>
                <a:ea typeface="Courier New"/>
                <a:cs typeface="Courier New"/>
              </a:rPr>
              <a:t xml:space="preserve"> </a:t>
            </a:r>
          </a:p>
          <a:p>
            <a:pPr algn="l" indent="0" marL="0">
              <a:lnSpc>
                <a:spcPct val="115000"/>
              </a:lnSpc>
              <a:buNone/>
            </a:pPr>
            <a:r>
              <a:rPr lang="en-US" sz="1050" dirty="0">
                <a:solidFill>
                  <a:srgbClr val="9FE3C8"/>
                </a:solidFill>
                <a:latin typeface="Courier New"/>
                <a:ea typeface="Courier New"/>
                <a:cs typeface="Courier New"/>
              </a:rPr>
              <a:t>Ran 20 tests in 0.018s</a:t>
            </a:r>
          </a:p>
          <a:p>
            <a:pPr algn="l" indent="0" marL="0">
              <a:lnSpc>
                <a:spcPct val="115000"/>
              </a:lnSpc>
              <a:buNone/>
            </a:pPr>
            <a:r>
              <a:rPr lang="en-US" sz="1050" dirty="0">
                <a:solidFill>
                  <a:srgbClr val="9FE3C8"/>
                </a:solidFill>
                <a:latin typeface="Courier New"/>
                <a:ea typeface="Courier New"/>
                <a:cs typeface="Courier New"/>
              </a:rPr>
              <a:t xml:space="preserve"> </a:t>
            </a:r>
          </a:p>
          <a:p>
            <a:pPr algn="l" indent="0" marL="0">
              <a:lnSpc>
                <a:spcPct val="115000"/>
              </a:lnSpc>
              <a:buNone/>
            </a:pPr>
            <a:r>
              <a:rPr lang="en-US" sz="1050" b="1" dirty="0">
                <a:solidFill>
                  <a:srgbClr val="9FE3C8"/>
                </a:solidFill>
                <a:latin typeface="Courier New"/>
                <a:ea typeface="Courier New"/>
                <a:cs typeface="Courier New"/>
              </a:rPr>
              <a:t>OK</a:t>
            </a:r>
          </a:p>
        </p:txBody>
      </p:sp>
      <p:sp>
        <p:nvSpPr>
          <p:cNvPr id="12" name="Text 12"/>
          <p:cNvSpPr txBox="1"/>
          <p:nvPr/>
        </p:nvSpPr>
        <p:spPr>
          <a:xfrm>
            <a:off x="5029200" y="1463040"/>
            <a:ext cx="6656832" cy="274320"/>
          </a:xfrm>
          <a:prstGeom prst="rect">
            <a:avLst/>
          </a:prstGeom>
          <a:noFill/>
          <a:ln/>
        </p:spPr>
        <p:txBody>
          <a:bodyPr wrap="square" rtlCol="0" anchor="ctr"/>
          <a:lstStyle/>
          <a:p>
            <a:pPr algn="l" indent="0" marL="0">
              <a:buNone/>
            </a:pPr>
            <a:r>
              <a:rPr lang="en-US" sz="1200" b="1" dirty="0">
                <a:solidFill>
                  <a:srgbClr val="1F2A3C"/>
                </a:solidFill>
                <a:latin typeface="Calibri"/>
                <a:ea typeface="Calibri"/>
                <a:cs typeface="Calibri"/>
              </a:rPr>
              <a:t>Representative programs</a:t>
            </a:r>
            <a:r>
              <a:rPr lang="en-US" sz="1000" dirty="0">
                <a:solidFill>
                  <a:srgbClr val="6B7480"/>
                </a:solidFill>
                <a:latin typeface="Courier New"/>
                <a:ea typeface="Courier New"/>
                <a:cs typeface="Courier New"/>
              </a:rPr>
              <a:t xml:space="preserve">    examples/*.qc  →  analysis  →  quantized IR  →  simulator</a:t>
            </a:r>
          </a:p>
        </p:txBody>
      </p:sp>
      <p:sp>
        <p:nvSpPr>
          <p:cNvPr id="13" name="Shape 13"/>
          <p:cNvSpPr/>
          <p:nvPr/>
        </p:nvSpPr>
        <p:spPr>
          <a:xfrm>
            <a:off x="5029200" y="1828800"/>
            <a:ext cx="6656832" cy="457200"/>
          </a:xfrm>
          <a:prstGeom prst="rect">
            <a:avLst/>
          </a:prstGeom>
          <a:solidFill>
            <a:srgbClr val="F4F6F8"/>
          </a:solidFill>
          <a:ln w="9525">
            <a:solidFill>
              <a:srgbClr val="D6DCE2"/>
            </a:solidFill>
            <a:prstDash val="solid"/>
          </a:ln>
        </p:spPr>
      </p:sp>
      <p:sp>
        <p:nvSpPr>
          <p:cNvPr id="14" name="Shape 14"/>
          <p:cNvSpPr/>
          <p:nvPr/>
        </p:nvSpPr>
        <p:spPr>
          <a:xfrm>
            <a:off x="5166360" y="1965960"/>
            <a:ext cx="182880" cy="182880"/>
          </a:xfrm>
          <a:prstGeom prst="ellipse">
            <a:avLst/>
          </a:prstGeom>
          <a:solidFill>
            <a:srgbClr val="2E6E7E"/>
          </a:solidFill>
          <a:ln/>
        </p:spPr>
      </p:sp>
      <p:sp>
        <p:nvSpPr>
          <p:cNvPr id="15" name="Text 15"/>
          <p:cNvSpPr txBox="1"/>
          <p:nvPr/>
        </p:nvSpPr>
        <p:spPr>
          <a:xfrm>
            <a:off x="5166360" y="1965960"/>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sp>
        <p:nvSpPr>
          <p:cNvPr id="16" name="Text 16"/>
          <p:cNvSpPr txBox="1"/>
          <p:nvPr/>
        </p:nvSpPr>
        <p:spPr>
          <a:xfrm>
            <a:off x="5486400" y="1828800"/>
            <a:ext cx="2240280" cy="457200"/>
          </a:xfrm>
          <a:prstGeom prst="rect">
            <a:avLst/>
          </a:prstGeom>
          <a:noFill/>
          <a:ln/>
        </p:spPr>
        <p:txBody>
          <a:bodyPr wrap="square" rtlCol="0" anchor="ctr"/>
          <a:lstStyle/>
          <a:p>
            <a:pPr algn="l" indent="0" marL="0">
              <a:buNone/>
            </a:pPr>
            <a:r>
              <a:rPr lang="en-US" sz="1050" b="1" dirty="0">
                <a:solidFill>
                  <a:srgbClr val="23262B"/>
                </a:solidFill>
                <a:latin typeface="Calibri"/>
                <a:ea typeface="Calibri"/>
                <a:cs typeface="Calibri"/>
              </a:rPr>
              <a:t>Safe arithmetic</a:t>
            </a:r>
          </a:p>
        </p:txBody>
      </p:sp>
      <p:sp>
        <p:nvSpPr>
          <p:cNvPr id="17" name="Text 17"/>
          <p:cNvSpPr txBox="1"/>
          <p:nvPr/>
        </p:nvSpPr>
        <p:spPr>
          <a:xfrm>
            <a:off x="7726680" y="1828800"/>
            <a:ext cx="2606040" cy="457200"/>
          </a:xfrm>
          <a:prstGeom prst="rect">
            <a:avLst/>
          </a:prstGeom>
          <a:noFill/>
          <a:ln/>
        </p:spPr>
        <p:txBody>
          <a:bodyPr wrap="square" lIns="0" tIns="0" rIns="0" bIns="0" rtlCol="0" anchor="ctr"/>
          <a:lstStyle/>
          <a:p>
            <a:pPr algn="l" indent="0" marL="0">
              <a:buNone/>
            </a:pPr>
            <a:r>
              <a:rPr lang="en-US" sz="950" dirty="0">
                <a:solidFill>
                  <a:srgbClr val="6B7480"/>
                </a:solidFill>
                <a:latin typeface="Courier New"/>
                <a:ea typeface="Courier New"/>
                <a:cs typeface="Courier New"/>
              </a:rPr>
              <a:t>examples/safe_arithmetic.qc</a:t>
            </a:r>
          </a:p>
        </p:txBody>
      </p:sp>
      <p:sp>
        <p:nvSpPr>
          <p:cNvPr id="18" name="Shape 18"/>
          <p:cNvSpPr/>
          <p:nvPr/>
        </p:nvSpPr>
        <p:spPr>
          <a:xfrm>
            <a:off x="10387584" y="1901952"/>
            <a:ext cx="1188720" cy="310896"/>
          </a:xfrm>
          <a:prstGeom prst="rect">
            <a:avLst/>
          </a:prstGeom>
          <a:solidFill>
            <a:srgbClr val="2E6E7E"/>
          </a:solidFill>
          <a:ln/>
        </p:spPr>
      </p:sp>
      <p:sp>
        <p:nvSpPr>
          <p:cNvPr id="19" name="Text 19"/>
          <p:cNvSpPr txBox="1"/>
          <p:nvPr/>
        </p:nvSpPr>
        <p:spPr>
          <a:xfrm>
            <a:off x="10387584" y="1901952"/>
            <a:ext cx="11887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a:ea typeface="Courier New"/>
                <a:cs typeface="Courier New"/>
              </a:rPr>
              <a:t>PASS</a:t>
            </a:r>
          </a:p>
        </p:txBody>
      </p:sp>
      <p:sp>
        <p:nvSpPr>
          <p:cNvPr id="20" name="Shape 20"/>
          <p:cNvSpPr/>
          <p:nvPr/>
        </p:nvSpPr>
        <p:spPr>
          <a:xfrm>
            <a:off x="5029200" y="2377440"/>
            <a:ext cx="6656832" cy="457200"/>
          </a:xfrm>
          <a:prstGeom prst="rect">
            <a:avLst/>
          </a:prstGeom>
          <a:solidFill>
            <a:srgbClr val="F4F6F8"/>
          </a:solidFill>
          <a:ln w="9525">
            <a:solidFill>
              <a:srgbClr val="D6DCE2"/>
            </a:solidFill>
            <a:prstDash val="solid"/>
          </a:ln>
        </p:spPr>
      </p:sp>
      <p:sp>
        <p:nvSpPr>
          <p:cNvPr id="21" name="Shape 21"/>
          <p:cNvSpPr/>
          <p:nvPr/>
        </p:nvSpPr>
        <p:spPr>
          <a:xfrm>
            <a:off x="5166360" y="2514600"/>
            <a:ext cx="182880" cy="182880"/>
          </a:xfrm>
          <a:prstGeom prst="ellipse">
            <a:avLst/>
          </a:prstGeom>
          <a:solidFill>
            <a:srgbClr val="2E6E7E"/>
          </a:solidFill>
          <a:ln/>
        </p:spPr>
      </p:sp>
      <p:sp>
        <p:nvSpPr>
          <p:cNvPr id="22" name="Text 22"/>
          <p:cNvSpPr txBox="1"/>
          <p:nvPr/>
        </p:nvSpPr>
        <p:spPr>
          <a:xfrm>
            <a:off x="5166360" y="2514600"/>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sp>
        <p:nvSpPr>
          <p:cNvPr id="23" name="Text 23"/>
          <p:cNvSpPr txBox="1"/>
          <p:nvPr/>
        </p:nvSpPr>
        <p:spPr>
          <a:xfrm>
            <a:off x="5486400" y="2377440"/>
            <a:ext cx="2240280" cy="457200"/>
          </a:xfrm>
          <a:prstGeom prst="rect">
            <a:avLst/>
          </a:prstGeom>
          <a:noFill/>
          <a:ln/>
        </p:spPr>
        <p:txBody>
          <a:bodyPr wrap="square" rtlCol="0" anchor="ctr"/>
          <a:lstStyle/>
          <a:p>
            <a:pPr algn="l" indent="0" marL="0">
              <a:buNone/>
            </a:pPr>
            <a:r>
              <a:rPr lang="en-US" sz="1050" b="1" dirty="0">
                <a:solidFill>
                  <a:srgbClr val="23262B"/>
                </a:solidFill>
                <a:latin typeface="Calibri"/>
                <a:ea typeface="Calibri"/>
                <a:cs typeface="Calibri"/>
              </a:rPr>
              <a:t>Overflow rejection</a:t>
            </a:r>
          </a:p>
        </p:txBody>
      </p:sp>
      <p:sp>
        <p:nvSpPr>
          <p:cNvPr id="24" name="Text 24"/>
          <p:cNvSpPr txBox="1"/>
          <p:nvPr/>
        </p:nvSpPr>
        <p:spPr>
          <a:xfrm>
            <a:off x="7726680" y="2377440"/>
            <a:ext cx="2606040" cy="457200"/>
          </a:xfrm>
          <a:prstGeom prst="rect">
            <a:avLst/>
          </a:prstGeom>
          <a:noFill/>
          <a:ln/>
        </p:spPr>
        <p:txBody>
          <a:bodyPr wrap="square" lIns="0" tIns="0" rIns="0" bIns="0" rtlCol="0" anchor="ctr"/>
          <a:lstStyle/>
          <a:p>
            <a:pPr algn="l" indent="0" marL="0">
              <a:buNone/>
            </a:pPr>
            <a:r>
              <a:rPr lang="en-US" sz="950" dirty="0">
                <a:solidFill>
                  <a:srgbClr val="6B7480"/>
                </a:solidFill>
                <a:latin typeface="Courier New"/>
                <a:ea typeface="Courier New"/>
                <a:cs typeface="Courier New"/>
              </a:rPr>
              <a:t>examples/overflow_rejection.qc</a:t>
            </a:r>
          </a:p>
        </p:txBody>
      </p:sp>
      <p:sp>
        <p:nvSpPr>
          <p:cNvPr id="25" name="Shape 25"/>
          <p:cNvSpPr/>
          <p:nvPr/>
        </p:nvSpPr>
        <p:spPr>
          <a:xfrm>
            <a:off x="10387584" y="2450592"/>
            <a:ext cx="1188720" cy="310896"/>
          </a:xfrm>
          <a:prstGeom prst="rect">
            <a:avLst/>
          </a:prstGeom>
          <a:solidFill>
            <a:srgbClr val="2E6E7E"/>
          </a:solidFill>
          <a:ln/>
        </p:spPr>
      </p:sp>
      <p:sp>
        <p:nvSpPr>
          <p:cNvPr id="26" name="Text 26"/>
          <p:cNvSpPr txBox="1"/>
          <p:nvPr/>
        </p:nvSpPr>
        <p:spPr>
          <a:xfrm>
            <a:off x="10387584" y="2450592"/>
            <a:ext cx="11887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a:ea typeface="Courier New"/>
                <a:cs typeface="Courier New"/>
              </a:rPr>
              <a:t>PASS</a:t>
            </a:r>
          </a:p>
        </p:txBody>
      </p:sp>
      <p:sp>
        <p:nvSpPr>
          <p:cNvPr id="27" name="Shape 27"/>
          <p:cNvSpPr/>
          <p:nvPr/>
        </p:nvSpPr>
        <p:spPr>
          <a:xfrm>
            <a:off x="5029200" y="2926080"/>
            <a:ext cx="6656832" cy="457200"/>
          </a:xfrm>
          <a:prstGeom prst="rect">
            <a:avLst/>
          </a:prstGeom>
          <a:solidFill>
            <a:srgbClr val="F4F6F8"/>
          </a:solidFill>
          <a:ln w="9525">
            <a:solidFill>
              <a:srgbClr val="D6DCE2"/>
            </a:solidFill>
            <a:prstDash val="solid"/>
          </a:ln>
        </p:spPr>
      </p:sp>
      <p:sp>
        <p:nvSpPr>
          <p:cNvPr id="28" name="Shape 28"/>
          <p:cNvSpPr/>
          <p:nvPr/>
        </p:nvSpPr>
        <p:spPr>
          <a:xfrm>
            <a:off x="5166360" y="3063240"/>
            <a:ext cx="182880" cy="182880"/>
          </a:xfrm>
          <a:prstGeom prst="ellipse">
            <a:avLst/>
          </a:prstGeom>
          <a:solidFill>
            <a:srgbClr val="2E6E7E"/>
          </a:solidFill>
          <a:ln/>
        </p:spPr>
      </p:sp>
      <p:sp>
        <p:nvSpPr>
          <p:cNvPr id="29" name="Text 29"/>
          <p:cNvSpPr txBox="1"/>
          <p:nvPr/>
        </p:nvSpPr>
        <p:spPr>
          <a:xfrm>
            <a:off x="5166360" y="3063240"/>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sp>
        <p:nvSpPr>
          <p:cNvPr id="30" name="Text 30"/>
          <p:cNvSpPr txBox="1"/>
          <p:nvPr/>
        </p:nvSpPr>
        <p:spPr>
          <a:xfrm>
            <a:off x="5486400" y="2926080"/>
            <a:ext cx="2240280" cy="457200"/>
          </a:xfrm>
          <a:prstGeom prst="rect">
            <a:avLst/>
          </a:prstGeom>
          <a:noFill/>
          <a:ln/>
        </p:spPr>
        <p:txBody>
          <a:bodyPr wrap="square" rtlCol="0" anchor="ctr"/>
          <a:lstStyle/>
          <a:p>
            <a:pPr algn="l" indent="0" marL="0">
              <a:buNone/>
            </a:pPr>
            <a:r>
              <a:rPr lang="en-US" sz="1050" b="1" dirty="0">
                <a:solidFill>
                  <a:srgbClr val="23262B"/>
                </a:solidFill>
                <a:latin typeface="Calibri"/>
                <a:ea typeface="Calibri"/>
                <a:cs typeface="Calibri"/>
              </a:rPr>
              <a:t>Non-integral rejection</a:t>
            </a:r>
          </a:p>
        </p:txBody>
      </p:sp>
      <p:sp>
        <p:nvSpPr>
          <p:cNvPr id="31" name="Text 31"/>
          <p:cNvSpPr txBox="1"/>
          <p:nvPr/>
        </p:nvSpPr>
        <p:spPr>
          <a:xfrm>
            <a:off x="7726680" y="2926080"/>
            <a:ext cx="2606040" cy="457200"/>
          </a:xfrm>
          <a:prstGeom prst="rect">
            <a:avLst/>
          </a:prstGeom>
          <a:noFill/>
          <a:ln/>
        </p:spPr>
        <p:txBody>
          <a:bodyPr wrap="square" lIns="0" tIns="0" rIns="0" bIns="0" rtlCol="0" anchor="ctr"/>
          <a:lstStyle/>
          <a:p>
            <a:pPr algn="l" indent="0" marL="0">
              <a:buNone/>
            </a:pPr>
            <a:r>
              <a:rPr lang="en-US" sz="950" dirty="0">
                <a:solidFill>
                  <a:srgbClr val="6B7480"/>
                </a:solidFill>
                <a:latin typeface="Courier New"/>
                <a:ea typeface="Courier New"/>
                <a:cs typeface="Courier New"/>
              </a:rPr>
              <a:t>examples/non_integral_rejection.qc</a:t>
            </a:r>
          </a:p>
        </p:txBody>
      </p:sp>
      <p:sp>
        <p:nvSpPr>
          <p:cNvPr id="32" name="Shape 32"/>
          <p:cNvSpPr/>
          <p:nvPr/>
        </p:nvSpPr>
        <p:spPr>
          <a:xfrm>
            <a:off x="10387584" y="2999232"/>
            <a:ext cx="1188720" cy="310896"/>
          </a:xfrm>
          <a:prstGeom prst="rect">
            <a:avLst/>
          </a:prstGeom>
          <a:solidFill>
            <a:srgbClr val="2E6E7E"/>
          </a:solidFill>
          <a:ln/>
        </p:spPr>
      </p:sp>
      <p:sp>
        <p:nvSpPr>
          <p:cNvPr id="33" name="Text 33"/>
          <p:cNvSpPr txBox="1"/>
          <p:nvPr/>
        </p:nvSpPr>
        <p:spPr>
          <a:xfrm>
            <a:off x="10387584" y="2999232"/>
            <a:ext cx="11887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a:ea typeface="Courier New"/>
                <a:cs typeface="Courier New"/>
              </a:rPr>
              <a:t>PASS</a:t>
            </a:r>
          </a:p>
        </p:txBody>
      </p:sp>
      <p:sp>
        <p:nvSpPr>
          <p:cNvPr id="34" name="Shape 34"/>
          <p:cNvSpPr/>
          <p:nvPr/>
        </p:nvSpPr>
        <p:spPr>
          <a:xfrm>
            <a:off x="5029200" y="3474720"/>
            <a:ext cx="6656832" cy="457200"/>
          </a:xfrm>
          <a:prstGeom prst="rect">
            <a:avLst/>
          </a:prstGeom>
          <a:solidFill>
            <a:srgbClr val="F4F6F8"/>
          </a:solidFill>
          <a:ln w="9525">
            <a:solidFill>
              <a:srgbClr val="D6DCE2"/>
            </a:solidFill>
            <a:prstDash val="solid"/>
          </a:ln>
        </p:spPr>
      </p:sp>
      <p:sp>
        <p:nvSpPr>
          <p:cNvPr id="35" name="Shape 35"/>
          <p:cNvSpPr/>
          <p:nvPr/>
        </p:nvSpPr>
        <p:spPr>
          <a:xfrm>
            <a:off x="5166360" y="3611880"/>
            <a:ext cx="182880" cy="182880"/>
          </a:xfrm>
          <a:prstGeom prst="ellipse">
            <a:avLst/>
          </a:prstGeom>
          <a:solidFill>
            <a:srgbClr val="2E6E7E"/>
          </a:solidFill>
          <a:ln/>
        </p:spPr>
      </p:sp>
      <p:sp>
        <p:nvSpPr>
          <p:cNvPr id="36" name="Text 36"/>
          <p:cNvSpPr txBox="1"/>
          <p:nvPr/>
        </p:nvSpPr>
        <p:spPr>
          <a:xfrm>
            <a:off x="5166360" y="3611880"/>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sp>
        <p:nvSpPr>
          <p:cNvPr id="37" name="Text 37"/>
          <p:cNvSpPr txBox="1"/>
          <p:nvPr/>
        </p:nvSpPr>
        <p:spPr>
          <a:xfrm>
            <a:off x="5486400" y="3474720"/>
            <a:ext cx="2240280" cy="457200"/>
          </a:xfrm>
          <a:prstGeom prst="rect">
            <a:avLst/>
          </a:prstGeom>
          <a:noFill/>
          <a:ln/>
        </p:spPr>
        <p:txBody>
          <a:bodyPr wrap="square" rtlCol="0" anchor="ctr"/>
          <a:lstStyle/>
          <a:p>
            <a:pPr algn="l" indent="0" marL="0">
              <a:buNone/>
            </a:pPr>
            <a:r>
              <a:rPr lang="en-US" sz="1050" b="1" dirty="0">
                <a:solidFill>
                  <a:srgbClr val="23262B"/>
                </a:solidFill>
                <a:latin typeface="Calibri"/>
                <a:ea typeface="Calibri"/>
                <a:cs typeface="Calibri"/>
              </a:rPr>
              <a:t>If/else + SSA phi</a:t>
            </a:r>
          </a:p>
        </p:txBody>
      </p:sp>
      <p:sp>
        <p:nvSpPr>
          <p:cNvPr id="38" name="Text 38"/>
          <p:cNvSpPr txBox="1"/>
          <p:nvPr/>
        </p:nvSpPr>
        <p:spPr>
          <a:xfrm>
            <a:off x="7726680" y="3474720"/>
            <a:ext cx="2606040" cy="457200"/>
          </a:xfrm>
          <a:prstGeom prst="rect">
            <a:avLst/>
          </a:prstGeom>
          <a:noFill/>
          <a:ln/>
        </p:spPr>
        <p:txBody>
          <a:bodyPr wrap="square" lIns="0" tIns="0" rIns="0" bIns="0" rtlCol="0" anchor="ctr"/>
          <a:lstStyle/>
          <a:p>
            <a:pPr algn="l" indent="0" marL="0">
              <a:buNone/>
            </a:pPr>
            <a:r>
              <a:rPr lang="en-US" sz="950" dirty="0">
                <a:solidFill>
                  <a:srgbClr val="6B7480"/>
                </a:solidFill>
                <a:latin typeface="Courier New"/>
                <a:ea typeface="Courier New"/>
                <a:cs typeface="Courier New"/>
              </a:rPr>
              <a:t>examples/if_else_phi.qc</a:t>
            </a:r>
          </a:p>
        </p:txBody>
      </p:sp>
      <p:sp>
        <p:nvSpPr>
          <p:cNvPr id="39" name="Shape 39"/>
          <p:cNvSpPr/>
          <p:nvPr/>
        </p:nvSpPr>
        <p:spPr>
          <a:xfrm>
            <a:off x="10387584" y="3547872"/>
            <a:ext cx="1188720" cy="310896"/>
          </a:xfrm>
          <a:prstGeom prst="rect">
            <a:avLst/>
          </a:prstGeom>
          <a:solidFill>
            <a:srgbClr val="2E6E7E"/>
          </a:solidFill>
          <a:ln/>
        </p:spPr>
      </p:sp>
      <p:sp>
        <p:nvSpPr>
          <p:cNvPr id="40" name="Text 40"/>
          <p:cNvSpPr txBox="1"/>
          <p:nvPr/>
        </p:nvSpPr>
        <p:spPr>
          <a:xfrm>
            <a:off x="10387584" y="3547872"/>
            <a:ext cx="11887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a:ea typeface="Courier New"/>
                <a:cs typeface="Courier New"/>
              </a:rPr>
              <a:t>PASS</a:t>
            </a:r>
          </a:p>
        </p:txBody>
      </p:sp>
      <p:sp>
        <p:nvSpPr>
          <p:cNvPr id="41" name="Shape 41"/>
          <p:cNvSpPr/>
          <p:nvPr/>
        </p:nvSpPr>
        <p:spPr>
          <a:xfrm>
            <a:off x="5029200" y="4023360"/>
            <a:ext cx="6656832" cy="457200"/>
          </a:xfrm>
          <a:prstGeom prst="rect">
            <a:avLst/>
          </a:prstGeom>
          <a:solidFill>
            <a:srgbClr val="F4F6F8"/>
          </a:solidFill>
          <a:ln w="9525">
            <a:solidFill>
              <a:srgbClr val="D6DCE2"/>
            </a:solidFill>
            <a:prstDash val="solid"/>
          </a:ln>
        </p:spPr>
      </p:sp>
      <p:sp>
        <p:nvSpPr>
          <p:cNvPr id="42" name="Shape 42"/>
          <p:cNvSpPr/>
          <p:nvPr/>
        </p:nvSpPr>
        <p:spPr>
          <a:xfrm>
            <a:off x="5166360" y="4160520"/>
            <a:ext cx="182880" cy="182880"/>
          </a:xfrm>
          <a:prstGeom prst="ellipse">
            <a:avLst/>
          </a:prstGeom>
          <a:solidFill>
            <a:srgbClr val="2E6E7E"/>
          </a:solidFill>
          <a:ln/>
        </p:spPr>
      </p:sp>
      <p:sp>
        <p:nvSpPr>
          <p:cNvPr id="43" name="Text 43"/>
          <p:cNvSpPr txBox="1"/>
          <p:nvPr/>
        </p:nvSpPr>
        <p:spPr>
          <a:xfrm>
            <a:off x="5166360" y="4160520"/>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sp>
        <p:nvSpPr>
          <p:cNvPr id="44" name="Text 44"/>
          <p:cNvSpPr txBox="1"/>
          <p:nvPr/>
        </p:nvSpPr>
        <p:spPr>
          <a:xfrm>
            <a:off x="5486400" y="4023360"/>
            <a:ext cx="2240280" cy="457200"/>
          </a:xfrm>
          <a:prstGeom prst="rect">
            <a:avLst/>
          </a:prstGeom>
          <a:noFill/>
          <a:ln/>
        </p:spPr>
        <p:txBody>
          <a:bodyPr wrap="square" rtlCol="0" anchor="ctr"/>
          <a:lstStyle/>
          <a:p>
            <a:pPr algn="l" indent="0" marL="0">
              <a:buNone/>
            </a:pPr>
            <a:r>
              <a:rPr lang="en-US" sz="1050" b="1" dirty="0">
                <a:solidFill>
                  <a:srgbClr val="23262B"/>
                </a:solidFill>
                <a:latin typeface="Calibri"/>
                <a:ea typeface="Calibri"/>
                <a:cs typeface="Calibri"/>
              </a:rPr>
              <a:t>While-loop + widening</a:t>
            </a:r>
          </a:p>
        </p:txBody>
      </p:sp>
      <p:sp>
        <p:nvSpPr>
          <p:cNvPr id="45" name="Text 45"/>
          <p:cNvSpPr txBox="1"/>
          <p:nvPr/>
        </p:nvSpPr>
        <p:spPr>
          <a:xfrm>
            <a:off x="7726680" y="4023360"/>
            <a:ext cx="2606040" cy="457200"/>
          </a:xfrm>
          <a:prstGeom prst="rect">
            <a:avLst/>
          </a:prstGeom>
          <a:noFill/>
          <a:ln/>
        </p:spPr>
        <p:txBody>
          <a:bodyPr wrap="square" lIns="0" tIns="0" rIns="0" bIns="0" rtlCol="0" anchor="ctr"/>
          <a:lstStyle/>
          <a:p>
            <a:pPr algn="l" indent="0" marL="0">
              <a:buNone/>
            </a:pPr>
            <a:r>
              <a:rPr lang="en-US" sz="950" dirty="0">
                <a:solidFill>
                  <a:srgbClr val="6B7480"/>
                </a:solidFill>
                <a:latin typeface="Courier New"/>
                <a:ea typeface="Courier New"/>
                <a:cs typeface="Courier New"/>
              </a:rPr>
              <a:t>examples/while_loop.qc</a:t>
            </a:r>
          </a:p>
        </p:txBody>
      </p:sp>
      <p:sp>
        <p:nvSpPr>
          <p:cNvPr id="46" name="Shape 46"/>
          <p:cNvSpPr/>
          <p:nvPr/>
        </p:nvSpPr>
        <p:spPr>
          <a:xfrm>
            <a:off x="10387584" y="4096512"/>
            <a:ext cx="1188720" cy="310896"/>
          </a:xfrm>
          <a:prstGeom prst="rect">
            <a:avLst/>
          </a:prstGeom>
          <a:solidFill>
            <a:srgbClr val="2E6E7E"/>
          </a:solidFill>
          <a:ln/>
        </p:spPr>
      </p:sp>
      <p:sp>
        <p:nvSpPr>
          <p:cNvPr id="47" name="Text 47"/>
          <p:cNvSpPr txBox="1"/>
          <p:nvPr/>
        </p:nvSpPr>
        <p:spPr>
          <a:xfrm>
            <a:off x="10387584" y="4096512"/>
            <a:ext cx="11887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a:ea typeface="Courier New"/>
                <a:cs typeface="Courier New"/>
              </a:rPr>
              <a:t>PASS</a:t>
            </a:r>
          </a:p>
        </p:txBody>
      </p:sp>
      <p:sp>
        <p:nvSpPr>
          <p:cNvPr id="48" name="Shape 48"/>
          <p:cNvSpPr/>
          <p:nvPr/>
        </p:nvSpPr>
        <p:spPr>
          <a:xfrm>
            <a:off x="5029200" y="4572000"/>
            <a:ext cx="6656832" cy="457200"/>
          </a:xfrm>
          <a:prstGeom prst="rect">
            <a:avLst/>
          </a:prstGeom>
          <a:solidFill>
            <a:srgbClr val="F4F6F8"/>
          </a:solidFill>
          <a:ln w="9525">
            <a:solidFill>
              <a:srgbClr val="D6DCE2"/>
            </a:solidFill>
            <a:prstDash val="solid"/>
          </a:ln>
        </p:spPr>
      </p:sp>
      <p:sp>
        <p:nvSpPr>
          <p:cNvPr id="49" name="Shape 49"/>
          <p:cNvSpPr/>
          <p:nvPr/>
        </p:nvSpPr>
        <p:spPr>
          <a:xfrm>
            <a:off x="5166360" y="4709160"/>
            <a:ext cx="182880" cy="182880"/>
          </a:xfrm>
          <a:prstGeom prst="ellipse">
            <a:avLst/>
          </a:prstGeom>
          <a:solidFill>
            <a:srgbClr val="2E6E7E"/>
          </a:solidFill>
          <a:ln/>
        </p:spPr>
      </p:sp>
      <p:sp>
        <p:nvSpPr>
          <p:cNvPr id="50" name="Text 50"/>
          <p:cNvSpPr txBox="1"/>
          <p:nvPr/>
        </p:nvSpPr>
        <p:spPr>
          <a:xfrm>
            <a:off x="5166360" y="4709160"/>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sp>
        <p:nvSpPr>
          <p:cNvPr id="51" name="Text 51"/>
          <p:cNvSpPr txBox="1"/>
          <p:nvPr/>
        </p:nvSpPr>
        <p:spPr>
          <a:xfrm>
            <a:off x="5486400" y="4572000"/>
            <a:ext cx="2240280" cy="457200"/>
          </a:xfrm>
          <a:prstGeom prst="rect">
            <a:avLst/>
          </a:prstGeom>
          <a:noFill/>
          <a:ln/>
        </p:spPr>
        <p:txBody>
          <a:bodyPr wrap="square" rtlCol="0" anchor="ctr"/>
          <a:lstStyle/>
          <a:p>
            <a:pPr algn="l" indent="0" marL="0">
              <a:buNone/>
            </a:pPr>
            <a:r>
              <a:rPr lang="en-US" sz="1050" b="1" dirty="0">
                <a:solidFill>
                  <a:srgbClr val="23262B"/>
                </a:solidFill>
                <a:latin typeface="Calibri"/>
                <a:ea typeface="Calibri"/>
                <a:cs typeface="Calibri"/>
              </a:rPr>
              <a:t>Original vs quantized — if/else</a:t>
            </a:r>
          </a:p>
        </p:txBody>
      </p:sp>
      <p:sp>
        <p:nvSpPr>
          <p:cNvPr id="52" name="Text 52"/>
          <p:cNvSpPr txBox="1"/>
          <p:nvPr/>
        </p:nvSpPr>
        <p:spPr>
          <a:xfrm>
            <a:off x="7726680" y="4572000"/>
            <a:ext cx="2606040" cy="457200"/>
          </a:xfrm>
          <a:prstGeom prst="rect">
            <a:avLst/>
          </a:prstGeom>
          <a:noFill/>
          <a:ln/>
        </p:spPr>
        <p:txBody>
          <a:bodyPr wrap="square" lIns="0" tIns="0" rIns="0" bIns="0" rtlCol="0" anchor="ctr"/>
          <a:lstStyle/>
          <a:p>
            <a:pPr algn="l" indent="0" marL="0">
              <a:buNone/>
            </a:pPr>
            <a:r>
              <a:rPr lang="en-US" sz="950" dirty="0">
                <a:solidFill>
                  <a:srgbClr val="6B7480"/>
                </a:solidFill>
                <a:latin typeface="Courier New"/>
                <a:ea typeface="Courier New"/>
                <a:cs typeface="Courier New"/>
              </a:rPr>
              <a:t>simulator</a:t>
            </a:r>
          </a:p>
        </p:txBody>
      </p:sp>
      <p:sp>
        <p:nvSpPr>
          <p:cNvPr id="53" name="Shape 53"/>
          <p:cNvSpPr/>
          <p:nvPr/>
        </p:nvSpPr>
        <p:spPr>
          <a:xfrm>
            <a:off x="10387584" y="4645152"/>
            <a:ext cx="1188720" cy="310896"/>
          </a:xfrm>
          <a:prstGeom prst="rect">
            <a:avLst/>
          </a:prstGeom>
          <a:solidFill>
            <a:srgbClr val="1F2A3C"/>
          </a:solidFill>
          <a:ln/>
        </p:spPr>
      </p:sp>
      <p:sp>
        <p:nvSpPr>
          <p:cNvPr id="54" name="Text 54"/>
          <p:cNvSpPr txBox="1"/>
          <p:nvPr/>
        </p:nvSpPr>
        <p:spPr>
          <a:xfrm>
            <a:off x="10387584" y="4645152"/>
            <a:ext cx="1188720" cy="310896"/>
          </a:xfrm>
          <a:prstGeom prst="rect">
            <a:avLst/>
          </a:prstGeom>
          <a:noFill/>
          <a:ln/>
        </p:spPr>
        <p:txBody>
          <a:bodyPr wrap="square" lIns="0" tIns="0" rIns="0" bIns="0" rtlCol="0" anchor="ctr"/>
          <a:lstStyle/>
          <a:p>
            <a:pPr algn="ctr" indent="0" marL="0">
              <a:buNone/>
            </a:pPr>
            <a:r>
              <a:rPr lang="en-US" sz="1050" b="1" dirty="0">
                <a:solidFill>
                  <a:srgbClr val="9FE3C8"/>
                </a:solidFill>
                <a:latin typeface="Courier New"/>
                <a:ea typeface="Courier New"/>
                <a:cs typeface="Courier New"/>
              </a:rPr>
              <a:t>[20] = [20]</a:t>
            </a:r>
          </a:p>
        </p:txBody>
      </p:sp>
      <p:sp>
        <p:nvSpPr>
          <p:cNvPr id="55" name="Shape 55"/>
          <p:cNvSpPr/>
          <p:nvPr/>
        </p:nvSpPr>
        <p:spPr>
          <a:xfrm>
            <a:off x="5029200" y="5120640"/>
            <a:ext cx="6656832" cy="457200"/>
          </a:xfrm>
          <a:prstGeom prst="rect">
            <a:avLst/>
          </a:prstGeom>
          <a:solidFill>
            <a:srgbClr val="F4F6F8"/>
          </a:solidFill>
          <a:ln w="9525">
            <a:solidFill>
              <a:srgbClr val="D6DCE2"/>
            </a:solidFill>
            <a:prstDash val="solid"/>
          </a:ln>
        </p:spPr>
      </p:sp>
      <p:sp>
        <p:nvSpPr>
          <p:cNvPr id="56" name="Shape 56"/>
          <p:cNvSpPr/>
          <p:nvPr/>
        </p:nvSpPr>
        <p:spPr>
          <a:xfrm>
            <a:off x="5166360" y="5257800"/>
            <a:ext cx="182880" cy="182880"/>
          </a:xfrm>
          <a:prstGeom prst="ellipse">
            <a:avLst/>
          </a:prstGeom>
          <a:solidFill>
            <a:srgbClr val="2E6E7E"/>
          </a:solidFill>
          <a:ln/>
        </p:spPr>
      </p:sp>
      <p:sp>
        <p:nvSpPr>
          <p:cNvPr id="57" name="Text 57"/>
          <p:cNvSpPr txBox="1"/>
          <p:nvPr/>
        </p:nvSpPr>
        <p:spPr>
          <a:xfrm>
            <a:off x="5166360" y="5257800"/>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a:ea typeface="Calibri"/>
                <a:cs typeface="Calibri"/>
              </a:rPr>
              <a:t>✓</a:t>
            </a:r>
          </a:p>
        </p:txBody>
      </p:sp>
      <p:sp>
        <p:nvSpPr>
          <p:cNvPr id="58" name="Text 58"/>
          <p:cNvSpPr txBox="1"/>
          <p:nvPr/>
        </p:nvSpPr>
        <p:spPr>
          <a:xfrm>
            <a:off x="5486400" y="5120640"/>
            <a:ext cx="2240280" cy="457200"/>
          </a:xfrm>
          <a:prstGeom prst="rect">
            <a:avLst/>
          </a:prstGeom>
          <a:noFill/>
          <a:ln/>
        </p:spPr>
        <p:txBody>
          <a:bodyPr wrap="square" rtlCol="0" anchor="ctr"/>
          <a:lstStyle/>
          <a:p>
            <a:pPr algn="l" indent="0" marL="0">
              <a:buNone/>
            </a:pPr>
            <a:r>
              <a:rPr lang="en-US" sz="1050" b="1" dirty="0">
                <a:solidFill>
                  <a:srgbClr val="23262B"/>
                </a:solidFill>
                <a:latin typeface="Calibri"/>
                <a:ea typeface="Calibri"/>
                <a:cs typeface="Calibri"/>
              </a:rPr>
              <a:t>Original vs quantized — loop</a:t>
            </a:r>
          </a:p>
        </p:txBody>
      </p:sp>
      <p:sp>
        <p:nvSpPr>
          <p:cNvPr id="59" name="Text 59"/>
          <p:cNvSpPr txBox="1"/>
          <p:nvPr/>
        </p:nvSpPr>
        <p:spPr>
          <a:xfrm>
            <a:off x="7726680" y="5120640"/>
            <a:ext cx="2606040" cy="457200"/>
          </a:xfrm>
          <a:prstGeom prst="rect">
            <a:avLst/>
          </a:prstGeom>
          <a:noFill/>
          <a:ln/>
        </p:spPr>
        <p:txBody>
          <a:bodyPr wrap="square" lIns="0" tIns="0" rIns="0" bIns="0" rtlCol="0" anchor="ctr"/>
          <a:lstStyle/>
          <a:p>
            <a:pPr algn="l" indent="0" marL="0">
              <a:buNone/>
            </a:pPr>
            <a:r>
              <a:rPr lang="en-US" sz="950" dirty="0">
                <a:solidFill>
                  <a:srgbClr val="6B7480"/>
                </a:solidFill>
                <a:latin typeface="Courier New"/>
                <a:ea typeface="Courier New"/>
                <a:cs typeface="Courier New"/>
              </a:rPr>
              <a:t>simulator</a:t>
            </a:r>
          </a:p>
        </p:txBody>
      </p:sp>
      <p:sp>
        <p:nvSpPr>
          <p:cNvPr id="60" name="Shape 60"/>
          <p:cNvSpPr/>
          <p:nvPr/>
        </p:nvSpPr>
        <p:spPr>
          <a:xfrm>
            <a:off x="10387584" y="5193792"/>
            <a:ext cx="1188720" cy="310896"/>
          </a:xfrm>
          <a:prstGeom prst="rect">
            <a:avLst/>
          </a:prstGeom>
          <a:solidFill>
            <a:srgbClr val="1F2A3C"/>
          </a:solidFill>
          <a:ln/>
        </p:spPr>
      </p:sp>
      <p:sp>
        <p:nvSpPr>
          <p:cNvPr id="61" name="Text 61"/>
          <p:cNvSpPr txBox="1"/>
          <p:nvPr/>
        </p:nvSpPr>
        <p:spPr>
          <a:xfrm>
            <a:off x="10387584" y="5193792"/>
            <a:ext cx="1188720" cy="310896"/>
          </a:xfrm>
          <a:prstGeom prst="rect">
            <a:avLst/>
          </a:prstGeom>
          <a:noFill/>
          <a:ln/>
        </p:spPr>
        <p:txBody>
          <a:bodyPr wrap="square" lIns="0" tIns="0" rIns="0" bIns="0" rtlCol="0" anchor="ctr"/>
          <a:lstStyle/>
          <a:p>
            <a:pPr algn="ctr" indent="0" marL="0">
              <a:buNone/>
            </a:pPr>
            <a:r>
              <a:rPr lang="en-US" sz="1050" b="1" dirty="0">
                <a:solidFill>
                  <a:srgbClr val="9FE3C8"/>
                </a:solidFill>
                <a:latin typeface="Courier New"/>
                <a:ea typeface="Courier New"/>
                <a:cs typeface="Courier New"/>
              </a:rPr>
              <a:t>[15] = [15]</a:t>
            </a:r>
          </a:p>
        </p:txBody>
      </p:sp>
      <p:sp>
        <p:nvSpPr>
          <p:cNvPr id="62" name="Text 62"/>
          <p:cNvSpPr txBox="1"/>
          <p:nvPr/>
        </p:nvSpPr>
        <p:spPr>
          <a:xfrm>
            <a:off x="502920" y="5715000"/>
            <a:ext cx="11183112" cy="457200"/>
          </a:xfrm>
          <a:prstGeom prst="rect">
            <a:avLst/>
          </a:prstGeom>
          <a:noFill/>
          <a:ln/>
        </p:spPr>
        <p:txBody>
          <a:bodyPr wrap="square" rtlCol="0" anchor="t"/>
          <a:lstStyle/>
          <a:p>
            <a:pPr algn="ctr" indent="0" marL="0">
              <a:buNone/>
            </a:pPr>
            <a:r>
              <a:rPr lang="en-US" sz="1050" i="1" dirty="0">
                <a:solidFill>
                  <a:srgbClr val="6B7480"/>
                </a:solidFill>
                <a:latin typeface="Calibri"/>
                <a:ea typeface="Calibri"/>
                <a:cs typeface="Calibri"/>
              </a:rPr>
              <a:t xml:space="preserve">Simulator rows compare execution of the original and the quantized SSA IR.  </a:t>
            </a:r>
            <a:r>
              <a:rPr lang="en-US" sz="1050" b="1" i="1" dirty="0">
                <a:solidFill>
                  <a:srgbClr val="2E6E7E"/>
                </a:solidFill>
                <a:latin typeface="Calibri"/>
                <a:ea typeface="Calibri"/>
                <a:cs typeface="Calibri"/>
              </a:rPr>
              <a:t>In every tested case, unsafe or unproven values remain unquantized.</a:t>
            </a:r>
          </a:p>
        </p:txBody>
      </p:sp>
      <p:sp>
        <p:nvSpPr>
          <p:cNvPr id="63" name="Text 63"/>
          <p:cNvSpPr txBox="1"/>
          <p:nvPr/>
        </p:nvSpPr>
        <p:spPr>
          <a:xfrm>
            <a:off x="502920" y="6492240"/>
            <a:ext cx="9601200" cy="237744"/>
          </a:xfrm>
          <a:prstGeom prst="rect">
            <a:avLst/>
          </a:prstGeom>
          <a:noFill/>
          <a:ln/>
        </p:spPr>
        <p:txBody>
          <a:bodyPr wrap="square" rtlCol="0" anchor="ctr"/>
          <a:lstStyle/>
          <a:p>
            <a:pPr algn="l" indent="0" marL="0">
              <a:buNone/>
            </a:pPr>
            <a:r>
              <a:rPr lang="en-US" sz="800" dirty="0">
                <a:solidFill>
                  <a:srgbClr val="9AA3AF"/>
                </a:solidFill>
                <a:latin typeface="Calibri"/>
                <a:ea typeface="Calibri"/>
                <a:cs typeface="Calibri"/>
              </a:rPr>
              <a:t xml:space="preserve">BCSE307L — Compiler Design   |   Range-Aware Edge AI Quantization Compiler</a:t>
            </a:r>
          </a:p>
        </p:txBody>
      </p:sp>
      <p:sp>
        <p:nvSpPr>
          <p:cNvPr id="64" name="Text 64"/>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a:ea typeface="Calibri"/>
                <a:cs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 name="Text 3"/>
          <p:cNvSpPr txBox="1"/>
          <p:nvPr/>
        </p:nvSpPr>
        <p:spPr>
          <a:xfrm>
            <a:off x="502920" y="365760"/>
            <a:ext cx="10058400" cy="274320"/>
          </a:xfrm>
          <a:prstGeom prst="rect">
            <a:avLst/>
          </a:prstGeom>
          <a:noFill/>
          <a:ln/>
        </p:spPr>
        <p:txBody>
          <a:bodyPr wrap="square" rtlCol="0" anchor="ctr"/>
          <a:lstStyle/>
          <a:p>
            <a:pPr algn="l" indent="0" marL="0">
              <a:buNone/>
            </a:pPr>
            <a:r>
              <a:rPr lang="en-US" sz="1100" b="1" spc="200" dirty="0">
                <a:solidFill>
                  <a:srgbClr val="2E6E7E"/>
                </a:solidFill>
                <a:latin typeface="Calibri"/>
                <a:ea typeface="Calibri"/>
                <a:cs typeface="Calibri"/>
              </a:rPr>
              <a:t>REVIEW 2 · COMPILER OUTPUT</a:t>
            </a:r>
          </a:p>
        </p:txBody>
      </p:sp>
      <p:sp>
        <p:nvSpPr>
          <p:cNvPr id="4" name="Text 4"/>
          <p:cNvSpPr txBox="1"/>
          <p:nvPr/>
        </p:nvSpPr>
        <p:spPr>
          <a:xfrm>
            <a:off x="502920" y="621792"/>
            <a:ext cx="11155680" cy="594360"/>
          </a:xfrm>
          <a:prstGeom prst="rect">
            <a:avLst/>
          </a:prstGeom>
          <a:noFill/>
          <a:ln/>
        </p:spPr>
        <p:txBody>
          <a:bodyPr wrap="square" rtlCol="0" anchor="ctr"/>
          <a:lstStyle/>
          <a:p>
            <a:pPr algn="l" indent="0" marL="0">
              <a:buNone/>
            </a:pPr>
            <a:r>
              <a:rPr lang="en-US" sz="2900" b="1" dirty="0">
                <a:solidFill>
                  <a:srgbClr val="1F2A3C"/>
                </a:solidFill>
                <a:latin typeface="Cambria"/>
                <a:ea typeface="Cambria"/>
                <a:cs typeface="Cambria"/>
              </a:rPr>
              <a:t>Real Compiler Output — Accepted vs. Rejected</a:t>
            </a:r>
          </a:p>
        </p:txBody>
      </p:sp>
      <p:sp>
        <p:nvSpPr>
          <p:cNvPr id="5" name="Text 5"/>
          <p:cNvSpPr txBox="1"/>
          <p:nvPr/>
        </p:nvSpPr>
        <p:spPr>
          <a:xfrm>
            <a:off x="502920" y="1417320"/>
            <a:ext cx="5422392" cy="274320"/>
          </a:xfrm>
          <a:prstGeom prst="rect">
            <a:avLst/>
          </a:prstGeom>
          <a:noFill/>
          <a:ln/>
        </p:spPr>
        <p:txBody>
          <a:bodyPr wrap="square" lIns="0" tIns="0" rIns="0" bIns="0" rtlCol="0" anchor="ctr"/>
          <a:lstStyle/>
          <a:p>
            <a:pPr algn="l" indent="0" marL="0">
              <a:buNone/>
            </a:pPr>
            <a:r>
              <a:rPr lang="en-US" sz="1100" b="1" spc="100" dirty="0">
                <a:solidFill>
                  <a:srgbClr val="2E6E7E"/>
                </a:solidFill>
                <a:latin typeface="Calibri"/>
                <a:ea typeface="Calibri"/>
                <a:cs typeface="Calibri"/>
              </a:rPr>
              <a:t>SAFE ARITHMETIC — ANALYSIS</a:t>
            </a:r>
            <a:r>
              <a:rPr lang="en-US" sz="950" dirty="0">
                <a:solidFill>
                  <a:srgbClr val="6B7480"/>
                </a:solidFill>
                <a:latin typeface="Courier New"/>
                <a:ea typeface="Courier New"/>
                <a:cs typeface="Courier New"/>
              </a:rPr>
              <a:t xml:space="preserve">    examples/safe_arithmetic.qc</a:t>
            </a:r>
          </a:p>
        </p:txBody>
      </p:sp>
      <p:sp>
        <p:nvSpPr>
          <p:cNvPr id="6" name="Shape 6"/>
          <p:cNvSpPr/>
          <p:nvPr/>
        </p:nvSpPr>
        <p:spPr>
          <a:xfrm>
            <a:off x="502920" y="1719072"/>
            <a:ext cx="5422392" cy="1600200"/>
          </a:xfrm>
          <a:prstGeom prst="rect">
            <a:avLst/>
          </a:prstGeom>
          <a:solidFill>
            <a:srgbClr val="1F2A3C"/>
          </a:solidFill>
          <a:ln w="19050">
            <a:solidFill>
              <a:srgbClr val="2E6E7E"/>
            </a:solidFill>
            <a:prstDash val="solid"/>
          </a:ln>
        </p:spPr>
      </p:sp>
      <p:sp>
        <p:nvSpPr>
          <p:cNvPr id="7" name="Text 7"/>
          <p:cNvSpPr txBox="1"/>
          <p:nvPr/>
        </p:nvSpPr>
        <p:spPr>
          <a:xfrm>
            <a:off x="704088" y="1828800"/>
            <a:ext cx="5020056" cy="1417320"/>
          </a:xfrm>
          <a:prstGeom prst="rect">
            <a:avLst/>
          </a:prstGeom>
          <a:noFill/>
          <a:ln/>
        </p:spPr>
        <p:txBody>
          <a:bodyPr wrap="square" lIns="0" tIns="0" rIns="0" bIns="0" rtlCol="0" anchor="t"/>
          <a:lstStyle/>
          <a:p>
            <a:pPr algn="l" indent="0" marL="0">
              <a:lnSpc>
                <a:spcPct val="125000"/>
              </a:lnSpc>
              <a:buNone/>
            </a:pPr>
            <a:r>
              <a:rPr lang="en-US" sz="1050" dirty="0">
                <a:solidFill>
                  <a:srgbClr val="9AA3AF"/>
                </a:solidFill>
                <a:latin typeface="Courier New"/>
                <a:ea typeface="Courier New"/>
                <a:cs typeface="Courier New"/>
              </a:rPr>
              <a:t>Source:</a:t>
            </a:r>
          </a:p>
          <a:p>
            <a:pPr algn="l" indent="0" marL="0">
              <a:lnSpc>
                <a:spcPct val="125000"/>
              </a:lnSpc>
              <a:buNone/>
            </a:pPr>
            <a:r>
              <a:rPr lang="en-US" sz="1050" dirty="0">
                <a:solidFill>
                  <a:srgbClr val="FFFFFF"/>
                </a:solidFill>
                <a:latin typeface="Courier New"/>
                <a:ea typeface="Courier New"/>
                <a:cs typeface="Courier New"/>
              </a:rPr>
              <a:t>int x = 10; int y = 20; int z = x + y; print z;</a:t>
            </a:r>
          </a:p>
          <a:p>
            <a:pPr algn="l" indent="0" marL="0">
              <a:lnSpc>
                <a:spcPct val="125000"/>
              </a:lnSpc>
              <a:buNone/>
            </a:pPr>
            <a:r>
              <a:rPr lang="en-US" sz="1050" dirty="0">
                <a:solidFill>
                  <a:srgbClr val="9AA3AF"/>
                </a:solidFill>
                <a:latin typeface="Courier New"/>
                <a:ea typeface="Courier New"/>
                <a:cs typeface="Courier New"/>
              </a:rPr>
              <a:t>Analysis result:</a:t>
            </a:r>
          </a:p>
          <a:p>
            <a:pPr algn="l" indent="0" marL="0">
              <a:lnSpc>
                <a:spcPct val="125000"/>
              </a:lnSpc>
              <a:buNone/>
            </a:pPr>
            <a:r>
              <a:rPr lang="en-US" sz="1050" dirty="0">
                <a:solidFill>
                  <a:srgbClr val="9FE3C8"/>
                </a:solidFill>
                <a:latin typeface="Courier New"/>
                <a:ea typeface="Courier New"/>
                <a:cs typeface="Courier New"/>
              </a:rPr>
              <a:t>x.1 -&gt; [10,10] -&gt; SAFE</a:t>
            </a:r>
          </a:p>
          <a:p>
            <a:pPr algn="l" indent="0" marL="0">
              <a:lnSpc>
                <a:spcPct val="125000"/>
              </a:lnSpc>
              <a:buNone/>
            </a:pPr>
            <a:r>
              <a:rPr lang="en-US" sz="1050" dirty="0">
                <a:solidFill>
                  <a:srgbClr val="9FE3C8"/>
                </a:solidFill>
                <a:latin typeface="Courier New"/>
                <a:ea typeface="Courier New"/>
                <a:cs typeface="Courier New"/>
              </a:rPr>
              <a:t>y.1 -&gt; [20,20] -&gt; SAFE</a:t>
            </a:r>
          </a:p>
          <a:p>
            <a:pPr algn="l" indent="0" marL="0">
              <a:lnSpc>
                <a:spcPct val="125000"/>
              </a:lnSpc>
              <a:buNone/>
            </a:pPr>
            <a:r>
              <a:rPr lang="en-US" sz="1050" b="1" dirty="0">
                <a:solidFill>
                  <a:srgbClr val="9FE3C8"/>
                </a:solidFill>
                <a:latin typeface="Courier New"/>
                <a:ea typeface="Courier New"/>
                <a:cs typeface="Courier New"/>
              </a:rPr>
              <a:t>z.1 -&gt; [30,30] -&gt; SAFE</a:t>
            </a:r>
          </a:p>
          <a:p>
            <a:pPr algn="l" indent="0" marL="0">
              <a:lnSpc>
                <a:spcPct val="125000"/>
              </a:lnSpc>
              <a:buNone/>
            </a:pPr>
            <a:r>
              <a:rPr lang="en-US" sz="1050" dirty="0">
                <a:solidFill>
                  <a:srgbClr val="C9D4DE"/>
                </a:solidFill>
                <a:latin typeface="Courier New"/>
                <a:ea typeface="Courier New"/>
                <a:cs typeface="Courier New"/>
              </a:rPr>
              <a:t>3 analysed, 3 safe, 3 rewritten, 0 rejected.</a:t>
            </a:r>
          </a:p>
        </p:txBody>
      </p:sp>
      <p:sp>
        <p:nvSpPr>
          <p:cNvPr id="8" name="Text 8"/>
          <p:cNvSpPr txBox="1"/>
          <p:nvPr/>
        </p:nvSpPr>
        <p:spPr>
          <a:xfrm>
            <a:off x="502920" y="3520440"/>
            <a:ext cx="5422392" cy="274320"/>
          </a:xfrm>
          <a:prstGeom prst="rect">
            <a:avLst/>
          </a:prstGeom>
          <a:noFill/>
          <a:ln/>
        </p:spPr>
        <p:txBody>
          <a:bodyPr wrap="square" lIns="0" tIns="0" rIns="0" bIns="0" rtlCol="0" anchor="ctr"/>
          <a:lstStyle/>
          <a:p>
            <a:pPr algn="l" indent="0" marL="0">
              <a:buNone/>
            </a:pPr>
            <a:r>
              <a:rPr lang="en-US" sz="1100" b="1" spc="100" dirty="0">
                <a:solidFill>
                  <a:srgbClr val="2E6E7E"/>
                </a:solidFill>
                <a:latin typeface="Calibri"/>
                <a:ea typeface="Calibri"/>
                <a:cs typeface="Calibri"/>
              </a:rPr>
              <a:t>SAFE ARITHMETIC — QUANTIZED IR</a:t>
            </a:r>
            <a:r>
              <a:rPr lang="en-US" sz="950" dirty="0">
                <a:solidFill>
                  <a:srgbClr val="6B7480"/>
                </a:solidFill>
                <a:latin typeface="Courier New"/>
                <a:ea typeface="Courier New"/>
                <a:cs typeface="Courier New"/>
              </a:rPr>
              <a:t xml:space="preserve">    selective quantization output</a:t>
            </a:r>
          </a:p>
        </p:txBody>
      </p:sp>
      <p:sp>
        <p:nvSpPr>
          <p:cNvPr id="9" name="Shape 9"/>
          <p:cNvSpPr/>
          <p:nvPr/>
        </p:nvSpPr>
        <p:spPr>
          <a:xfrm>
            <a:off x="502920" y="3822192"/>
            <a:ext cx="5422392" cy="1600200"/>
          </a:xfrm>
          <a:prstGeom prst="rect">
            <a:avLst/>
          </a:prstGeom>
          <a:solidFill>
            <a:srgbClr val="1F2A3C"/>
          </a:solidFill>
          <a:ln w="19050">
            <a:solidFill>
              <a:srgbClr val="2E6E7E"/>
            </a:solidFill>
            <a:prstDash val="solid"/>
          </a:ln>
        </p:spPr>
      </p:sp>
      <p:sp>
        <p:nvSpPr>
          <p:cNvPr id="10" name="Text 10"/>
          <p:cNvSpPr txBox="1"/>
          <p:nvPr/>
        </p:nvSpPr>
        <p:spPr>
          <a:xfrm>
            <a:off x="704088" y="3931920"/>
            <a:ext cx="5020056" cy="1417320"/>
          </a:xfrm>
          <a:prstGeom prst="rect">
            <a:avLst/>
          </a:prstGeom>
          <a:noFill/>
          <a:ln/>
        </p:spPr>
        <p:txBody>
          <a:bodyPr wrap="square" lIns="0" tIns="0" rIns="0" bIns="0" rtlCol="0" anchor="t"/>
          <a:lstStyle/>
          <a:p>
            <a:pPr algn="l" indent="0" marL="0">
              <a:lnSpc>
                <a:spcPct val="125000"/>
              </a:lnSpc>
              <a:buNone/>
            </a:pPr>
            <a:r>
              <a:rPr lang="en-US" sz="1050" dirty="0">
                <a:solidFill>
                  <a:srgbClr val="9AA3AF"/>
                </a:solidFill>
                <a:latin typeface="Courier New"/>
                <a:ea typeface="Courier New"/>
                <a:cs typeface="Courier New"/>
              </a:rPr>
              <a:t>Quantized IR:</a:t>
            </a:r>
          </a:p>
          <a:p>
            <a:pPr algn="l" indent="0" marL="0">
              <a:lnSpc>
                <a:spcPct val="125000"/>
              </a:lnSpc>
              <a:buNone/>
            </a:pPr>
            <a:r>
              <a:rPr lang="en-US" sz="1050" dirty="0">
                <a:solidFill>
                  <a:srgbClr val="9FE3C8"/>
                </a:solidFill>
                <a:latin typeface="Courier New"/>
                <a:ea typeface="Courier New"/>
                <a:cs typeface="Courier New"/>
              </a:rPr>
              <a:t>x.1 : int8 = 10</a:t>
            </a:r>
          </a:p>
          <a:p>
            <a:pPr algn="l" indent="0" marL="0">
              <a:lnSpc>
                <a:spcPct val="125000"/>
              </a:lnSpc>
              <a:buNone/>
            </a:pPr>
            <a:r>
              <a:rPr lang="en-US" sz="1050" dirty="0">
                <a:solidFill>
                  <a:srgbClr val="9FE3C8"/>
                </a:solidFill>
                <a:latin typeface="Courier New"/>
                <a:ea typeface="Courier New"/>
                <a:cs typeface="Courier New"/>
              </a:rPr>
              <a:t>y.1 : int8 = 20</a:t>
            </a:r>
          </a:p>
          <a:p>
            <a:pPr algn="l" indent="0" marL="0">
              <a:lnSpc>
                <a:spcPct val="125000"/>
              </a:lnSpc>
              <a:buNone/>
            </a:pPr>
            <a:r>
              <a:rPr lang="en-US" sz="1050" b="1" dirty="0">
                <a:solidFill>
                  <a:srgbClr val="9FE3C8"/>
                </a:solidFill>
                <a:latin typeface="Courier New"/>
                <a:ea typeface="Courier New"/>
                <a:cs typeface="Courier New"/>
              </a:rPr>
              <a:t>z.1 : int8 = x.1 + y.1</a:t>
            </a:r>
          </a:p>
        </p:txBody>
      </p:sp>
      <p:sp>
        <p:nvSpPr>
          <p:cNvPr id="11" name="Text 11"/>
          <p:cNvSpPr txBox="1"/>
          <p:nvPr/>
        </p:nvSpPr>
        <p:spPr>
          <a:xfrm>
            <a:off x="6263640" y="1417320"/>
            <a:ext cx="5422392" cy="274320"/>
          </a:xfrm>
          <a:prstGeom prst="rect">
            <a:avLst/>
          </a:prstGeom>
          <a:noFill/>
          <a:ln/>
        </p:spPr>
        <p:txBody>
          <a:bodyPr wrap="square" lIns="0" tIns="0" rIns="0" bIns="0" rtlCol="0" anchor="ctr"/>
          <a:lstStyle/>
          <a:p>
            <a:pPr algn="l" indent="0" marL="0">
              <a:buNone/>
            </a:pPr>
            <a:r>
              <a:rPr lang="en-US" sz="1100" b="1" spc="100" dirty="0">
                <a:solidFill>
                  <a:srgbClr val="9C4A3E"/>
                </a:solidFill>
                <a:latin typeface="Calibri"/>
                <a:ea typeface="Calibri"/>
                <a:cs typeface="Calibri"/>
              </a:rPr>
              <a:t>OVERFLOW REJECTION</a:t>
            </a:r>
            <a:r>
              <a:rPr lang="en-US" sz="950" dirty="0">
                <a:solidFill>
                  <a:srgbClr val="6B7480"/>
                </a:solidFill>
                <a:latin typeface="Courier New"/>
                <a:ea typeface="Courier New"/>
                <a:cs typeface="Courier New"/>
              </a:rPr>
              <a:t xml:space="preserve">    examples/overflow_rejection.qc</a:t>
            </a:r>
          </a:p>
        </p:txBody>
      </p:sp>
      <p:sp>
        <p:nvSpPr>
          <p:cNvPr id="12" name="Shape 12"/>
          <p:cNvSpPr/>
          <p:nvPr/>
        </p:nvSpPr>
        <p:spPr>
          <a:xfrm>
            <a:off x="6263640" y="1719072"/>
            <a:ext cx="5422392" cy="1600200"/>
          </a:xfrm>
          <a:prstGeom prst="rect">
            <a:avLst/>
          </a:prstGeom>
          <a:solidFill>
            <a:srgbClr val="1F2A3C"/>
          </a:solidFill>
          <a:ln w="19050">
            <a:solidFill>
              <a:srgbClr val="9C4A3E"/>
            </a:solidFill>
            <a:prstDash val="solid"/>
          </a:ln>
        </p:spPr>
      </p:sp>
      <p:sp>
        <p:nvSpPr>
          <p:cNvPr id="13" name="Text 13"/>
          <p:cNvSpPr txBox="1"/>
          <p:nvPr/>
        </p:nvSpPr>
        <p:spPr>
          <a:xfrm>
            <a:off x="6464808" y="1828800"/>
            <a:ext cx="5020056" cy="1417320"/>
          </a:xfrm>
          <a:prstGeom prst="rect">
            <a:avLst/>
          </a:prstGeom>
          <a:noFill/>
          <a:ln/>
        </p:spPr>
        <p:txBody>
          <a:bodyPr wrap="square" lIns="0" tIns="0" rIns="0" bIns="0" rtlCol="0" anchor="t"/>
          <a:lstStyle/>
          <a:p>
            <a:pPr algn="l" indent="0" marL="0">
              <a:lnSpc>
                <a:spcPct val="125000"/>
              </a:lnSpc>
              <a:buNone/>
            </a:pPr>
            <a:r>
              <a:rPr lang="en-US" sz="1050" dirty="0">
                <a:solidFill>
                  <a:srgbClr val="9AA3AF"/>
                </a:solidFill>
                <a:latin typeface="Courier New"/>
                <a:ea typeface="Courier New"/>
                <a:cs typeface="Courier New"/>
              </a:rPr>
              <a:t>Source:</a:t>
            </a:r>
          </a:p>
          <a:p>
            <a:pPr algn="l" indent="0" marL="0">
              <a:lnSpc>
                <a:spcPct val="125000"/>
              </a:lnSpc>
              <a:buNone/>
            </a:pPr>
            <a:r>
              <a:rPr lang="en-US" sz="1050" dirty="0">
                <a:solidFill>
                  <a:srgbClr val="FFFFFF"/>
                </a:solidFill>
                <a:latin typeface="Courier New"/>
                <a:ea typeface="Courier New"/>
                <a:cs typeface="Courier New"/>
              </a:rPr>
              <a:t>int x = 100; int y = 30; int z = x + y; print z;</a:t>
            </a:r>
          </a:p>
          <a:p>
            <a:pPr algn="l" indent="0" marL="0">
              <a:lnSpc>
                <a:spcPct val="125000"/>
              </a:lnSpc>
              <a:buNone/>
            </a:pPr>
            <a:r>
              <a:rPr lang="en-US" sz="1050" dirty="0">
                <a:solidFill>
                  <a:srgbClr val="9AA3AF"/>
                </a:solidFill>
                <a:latin typeface="Courier New"/>
                <a:ea typeface="Courier New"/>
                <a:cs typeface="Courier New"/>
              </a:rPr>
              <a:t>Analysis result:</a:t>
            </a:r>
          </a:p>
          <a:p>
            <a:pPr algn="l" indent="0" marL="0">
              <a:lnSpc>
                <a:spcPct val="125000"/>
              </a:lnSpc>
              <a:buNone/>
            </a:pPr>
            <a:r>
              <a:rPr lang="en-US" sz="1050" dirty="0">
                <a:solidFill>
                  <a:srgbClr val="C9D4DE"/>
                </a:solidFill>
                <a:latin typeface="Courier New"/>
                <a:ea typeface="Courier New"/>
                <a:cs typeface="Courier New"/>
              </a:rPr>
              <a:t>x.1 -&gt; [100,100] -&gt; SAFE</a:t>
            </a:r>
          </a:p>
          <a:p>
            <a:pPr algn="l" indent="0" marL="0">
              <a:lnSpc>
                <a:spcPct val="125000"/>
              </a:lnSpc>
              <a:buNone/>
            </a:pPr>
            <a:r>
              <a:rPr lang="en-US" sz="1050" dirty="0">
                <a:solidFill>
                  <a:srgbClr val="C9D4DE"/>
                </a:solidFill>
                <a:latin typeface="Courier New"/>
                <a:ea typeface="Courier New"/>
                <a:cs typeface="Courier New"/>
              </a:rPr>
              <a:t>y.1 -&gt; [30,30] -&gt; SAFE</a:t>
            </a:r>
          </a:p>
          <a:p>
            <a:pPr algn="l" indent="0" marL="0">
              <a:lnSpc>
                <a:spcPct val="125000"/>
              </a:lnSpc>
              <a:buNone/>
            </a:pPr>
            <a:r>
              <a:rPr lang="en-US" sz="1050" b="1" dirty="0">
                <a:solidFill>
                  <a:srgbClr val="F0AFA4"/>
                </a:solidFill>
                <a:latin typeface="Courier New"/>
                <a:ea typeface="Courier New"/>
                <a:cs typeface="Courier New"/>
              </a:rPr>
              <a:t>z.1 -&gt; [130,130] -&gt; REJECTED</a:t>
            </a:r>
          </a:p>
          <a:p>
            <a:pPr algn="l" indent="0" marL="0">
              <a:lnSpc>
                <a:spcPct val="125000"/>
              </a:lnSpc>
              <a:buNone/>
            </a:pPr>
            <a:r>
              <a:rPr lang="en-US" sz="1050" dirty="0">
                <a:solidFill>
                  <a:srgbClr val="F0AFA4"/>
                </a:solidFill>
                <a:latin typeface="Courier New"/>
                <a:ea typeface="Courier New"/>
                <a:cs typeface="Courier New"/>
              </a:rPr>
              <a:t xml:space="preserve">   Reason: possible overflow because 130 &gt; 127</a:t>
            </a:r>
          </a:p>
          <a:p>
            <a:pPr algn="l" indent="0" marL="0">
              <a:lnSpc>
                <a:spcPct val="125000"/>
              </a:lnSpc>
              <a:buNone/>
            </a:pPr>
            <a:r>
              <a:rPr lang="en-US" sz="1050" dirty="0">
                <a:solidFill>
                  <a:srgbClr val="C9D4DE"/>
                </a:solidFill>
                <a:latin typeface="Courier New"/>
                <a:ea typeface="Courier New"/>
                <a:cs typeface="Courier New"/>
              </a:rPr>
              <a:t>3 analysed, 2 safe, 2 rewritten, 1 rejected.</a:t>
            </a:r>
          </a:p>
        </p:txBody>
      </p:sp>
      <p:sp>
        <p:nvSpPr>
          <p:cNvPr id="14" name="Text 14"/>
          <p:cNvSpPr txBox="1"/>
          <p:nvPr/>
        </p:nvSpPr>
        <p:spPr>
          <a:xfrm>
            <a:off x="6263640" y="3520440"/>
            <a:ext cx="5422392" cy="274320"/>
          </a:xfrm>
          <a:prstGeom prst="rect">
            <a:avLst/>
          </a:prstGeom>
          <a:noFill/>
          <a:ln/>
        </p:spPr>
        <p:txBody>
          <a:bodyPr wrap="square" lIns="0" tIns="0" rIns="0" bIns="0" rtlCol="0" anchor="ctr"/>
          <a:lstStyle/>
          <a:p>
            <a:pPr algn="l" indent="0" marL="0">
              <a:buNone/>
            </a:pPr>
            <a:r>
              <a:rPr lang="en-US" sz="1100" b="1" spc="100" dirty="0">
                <a:solidFill>
                  <a:srgbClr val="9C4A3E"/>
                </a:solidFill>
                <a:latin typeface="Calibri"/>
                <a:ea typeface="Calibri"/>
                <a:cs typeface="Calibri"/>
              </a:rPr>
              <a:t>NON-INTEGRAL REJECTION</a:t>
            </a:r>
            <a:r>
              <a:rPr lang="en-US" sz="950" dirty="0">
                <a:solidFill>
                  <a:srgbClr val="6B7480"/>
                </a:solidFill>
                <a:latin typeface="Courier New"/>
                <a:ea typeface="Courier New"/>
                <a:cs typeface="Courier New"/>
              </a:rPr>
              <a:t xml:space="preserve">    examples/non_integral_rejection.qc</a:t>
            </a:r>
          </a:p>
        </p:txBody>
      </p:sp>
      <p:sp>
        <p:nvSpPr>
          <p:cNvPr id="15" name="Shape 15"/>
          <p:cNvSpPr/>
          <p:nvPr/>
        </p:nvSpPr>
        <p:spPr>
          <a:xfrm>
            <a:off x="6263640" y="3822192"/>
            <a:ext cx="5422392" cy="1600200"/>
          </a:xfrm>
          <a:prstGeom prst="rect">
            <a:avLst/>
          </a:prstGeom>
          <a:solidFill>
            <a:srgbClr val="1F2A3C"/>
          </a:solidFill>
          <a:ln w="19050">
            <a:solidFill>
              <a:srgbClr val="9C4A3E"/>
            </a:solidFill>
            <a:prstDash val="solid"/>
          </a:ln>
        </p:spPr>
      </p:sp>
      <p:sp>
        <p:nvSpPr>
          <p:cNvPr id="16" name="Text 16"/>
          <p:cNvSpPr txBox="1"/>
          <p:nvPr/>
        </p:nvSpPr>
        <p:spPr>
          <a:xfrm>
            <a:off x="6464808" y="3931920"/>
            <a:ext cx="5020056" cy="1417320"/>
          </a:xfrm>
          <a:prstGeom prst="rect">
            <a:avLst/>
          </a:prstGeom>
          <a:noFill/>
          <a:ln/>
        </p:spPr>
        <p:txBody>
          <a:bodyPr wrap="square" lIns="0" tIns="0" rIns="0" bIns="0" rtlCol="0" anchor="t"/>
          <a:lstStyle/>
          <a:p>
            <a:pPr algn="l" indent="0" marL="0">
              <a:lnSpc>
                <a:spcPct val="125000"/>
              </a:lnSpc>
              <a:buNone/>
            </a:pPr>
            <a:r>
              <a:rPr lang="en-US" sz="1050" dirty="0">
                <a:solidFill>
                  <a:srgbClr val="9AA3AF"/>
                </a:solidFill>
                <a:latin typeface="Courier New"/>
                <a:ea typeface="Courier New"/>
                <a:cs typeface="Courier New"/>
              </a:rPr>
              <a:t>Source:</a:t>
            </a:r>
          </a:p>
          <a:p>
            <a:pPr algn="l" indent="0" marL="0">
              <a:lnSpc>
                <a:spcPct val="125000"/>
              </a:lnSpc>
              <a:buNone/>
            </a:pPr>
            <a:r>
              <a:rPr lang="en-US" sz="1050" dirty="0">
                <a:solidFill>
                  <a:srgbClr val="FFFFFF"/>
                </a:solidFill>
                <a:latin typeface="Courier New"/>
                <a:ea typeface="Courier New"/>
                <a:cs typeface="Courier New"/>
              </a:rPr>
              <a:t>float x = 10.0; float y = 3.5; float z = x + y; print z;</a:t>
            </a:r>
          </a:p>
          <a:p>
            <a:pPr algn="l" indent="0" marL="0">
              <a:lnSpc>
                <a:spcPct val="125000"/>
              </a:lnSpc>
              <a:buNone/>
            </a:pPr>
            <a:r>
              <a:rPr lang="en-US" sz="1050" dirty="0">
                <a:solidFill>
                  <a:srgbClr val="9AA3AF"/>
                </a:solidFill>
                <a:latin typeface="Courier New"/>
                <a:ea typeface="Courier New"/>
                <a:cs typeface="Courier New"/>
              </a:rPr>
              <a:t>Analysis result:</a:t>
            </a:r>
          </a:p>
          <a:p>
            <a:pPr algn="l" indent="0" marL="0">
              <a:lnSpc>
                <a:spcPct val="125000"/>
              </a:lnSpc>
              <a:buNone/>
            </a:pPr>
            <a:r>
              <a:rPr lang="en-US" sz="1050" dirty="0">
                <a:solidFill>
                  <a:srgbClr val="C9D4DE"/>
                </a:solidFill>
                <a:latin typeface="Courier New"/>
                <a:ea typeface="Courier New"/>
                <a:cs typeface="Courier New"/>
              </a:rPr>
              <a:t>x.1 -&gt; [10,10] -&gt; integral -&gt; SAFE</a:t>
            </a:r>
          </a:p>
          <a:p>
            <a:pPr algn="l" indent="0" marL="0">
              <a:lnSpc>
                <a:spcPct val="125000"/>
              </a:lnSpc>
              <a:buNone/>
            </a:pPr>
            <a:r>
              <a:rPr lang="en-US" sz="1050" b="1" dirty="0">
                <a:solidFill>
                  <a:srgbClr val="F0AFA4"/>
                </a:solidFill>
                <a:latin typeface="Courier New"/>
                <a:ea typeface="Courier New"/>
                <a:cs typeface="Courier New"/>
              </a:rPr>
              <a:t>y.1 -&gt; [3.5,3.5] -&gt; non-integral -&gt; REJECTED</a:t>
            </a:r>
          </a:p>
          <a:p>
            <a:pPr algn="l" indent="0" marL="0">
              <a:lnSpc>
                <a:spcPct val="125000"/>
              </a:lnSpc>
              <a:buNone/>
            </a:pPr>
            <a:r>
              <a:rPr lang="en-US" sz="1050" b="1" dirty="0">
                <a:solidFill>
                  <a:srgbClr val="F0AFA4"/>
                </a:solidFill>
                <a:latin typeface="Courier New"/>
                <a:ea typeface="Courier New"/>
                <a:cs typeface="Courier New"/>
              </a:rPr>
              <a:t>z.1 -&gt; [13.5,13.5] -&gt; non-integral -&gt; REJECTED</a:t>
            </a:r>
          </a:p>
          <a:p>
            <a:pPr algn="l" indent="0" marL="0">
              <a:lnSpc>
                <a:spcPct val="125000"/>
              </a:lnSpc>
              <a:buNone/>
            </a:pPr>
            <a:r>
              <a:rPr lang="en-US" sz="1050" dirty="0">
                <a:solidFill>
                  <a:srgbClr val="C9D4DE"/>
                </a:solidFill>
                <a:latin typeface="Courier New"/>
                <a:ea typeface="Courier New"/>
                <a:cs typeface="Courier New"/>
              </a:rPr>
              <a:t>3 analysed, 1 safe, 1 rewritten, 2 rejected.</a:t>
            </a:r>
          </a:p>
        </p:txBody>
      </p:sp>
      <p:sp>
        <p:nvSpPr>
          <p:cNvPr id="17" name="Text 17"/>
          <p:cNvSpPr txBox="1"/>
          <p:nvPr/>
        </p:nvSpPr>
        <p:spPr>
          <a:xfrm>
            <a:off x="502920" y="5623560"/>
            <a:ext cx="11183112" cy="457200"/>
          </a:xfrm>
          <a:prstGeom prst="rect">
            <a:avLst/>
          </a:prstGeom>
          <a:noFill/>
          <a:ln/>
        </p:spPr>
        <p:txBody>
          <a:bodyPr wrap="square" rtlCol="0" anchor="t"/>
          <a:lstStyle/>
          <a:p>
            <a:pPr algn="ctr" indent="0" marL="0">
              <a:buNone/>
            </a:pPr>
            <a:r>
              <a:rPr lang="en-US" sz="1050" i="1" dirty="0">
                <a:solidFill>
                  <a:srgbClr val="6B7480"/>
                </a:solidFill>
                <a:latin typeface="Calibri"/>
                <a:ea typeface="Calibri"/>
                <a:cs typeface="Calibri"/>
              </a:rPr>
              <a:t xml:space="preserve">Outputs reproduced from the Review 2 Report.  </a:t>
            </a:r>
            <a:r>
              <a:rPr lang="en-US" sz="1050" b="1" i="1" dirty="0">
                <a:solidFill>
                  <a:srgbClr val="2E6E7E"/>
                </a:solidFill>
                <a:latin typeface="Calibri"/>
                <a:ea typeface="Calibri"/>
                <a:cs typeface="Calibri"/>
              </a:rPr>
              <a:t>Rejection is per value: safe operands are still quantized even when a dependent result is rejected.</a:t>
            </a:r>
          </a:p>
        </p:txBody>
      </p:sp>
      <p:sp>
        <p:nvSpPr>
          <p:cNvPr id="18" name="Text 18"/>
          <p:cNvSpPr txBox="1"/>
          <p:nvPr/>
        </p:nvSpPr>
        <p:spPr>
          <a:xfrm>
            <a:off x="502920" y="6492240"/>
            <a:ext cx="9601200" cy="237744"/>
          </a:xfrm>
          <a:prstGeom prst="rect">
            <a:avLst/>
          </a:prstGeom>
          <a:noFill/>
          <a:ln/>
        </p:spPr>
        <p:txBody>
          <a:bodyPr wrap="square" rtlCol="0" anchor="ctr"/>
          <a:lstStyle/>
          <a:p>
            <a:pPr algn="l" indent="0" marL="0">
              <a:buNone/>
            </a:pPr>
            <a:r>
              <a:rPr lang="en-US" sz="800" dirty="0">
                <a:solidFill>
                  <a:srgbClr val="9AA3AF"/>
                </a:solidFill>
                <a:latin typeface="Calibri"/>
                <a:ea typeface="Calibri"/>
                <a:cs typeface="Calibri"/>
              </a:rPr>
              <a:t xml:space="preserve">BCSE307L — Compiler Design   |   Range-Aware Edge AI Quantization Compiler</a:t>
            </a:r>
          </a:p>
        </p:txBody>
      </p:sp>
      <p:sp>
        <p:nvSpPr>
          <p:cNvPr id="19" name="Text 19"/>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a:ea typeface="Calibri"/>
                <a:cs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 name="Text 3"/>
          <p:cNvSpPr txBox="1"/>
          <p:nvPr/>
        </p:nvSpPr>
        <p:spPr>
          <a:xfrm>
            <a:off x="502920" y="365760"/>
            <a:ext cx="10058400" cy="274320"/>
          </a:xfrm>
          <a:prstGeom prst="rect">
            <a:avLst/>
          </a:prstGeom>
          <a:noFill/>
          <a:ln/>
        </p:spPr>
        <p:txBody>
          <a:bodyPr wrap="square" rtlCol="0" anchor="ctr"/>
          <a:lstStyle/>
          <a:p>
            <a:pPr algn="l" indent="0" marL="0">
              <a:buNone/>
            </a:pPr>
            <a:r>
              <a:rPr lang="en-US" sz="1100" b="1" spc="200" dirty="0">
                <a:solidFill>
                  <a:srgbClr val="2E6E7E"/>
                </a:solidFill>
                <a:latin typeface="Calibri"/>
                <a:ea typeface="Calibri"/>
                <a:cs typeface="Calibri"/>
              </a:rPr>
              <a:t>REVIEW 2 · CONTROL FLOW</a:t>
            </a:r>
          </a:p>
        </p:txBody>
      </p:sp>
      <p:sp>
        <p:nvSpPr>
          <p:cNvPr id="4" name="Text 4"/>
          <p:cNvSpPr txBox="1"/>
          <p:nvPr/>
        </p:nvSpPr>
        <p:spPr>
          <a:xfrm>
            <a:off x="502920" y="621792"/>
            <a:ext cx="11155680" cy="594360"/>
          </a:xfrm>
          <a:prstGeom prst="rect">
            <a:avLst/>
          </a:prstGeom>
          <a:noFill/>
          <a:ln/>
        </p:spPr>
        <p:txBody>
          <a:bodyPr wrap="square" rtlCol="0" anchor="ctr"/>
          <a:lstStyle/>
          <a:p>
            <a:pPr algn="l" indent="0" marL="0">
              <a:buNone/>
            </a:pPr>
            <a:r>
              <a:rPr lang="en-US" sz="2900" b="1" dirty="0">
                <a:solidFill>
                  <a:srgbClr val="1F2A3C"/>
                </a:solidFill>
                <a:latin typeface="Cambria"/>
                <a:ea typeface="Cambria"/>
                <a:cs typeface="Cambria"/>
              </a:rPr>
              <a:t>Control-Flow Verification: φ-Nodes &amp; Loops</a:t>
            </a:r>
          </a:p>
        </p:txBody>
      </p:sp>
      <p:sp>
        <p:nvSpPr>
          <p:cNvPr id="5" name="Text 5"/>
          <p:cNvSpPr txBox="1"/>
          <p:nvPr/>
        </p:nvSpPr>
        <p:spPr>
          <a:xfrm>
            <a:off x="502920" y="1417320"/>
            <a:ext cx="5303520" cy="274320"/>
          </a:xfrm>
          <a:prstGeom prst="rect">
            <a:avLst/>
          </a:prstGeom>
          <a:noFill/>
          <a:ln/>
        </p:spPr>
        <p:txBody>
          <a:bodyPr wrap="square" lIns="0" tIns="0" rIns="0" bIns="0" rtlCol="0" anchor="ctr"/>
          <a:lstStyle/>
          <a:p>
            <a:pPr algn="l" indent="0" marL="0">
              <a:buNone/>
            </a:pPr>
            <a:r>
              <a:rPr lang="en-US" sz="1100" b="1" spc="100" dirty="0">
                <a:solidFill>
                  <a:srgbClr val="2E6E7E"/>
                </a:solidFill>
                <a:latin typeface="Calibri"/>
                <a:ea typeface="Calibri"/>
                <a:cs typeface="Calibri"/>
              </a:rPr>
              <a:t>IF / ELSE + SSA φ</a:t>
            </a:r>
            <a:r>
              <a:rPr lang="en-US" sz="950" dirty="0">
                <a:solidFill>
                  <a:srgbClr val="6B7480"/>
                </a:solidFill>
                <a:latin typeface="Courier New"/>
                <a:ea typeface="Courier New"/>
                <a:cs typeface="Courier New"/>
              </a:rPr>
              <a:t xml:space="preserve">    examples/if_else_phi.qc</a:t>
            </a:r>
          </a:p>
        </p:txBody>
      </p:sp>
      <p:sp>
        <p:nvSpPr>
          <p:cNvPr id="6" name="Shape 6"/>
          <p:cNvSpPr/>
          <p:nvPr/>
        </p:nvSpPr>
        <p:spPr>
          <a:xfrm>
            <a:off x="822960" y="1810512"/>
            <a:ext cx="1828800" cy="438912"/>
          </a:xfrm>
          <a:prstGeom prst="rect">
            <a:avLst/>
          </a:prstGeom>
          <a:solidFill>
            <a:srgbClr val="F4F6F8"/>
          </a:solidFill>
          <a:ln w="12700">
            <a:solidFill>
              <a:srgbClr val="1F2A3C"/>
            </a:solidFill>
            <a:prstDash val="solid"/>
          </a:ln>
        </p:spPr>
      </p:sp>
      <p:sp>
        <p:nvSpPr>
          <p:cNvPr id="7" name="Text 7"/>
          <p:cNvSpPr txBox="1"/>
          <p:nvPr/>
        </p:nvSpPr>
        <p:spPr>
          <a:xfrm>
            <a:off x="822960" y="1810512"/>
            <a:ext cx="1828800" cy="438912"/>
          </a:xfrm>
          <a:prstGeom prst="rect">
            <a:avLst/>
          </a:prstGeom>
          <a:noFill/>
          <a:ln/>
        </p:spPr>
        <p:txBody>
          <a:bodyPr wrap="square" lIns="0" tIns="0" rIns="0" bIns="0" rtlCol="0" anchor="ctr"/>
          <a:lstStyle/>
          <a:p>
            <a:pPr algn="ctr" indent="0" marL="0">
              <a:buNone/>
            </a:pPr>
            <a:r>
              <a:rPr lang="en-US" sz="1100" b="1" dirty="0">
                <a:solidFill>
                  <a:srgbClr val="1F2A3C"/>
                </a:solidFill>
                <a:latin typeface="Courier New"/>
                <a:ea typeface="Courier New"/>
                <a:cs typeface="Courier New"/>
              </a:rPr>
              <a:t xml:space="preserve">B3  ·  max.3</a:t>
            </a:r>
          </a:p>
        </p:txBody>
      </p:sp>
      <p:sp>
        <p:nvSpPr>
          <p:cNvPr id="8" name="Shape 8"/>
          <p:cNvSpPr/>
          <p:nvPr/>
        </p:nvSpPr>
        <p:spPr>
          <a:xfrm>
            <a:off x="3657600" y="1810512"/>
            <a:ext cx="1828800" cy="438912"/>
          </a:xfrm>
          <a:prstGeom prst="rect">
            <a:avLst/>
          </a:prstGeom>
          <a:solidFill>
            <a:srgbClr val="F4F6F8"/>
          </a:solidFill>
          <a:ln w="12700">
            <a:solidFill>
              <a:srgbClr val="1F2A3C"/>
            </a:solidFill>
            <a:prstDash val="solid"/>
          </a:ln>
        </p:spPr>
      </p:sp>
      <p:sp>
        <p:nvSpPr>
          <p:cNvPr id="9" name="Text 9"/>
          <p:cNvSpPr txBox="1"/>
          <p:nvPr/>
        </p:nvSpPr>
        <p:spPr>
          <a:xfrm>
            <a:off x="3657600" y="1810512"/>
            <a:ext cx="1828800" cy="438912"/>
          </a:xfrm>
          <a:prstGeom prst="rect">
            <a:avLst/>
          </a:prstGeom>
          <a:noFill/>
          <a:ln/>
        </p:spPr>
        <p:txBody>
          <a:bodyPr wrap="square" lIns="0" tIns="0" rIns="0" bIns="0" rtlCol="0" anchor="ctr"/>
          <a:lstStyle/>
          <a:p>
            <a:pPr algn="ctr" indent="0" marL="0">
              <a:buNone/>
            </a:pPr>
            <a:r>
              <a:rPr lang="en-US" sz="1100" b="1" dirty="0">
                <a:solidFill>
                  <a:srgbClr val="1F2A3C"/>
                </a:solidFill>
                <a:latin typeface="Courier New"/>
                <a:ea typeface="Courier New"/>
                <a:cs typeface="Courier New"/>
              </a:rPr>
              <a:t xml:space="preserve">B4  ·  max.2</a:t>
            </a:r>
          </a:p>
        </p:txBody>
      </p:sp>
      <p:cxnSp>
        <p:nvCxnSpPr>
          <p:cNvPr id="10" name="Connector 10"/>
          <p:cNvCxnSpPr/>
          <p:nvPr/>
        </p:nvCxnSpPr>
        <p:spPr>
          <a:xfrm>
            <a:off x="1737360" y="2249424"/>
            <a:ext cx="868680" cy="310896"/>
          </a:xfrm>
          <a:prstGeom prst="line">
            <a:avLst/>
          </a:prstGeom>
          <a:noFill/>
          <a:ln w="15875">
            <a:solidFill>
              <a:srgbClr val="6B7480"/>
            </a:solidFill>
            <a:prstDash val="solid"/>
            <a:tailEnd type="triangle"/>
          </a:ln>
        </p:spPr>
      </p:cxnSp>
      <p:cxnSp>
        <p:nvCxnSpPr>
          <p:cNvPr id="11" name="Connector 11"/>
          <p:cNvCxnSpPr/>
          <p:nvPr/>
        </p:nvCxnSpPr>
        <p:spPr>
          <a:xfrm flipH="1">
            <a:off x="3703320" y="2249424"/>
            <a:ext cx="868680" cy="310896"/>
          </a:xfrm>
          <a:prstGeom prst="line">
            <a:avLst/>
          </a:prstGeom>
          <a:noFill/>
          <a:ln w="15875">
            <a:solidFill>
              <a:srgbClr val="6B7480"/>
            </a:solidFill>
            <a:prstDash val="solid"/>
            <a:tailEnd type="triangle"/>
          </a:ln>
        </p:spPr>
      </p:cxnSp>
      <p:sp>
        <p:nvSpPr>
          <p:cNvPr id="12" name="Shape 12"/>
          <p:cNvSpPr/>
          <p:nvPr/>
        </p:nvSpPr>
        <p:spPr>
          <a:xfrm>
            <a:off x="502920" y="2560320"/>
            <a:ext cx="5303520" cy="749808"/>
          </a:xfrm>
          <a:prstGeom prst="rect">
            <a:avLst/>
          </a:prstGeom>
          <a:solidFill>
            <a:srgbClr val="1F2A3C"/>
          </a:solidFill>
          <a:ln w="19050">
            <a:solidFill>
              <a:srgbClr val="2E6E7E"/>
            </a:solidFill>
            <a:prstDash val="solid"/>
          </a:ln>
        </p:spPr>
      </p:sp>
      <p:sp>
        <p:nvSpPr>
          <p:cNvPr id="13" name="Text 13"/>
          <p:cNvSpPr txBox="1"/>
          <p:nvPr/>
        </p:nvSpPr>
        <p:spPr>
          <a:xfrm>
            <a:off x="704088" y="2670048"/>
            <a:ext cx="4901184" cy="566928"/>
          </a:xfrm>
          <a:prstGeom prst="rect">
            <a:avLst/>
          </a:prstGeom>
          <a:noFill/>
          <a:ln/>
        </p:spPr>
        <p:txBody>
          <a:bodyPr wrap="square" lIns="0" tIns="0" rIns="0" bIns="0" rtlCol="0" anchor="t"/>
          <a:lstStyle/>
          <a:p>
            <a:pPr algn="l" indent="0" marL="0">
              <a:lnSpc>
                <a:spcPct val="125000"/>
              </a:lnSpc>
              <a:buNone/>
            </a:pPr>
            <a:r>
              <a:rPr lang="en-US" sz="1150" b="1" dirty="0">
                <a:solidFill>
                  <a:srgbClr val="FFFFFF"/>
                </a:solidFill>
                <a:latin typeface="Courier New"/>
                <a:ea typeface="Courier New"/>
                <a:cs typeface="Courier New"/>
              </a:rPr>
              <a:t>max.4 = phi(B3: max.3, B4: max.2)</a:t>
            </a:r>
          </a:p>
          <a:p>
            <a:pPr algn="l" indent="0" marL="0">
              <a:lnSpc>
                <a:spcPct val="125000"/>
              </a:lnSpc>
              <a:buNone/>
            </a:pPr>
            <a:r>
              <a:rPr lang="en-US" sz="1150" b="1" dirty="0">
                <a:solidFill>
                  <a:srgbClr val="9FE3C8"/>
                </a:solidFill>
                <a:latin typeface="Courier New"/>
                <a:ea typeface="Courier New"/>
                <a:cs typeface="Courier New"/>
              </a:rPr>
              <a:t xml:space="preserve">max.4 -&gt; [10,20]     integral = YES</a:t>
            </a:r>
          </a:p>
        </p:txBody>
      </p:sp>
      <p:sp>
        <p:nvSpPr>
          <p:cNvPr id="14" name="Shape 14"/>
          <p:cNvSpPr/>
          <p:nvPr/>
        </p:nvSpPr>
        <p:spPr>
          <a:xfrm>
            <a:off x="502920" y="3502152"/>
            <a:ext cx="5303520" cy="640080"/>
          </a:xfrm>
          <a:prstGeom prst="rect">
            <a:avLst/>
          </a:prstGeom>
          <a:solidFill>
            <a:srgbClr val="F3E7E5"/>
          </a:solidFill>
          <a:ln w="15240">
            <a:solidFill>
              <a:srgbClr val="9C4A3E"/>
            </a:solidFill>
            <a:prstDash val="solid"/>
          </a:ln>
        </p:spPr>
      </p:sp>
      <p:sp>
        <p:nvSpPr>
          <p:cNvPr id="15" name="Text 15"/>
          <p:cNvSpPr txBox="1"/>
          <p:nvPr/>
        </p:nvSpPr>
        <p:spPr>
          <a:xfrm>
            <a:off x="640080" y="3502152"/>
            <a:ext cx="5029200" cy="640080"/>
          </a:xfrm>
          <a:prstGeom prst="rect">
            <a:avLst/>
          </a:prstGeom>
          <a:noFill/>
          <a:ln/>
        </p:spPr>
        <p:txBody>
          <a:bodyPr wrap="square" lIns="0" tIns="0" rIns="0" bIns="0" rtlCol="0" anchor="ctr"/>
          <a:lstStyle/>
          <a:p>
            <a:pPr algn="l" indent="0" marL="0">
              <a:buNone/>
            </a:pPr>
            <a:r>
              <a:rPr lang="en-US" sz="1050" b="1" dirty="0">
                <a:solidFill>
                  <a:srgbClr val="9C4A3E"/>
                </a:solidFill>
                <a:latin typeface="Courier New"/>
                <a:ea typeface="Courier New"/>
                <a:cs typeface="Courier New"/>
              </a:rPr>
              <a:t>t1 = x.1 &gt; y.1</a:t>
            </a:r>
            <a:r>
              <a:rPr lang="en-US" sz="1050" dirty="0">
                <a:solidFill>
                  <a:srgbClr val="9C4A3E"/>
                </a:solidFill>
                <a:latin typeface="Calibri"/>
                <a:ea typeface="Calibri"/>
                <a:cs typeface="Calibri"/>
              </a:rPr>
              <a:t xml:space="preserve">  →  rejected, left unquantized: relational ‘&gt;’ is not supported by the quantization pass</a:t>
            </a:r>
          </a:p>
        </p:txBody>
      </p:sp>
      <p:sp>
        <p:nvSpPr>
          <p:cNvPr id="16" name="Shape 16"/>
          <p:cNvSpPr/>
          <p:nvPr/>
        </p:nvSpPr>
        <p:spPr>
          <a:xfrm>
            <a:off x="502920" y="4343400"/>
            <a:ext cx="2377440" cy="1051560"/>
          </a:xfrm>
          <a:prstGeom prst="rect">
            <a:avLst/>
          </a:prstGeom>
          <a:solidFill>
            <a:srgbClr val="F4F6F8"/>
          </a:solidFill>
          <a:ln w="12700">
            <a:solidFill>
              <a:srgbClr val="1F2A3C"/>
            </a:solidFill>
            <a:prstDash val="solid"/>
          </a:ln>
        </p:spPr>
      </p:sp>
      <p:sp>
        <p:nvSpPr>
          <p:cNvPr id="17" name="Text 17"/>
          <p:cNvSpPr txBox="1"/>
          <p:nvPr/>
        </p:nvSpPr>
        <p:spPr>
          <a:xfrm>
            <a:off x="502920" y="4416552"/>
            <a:ext cx="2377440" cy="274320"/>
          </a:xfrm>
          <a:prstGeom prst="rect">
            <a:avLst/>
          </a:prstGeom>
          <a:noFill/>
          <a:ln/>
        </p:spPr>
        <p:txBody>
          <a:bodyPr wrap="square" lIns="0" tIns="0" rIns="0" bIns="0" rtlCol="0" anchor="t"/>
          <a:lstStyle/>
          <a:p>
            <a:pPr algn="ctr" indent="0" marL="0">
              <a:buNone/>
            </a:pPr>
            <a:r>
              <a:rPr lang="en-US" sz="900" b="1" spc="100" dirty="0">
                <a:solidFill>
                  <a:srgbClr val="6B7480"/>
                </a:solidFill>
                <a:latin typeface="Calibri"/>
                <a:ea typeface="Calibri"/>
                <a:cs typeface="Calibri"/>
              </a:rPr>
              <a:t>ORIGINAL SSA EXECUTION</a:t>
            </a:r>
          </a:p>
        </p:txBody>
      </p:sp>
      <p:sp>
        <p:nvSpPr>
          <p:cNvPr id="18" name="Text 18"/>
          <p:cNvSpPr txBox="1"/>
          <p:nvPr/>
        </p:nvSpPr>
        <p:spPr>
          <a:xfrm>
            <a:off x="502920" y="4690872"/>
            <a:ext cx="2377440" cy="594360"/>
          </a:xfrm>
          <a:prstGeom prst="rect">
            <a:avLst/>
          </a:prstGeom>
          <a:noFill/>
          <a:ln/>
        </p:spPr>
        <p:txBody>
          <a:bodyPr wrap="square" lIns="0" tIns="0" rIns="0" bIns="0" rtlCol="0" anchor="ctr"/>
          <a:lstStyle/>
          <a:p>
            <a:pPr algn="ctr" indent="0" marL="0">
              <a:buNone/>
            </a:pPr>
            <a:r>
              <a:rPr lang="en-US" sz="2400" b="1" dirty="0">
                <a:solidFill>
                  <a:srgbClr val="1F2A3C"/>
                </a:solidFill>
                <a:latin typeface="Courier New"/>
                <a:ea typeface="Courier New"/>
                <a:cs typeface="Courier New"/>
              </a:rPr>
              <a:t>[20]</a:t>
            </a:r>
          </a:p>
        </p:txBody>
      </p:sp>
      <p:sp>
        <p:nvSpPr>
          <p:cNvPr id="19" name="Text 19"/>
          <p:cNvSpPr txBox="1"/>
          <p:nvPr/>
        </p:nvSpPr>
        <p:spPr>
          <a:xfrm>
            <a:off x="2880360" y="4343400"/>
            <a:ext cx="548640" cy="1051560"/>
          </a:xfrm>
          <a:prstGeom prst="rect">
            <a:avLst/>
          </a:prstGeom>
          <a:noFill/>
          <a:ln/>
        </p:spPr>
        <p:txBody>
          <a:bodyPr wrap="square" lIns="0" tIns="0" rIns="0" bIns="0" rtlCol="0" anchor="ctr"/>
          <a:lstStyle/>
          <a:p>
            <a:pPr algn="ctr" indent="0" marL="0">
              <a:buNone/>
            </a:pPr>
            <a:r>
              <a:rPr lang="en-US" sz="2800" b="1" dirty="0">
                <a:solidFill>
                  <a:srgbClr val="2E6E7E"/>
                </a:solidFill>
                <a:latin typeface="Cambria"/>
                <a:ea typeface="Cambria"/>
                <a:cs typeface="Cambria"/>
              </a:rPr>
              <a:t>=</a:t>
            </a:r>
          </a:p>
        </p:txBody>
      </p:sp>
      <p:sp>
        <p:nvSpPr>
          <p:cNvPr id="20" name="Shape 20"/>
          <p:cNvSpPr/>
          <p:nvPr/>
        </p:nvSpPr>
        <p:spPr>
          <a:xfrm>
            <a:off x="3429000" y="4343400"/>
            <a:ext cx="2377440" cy="1051560"/>
          </a:xfrm>
          <a:prstGeom prst="rect">
            <a:avLst/>
          </a:prstGeom>
          <a:solidFill>
            <a:srgbClr val="2E6E7E"/>
          </a:solidFill>
          <a:ln w="12700">
            <a:solidFill>
              <a:srgbClr val="2E6E7E"/>
            </a:solidFill>
            <a:prstDash val="solid"/>
          </a:ln>
        </p:spPr>
      </p:sp>
      <p:sp>
        <p:nvSpPr>
          <p:cNvPr id="21" name="Text 21"/>
          <p:cNvSpPr txBox="1"/>
          <p:nvPr/>
        </p:nvSpPr>
        <p:spPr>
          <a:xfrm>
            <a:off x="3429000" y="4416552"/>
            <a:ext cx="2377440" cy="274320"/>
          </a:xfrm>
          <a:prstGeom prst="rect">
            <a:avLst/>
          </a:prstGeom>
          <a:noFill/>
          <a:ln/>
        </p:spPr>
        <p:txBody>
          <a:bodyPr wrap="square" lIns="0" tIns="0" rIns="0" bIns="0" rtlCol="0" anchor="t"/>
          <a:lstStyle/>
          <a:p>
            <a:pPr algn="ctr" indent="0" marL="0">
              <a:buNone/>
            </a:pPr>
            <a:r>
              <a:rPr lang="en-US" sz="900" b="1" spc="100" dirty="0">
                <a:solidFill>
                  <a:srgbClr val="FFFFFF"/>
                </a:solidFill>
                <a:latin typeface="Calibri"/>
                <a:ea typeface="Calibri"/>
                <a:cs typeface="Calibri"/>
              </a:rPr>
              <a:t>QUANTIZED SSA EXECUTION</a:t>
            </a:r>
          </a:p>
        </p:txBody>
      </p:sp>
      <p:sp>
        <p:nvSpPr>
          <p:cNvPr id="22" name="Text 22"/>
          <p:cNvSpPr txBox="1"/>
          <p:nvPr/>
        </p:nvSpPr>
        <p:spPr>
          <a:xfrm>
            <a:off x="3429000" y="4690872"/>
            <a:ext cx="237744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a:ea typeface="Courier New"/>
                <a:cs typeface="Courier New"/>
              </a:rPr>
              <a:t>[20]</a:t>
            </a:r>
          </a:p>
        </p:txBody>
      </p:sp>
      <p:sp>
        <p:nvSpPr>
          <p:cNvPr id="23" name="Text 23"/>
          <p:cNvSpPr txBox="1"/>
          <p:nvPr/>
        </p:nvSpPr>
        <p:spPr>
          <a:xfrm>
            <a:off x="6355080" y="1417320"/>
            <a:ext cx="5330952" cy="274320"/>
          </a:xfrm>
          <a:prstGeom prst="rect">
            <a:avLst/>
          </a:prstGeom>
          <a:noFill/>
          <a:ln/>
        </p:spPr>
        <p:txBody>
          <a:bodyPr wrap="square" lIns="0" tIns="0" rIns="0" bIns="0" rtlCol="0" anchor="ctr"/>
          <a:lstStyle/>
          <a:p>
            <a:pPr algn="l" indent="0" marL="0">
              <a:buNone/>
            </a:pPr>
            <a:r>
              <a:rPr lang="en-US" sz="1100" b="1" spc="100" dirty="0">
                <a:solidFill>
                  <a:srgbClr val="2E6E7E"/>
                </a:solidFill>
                <a:latin typeface="Calibri"/>
                <a:ea typeface="Calibri"/>
                <a:cs typeface="Calibri"/>
              </a:rPr>
              <a:t>WHILE LOOP + WIDENING</a:t>
            </a:r>
            <a:r>
              <a:rPr lang="en-US" sz="950" dirty="0">
                <a:solidFill>
                  <a:srgbClr val="6B7480"/>
                </a:solidFill>
                <a:latin typeface="Courier New"/>
                <a:ea typeface="Courier New"/>
                <a:cs typeface="Courier New"/>
              </a:rPr>
              <a:t xml:space="preserve">    examples/while_loop.qc</a:t>
            </a:r>
          </a:p>
        </p:txBody>
      </p:sp>
      <p:sp>
        <p:nvSpPr>
          <p:cNvPr id="24" name="Shape 24"/>
          <p:cNvSpPr/>
          <p:nvPr/>
        </p:nvSpPr>
        <p:spPr>
          <a:xfrm>
            <a:off x="6355080" y="1810512"/>
            <a:ext cx="2743200" cy="365760"/>
          </a:xfrm>
          <a:prstGeom prst="rect">
            <a:avLst/>
          </a:prstGeom>
          <a:solidFill>
            <a:srgbClr val="FFFFFF"/>
          </a:solidFill>
          <a:ln w="12700">
            <a:solidFill>
              <a:srgbClr val="1F2A3C"/>
            </a:solidFill>
            <a:prstDash val="solid"/>
          </a:ln>
        </p:spPr>
      </p:sp>
      <p:sp>
        <p:nvSpPr>
          <p:cNvPr id="25" name="Text 25"/>
          <p:cNvSpPr txBox="1"/>
          <p:nvPr/>
        </p:nvSpPr>
        <p:spPr>
          <a:xfrm>
            <a:off x="6355080" y="1810512"/>
            <a:ext cx="2743200" cy="365760"/>
          </a:xfrm>
          <a:prstGeom prst="rect">
            <a:avLst/>
          </a:prstGeom>
          <a:noFill/>
          <a:ln/>
        </p:spPr>
        <p:txBody>
          <a:bodyPr wrap="square" lIns="0" tIns="0" rIns="0" bIns="0" rtlCol="0" anchor="ctr"/>
          <a:lstStyle/>
          <a:p>
            <a:pPr algn="ctr" indent="0" marL="0">
              <a:buNone/>
            </a:pPr>
            <a:r>
              <a:rPr lang="en-US" sz="1050" b="1" dirty="0">
                <a:solidFill>
                  <a:srgbClr val="1F2A3C"/>
                </a:solidFill>
                <a:latin typeface="Calibri"/>
                <a:ea typeface="Calibri"/>
                <a:cs typeface="Calibri"/>
              </a:rPr>
              <a:t>Loop (back edge → φ at header)</a:t>
            </a:r>
          </a:p>
        </p:txBody>
      </p:sp>
      <p:cxnSp>
        <p:nvCxnSpPr>
          <p:cNvPr id="26" name="Connector 26"/>
          <p:cNvCxnSpPr/>
          <p:nvPr/>
        </p:nvCxnSpPr>
        <p:spPr>
          <a:xfrm>
            <a:off x="7726680" y="2176272"/>
            <a:ext cx="0" cy="155448"/>
          </a:xfrm>
          <a:prstGeom prst="line">
            <a:avLst/>
          </a:prstGeom>
          <a:noFill/>
          <a:ln w="15875">
            <a:solidFill>
              <a:srgbClr val="6B7480"/>
            </a:solidFill>
            <a:prstDash val="solid"/>
            <a:tailEnd type="triangle"/>
          </a:ln>
        </p:spPr>
      </p:cxnSp>
      <p:sp>
        <p:nvSpPr>
          <p:cNvPr id="27" name="Shape 27"/>
          <p:cNvSpPr/>
          <p:nvPr/>
        </p:nvSpPr>
        <p:spPr>
          <a:xfrm>
            <a:off x="6355080" y="2331720"/>
            <a:ext cx="2743200" cy="365760"/>
          </a:xfrm>
          <a:prstGeom prst="rect">
            <a:avLst/>
          </a:prstGeom>
          <a:solidFill>
            <a:srgbClr val="FFFFFF"/>
          </a:solidFill>
          <a:ln w="12700">
            <a:solidFill>
              <a:srgbClr val="1F2A3C"/>
            </a:solidFill>
            <a:prstDash val="solid"/>
          </a:ln>
        </p:spPr>
      </p:sp>
      <p:sp>
        <p:nvSpPr>
          <p:cNvPr id="28" name="Text 28"/>
          <p:cNvSpPr txBox="1"/>
          <p:nvPr/>
        </p:nvSpPr>
        <p:spPr>
          <a:xfrm>
            <a:off x="6355080" y="2331720"/>
            <a:ext cx="2743200" cy="365760"/>
          </a:xfrm>
          <a:prstGeom prst="rect">
            <a:avLst/>
          </a:prstGeom>
          <a:noFill/>
          <a:ln/>
        </p:spPr>
        <p:txBody>
          <a:bodyPr wrap="square" lIns="0" tIns="0" rIns="0" bIns="0" rtlCol="0" anchor="ctr"/>
          <a:lstStyle/>
          <a:p>
            <a:pPr algn="ctr" indent="0" marL="0">
              <a:buNone/>
            </a:pPr>
            <a:r>
              <a:rPr lang="en-US" sz="1050" b="1" dirty="0">
                <a:solidFill>
                  <a:srgbClr val="1F2A3C"/>
                </a:solidFill>
                <a:latin typeface="Calibri"/>
                <a:ea typeface="Calibri"/>
                <a:cs typeface="Calibri"/>
              </a:rPr>
              <a:t>Range Propagation</a:t>
            </a:r>
          </a:p>
        </p:txBody>
      </p:sp>
      <p:cxnSp>
        <p:nvCxnSpPr>
          <p:cNvPr id="29" name="Connector 29"/>
          <p:cNvCxnSpPr/>
          <p:nvPr/>
        </p:nvCxnSpPr>
        <p:spPr>
          <a:xfrm>
            <a:off x="7726680" y="2697480"/>
            <a:ext cx="0" cy="155448"/>
          </a:xfrm>
          <a:prstGeom prst="line">
            <a:avLst/>
          </a:prstGeom>
          <a:noFill/>
          <a:ln w="15875">
            <a:solidFill>
              <a:srgbClr val="6B7480"/>
            </a:solidFill>
            <a:prstDash val="solid"/>
            <a:tailEnd type="triangle"/>
          </a:ln>
        </p:spPr>
      </p:cxnSp>
      <p:sp>
        <p:nvSpPr>
          <p:cNvPr id="30" name="Shape 30"/>
          <p:cNvSpPr/>
          <p:nvPr/>
        </p:nvSpPr>
        <p:spPr>
          <a:xfrm>
            <a:off x="6355080" y="2852928"/>
            <a:ext cx="2743200" cy="365760"/>
          </a:xfrm>
          <a:prstGeom prst="rect">
            <a:avLst/>
          </a:prstGeom>
          <a:solidFill>
            <a:srgbClr val="FFFFFF"/>
          </a:solidFill>
          <a:ln w="12700">
            <a:solidFill>
              <a:srgbClr val="1F2A3C"/>
            </a:solidFill>
            <a:prstDash val="solid"/>
          </a:ln>
        </p:spPr>
      </p:sp>
      <p:sp>
        <p:nvSpPr>
          <p:cNvPr id="31" name="Text 31"/>
          <p:cNvSpPr txBox="1"/>
          <p:nvPr/>
        </p:nvSpPr>
        <p:spPr>
          <a:xfrm>
            <a:off x="6355080" y="2852928"/>
            <a:ext cx="2743200" cy="365760"/>
          </a:xfrm>
          <a:prstGeom prst="rect">
            <a:avLst/>
          </a:prstGeom>
          <a:noFill/>
          <a:ln/>
        </p:spPr>
        <p:txBody>
          <a:bodyPr wrap="square" lIns="0" tIns="0" rIns="0" bIns="0" rtlCol="0" anchor="ctr"/>
          <a:lstStyle/>
          <a:p>
            <a:pPr algn="ctr" indent="0" marL="0">
              <a:buNone/>
            </a:pPr>
            <a:r>
              <a:rPr lang="en-US" sz="1050" b="1" dirty="0">
                <a:solidFill>
                  <a:srgbClr val="1F2A3C"/>
                </a:solidFill>
                <a:latin typeface="Calibri"/>
                <a:ea typeface="Calibri"/>
                <a:cs typeface="Calibri"/>
              </a:rPr>
              <a:t>Widening</a:t>
            </a:r>
          </a:p>
        </p:txBody>
      </p:sp>
      <p:cxnSp>
        <p:nvCxnSpPr>
          <p:cNvPr id="32" name="Connector 32"/>
          <p:cNvCxnSpPr/>
          <p:nvPr/>
        </p:nvCxnSpPr>
        <p:spPr>
          <a:xfrm>
            <a:off x="7726680" y="3218688"/>
            <a:ext cx="0" cy="155448"/>
          </a:xfrm>
          <a:prstGeom prst="line">
            <a:avLst/>
          </a:prstGeom>
          <a:noFill/>
          <a:ln w="15875">
            <a:solidFill>
              <a:srgbClr val="6B7480"/>
            </a:solidFill>
            <a:prstDash val="solid"/>
            <a:tailEnd type="triangle"/>
          </a:ln>
        </p:spPr>
      </p:cxnSp>
      <p:sp>
        <p:nvSpPr>
          <p:cNvPr id="33" name="Shape 33"/>
          <p:cNvSpPr/>
          <p:nvPr/>
        </p:nvSpPr>
        <p:spPr>
          <a:xfrm>
            <a:off x="6355080" y="3374136"/>
            <a:ext cx="2743200" cy="365760"/>
          </a:xfrm>
          <a:prstGeom prst="rect">
            <a:avLst/>
          </a:prstGeom>
          <a:solidFill>
            <a:srgbClr val="FFFFFF"/>
          </a:solidFill>
          <a:ln w="12700">
            <a:solidFill>
              <a:srgbClr val="1F2A3C"/>
            </a:solidFill>
            <a:prstDash val="solid"/>
          </a:ln>
        </p:spPr>
      </p:sp>
      <p:sp>
        <p:nvSpPr>
          <p:cNvPr id="34" name="Text 34"/>
          <p:cNvSpPr txBox="1"/>
          <p:nvPr/>
        </p:nvSpPr>
        <p:spPr>
          <a:xfrm>
            <a:off x="6355080" y="3374136"/>
            <a:ext cx="2743200" cy="365760"/>
          </a:xfrm>
          <a:prstGeom prst="rect">
            <a:avLst/>
          </a:prstGeom>
          <a:noFill/>
          <a:ln/>
        </p:spPr>
        <p:txBody>
          <a:bodyPr wrap="square" lIns="0" tIns="0" rIns="0" bIns="0" rtlCol="0" anchor="ctr"/>
          <a:lstStyle/>
          <a:p>
            <a:pPr algn="ctr" indent="0" marL="0">
              <a:buNone/>
            </a:pPr>
            <a:r>
              <a:rPr lang="en-US" sz="1050" b="1" dirty="0">
                <a:solidFill>
                  <a:srgbClr val="1F2A3C"/>
                </a:solidFill>
                <a:latin typeface="Calibri"/>
                <a:ea typeface="Calibri"/>
                <a:cs typeface="Calibri"/>
              </a:rPr>
              <a:t>Conservative Convergence</a:t>
            </a:r>
          </a:p>
        </p:txBody>
      </p:sp>
      <p:cxnSp>
        <p:nvCxnSpPr>
          <p:cNvPr id="35" name="Connector 35"/>
          <p:cNvCxnSpPr/>
          <p:nvPr/>
        </p:nvCxnSpPr>
        <p:spPr>
          <a:xfrm>
            <a:off x="7726680" y="3739896"/>
            <a:ext cx="0" cy="155448"/>
          </a:xfrm>
          <a:prstGeom prst="line">
            <a:avLst/>
          </a:prstGeom>
          <a:noFill/>
          <a:ln w="15875">
            <a:solidFill>
              <a:srgbClr val="6B7480"/>
            </a:solidFill>
            <a:prstDash val="solid"/>
            <a:tailEnd type="triangle"/>
          </a:ln>
        </p:spPr>
      </p:cxnSp>
      <p:sp>
        <p:nvSpPr>
          <p:cNvPr id="36" name="Shape 36"/>
          <p:cNvSpPr/>
          <p:nvPr/>
        </p:nvSpPr>
        <p:spPr>
          <a:xfrm>
            <a:off x="6355080" y="3895344"/>
            <a:ext cx="2743200" cy="365760"/>
          </a:xfrm>
          <a:prstGeom prst="rect">
            <a:avLst/>
          </a:prstGeom>
          <a:solidFill>
            <a:srgbClr val="2E6E7E"/>
          </a:solidFill>
          <a:ln w="12700">
            <a:solidFill>
              <a:srgbClr val="2E6E7E"/>
            </a:solidFill>
            <a:prstDash val="solid"/>
          </a:ln>
        </p:spPr>
      </p:sp>
      <p:sp>
        <p:nvSpPr>
          <p:cNvPr id="37" name="Text 37"/>
          <p:cNvSpPr txBox="1"/>
          <p:nvPr/>
        </p:nvSpPr>
        <p:spPr>
          <a:xfrm>
            <a:off x="6355080" y="3895344"/>
            <a:ext cx="27432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a:ea typeface="Calibri"/>
                <a:cs typeface="Calibri"/>
              </a:rPr>
              <a:t>SAFE / UNKNOWN Decision</a:t>
            </a:r>
          </a:p>
        </p:txBody>
      </p:sp>
      <p:sp>
        <p:nvSpPr>
          <p:cNvPr id="38" name="Shape 38"/>
          <p:cNvSpPr/>
          <p:nvPr/>
        </p:nvSpPr>
        <p:spPr>
          <a:xfrm>
            <a:off x="9372600" y="1810512"/>
            <a:ext cx="2313432" cy="2450592"/>
          </a:xfrm>
          <a:prstGeom prst="rect">
            <a:avLst/>
          </a:prstGeom>
          <a:solidFill>
            <a:srgbClr val="F4F6F8"/>
          </a:solidFill>
          <a:ln w="12700">
            <a:solidFill>
              <a:srgbClr val="D6DCE2"/>
            </a:solidFill>
            <a:prstDash val="solid"/>
          </a:ln>
        </p:spPr>
      </p:sp>
      <p:sp>
        <p:nvSpPr>
          <p:cNvPr id="39" name="Text 39"/>
          <p:cNvSpPr txBox="1"/>
          <p:nvPr/>
        </p:nvSpPr>
        <p:spPr>
          <a:xfrm>
            <a:off x="9509760" y="1874520"/>
            <a:ext cx="2039112" cy="2331720"/>
          </a:xfrm>
          <a:prstGeom prst="rect">
            <a:avLst/>
          </a:prstGeom>
          <a:noFill/>
          <a:ln/>
        </p:spPr>
        <p:txBody>
          <a:bodyPr wrap="square" rtlCol="0" anchor="t"/>
          <a:lstStyle/>
          <a:p>
            <a:pPr algn="l" indent="0" marL="0">
              <a:spcAft>
                <a:spcPts val="500"/>
              </a:spcAft>
              <a:buNone/>
            </a:pPr>
            <a:r>
              <a:rPr lang="en-US" sz="1100" b="1" dirty="0">
                <a:solidFill>
                  <a:srgbClr val="1F2A3C"/>
                </a:solidFill>
                <a:latin typeface="Calibri"/>
                <a:ea typeface="Calibri"/>
                <a:cs typeface="Calibri"/>
              </a:rPr>
              <a:t>Termination by design</a:t>
            </a:r>
          </a:p>
          <a:p>
            <a:pPr algn="l" indent="0" marL="0">
              <a:spcAft>
                <a:spcPts val="500"/>
              </a:spcAft>
              <a:buNone/>
            </a:pPr>
            <a:r>
              <a:rPr lang="en-US" sz="1000" dirty="0">
                <a:solidFill>
                  <a:srgbClr val="23262B"/>
                </a:solidFill>
                <a:latin typeface="Calibri"/>
                <a:ea typeface="Calibri"/>
                <a:cs typeface="Calibri"/>
              </a:rPr>
              <a:t>Iteration at the loop header is bounded by a widening threshold.</a:t>
            </a:r>
          </a:p>
          <a:p>
            <a:pPr algn="l" indent="0" marL="0">
              <a:spcAft>
                <a:spcPts val="500"/>
              </a:spcAft>
              <a:buNone/>
            </a:pPr>
            <a:r>
              <a:rPr lang="en-US" sz="1000" dirty="0">
                <a:solidFill>
                  <a:srgbClr val="23262B"/>
                </a:solidFill>
                <a:latin typeface="Calibri"/>
                <a:ea typeface="Calibri"/>
                <a:cs typeface="Calibri"/>
              </a:rPr>
              <a:t xml:space="preserve">If the range does not stabilise in time, the value becomes </a:t>
            </a:r>
            <a:r>
              <a:rPr lang="en-US" sz="1000" b="1" dirty="0">
                <a:solidFill>
                  <a:srgbClr val="9C4A3E"/>
                </a:solidFill>
                <a:latin typeface="Courier New"/>
                <a:ea typeface="Courier New"/>
                <a:cs typeface="Courier New"/>
              </a:rPr>
              <a:t>UNKNOWN</a:t>
            </a:r>
            <a:r>
              <a:rPr lang="en-US" sz="1000" dirty="0">
                <a:solidFill>
                  <a:srgbClr val="23262B"/>
                </a:solidFill>
                <a:latin typeface="Calibri"/>
                <a:ea typeface="Calibri"/>
                <a:cs typeface="Calibri"/>
              </a:rPr>
              <a:t>.</a:t>
            </a:r>
          </a:p>
          <a:p>
            <a:pPr algn="l" indent="0" marL="0">
              <a:spcAft>
                <a:spcPts val="500"/>
              </a:spcAft>
              <a:buNone/>
            </a:pPr>
            <a:r>
              <a:rPr lang="en-US" sz="1000" b="1" dirty="0">
                <a:solidFill>
                  <a:srgbClr val="2E6E7E"/>
                </a:solidFill>
                <a:latin typeface="Calibri"/>
                <a:ea typeface="Calibri"/>
                <a:cs typeface="Calibri"/>
              </a:rPr>
              <a:t>UNKNOWN values are never quantized.</a:t>
            </a:r>
          </a:p>
        </p:txBody>
      </p:sp>
      <p:sp>
        <p:nvSpPr>
          <p:cNvPr id="40" name="Shape 40"/>
          <p:cNvSpPr/>
          <p:nvPr/>
        </p:nvSpPr>
        <p:spPr>
          <a:xfrm>
            <a:off x="6355080" y="4343400"/>
            <a:ext cx="2391156" cy="1051560"/>
          </a:xfrm>
          <a:prstGeom prst="rect">
            <a:avLst/>
          </a:prstGeom>
          <a:solidFill>
            <a:srgbClr val="F4F6F8"/>
          </a:solidFill>
          <a:ln w="12700">
            <a:solidFill>
              <a:srgbClr val="1F2A3C"/>
            </a:solidFill>
            <a:prstDash val="solid"/>
          </a:ln>
        </p:spPr>
      </p:sp>
      <p:sp>
        <p:nvSpPr>
          <p:cNvPr id="41" name="Text 41"/>
          <p:cNvSpPr txBox="1"/>
          <p:nvPr/>
        </p:nvSpPr>
        <p:spPr>
          <a:xfrm>
            <a:off x="6355080" y="4416552"/>
            <a:ext cx="2391156" cy="274320"/>
          </a:xfrm>
          <a:prstGeom prst="rect">
            <a:avLst/>
          </a:prstGeom>
          <a:noFill/>
          <a:ln/>
        </p:spPr>
        <p:txBody>
          <a:bodyPr wrap="square" lIns="0" tIns="0" rIns="0" bIns="0" rtlCol="0" anchor="t"/>
          <a:lstStyle/>
          <a:p>
            <a:pPr algn="ctr" indent="0" marL="0">
              <a:buNone/>
            </a:pPr>
            <a:r>
              <a:rPr lang="en-US" sz="900" b="1" spc="100" dirty="0">
                <a:solidFill>
                  <a:srgbClr val="6B7480"/>
                </a:solidFill>
                <a:latin typeface="Calibri"/>
                <a:ea typeface="Calibri"/>
                <a:cs typeface="Calibri"/>
              </a:rPr>
              <a:t>ORIGINAL SSA EXECUTION</a:t>
            </a:r>
          </a:p>
        </p:txBody>
      </p:sp>
      <p:sp>
        <p:nvSpPr>
          <p:cNvPr id="42" name="Text 42"/>
          <p:cNvSpPr txBox="1"/>
          <p:nvPr/>
        </p:nvSpPr>
        <p:spPr>
          <a:xfrm>
            <a:off x="6355080" y="4690872"/>
            <a:ext cx="2391156" cy="594360"/>
          </a:xfrm>
          <a:prstGeom prst="rect">
            <a:avLst/>
          </a:prstGeom>
          <a:noFill/>
          <a:ln/>
        </p:spPr>
        <p:txBody>
          <a:bodyPr wrap="square" lIns="0" tIns="0" rIns="0" bIns="0" rtlCol="0" anchor="ctr"/>
          <a:lstStyle/>
          <a:p>
            <a:pPr algn="ctr" indent="0" marL="0">
              <a:buNone/>
            </a:pPr>
            <a:r>
              <a:rPr lang="en-US" sz="2400" b="1" dirty="0">
                <a:solidFill>
                  <a:srgbClr val="1F2A3C"/>
                </a:solidFill>
                <a:latin typeface="Courier New"/>
                <a:ea typeface="Courier New"/>
                <a:cs typeface="Courier New"/>
              </a:rPr>
              <a:t>[15]</a:t>
            </a:r>
          </a:p>
        </p:txBody>
      </p:sp>
      <p:sp>
        <p:nvSpPr>
          <p:cNvPr id="43" name="Text 43"/>
          <p:cNvSpPr txBox="1"/>
          <p:nvPr/>
        </p:nvSpPr>
        <p:spPr>
          <a:xfrm>
            <a:off x="8746236" y="4343400"/>
            <a:ext cx="548640" cy="1051560"/>
          </a:xfrm>
          <a:prstGeom prst="rect">
            <a:avLst/>
          </a:prstGeom>
          <a:noFill/>
          <a:ln/>
        </p:spPr>
        <p:txBody>
          <a:bodyPr wrap="square" lIns="0" tIns="0" rIns="0" bIns="0" rtlCol="0" anchor="ctr"/>
          <a:lstStyle/>
          <a:p>
            <a:pPr algn="ctr" indent="0" marL="0">
              <a:buNone/>
            </a:pPr>
            <a:r>
              <a:rPr lang="en-US" sz="2800" b="1" dirty="0">
                <a:solidFill>
                  <a:srgbClr val="2E6E7E"/>
                </a:solidFill>
                <a:latin typeface="Cambria"/>
                <a:ea typeface="Cambria"/>
                <a:cs typeface="Cambria"/>
              </a:rPr>
              <a:t>=</a:t>
            </a:r>
          </a:p>
        </p:txBody>
      </p:sp>
      <p:sp>
        <p:nvSpPr>
          <p:cNvPr id="44" name="Shape 44"/>
          <p:cNvSpPr/>
          <p:nvPr/>
        </p:nvSpPr>
        <p:spPr>
          <a:xfrm>
            <a:off x="9294876" y="4343400"/>
            <a:ext cx="2391156" cy="1051560"/>
          </a:xfrm>
          <a:prstGeom prst="rect">
            <a:avLst/>
          </a:prstGeom>
          <a:solidFill>
            <a:srgbClr val="2E6E7E"/>
          </a:solidFill>
          <a:ln w="12700">
            <a:solidFill>
              <a:srgbClr val="2E6E7E"/>
            </a:solidFill>
            <a:prstDash val="solid"/>
          </a:ln>
        </p:spPr>
      </p:sp>
      <p:sp>
        <p:nvSpPr>
          <p:cNvPr id="45" name="Text 45"/>
          <p:cNvSpPr txBox="1"/>
          <p:nvPr/>
        </p:nvSpPr>
        <p:spPr>
          <a:xfrm>
            <a:off x="9294876" y="4416552"/>
            <a:ext cx="2391156" cy="274320"/>
          </a:xfrm>
          <a:prstGeom prst="rect">
            <a:avLst/>
          </a:prstGeom>
          <a:noFill/>
          <a:ln/>
        </p:spPr>
        <p:txBody>
          <a:bodyPr wrap="square" lIns="0" tIns="0" rIns="0" bIns="0" rtlCol="0" anchor="t"/>
          <a:lstStyle/>
          <a:p>
            <a:pPr algn="ctr" indent="0" marL="0">
              <a:buNone/>
            </a:pPr>
            <a:r>
              <a:rPr lang="en-US" sz="900" b="1" spc="100" dirty="0">
                <a:solidFill>
                  <a:srgbClr val="FFFFFF"/>
                </a:solidFill>
                <a:latin typeface="Calibri"/>
                <a:ea typeface="Calibri"/>
                <a:cs typeface="Calibri"/>
              </a:rPr>
              <a:t>QUANTIZED SSA EXECUTION</a:t>
            </a:r>
          </a:p>
        </p:txBody>
      </p:sp>
      <p:sp>
        <p:nvSpPr>
          <p:cNvPr id="46" name="Text 46"/>
          <p:cNvSpPr txBox="1"/>
          <p:nvPr/>
        </p:nvSpPr>
        <p:spPr>
          <a:xfrm>
            <a:off x="9294876" y="4690872"/>
            <a:ext cx="2391156"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a:ea typeface="Courier New"/>
                <a:cs typeface="Courier New"/>
              </a:rPr>
              <a:t>[15]</a:t>
            </a:r>
          </a:p>
        </p:txBody>
      </p:sp>
      <p:sp>
        <p:nvSpPr>
          <p:cNvPr id="47" name="Text 47"/>
          <p:cNvSpPr txBox="1"/>
          <p:nvPr/>
        </p:nvSpPr>
        <p:spPr>
          <a:xfrm>
            <a:off x="502920" y="5623560"/>
            <a:ext cx="11183112" cy="457200"/>
          </a:xfrm>
          <a:prstGeom prst="rect">
            <a:avLst/>
          </a:prstGeom>
          <a:noFill/>
          <a:ln/>
        </p:spPr>
        <p:txBody>
          <a:bodyPr wrap="square" rtlCol="0" anchor="t"/>
          <a:lstStyle/>
          <a:p>
            <a:pPr algn="ctr" indent="0" marL="0">
              <a:buNone/>
            </a:pPr>
            <a:r>
              <a:rPr lang="en-US" sz="1050" i="1" dirty="0">
                <a:solidFill>
                  <a:srgbClr val="6B7480"/>
                </a:solidFill>
                <a:latin typeface="Calibri"/>
                <a:ea typeface="Calibri"/>
                <a:cs typeface="Calibri"/>
              </a:rPr>
              <a:t>Identical simulator output for the original and quantized IR on both control-flow programs — the quantization pass preserved program behaviour in the tested cases.</a:t>
            </a:r>
          </a:p>
        </p:txBody>
      </p:sp>
      <p:sp>
        <p:nvSpPr>
          <p:cNvPr id="48" name="Text 48"/>
          <p:cNvSpPr txBox="1"/>
          <p:nvPr/>
        </p:nvSpPr>
        <p:spPr>
          <a:xfrm>
            <a:off x="502920" y="6492240"/>
            <a:ext cx="9601200" cy="237744"/>
          </a:xfrm>
          <a:prstGeom prst="rect">
            <a:avLst/>
          </a:prstGeom>
          <a:noFill/>
          <a:ln/>
        </p:spPr>
        <p:txBody>
          <a:bodyPr wrap="square" rtlCol="0" anchor="ctr"/>
          <a:lstStyle/>
          <a:p>
            <a:pPr algn="l" indent="0" marL="0">
              <a:buNone/>
            </a:pPr>
            <a:r>
              <a:rPr lang="en-US" sz="800" dirty="0">
                <a:solidFill>
                  <a:srgbClr val="9AA3AF"/>
                </a:solidFill>
                <a:latin typeface="Calibri"/>
                <a:ea typeface="Calibri"/>
                <a:cs typeface="Calibri"/>
              </a:rPr>
              <a:t xml:space="preserve">BCSE307L — Compiler Design   |   Range-Aware Edge AI Quantization Compiler</a:t>
            </a:r>
          </a:p>
        </p:txBody>
      </p:sp>
      <p:sp>
        <p:nvSpPr>
          <p:cNvPr id="49" name="Text 49"/>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a:ea typeface="Calibri"/>
                <a:cs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 name="Text 3"/>
          <p:cNvSpPr txBox="1"/>
          <p:nvPr/>
        </p:nvSpPr>
        <p:spPr>
          <a:xfrm>
            <a:off x="502920" y="365760"/>
            <a:ext cx="10058400" cy="274320"/>
          </a:xfrm>
          <a:prstGeom prst="rect">
            <a:avLst/>
          </a:prstGeom>
          <a:noFill/>
          <a:ln/>
        </p:spPr>
        <p:txBody>
          <a:bodyPr wrap="square" rtlCol="0" anchor="ctr"/>
          <a:lstStyle/>
          <a:p>
            <a:pPr algn="l" indent="0" marL="0">
              <a:buNone/>
            </a:pPr>
            <a:r>
              <a:rPr lang="en-US" sz="1100" b="1" spc="200" dirty="0">
                <a:solidFill>
                  <a:srgbClr val="2E6E7E"/>
                </a:solidFill>
                <a:latin typeface="Calibri"/>
                <a:ea typeface="Calibri"/>
                <a:cs typeface="Calibri"/>
              </a:rPr>
              <a:t>REVIEW 2 · SCOPE</a:t>
            </a:r>
          </a:p>
        </p:txBody>
      </p:sp>
      <p:sp>
        <p:nvSpPr>
          <p:cNvPr id="4" name="Text 4"/>
          <p:cNvSpPr txBox="1"/>
          <p:nvPr/>
        </p:nvSpPr>
        <p:spPr>
          <a:xfrm>
            <a:off x="502920" y="621792"/>
            <a:ext cx="11155680" cy="594360"/>
          </a:xfrm>
          <a:prstGeom prst="rect">
            <a:avLst/>
          </a:prstGeom>
          <a:noFill/>
          <a:ln/>
        </p:spPr>
        <p:txBody>
          <a:bodyPr wrap="square" rtlCol="0" anchor="ctr"/>
          <a:lstStyle/>
          <a:p>
            <a:pPr algn="l" indent="0" marL="0">
              <a:buNone/>
            </a:pPr>
            <a:r>
              <a:rPr lang="en-US" sz="2900" b="1" dirty="0">
                <a:solidFill>
                  <a:srgbClr val="1F2A3C"/>
                </a:solidFill>
                <a:latin typeface="Cambria"/>
                <a:ea typeface="Cambria"/>
                <a:cs typeface="Cambria"/>
              </a:rPr>
              <a:t>Current Limitations &amp; Remaining Work</a:t>
            </a:r>
          </a:p>
        </p:txBody>
      </p:sp>
      <p:sp>
        <p:nvSpPr>
          <p:cNvPr id="5" name="Shape 5"/>
          <p:cNvSpPr/>
          <p:nvPr/>
        </p:nvSpPr>
        <p:spPr>
          <a:xfrm>
            <a:off x="502920" y="1554480"/>
            <a:ext cx="329184" cy="329184"/>
          </a:xfrm>
          <a:prstGeom prst="ellipse">
            <a:avLst/>
          </a:prstGeom>
          <a:solidFill>
            <a:srgbClr val="2E6E7E"/>
          </a:solidFill>
          <a:ln/>
        </p:spPr>
        <p:txBody>
          <a:bodyPr/>
          <a:p/>
        </p:txBody>
      </p:sp>
      <p:sp>
        <p:nvSpPr>
          <p:cNvPr id="6" name="Text 6"/>
          <p:cNvSpPr txBox="1"/>
          <p:nvPr/>
        </p:nvSpPr>
        <p:spPr>
          <a:xfrm>
            <a:off x="502920" y="1554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a:ea typeface="Calibri"/>
                <a:cs typeface="Calibri"/>
              </a:rPr>
              <a:t>1</a:t>
            </a:r>
          </a:p>
        </p:txBody>
      </p:sp>
      <p:sp>
        <p:nvSpPr>
          <p:cNvPr id="7" name="Text 7"/>
          <p:cNvSpPr txBox="1"/>
          <p:nvPr/>
        </p:nvSpPr>
        <p:spPr>
          <a:xfrm>
            <a:off x="1005840" y="1508760"/>
            <a:ext cx="6309360" cy="329184"/>
          </a:xfrm>
          <a:prstGeom prst="rect">
            <a:avLst/>
          </a:prstGeom>
          <a:noFill/>
          <a:ln/>
        </p:spPr>
        <p:txBody>
          <a:bodyPr wrap="square" rtlCol="0" anchor="ctr"/>
          <a:lstStyle/>
          <a:p>
            <a:pPr algn="l" indent="0" marL="0">
              <a:buNone/>
            </a:pPr>
            <a:r>
              <a:rPr lang="en-US" sz="1300" b="1" dirty="0">
                <a:solidFill>
                  <a:srgbClr val="1F2A3C"/>
                </a:solidFill>
                <a:latin typeface="Calibri"/>
                <a:ea typeface="Calibri"/>
                <a:cs typeface="Calibri"/>
              </a:rPr>
              <a:t>Loop widening is conservative</a:t>
            </a:r>
          </a:p>
        </p:txBody>
      </p:sp>
      <p:sp>
        <p:nvSpPr>
          <p:cNvPr id="8" name="Text 8"/>
          <p:cNvSpPr txBox="1"/>
          <p:nvPr/>
        </p:nvSpPr>
        <p:spPr>
          <a:xfrm>
            <a:off x="1005840" y="1837944"/>
            <a:ext cx="6309360" cy="640080"/>
          </a:xfrm>
          <a:prstGeom prst="rect">
            <a:avLst/>
          </a:prstGeom>
          <a:noFill/>
          <a:ln/>
        </p:spPr>
        <p:txBody>
          <a:bodyPr wrap="square" rtlCol="0" anchor="t"/>
          <a:lstStyle/>
          <a:p>
            <a:pPr algn="l" indent="0" marL="0">
              <a:buNone/>
            </a:pPr>
            <a:r>
              <a:rPr lang="en-US" sz="1050" dirty="0">
                <a:solidFill>
                  <a:srgbClr val="6B7480"/>
                </a:solidFill>
                <a:latin typeface="Calibri"/>
                <a:ea typeface="Calibri"/>
                <a:cs typeface="Calibri"/>
              </a:rPr>
              <a:t xml:space="preserve">Can produce UNKNOWN for loop-carried values when the range does not stabilise within the configured widening threshold.  </a:t>
            </a:r>
            <a:r>
              <a:rPr lang="en-US" sz="1050" i="1" dirty="0">
                <a:solidFill>
                  <a:srgbClr val="2E6E7E"/>
                </a:solidFill>
                <a:latin typeface="Calibri"/>
                <a:ea typeface="Calibri"/>
                <a:cs typeface="Calibri"/>
              </a:rPr>
              <a:t>Such values stay unquantized — safe, but less coverage.</a:t>
            </a:r>
          </a:p>
        </p:txBody>
      </p:sp>
      <p:sp>
        <p:nvSpPr>
          <p:cNvPr id="9" name="Shape 9"/>
          <p:cNvSpPr/>
          <p:nvPr/>
        </p:nvSpPr>
        <p:spPr>
          <a:xfrm>
            <a:off x="502920" y="2578608"/>
            <a:ext cx="329184" cy="329184"/>
          </a:xfrm>
          <a:prstGeom prst="ellipse">
            <a:avLst/>
          </a:prstGeom>
          <a:solidFill>
            <a:srgbClr val="2E6E7E"/>
          </a:solidFill>
          <a:ln/>
        </p:spPr>
        <p:txBody>
          <a:bodyPr/>
          <a:p/>
        </p:txBody>
      </p:sp>
      <p:sp>
        <p:nvSpPr>
          <p:cNvPr id="10" name="Text 10"/>
          <p:cNvSpPr txBox="1"/>
          <p:nvPr/>
        </p:nvSpPr>
        <p:spPr>
          <a:xfrm>
            <a:off x="502920" y="2578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a:ea typeface="Calibri"/>
                <a:cs typeface="Calibri"/>
              </a:rPr>
              <a:t>2</a:t>
            </a:r>
          </a:p>
        </p:txBody>
      </p:sp>
      <p:sp>
        <p:nvSpPr>
          <p:cNvPr id="11" name="Text 11"/>
          <p:cNvSpPr txBox="1"/>
          <p:nvPr/>
        </p:nvSpPr>
        <p:spPr>
          <a:xfrm>
            <a:off x="1005840" y="2532888"/>
            <a:ext cx="6309360" cy="329184"/>
          </a:xfrm>
          <a:prstGeom prst="rect">
            <a:avLst/>
          </a:prstGeom>
          <a:noFill/>
          <a:ln/>
        </p:spPr>
        <p:txBody>
          <a:bodyPr wrap="square" rtlCol="0" anchor="ctr"/>
          <a:lstStyle/>
          <a:p>
            <a:pPr algn="l" indent="0" marL="0">
              <a:buNone/>
            </a:pPr>
            <a:r>
              <a:rPr lang="en-US" sz="1300" b="1" dirty="0">
                <a:solidFill>
                  <a:srgbClr val="1F2A3C"/>
                </a:solidFill>
                <a:latin typeface="Calibri"/>
                <a:ea typeface="Calibri"/>
                <a:cs typeface="Calibri"/>
              </a:rPr>
              <a:t>Unsupported operations are not quantized</a:t>
            </a:r>
          </a:p>
        </p:txBody>
      </p:sp>
      <p:sp>
        <p:nvSpPr>
          <p:cNvPr id="12" name="Text 12"/>
          <p:cNvSpPr txBox="1"/>
          <p:nvPr/>
        </p:nvSpPr>
        <p:spPr>
          <a:xfrm>
            <a:off x="1005840" y="2862072"/>
            <a:ext cx="6309360" cy="640080"/>
          </a:xfrm>
          <a:prstGeom prst="rect">
            <a:avLst/>
          </a:prstGeom>
          <a:noFill/>
          <a:ln/>
        </p:spPr>
        <p:txBody>
          <a:bodyPr wrap="square" rtlCol="0" anchor="t"/>
          <a:lstStyle/>
          <a:p>
            <a:pPr algn="l" indent="0" marL="0">
              <a:buNone/>
            </a:pPr>
            <a:r>
              <a:rPr lang="en-US" sz="1050" dirty="0">
                <a:solidFill>
                  <a:srgbClr val="6B7480"/>
                </a:solidFill>
                <a:latin typeface="Calibri"/>
                <a:ea typeface="Calibri"/>
                <a:cs typeface="Calibri"/>
              </a:rPr>
              <a:t xml:space="preserve">Operations outside the supported set — e.g. the relational comparison ‘&gt;’ — are left untouched.  </a:t>
            </a:r>
            <a:r>
              <a:rPr lang="en-US" sz="1050" i="1" dirty="0">
                <a:solidFill>
                  <a:srgbClr val="2E6E7E"/>
                </a:solidFill>
                <a:latin typeface="Calibri"/>
                <a:ea typeface="Calibri"/>
                <a:cs typeface="Calibri"/>
              </a:rPr>
              <a:t>Retained in their original form.</a:t>
            </a:r>
          </a:p>
        </p:txBody>
      </p:sp>
      <p:sp>
        <p:nvSpPr>
          <p:cNvPr id="13" name="Shape 13"/>
          <p:cNvSpPr/>
          <p:nvPr/>
        </p:nvSpPr>
        <p:spPr>
          <a:xfrm>
            <a:off x="502920" y="3602736"/>
            <a:ext cx="329184" cy="329184"/>
          </a:xfrm>
          <a:prstGeom prst="ellipse">
            <a:avLst/>
          </a:prstGeom>
          <a:solidFill>
            <a:srgbClr val="2E6E7E"/>
          </a:solidFill>
          <a:ln/>
        </p:spPr>
        <p:txBody>
          <a:bodyPr/>
          <a:p/>
        </p:txBody>
      </p:sp>
      <p:sp>
        <p:nvSpPr>
          <p:cNvPr id="14" name="Text 14"/>
          <p:cNvSpPr txBox="1"/>
          <p:nvPr/>
        </p:nvSpPr>
        <p:spPr>
          <a:xfrm>
            <a:off x="502920" y="36027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a:ea typeface="Calibri"/>
                <a:cs typeface="Calibri"/>
              </a:rPr>
              <a:t>3</a:t>
            </a:r>
          </a:p>
        </p:txBody>
      </p:sp>
      <p:sp>
        <p:nvSpPr>
          <p:cNvPr id="15" name="Text 15"/>
          <p:cNvSpPr txBox="1"/>
          <p:nvPr/>
        </p:nvSpPr>
        <p:spPr>
          <a:xfrm>
            <a:off x="1005840" y="3557016"/>
            <a:ext cx="6309360" cy="329184"/>
          </a:xfrm>
          <a:prstGeom prst="rect">
            <a:avLst/>
          </a:prstGeom>
          <a:noFill/>
          <a:ln/>
        </p:spPr>
        <p:txBody>
          <a:bodyPr wrap="square" rtlCol="0" anchor="ctr"/>
          <a:lstStyle/>
          <a:p>
            <a:pPr algn="l" indent="0" marL="0">
              <a:buNone/>
            </a:pPr>
            <a:r>
              <a:rPr lang="en-US" sz="1300" b="1" dirty="0">
                <a:solidFill>
                  <a:srgbClr val="1F2A3C"/>
                </a:solidFill>
                <a:latin typeface="Calibri"/>
                <a:ea typeface="Calibri"/>
                <a:cs typeface="Calibri"/>
              </a:rPr>
              <a:t>Lightweight backend</a:t>
            </a:r>
          </a:p>
        </p:txBody>
      </p:sp>
      <p:sp>
        <p:nvSpPr>
          <p:cNvPr id="16" name="Text 16"/>
          <p:cNvSpPr txBox="1"/>
          <p:nvPr/>
        </p:nvSpPr>
        <p:spPr>
          <a:xfrm>
            <a:off x="1005840" y="3886200"/>
            <a:ext cx="6309360" cy="640080"/>
          </a:xfrm>
          <a:prstGeom prst="rect">
            <a:avLst/>
          </a:prstGeom>
          <a:noFill/>
          <a:ln/>
        </p:spPr>
        <p:txBody>
          <a:bodyPr wrap="square" rtlCol="0" anchor="t"/>
          <a:lstStyle/>
          <a:p>
            <a:pPr algn="l" indent="0" marL="0">
              <a:buNone/>
            </a:pPr>
            <a:r>
              <a:rPr lang="en-US" sz="1050" dirty="0">
                <a:solidFill>
                  <a:srgbClr val="6B7480"/>
                </a:solidFill>
                <a:latin typeface="Calibri"/>
                <a:ea typeface="Calibri"/>
                <a:cs typeface="Calibri"/>
              </a:rPr>
              <a:t xml:space="preserve">The backend is an IR-walking simulator, not LLVM and not a real hardware backend.  </a:t>
            </a:r>
            <a:r>
              <a:rPr lang="en-US" sz="1050" i="1" dirty="0">
                <a:solidFill>
                  <a:srgbClr val="2E6E7E"/>
                </a:solidFill>
                <a:latin typeface="Calibri"/>
                <a:ea typeface="Calibri"/>
                <a:cs typeface="Calibri"/>
              </a:rPr>
              <a:t>Used to compare original vs. quantized execution.</a:t>
            </a:r>
          </a:p>
        </p:txBody>
      </p:sp>
      <p:sp>
        <p:nvSpPr>
          <p:cNvPr id="17" name="Shape 17"/>
          <p:cNvSpPr/>
          <p:nvPr/>
        </p:nvSpPr>
        <p:spPr>
          <a:xfrm>
            <a:off x="502920" y="4626864"/>
            <a:ext cx="329184" cy="329184"/>
          </a:xfrm>
          <a:prstGeom prst="ellipse">
            <a:avLst/>
          </a:prstGeom>
          <a:solidFill>
            <a:srgbClr val="2E6E7E"/>
          </a:solidFill>
          <a:ln/>
        </p:spPr>
        <p:txBody>
          <a:bodyPr/>
          <a:p/>
        </p:txBody>
      </p:sp>
      <p:sp>
        <p:nvSpPr>
          <p:cNvPr id="18" name="Text 18"/>
          <p:cNvSpPr txBox="1"/>
          <p:nvPr/>
        </p:nvSpPr>
        <p:spPr>
          <a:xfrm>
            <a:off x="502920" y="46268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a:ea typeface="Calibri"/>
                <a:cs typeface="Calibri"/>
              </a:rPr>
              <a:t>4</a:t>
            </a:r>
          </a:p>
        </p:txBody>
      </p:sp>
      <p:sp>
        <p:nvSpPr>
          <p:cNvPr id="19" name="Text 19"/>
          <p:cNvSpPr txBox="1"/>
          <p:nvPr/>
        </p:nvSpPr>
        <p:spPr>
          <a:xfrm>
            <a:off x="1005840" y="4581144"/>
            <a:ext cx="6309360" cy="329184"/>
          </a:xfrm>
          <a:prstGeom prst="rect">
            <a:avLst/>
          </a:prstGeom>
          <a:noFill/>
          <a:ln/>
        </p:spPr>
        <p:txBody>
          <a:bodyPr wrap="square" rtlCol="0" anchor="ctr"/>
          <a:lstStyle/>
          <a:p>
            <a:pPr algn="l" indent="0" marL="0">
              <a:buNone/>
            </a:pPr>
            <a:r>
              <a:rPr lang="en-US" sz="1300" b="1" dirty="0">
                <a:solidFill>
                  <a:srgbClr val="1F2A3C"/>
                </a:solidFill>
                <a:latin typeface="Calibri"/>
                <a:ea typeface="Calibri"/>
                <a:cs typeface="Calibri"/>
              </a:rPr>
              <a:t>No empirical performance measurements yet</a:t>
            </a:r>
          </a:p>
        </p:txBody>
      </p:sp>
      <p:sp>
        <p:nvSpPr>
          <p:cNvPr id="20" name="Text 20"/>
          <p:cNvSpPr txBox="1"/>
          <p:nvPr/>
        </p:nvSpPr>
        <p:spPr>
          <a:xfrm>
            <a:off x="1005840" y="4910328"/>
            <a:ext cx="6309360" cy="640080"/>
          </a:xfrm>
          <a:prstGeom prst="rect">
            <a:avLst/>
          </a:prstGeom>
          <a:noFill/>
          <a:ln/>
        </p:spPr>
        <p:txBody>
          <a:bodyPr wrap="square" rtlCol="0" anchor="t"/>
          <a:lstStyle/>
          <a:p>
            <a:pPr algn="l" indent="0" marL="0">
              <a:buNone/>
            </a:pPr>
            <a:r>
              <a:rPr lang="en-US" sz="1050" dirty="0">
                <a:solidFill>
                  <a:srgbClr val="6B7480"/>
                </a:solidFill>
                <a:latin typeface="Calibri"/>
                <a:ea typeface="Calibri"/>
                <a:cs typeface="Calibri"/>
              </a:rPr>
              <a:t xml:space="preserve">Runtime, latency, energy and hardware-power have not been measured.  </a:t>
            </a:r>
            <a:r>
              <a:rPr lang="en-US" sz="1050" i="1" dirty="0">
                <a:solidFill>
                  <a:srgbClr val="2E6E7E"/>
                </a:solidFill>
                <a:latin typeface="Calibri"/>
                <a:ea typeface="Calibri"/>
                <a:cs typeface="Calibri"/>
              </a:rPr>
              <a:t>No speed-up or energy gain is claimed at this milestone.</a:t>
            </a:r>
          </a:p>
        </p:txBody>
      </p:sp>
      <p:sp>
        <p:nvSpPr>
          <p:cNvPr id="21" name="Shape 21"/>
          <p:cNvSpPr/>
          <p:nvPr/>
        </p:nvSpPr>
        <p:spPr>
          <a:xfrm>
            <a:off x="7635240" y="1508760"/>
            <a:ext cx="4050792" cy="4041648"/>
          </a:xfrm>
          <a:prstGeom prst="rect">
            <a:avLst/>
          </a:prstGeom>
          <a:solidFill>
            <a:srgbClr val="1F2A3C"/>
          </a:solidFill>
          <a:ln w="15875">
            <a:solidFill>
              <a:srgbClr val="2E6E7E"/>
            </a:solidFill>
            <a:prstDash val="solid"/>
          </a:ln>
        </p:spPr>
        <p:txBody>
          <a:bodyPr/>
          <a:p/>
        </p:txBody>
      </p:sp>
      <p:sp>
        <p:nvSpPr>
          <p:cNvPr id="22" name="Text 22"/>
          <p:cNvSpPr txBox="1"/>
          <p:nvPr/>
        </p:nvSpPr>
        <p:spPr>
          <a:xfrm>
            <a:off x="7909560" y="1664208"/>
            <a:ext cx="3502152" cy="274320"/>
          </a:xfrm>
          <a:prstGeom prst="rect">
            <a:avLst/>
          </a:prstGeom>
          <a:noFill/>
          <a:ln/>
        </p:spPr>
        <p:txBody>
          <a:bodyPr wrap="square" rtlCol="0" anchor="t"/>
          <a:lstStyle/>
          <a:p>
            <a:pPr algn="l" indent="0" marL="0">
              <a:buNone/>
            </a:pPr>
            <a:r>
              <a:rPr lang="en-US" sz="950" b="1" spc="150" dirty="0">
                <a:solidFill>
                  <a:srgbClr val="8FB6C2"/>
                </a:solidFill>
                <a:latin typeface="Calibri"/>
                <a:ea typeface="Calibri"/>
                <a:cs typeface="Calibri"/>
              </a:rPr>
              <a:t>60% MILESTONE — WHERE WE STAND</a:t>
            </a:r>
          </a:p>
        </p:txBody>
      </p:sp>
      <p:sp>
        <p:nvSpPr>
          <p:cNvPr id="23" name="Text 23"/>
          <p:cNvSpPr txBox="1"/>
          <p:nvPr/>
        </p:nvSpPr>
        <p:spPr>
          <a:xfrm>
            <a:off x="7909560" y="1965960"/>
            <a:ext cx="3502152" cy="731520"/>
          </a:xfrm>
          <a:prstGeom prst="rect">
            <a:avLst/>
          </a:prstGeom>
          <a:noFill/>
          <a:ln/>
        </p:spPr>
        <p:txBody>
          <a:bodyPr wrap="square" rtlCol="0" anchor="t"/>
          <a:lstStyle/>
          <a:p>
            <a:pPr algn="l" indent="0" marL="0">
              <a:buNone/>
            </a:pPr>
            <a:r>
              <a:rPr lang="en-US" sz="1700" b="1" dirty="0">
                <a:solidFill>
                  <a:srgbClr val="FFFFFF"/>
                </a:solidFill>
                <a:latin typeface="Cambria"/>
                <a:ea typeface="Cambria"/>
                <a:cs typeface="Cambria"/>
              </a:rPr>
              <a:t>Working compiler core for the current scope</a:t>
            </a:r>
          </a:p>
        </p:txBody>
      </p:sp>
      <p:sp>
        <p:nvSpPr>
          <p:cNvPr id="24" name="Text 24"/>
          <p:cNvSpPr txBox="1"/>
          <p:nvPr/>
        </p:nvSpPr>
        <p:spPr>
          <a:xfrm>
            <a:off x="7909560" y="2880360"/>
            <a:ext cx="3502152" cy="2560320"/>
          </a:xfrm>
          <a:prstGeom prst="rect">
            <a:avLst/>
          </a:prstGeom>
          <a:noFill/>
          <a:ln/>
        </p:spPr>
        <p:txBody>
          <a:bodyPr wrap="square" rtlCol="0" anchor="t"/>
          <a:lstStyle/>
          <a:p>
            <a:pPr algn="l" indent="0" marL="0">
              <a:spcAft>
                <a:spcPts val="1500"/>
              </a:spcAft>
              <a:buNone/>
            </a:pPr>
            <a:r>
              <a:rPr lang="en-US" sz="1200" b="1" dirty="0">
                <a:solidFill>
                  <a:srgbClr val="9FE3C8"/>
                </a:solidFill>
                <a:latin typeface="Calibri"/>
                <a:ea typeface="Calibri"/>
                <a:cs typeface="Calibri"/>
              </a:rPr>
              <a:t xml:space="preserve">✓  </a:t>
            </a:r>
            <a:r>
              <a:rPr lang="en-US" sz="1200" dirty="0">
                <a:solidFill>
                  <a:srgbClr val="C9D4DE"/>
                </a:solidFill>
                <a:latin typeface="Calibri"/>
                <a:ea typeface="Calibri"/>
                <a:cs typeface="Calibri"/>
              </a:rPr>
              <a:t>Teaching-scale prototype, verified on representative programs</a:t>
            </a:r>
          </a:p>
          <a:p>
            <a:pPr algn="l" indent="0" marL="0">
              <a:spcAft>
                <a:spcPts val="1500"/>
              </a:spcAft>
              <a:buNone/>
            </a:pPr>
            <a:r>
              <a:rPr lang="en-US" sz="1200" b="1" dirty="0">
                <a:solidFill>
                  <a:srgbClr val="9FE3C8"/>
                </a:solidFill>
                <a:latin typeface="Calibri"/>
                <a:ea typeface="Calibri"/>
                <a:cs typeface="Calibri"/>
              </a:rPr>
              <a:t xml:space="preserve">✓  </a:t>
            </a:r>
            <a:r>
              <a:rPr lang="en-US" sz="1200" dirty="0">
                <a:solidFill>
                  <a:srgbClr val="C9D4DE"/>
                </a:solidFill>
                <a:latin typeface="Calibri"/>
                <a:ea typeface="Calibri"/>
                <a:cs typeface="Calibri"/>
              </a:rPr>
              <a:t>20/20 automated tests passed</a:t>
            </a:r>
          </a:p>
          <a:p>
            <a:pPr algn="l" indent="0" marL="0">
              <a:spcAft>
                <a:spcPts val="1500"/>
              </a:spcAft>
              <a:buNone/>
            </a:pPr>
            <a:r>
              <a:rPr lang="en-US" sz="1200" b="1" dirty="0">
                <a:solidFill>
                  <a:srgbClr val="9FE3C8"/>
                </a:solidFill>
                <a:latin typeface="Calibri"/>
                <a:ea typeface="Calibri"/>
                <a:cs typeface="Calibri"/>
              </a:rPr>
              <a:t xml:space="preserve">✓  </a:t>
            </a:r>
            <a:r>
              <a:rPr lang="en-US" sz="1200" dirty="0">
                <a:solidFill>
                  <a:srgbClr val="C9D4DE"/>
                </a:solidFill>
                <a:latin typeface="Calibri"/>
                <a:ea typeface="Calibri"/>
                <a:cs typeface="Calibri"/>
              </a:rPr>
              <a:t>Safe integer-valued SSA operations lowered to int8</a:t>
            </a:r>
          </a:p>
          <a:p>
            <a:pPr algn="l" indent="0" marL="0">
              <a:spcAft>
                <a:spcPts val="1500"/>
              </a:spcAft>
              <a:buNone/>
            </a:pPr>
            <a:r>
              <a:rPr lang="en-US" sz="1200" b="1" dirty="0">
                <a:solidFill>
                  <a:srgbClr val="9FE3C8"/>
                </a:solidFill>
                <a:latin typeface="Calibri"/>
                <a:ea typeface="Calibri"/>
                <a:cs typeface="Calibri"/>
              </a:rPr>
              <a:t xml:space="preserve">✓  </a:t>
            </a:r>
            <a:r>
              <a:rPr lang="en-US" sz="1200" dirty="0">
                <a:solidFill>
                  <a:srgbClr val="C9D4DE"/>
                </a:solidFill>
                <a:latin typeface="Calibri"/>
                <a:ea typeface="Calibri"/>
                <a:cs typeface="Calibri"/>
              </a:rPr>
              <a:t>Unsafe or unproven values remain unquantized</a:t>
            </a:r>
          </a:p>
        </p:txBody>
      </p:sp>
      <p:sp>
        <p:nvSpPr>
          <p:cNvPr id="25" name="Text 25"/>
          <p:cNvSpPr txBox="1"/>
          <p:nvPr/>
        </p:nvSpPr>
        <p:spPr>
          <a:xfrm>
            <a:off x="502920" y="5715000"/>
            <a:ext cx="11183112" cy="457200"/>
          </a:xfrm>
          <a:prstGeom prst="rect">
            <a:avLst/>
          </a:prstGeom>
          <a:noFill/>
          <a:ln/>
        </p:spPr>
        <p:txBody>
          <a:bodyPr wrap="square" rtlCol="0" anchor="t"/>
          <a:lstStyle/>
          <a:p>
            <a:pPr algn="ctr" indent="0" marL="0">
              <a:buNone/>
            </a:pPr>
            <a:r>
              <a:rPr lang="en-US" sz="1050" i="1" dirty="0">
                <a:solidFill>
                  <a:srgbClr val="6B7480"/>
                </a:solidFill>
                <a:latin typeface="Calibri"/>
                <a:ea typeface="Calibri"/>
                <a:cs typeface="Calibri"/>
              </a:rPr>
              <a:t>Limitations as stated in the Review 2 Report. None of them weakens the core rule: unsafe or unproven values remain unquantized.</a:t>
            </a:r>
          </a:p>
        </p:txBody>
      </p:sp>
      <p:sp>
        <p:nvSpPr>
          <p:cNvPr id="26" name="Text 26"/>
          <p:cNvSpPr txBox="1"/>
          <p:nvPr/>
        </p:nvSpPr>
        <p:spPr>
          <a:xfrm>
            <a:off x="502920" y="6492240"/>
            <a:ext cx="9601200" cy="237744"/>
          </a:xfrm>
          <a:prstGeom prst="rect">
            <a:avLst/>
          </a:prstGeom>
          <a:noFill/>
          <a:ln/>
        </p:spPr>
        <p:txBody>
          <a:bodyPr wrap="square" rtlCol="0" anchor="ctr"/>
          <a:lstStyle/>
          <a:p>
            <a:pPr algn="l" indent="0" marL="0">
              <a:buNone/>
            </a:pPr>
            <a:r>
              <a:rPr lang="en-US" sz="800" dirty="0">
                <a:solidFill>
                  <a:srgbClr val="9AA3AF"/>
                </a:solidFill>
                <a:latin typeface="Calibri"/>
                <a:ea typeface="Calibri"/>
                <a:cs typeface="Calibri"/>
              </a:rPr>
              <a:t xml:space="preserve">BCSE307L — Compiler Design   |   Range-Aware Edge AI Quantization Compiler</a:t>
            </a:r>
          </a:p>
        </p:txBody>
      </p:sp>
      <p:sp>
        <p:nvSpPr>
          <p:cNvPr id="27" name="Text 27"/>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a:ea typeface="Calibri"/>
                <a:cs typeface="Calibri"/>
              </a:rPr>
              <a:t>20</a:t>
            </a:r>
          </a:p>
        </p:txBody>
      </p:sp>
      <p:sp>
        <p:nvSpPr>
          <p:cNvPr id="28" name="Rounded Rectangle 27"/>
          <p:cNvSpPr/>
          <p:nvPr/>
        </p:nvSpPr>
        <p:spPr>
          <a:xfrm>
            <a:off x="7086600" y="5084064"/>
            <a:ext cx="3429000" cy="566928"/>
          </a:xfrm>
          <a:prstGeom prst="roundRect">
            <a:avLst/>
          </a:prstGeom>
          <a:solidFill>
            <a:srgbClr val="F7F7F7"/>
          </a:solidFill>
          <a:ln w="1016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3C4655"/>
                </a:solidFill>
                <a:latin typeface="Aptos"/>
              </a:rPr>
              <a:t>NEXT PHASE</a:t>
            </a:r>
          </a:p>
          <a:p>
            <a:r>
              <a:rPr sz="630">
                <a:solidFill>
                  <a:srgbClr val="5A6473"/>
                </a:solidFill>
                <a:latin typeface="Aptos"/>
              </a:rPr>
              <a:t>Extend operation coverage • improve loop precision • develop a more realistic backend • measure runtime/energy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1F2A3C"/>
        </a:solidFill>
      </p:bgPr>
    </p:bg>
    <p:spTree>
      <p:nvGrpSpPr>
        <p:cNvPr id="1" name=""/>
        <p:cNvGrpSpPr/>
        <p:nvPr/>
      </p:nvGrpSpPr>
      <p:grpSpPr>
        <a:xfrm>
          <a:off x="0" y="0"/>
          <a:ext cx="0" cy="0"/>
          <a:chOff x="0" y="0"/>
          <a:chExt cx="0" cy="0"/>
        </a:xfrm>
      </p:grpSpPr>
      <p:sp>
        <p:nvSpPr>
          <p:cNvPr id="2" name="Text 2"/>
          <p:cNvSpPr txBox="1"/>
          <p:nvPr/>
        </p:nvSpPr>
        <p:spPr>
          <a:xfrm>
            <a:off x="502920" y="365760"/>
            <a:ext cx="10058400" cy="274320"/>
          </a:xfrm>
          <a:prstGeom prst="rect">
            <a:avLst/>
          </a:prstGeom>
          <a:noFill/>
          <a:ln/>
        </p:spPr>
        <p:txBody>
          <a:bodyPr wrap="square" rtlCol="0" anchor="ctr"/>
          <a:lstStyle/>
          <a:p>
            <a:pPr algn="l" indent="0" marL="0">
              <a:buNone/>
            </a:pPr>
            <a:r>
              <a:rPr lang="en-US" sz="1100" b="1" spc="200" kern="0" dirty="0">
                <a:solidFill>
                  <a:srgbClr val="8FB6C2"/>
                </a:solidFill>
                <a:latin typeface="Calibri" pitchFamily="34" charset="0"/>
                <a:ea typeface="Calibri" pitchFamily="34" charset="-122"/>
                <a:cs typeface="Calibri" pitchFamily="34" charset="-120"/>
              </a:rPr>
              <a:t>OUTCOME</a:t>
            </a:r>
          </a:p>
        </p:txBody>
      </p:sp>
      <p:sp>
        <p:nvSpPr>
          <p:cNvPr id="3" name="Text 3"/>
          <p:cNvSpPr txBox="1"/>
          <p:nvPr/>
        </p:nvSpPr>
        <p:spPr>
          <a:xfrm>
            <a:off x="502920" y="621792"/>
            <a:ext cx="11155680" cy="594360"/>
          </a:xfrm>
          <a:prstGeom prst="rect">
            <a:avLst/>
          </a:prstGeom>
          <a:noFill/>
          <a:ln/>
        </p:spPr>
        <p:txBody>
          <a:bodyPr wrap="square" rtlCol="0" anchor="ctr"/>
          <a:lstStyle/>
          <a:p>
            <a:pPr algn="l" indent="0" marL="0">
              <a:buNone/>
            </a:pPr>
            <a:r>
              <a:rPr lang="en-US" sz="2900" b="1" dirty="0">
                <a:solidFill>
                  <a:srgbClr val="FFFFFF"/>
                </a:solidFill>
                <a:latin typeface="Cambria" pitchFamily="34" charset="0"/>
                <a:ea typeface="Cambria" pitchFamily="34" charset="-122"/>
                <a:cs typeface="Cambria" pitchFamily="34" charset="-120"/>
              </a:rPr>
              <a:t>Project Outcome</a:t>
            </a:r>
          </a:p>
        </p:txBody>
      </p:sp>
      <p:sp>
        <p:nvSpPr>
          <p:cNvPr id="4" name="Text 4"/>
          <p:cNvSpPr txBox="1"/>
          <p:nvPr/>
        </p:nvSpPr>
        <p:spPr>
          <a:xfrm>
            <a:off x="640080" y="1280160"/>
            <a:ext cx="10911840" cy="480060"/>
          </a:xfrm>
          <a:prstGeom prst="rect">
            <a:avLst/>
          </a:prstGeom>
          <a:noFill/>
          <a:ln/>
        </p:spPr>
        <p:txBody>
          <a:bodyPr wrap="square" rtlCol="0" anchor="ctr"/>
          <a:lstStyle/>
          <a:p>
            <a:pPr algn="l" indent="0" marL="0">
              <a:buNone/>
            </a:pPr>
            <a:r>
              <a:rPr sz="1400" b="0">
                <a:solidFill>
                  <a:srgbClr val="DCE1E8"/>
                </a:solidFill>
                <a:latin typeface="Aptos"/>
              </a:rPr>
              <a:t>Within the current supported scope, the compiler produces three concrete outcomes — each one backed by a compile-time proof rather than a runtime check.</a:t>
            </a:r>
          </a:p>
        </p:txBody>
      </p:sp>
      <p:sp>
        <p:nvSpPr>
          <p:cNvPr id="5" name="Shape 5"/>
          <p:cNvSpPr/>
          <p:nvPr/>
        </p:nvSpPr>
        <p:spPr>
          <a:xfrm>
            <a:off x="640080" y="1920240"/>
            <a:ext cx="3454400" cy="2560320"/>
          </a:xfrm>
          <a:prstGeom prst="rect">
            <a:avLst/>
          </a:prstGeom>
          <a:solidFill>
            <a:srgbClr val="2C3B52"/>
          </a:solidFill>
          <a:ln w="15875">
            <a:solidFill>
              <a:srgbClr val="2E6E7E"/>
            </a:solidFill>
            <a:prstDash val="solid"/>
          </a:ln>
        </p:spPr>
      </p:sp>
      <p:sp>
        <p:nvSpPr>
          <p:cNvPr id="6" name="Shape 6"/>
          <p:cNvSpPr/>
          <p:nvPr/>
        </p:nvSpPr>
        <p:spPr>
          <a:xfrm>
            <a:off x="914400" y="2194560"/>
            <a:ext cx="457200" cy="457200"/>
          </a:xfrm>
          <a:prstGeom prst="ellipse">
            <a:avLst/>
          </a:prstGeom>
          <a:solidFill>
            <a:srgbClr val="2E6E7E"/>
          </a:solidFill>
          <a:ln/>
        </p:spPr>
      </p:sp>
      <p:sp>
        <p:nvSpPr>
          <p:cNvPr id="7" name="Text 7"/>
          <p:cNvSpPr txBox="1"/>
          <p:nvPr/>
        </p:nvSpPr>
        <p:spPr>
          <a:xfrm>
            <a:off x="914400" y="219456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p>
        </p:txBody>
      </p:sp>
      <p:sp>
        <p:nvSpPr>
          <p:cNvPr id="8" name="Text 8"/>
          <p:cNvSpPr txBox="1"/>
          <p:nvPr/>
        </p:nvSpPr>
        <p:spPr>
          <a:xfrm>
            <a:off x="914400" y="2788920"/>
            <a:ext cx="2905760" cy="457200"/>
          </a:xfrm>
          <a:prstGeom prst="rect">
            <a:avLst/>
          </a:prstGeom>
          <a:noFill/>
          <a:ln/>
        </p:spPr>
        <p:txBody>
          <a:bodyPr wrap="square" rtlCol="0" anchor="t"/>
          <a:lstStyle/>
          <a:p>
            <a:pPr algn="l" indent="0" marL="0">
              <a:buNone/>
            </a:pPr>
            <a:r>
              <a:rPr lang="en-US" sz="1500" b="1" dirty="0">
                <a:solidFill>
                  <a:srgbClr val="FFFFFF"/>
                </a:solidFill>
                <a:latin typeface="Cambria" pitchFamily="34" charset="0"/>
                <a:ea typeface="Cambria" pitchFamily="34" charset="-122"/>
                <a:cs typeface="Cambria" pitchFamily="34" charset="-120"/>
              </a:rPr>
              <a:t>Static Safety Check</a:t>
            </a:r>
          </a:p>
        </p:txBody>
      </p:sp>
      <p:sp>
        <p:nvSpPr>
          <p:cNvPr id="9" name="Text 9"/>
          <p:cNvSpPr txBox="1"/>
          <p:nvPr/>
        </p:nvSpPr>
        <p:spPr>
          <a:xfrm>
            <a:off x="914400" y="3291840"/>
            <a:ext cx="2905760" cy="1005840"/>
          </a:xfrm>
          <a:prstGeom prst="rect">
            <a:avLst/>
          </a:prstGeom>
          <a:noFill/>
          <a:ln/>
        </p:spPr>
        <p:txBody>
          <a:bodyPr wrap="square" rtlCol="0" anchor="t"/>
          <a:lstStyle/>
          <a:p>
            <a:pPr algn="l" indent="0" marL="0">
              <a:lnSpc>
                <a:spcPct val="135000"/>
              </a:lnSpc>
              <a:buNone/>
            </a:pPr>
            <a:r>
              <a:rPr lang="en-US" sz="1150" dirty="0">
                <a:solidFill>
                  <a:srgbClr val="C9D4DE"/>
                </a:solidFill>
                <a:latin typeface="Calibri" pitchFamily="34" charset="0"/>
                <a:ea typeface="Calibri" pitchFamily="34" charset="-122"/>
                <a:cs typeface="Calibri" pitchFamily="34" charset="-120"/>
              </a:rPr>
              <a:t>Verifies at compile time that a value stays integral and remains within [−128, 127] across all execution paths.</a:t>
            </a:r>
          </a:p>
        </p:txBody>
      </p:sp>
      <p:sp>
        <p:nvSpPr>
          <p:cNvPr id="10" name="Shape 10"/>
          <p:cNvSpPr/>
          <p:nvPr/>
        </p:nvSpPr>
        <p:spPr>
          <a:xfrm>
            <a:off x="4368800" y="1920240"/>
            <a:ext cx="3454400" cy="2560320"/>
          </a:xfrm>
          <a:prstGeom prst="rect">
            <a:avLst/>
          </a:prstGeom>
          <a:solidFill>
            <a:srgbClr val="2C3B52"/>
          </a:solidFill>
          <a:ln w="15875">
            <a:solidFill>
              <a:srgbClr val="2E6E7E"/>
            </a:solidFill>
            <a:prstDash val="solid"/>
          </a:ln>
        </p:spPr>
      </p:sp>
      <p:sp>
        <p:nvSpPr>
          <p:cNvPr id="11" name="Shape 11"/>
          <p:cNvSpPr/>
          <p:nvPr/>
        </p:nvSpPr>
        <p:spPr>
          <a:xfrm>
            <a:off x="4643120" y="2194560"/>
            <a:ext cx="457200" cy="457200"/>
          </a:xfrm>
          <a:prstGeom prst="ellipse">
            <a:avLst/>
          </a:prstGeom>
          <a:solidFill>
            <a:srgbClr val="2E6E7E"/>
          </a:solidFill>
          <a:ln/>
        </p:spPr>
      </p:sp>
      <p:sp>
        <p:nvSpPr>
          <p:cNvPr id="12" name="Text 12"/>
          <p:cNvSpPr txBox="1"/>
          <p:nvPr/>
        </p:nvSpPr>
        <p:spPr>
          <a:xfrm>
            <a:off x="4643120" y="219456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p>
        </p:txBody>
      </p:sp>
      <p:sp>
        <p:nvSpPr>
          <p:cNvPr id="13" name="Text 13"/>
          <p:cNvSpPr txBox="1"/>
          <p:nvPr/>
        </p:nvSpPr>
        <p:spPr>
          <a:xfrm>
            <a:off x="4643120" y="2788920"/>
            <a:ext cx="2905760" cy="457200"/>
          </a:xfrm>
          <a:prstGeom prst="rect">
            <a:avLst/>
          </a:prstGeom>
          <a:noFill/>
          <a:ln/>
        </p:spPr>
        <p:txBody>
          <a:bodyPr wrap="square" rtlCol="0" anchor="t"/>
          <a:lstStyle/>
          <a:p>
            <a:pPr algn="l" indent="0" marL="0">
              <a:buNone/>
            </a:pPr>
            <a:r>
              <a:rPr lang="en-US" sz="1500" b="1" dirty="0">
                <a:solidFill>
                  <a:srgbClr val="FFFFFF"/>
                </a:solidFill>
                <a:latin typeface="Cambria" pitchFamily="34" charset="0"/>
                <a:ea typeface="Cambria" pitchFamily="34" charset="-122"/>
                <a:cs typeface="Cambria" pitchFamily="34" charset="-120"/>
              </a:rPr>
              <a:t>Selective Quantization</a:t>
            </a:r>
          </a:p>
        </p:txBody>
      </p:sp>
      <p:sp>
        <p:nvSpPr>
          <p:cNvPr id="14" name="Text 14"/>
          <p:cNvSpPr txBox="1"/>
          <p:nvPr/>
        </p:nvSpPr>
        <p:spPr>
          <a:xfrm>
            <a:off x="4643120" y="3291840"/>
            <a:ext cx="2905760" cy="1005840"/>
          </a:xfrm>
          <a:prstGeom prst="rect">
            <a:avLst/>
          </a:prstGeom>
          <a:noFill/>
          <a:ln/>
        </p:spPr>
        <p:txBody>
          <a:bodyPr wrap="square" rtlCol="0" anchor="t"/>
          <a:lstStyle/>
          <a:p>
            <a:pPr algn="l" indent="0" marL="0">
              <a:lnSpc>
                <a:spcPct val="135000"/>
              </a:lnSpc>
              <a:buNone/>
            </a:pPr>
            <a:r>
              <a:rPr lang="en-US" sz="1150" dirty="0">
                <a:solidFill>
                  <a:srgbClr val="C9D4DE"/>
                </a:solidFill>
                <a:latin typeface="Calibri" pitchFamily="34" charset="0"/>
                <a:ea typeface="Calibri" pitchFamily="34" charset="-122"/>
                <a:cs typeface="Calibri" pitchFamily="34" charset="-120"/>
              </a:rPr>
              <a:t>Rewrites only certified-safe operations into INT8, leaving every uncertain operation untouched in FP32.</a:t>
            </a:r>
          </a:p>
        </p:txBody>
      </p:sp>
      <p:sp>
        <p:nvSpPr>
          <p:cNvPr id="15" name="Shape 15"/>
          <p:cNvSpPr/>
          <p:nvPr/>
        </p:nvSpPr>
        <p:spPr>
          <a:xfrm>
            <a:off x="8097520" y="1920240"/>
            <a:ext cx="3454400" cy="2560320"/>
          </a:xfrm>
          <a:prstGeom prst="rect">
            <a:avLst/>
          </a:prstGeom>
          <a:solidFill>
            <a:srgbClr val="2C3B52"/>
          </a:solidFill>
          <a:ln w="15875">
            <a:solidFill>
              <a:srgbClr val="2E6E7E"/>
            </a:solidFill>
            <a:prstDash val="solid"/>
          </a:ln>
        </p:spPr>
      </p:sp>
      <p:sp>
        <p:nvSpPr>
          <p:cNvPr id="16" name="Shape 16"/>
          <p:cNvSpPr/>
          <p:nvPr/>
        </p:nvSpPr>
        <p:spPr>
          <a:xfrm>
            <a:off x="8371840" y="2194560"/>
            <a:ext cx="457200" cy="457200"/>
          </a:xfrm>
          <a:prstGeom prst="ellipse">
            <a:avLst/>
          </a:prstGeom>
          <a:solidFill>
            <a:srgbClr val="2E6E7E"/>
          </a:solidFill>
          <a:ln/>
        </p:spPr>
      </p:sp>
      <p:sp>
        <p:nvSpPr>
          <p:cNvPr id="17" name="Text 17"/>
          <p:cNvSpPr txBox="1"/>
          <p:nvPr/>
        </p:nvSpPr>
        <p:spPr>
          <a:xfrm>
            <a:off x="8371840" y="219456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p>
        </p:txBody>
      </p:sp>
      <p:sp>
        <p:nvSpPr>
          <p:cNvPr id="18" name="Text 18"/>
          <p:cNvSpPr txBox="1"/>
          <p:nvPr/>
        </p:nvSpPr>
        <p:spPr>
          <a:xfrm>
            <a:off x="8371840" y="2788920"/>
            <a:ext cx="2905760" cy="457200"/>
          </a:xfrm>
          <a:prstGeom prst="rect">
            <a:avLst/>
          </a:prstGeom>
          <a:noFill/>
          <a:ln/>
        </p:spPr>
        <p:txBody>
          <a:bodyPr wrap="square" rtlCol="0" anchor="t"/>
          <a:lstStyle/>
          <a:p>
            <a:pPr algn="l" indent="0" marL="0">
              <a:buNone/>
            </a:pPr>
            <a:r>
              <a:rPr lang="en-US" sz="1500" b="1" dirty="0">
                <a:solidFill>
                  <a:srgbClr val="FFFFFF"/>
                </a:solidFill>
                <a:latin typeface="Cambria" pitchFamily="34" charset="0"/>
                <a:ea typeface="Cambria" pitchFamily="34" charset="-122"/>
                <a:cs typeface="Cambria" pitchFamily="34" charset="-120"/>
              </a:rPr>
              <a:t>Traceable Output</a:t>
            </a:r>
          </a:p>
        </p:txBody>
      </p:sp>
      <p:sp>
        <p:nvSpPr>
          <p:cNvPr id="19" name="Text 19"/>
          <p:cNvSpPr txBox="1"/>
          <p:nvPr/>
        </p:nvSpPr>
        <p:spPr>
          <a:xfrm>
            <a:off x="8371840" y="3291840"/>
            <a:ext cx="2905760" cy="1005840"/>
          </a:xfrm>
          <a:prstGeom prst="rect">
            <a:avLst/>
          </a:prstGeom>
          <a:noFill/>
          <a:ln/>
        </p:spPr>
        <p:txBody>
          <a:bodyPr wrap="square" rtlCol="0" anchor="t"/>
          <a:lstStyle/>
          <a:p>
            <a:pPr algn="l" indent="0" marL="0">
              <a:lnSpc>
                <a:spcPct val="135000"/>
              </a:lnSpc>
              <a:buNone/>
            </a:pPr>
            <a:r>
              <a:rPr lang="en-US" sz="1150" dirty="0">
                <a:solidFill>
                  <a:srgbClr val="C9D4DE"/>
                </a:solidFill>
                <a:latin typeface="Calibri" pitchFamily="34" charset="0"/>
                <a:ea typeface="Calibri" pitchFamily="34" charset="-122"/>
                <a:cs typeface="Calibri" pitchFamily="34" charset="-120"/>
              </a:rPr>
              <a:t>Emits line-by-line diagnostics stating whether each variable was converted or rejected, and the specific reason.</a:t>
            </a:r>
          </a:p>
        </p:txBody>
      </p:sp>
      <p:sp>
        <p:nvSpPr>
          <p:cNvPr id="20" name="Shape 20"/>
          <p:cNvSpPr/>
          <p:nvPr/>
        </p:nvSpPr>
        <p:spPr>
          <a:xfrm>
            <a:off x="640080" y="4785360"/>
            <a:ext cx="10911840" cy="1005840"/>
          </a:xfrm>
          <a:prstGeom prst="rect">
            <a:avLst/>
          </a:prstGeom>
          <a:solidFill>
            <a:srgbClr val="2C3B52"/>
          </a:solidFill>
          <a:ln w="15875">
            <a:solidFill>
              <a:srgbClr val="2E6E7E"/>
            </a:solidFill>
            <a:prstDash val="solid"/>
          </a:ln>
        </p:spPr>
      </p:sp>
      <p:sp>
        <p:nvSpPr>
          <p:cNvPr id="21" name="Text 21"/>
          <p:cNvSpPr txBox="1"/>
          <p:nvPr/>
        </p:nvSpPr>
        <p:spPr>
          <a:xfrm>
            <a:off x="822960" y="4785360"/>
            <a:ext cx="1280160" cy="1005840"/>
          </a:xfrm>
          <a:prstGeom prst="rect">
            <a:avLst/>
          </a:prstGeom>
          <a:noFill/>
          <a:ln/>
        </p:spPr>
        <p:txBody>
          <a:bodyPr wrap="square" rtlCol="0" anchor="ctr"/>
          <a:lstStyle/>
          <a:p>
            <a:pPr algn="l" indent="0" marL="0">
              <a:buNone/>
            </a:pPr>
            <a:r>
              <a:rPr lang="en-US" sz="4000" b="1" dirty="0">
                <a:solidFill>
                  <a:srgbClr val="8FB6C2"/>
                </a:solidFill>
                <a:latin typeface="Cambria" pitchFamily="34" charset="0"/>
                <a:ea typeface="Cambria" pitchFamily="34" charset="-122"/>
                <a:cs typeface="Cambria" pitchFamily="34" charset="-120"/>
              </a:rPr>
              <a:t>4×</a:t>
            </a:r>
          </a:p>
        </p:txBody>
      </p:sp>
      <p:sp>
        <p:nvSpPr>
          <p:cNvPr id="22" name="Text 22"/>
          <p:cNvSpPr txBox="1"/>
          <p:nvPr/>
        </p:nvSpPr>
        <p:spPr>
          <a:xfrm>
            <a:off x="2103120" y="4785360"/>
            <a:ext cx="9174480" cy="1005840"/>
          </a:xfrm>
          <a:prstGeom prst="rect">
            <a:avLst/>
          </a:prstGeom>
          <a:noFill/>
          <a:ln/>
        </p:spPr>
        <p:txBody>
          <a:bodyPr wrap="square" rtlCol="0" anchor="ctr"/>
          <a:lstStyle/>
          <a:p>
            <a:pPr algn="l" indent="0" marL="0">
              <a:lnSpc>
                <a:spcPct val="130000"/>
              </a:lnSpc>
              <a:buNone/>
            </a:pPr>
            <a:r>
              <a:rPr lang="en-US" sz="1350" dirty="0">
                <a:solidFill>
                  <a:srgbClr val="C9D4DE"/>
                </a:solidFill>
                <a:latin typeface="Calibri" pitchFamily="34" charset="0"/>
                <a:ea typeface="Calibri" pitchFamily="34" charset="-122"/>
                <a:cs typeface="Calibri" pitchFamily="34" charset="-120"/>
              </a:rPr>
              <a:t>Reduction in memory per quantized value — 4 bytes (FP32) → 1 byte (INT8), with faster integer arithmetic on edge hardware and no risk of a runtime overflow.</a:t>
            </a:r>
          </a:p>
        </p:txBody>
      </p:sp>
      <p:sp>
        <p:nvSpPr>
          <p:cNvPr id="23" name="Text 23"/>
          <p:cNvSpPr txBox="1"/>
          <p:nvPr/>
        </p:nvSpPr>
        <p:spPr>
          <a:xfrm>
            <a:off x="640080" y="5943600"/>
            <a:ext cx="10911840" cy="320040"/>
          </a:xfrm>
          <a:prstGeom prst="rect">
            <a:avLst/>
          </a:prstGeom>
          <a:noFill/>
          <a:ln/>
        </p:spPr>
        <p:txBody>
          <a:bodyPr wrap="square" rtlCol="0" anchor="t"/>
          <a:lstStyle/>
          <a:p>
            <a:pPr algn="l" indent="0" marL="0">
              <a:buNone/>
            </a:pPr>
            <a:r>
              <a:rPr lang="en-US" sz="1150" i="1" dirty="0">
                <a:solidFill>
                  <a:srgbClr val="8FB6C2"/>
                </a:solidFill>
                <a:latin typeface="Calibri" pitchFamily="34" charset="0"/>
                <a:ea typeface="Calibri" pitchFamily="34" charset="-122"/>
                <a:cs typeface="Calibri" pitchFamily="34" charset="-120"/>
              </a:rPr>
              <a:t>Memory reduction follows directly from the width change; runtime and energy gains remain to be measured.</a:t>
            </a:r>
          </a:p>
        </p:txBody>
      </p:sp>
      <p:sp>
        <p:nvSpPr>
          <p:cNvPr id="24" name="Text 24"/>
          <p:cNvSpPr txBox="1"/>
          <p:nvPr/>
        </p:nvSpPr>
        <p:spPr>
          <a:xfrm>
            <a:off x="502920" y="6492240"/>
            <a:ext cx="9601200" cy="237744"/>
          </a:xfrm>
          <a:prstGeom prst="rect">
            <a:avLst/>
          </a:prstGeom>
          <a:noFill/>
          <a:ln/>
        </p:spPr>
        <p:txBody>
          <a:bodyPr wrap="square" rtlCol="0" anchor="ctr"/>
          <a:lstStyle/>
          <a:p>
            <a:pPr algn="l" indent="0" marL="0">
              <a:buNone/>
            </a:pPr>
            <a:r>
              <a:rPr lang="en-US" sz="800" dirty="0">
                <a:solidFill>
                  <a:srgbClr val="5C7186"/>
                </a:solidFill>
                <a:latin typeface="Calibri" pitchFamily="34" charset="0"/>
                <a:ea typeface="Calibri" pitchFamily="34" charset="-122"/>
                <a:cs typeface="Calibri" pitchFamily="34" charset="-120"/>
              </a:rPr>
              <a:t>BCSE307L — Compiler Design   |   Range-Aware Edge AI Quantization Compiler</a:t>
            </a:r>
          </a:p>
        </p:txBody>
      </p:sp>
      <p:sp>
        <p:nvSpPr>
          <p:cNvPr id="25" name="Text 25"/>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5C7186"/>
                </a:solidFill>
                <a:latin typeface="Calibri" pitchFamily="34" charset="0"/>
                <a:ea typeface="Calibri" pitchFamily="34" charset="-122"/>
                <a:cs typeface="Calibri" pitchFamily="34" charset="-120"/>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indent="0" marL="0">
              <a:buNone/>
            </a:pPr>
            <a:r>
              <a:rPr lang="en-US" sz="1100" b="1" spc="200" kern="0" dirty="0">
                <a:solidFill>
                  <a:srgbClr val="2E6E7E"/>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indent="0" marL="0">
              <a:buNone/>
            </a:pPr>
            <a:r>
              <a:rPr lang="en-US" sz="2900" b="1" dirty="0">
                <a:solidFill>
                  <a:srgbClr val="1F2A3C"/>
                </a:solidFill>
                <a:latin typeface="Cambria" pitchFamily="34" charset="0"/>
                <a:ea typeface="Cambria" pitchFamily="34" charset="-122"/>
                <a:cs typeface="Cambria" pitchFamily="34" charset="-120"/>
              </a:rPr>
              <a:t>References</a:t>
            </a:r>
            <a:endParaRPr lang="en-US" sz="2900" dirty="0"/>
          </a:p>
        </p:txBody>
      </p:sp>
      <p:sp>
        <p:nvSpPr>
          <p:cNvPr id="4" name="Text 2"/>
          <p:cNvSpPr txBox="1"/>
          <p:nvPr/>
        </p:nvSpPr>
        <p:spPr>
          <a:xfrm>
            <a:off x="548640" y="1645920"/>
            <a:ext cx="11094720" cy="4310380"/>
          </a:xfrm>
          <a:prstGeom prst="rect">
            <a:avLst/>
          </a:prstGeom>
          <a:noFill/>
          <a:ln/>
        </p:spPr>
        <p:txBody>
          <a:bodyPr wrap="square" rtlCol="0" anchor="t"/>
          <a:lstStyle/>
          <a:p>
            <a:pPr algn="l" marL="320040" indent="-320040">
              <a:lnSpc>
                <a:spcPct val="118000"/>
              </a:lnSpc>
              <a:spcBef>
                <a:spcPts val="0"/>
              </a:spcBef>
              <a:buNone/>
            </a:pPr>
            <a:r>
              <a:rPr lang="en-US" sz="1200" dirty="0">
                <a:solidFill>
                  <a:srgbClr val="23262B"/>
                </a:solidFill>
                <a:latin typeface="Calibri" pitchFamily="34" charset="0"/>
                <a:ea typeface="Calibri" pitchFamily="34" charset="-122"/>
                <a:cs typeface="Calibri" pitchFamily="34" charset="-120"/>
              </a:rPr>
              <a:t>[1]	B. Jacob, S. Kligys, B. Chen, M. Zhu, M. Tang, A. Howard, H. Adam, and D. Kalenichenko, “Quantization and training of neural networks for efficient integer-arithmetic-only inference,” in Proc. IEEE Conf. Computer Vision and Pattern Recognition (CVPR), 2018, pp. 2704–2713.</a:t>
            </a:r>
          </a:p>
          <a:p>
            <a:pPr algn="l" marL="320040" indent="-320040">
              <a:lnSpc>
                <a:spcPct val="118000"/>
              </a:lnSpc>
              <a:spcBef>
                <a:spcPts val="800"/>
              </a:spcBef>
              <a:buNone/>
            </a:pPr>
            <a:r>
              <a:rPr lang="en-US" sz="1200" dirty="0">
                <a:solidFill>
                  <a:srgbClr val="23262B"/>
                </a:solidFill>
                <a:latin typeface="Calibri" pitchFamily="34" charset="0"/>
                <a:ea typeface="Calibri" pitchFamily="34" charset="-122"/>
                <a:cs typeface="Calibri" pitchFamily="34" charset="-120"/>
              </a:rPr>
              <a:t>[2]	R. Krishnamoorthi, “Quantizing deep convolutional networks for efficient inference: A whitepaper,” arXiv:1806.08342, 2018.</a:t>
            </a:r>
          </a:p>
          <a:p>
            <a:pPr algn="l" marL="320040" indent="-320040">
              <a:lnSpc>
                <a:spcPct val="118000"/>
              </a:lnSpc>
              <a:spcBef>
                <a:spcPts val="800"/>
              </a:spcBef>
              <a:buNone/>
            </a:pPr>
            <a:r>
              <a:rPr lang="en-US" sz="1200" dirty="0">
                <a:solidFill>
                  <a:srgbClr val="23262B"/>
                </a:solidFill>
                <a:latin typeface="Calibri" pitchFamily="34" charset="0"/>
                <a:ea typeface="Calibri" pitchFamily="34" charset="-122"/>
                <a:cs typeface="Calibri" pitchFamily="34" charset="-120"/>
              </a:rPr>
              <a:t>[3]	F. Bourdoncle, “Efficient chaotic iteration strategies with widenings,” in Formal Methods in Programming and Their Applications, LNCS vol. 735, Springer, 1993, pp. 128–141.</a:t>
            </a:r>
          </a:p>
          <a:p>
            <a:pPr algn="l" marL="320040" indent="-320040">
              <a:lnSpc>
                <a:spcPct val="118000"/>
              </a:lnSpc>
              <a:spcBef>
                <a:spcPts val="800"/>
              </a:spcBef>
              <a:buNone/>
            </a:pPr>
            <a:r>
              <a:rPr lang="en-US" sz="1200" dirty="0">
                <a:solidFill>
                  <a:srgbClr val="23262B"/>
                </a:solidFill>
                <a:latin typeface="Calibri" pitchFamily="34" charset="0"/>
                <a:ea typeface="Calibri" pitchFamily="34" charset="-122"/>
                <a:cs typeface="Calibri" pitchFamily="34" charset="-120"/>
              </a:rPr>
              <a:t>[4]	Z. Zhou, X. Chen, E. Li, L. Zeng, K. Luo, and J. Zhang, “Edge intelligence: Paving the last mile of artificial intelligence with edge computing,” Proc. IEEE, vol. 107, no. 8, pp. 1738–1762, 2019.</a:t>
            </a:r>
          </a:p>
          <a:p>
            <a:pPr algn="l" marL="320040" indent="-320040">
              <a:lnSpc>
                <a:spcPct val="118000"/>
              </a:lnSpc>
              <a:spcBef>
                <a:spcPts val="800"/>
              </a:spcBef>
              <a:buNone/>
            </a:pPr>
            <a:r>
              <a:rPr lang="en-US" sz="1200" dirty="0">
                <a:solidFill>
                  <a:srgbClr val="23262B"/>
                </a:solidFill>
                <a:latin typeface="Calibri" pitchFamily="34" charset="0"/>
                <a:ea typeface="Calibri" pitchFamily="34" charset="-122"/>
                <a:cs typeface="Calibri" pitchFamily="34" charset="-120"/>
              </a:rPr>
              <a:t>[5]	T. Chen et al., “TVM: An automated end-to-end optimizing compiler for deep learning,” in Proc. 13th USENIX Symp. on Operating Systems Design and Implementation (OSDI), 2018, pp. 578–594.</a:t>
            </a:r>
          </a:p>
          <a:p>
            <a:pPr algn="l" marL="320040" indent="-320040">
              <a:lnSpc>
                <a:spcPct val="118000"/>
              </a:lnSpc>
              <a:spcBef>
                <a:spcPts val="800"/>
              </a:spcBef>
              <a:buNone/>
            </a:pPr>
            <a:r>
              <a:rPr lang="en-US" sz="1200" dirty="0">
                <a:solidFill>
                  <a:srgbClr val="23262B"/>
                </a:solidFill>
                <a:latin typeface="Calibri" pitchFamily="34" charset="0"/>
                <a:ea typeface="Calibri" pitchFamily="34" charset="-122"/>
                <a:cs typeface="Calibri" pitchFamily="34" charset="-120"/>
              </a:rPr>
              <a:t>[6]	R. Cytron, J. Ferrante, B. K. Rosen, M. N. Wegman, and F. K. Zadeck, “Efficiently computing static single assignment form and the control dependence graph,” ACM Trans. Program. Lang. Syst., vol. 13, no. 4, pp. 451–490, 1991.</a:t>
            </a:r>
          </a:p>
          <a:p>
            <a:pPr algn="l" marL="320040" indent="-320040">
              <a:lnSpc>
                <a:spcPct val="118000"/>
              </a:lnSpc>
              <a:spcBef>
                <a:spcPts val="800"/>
              </a:spcBef>
              <a:buNone/>
            </a:pPr>
            <a:r>
              <a:rPr lang="en-US" sz="1200" dirty="0">
                <a:solidFill>
                  <a:srgbClr val="23262B"/>
                </a:solidFill>
                <a:latin typeface="Calibri" pitchFamily="34" charset="0"/>
                <a:ea typeface="Calibri" pitchFamily="34" charset="-122"/>
                <a:cs typeface="Calibri" pitchFamily="34" charset="-120"/>
              </a:rPr>
              <a:t>[7]	P. Cousot and R. Cousot, “Abstract interpretation: A unified lattice model for static analysis of programs by construction or approximation of fixpoints,” in Proc. 4th ACM SIGACT-SIGPLAN Symp. on Principles of Programming Languages (POPL), 1977, pp. 238–252.</a:t>
            </a:r>
          </a:p>
          <a:p>
            <a:pPr algn="l" marL="320040" indent="-320040">
              <a:lnSpc>
                <a:spcPct val="118000"/>
              </a:lnSpc>
              <a:spcBef>
                <a:spcPts val="800"/>
              </a:spcBef>
              <a:buNone/>
            </a:pPr>
            <a:r>
              <a:rPr lang="en-US" sz="1200" dirty="0">
                <a:solidFill>
                  <a:srgbClr val="23262B"/>
                </a:solidFill>
                <a:latin typeface="Calibri" pitchFamily="34" charset="0"/>
                <a:ea typeface="Calibri" pitchFamily="34" charset="-122"/>
                <a:cs typeface="Calibri" pitchFamily="34" charset="-120"/>
              </a:rPr>
              <a:t>[8]	C. Lattner and V. Adve, “LLVM: A compilation framework for lifelong program analysis and transformation,” in Proc. Int. Symp. on Code Generation and Optimization (CGO), 2004, pp. 75–86.</a:t>
            </a:r>
          </a:p>
        </p:txBody>
      </p:sp>
      <p:sp>
        <p:nvSpPr>
          <p:cNvPr id="5" name="Text 3"/>
          <p:cNvSpPr txBox="1"/>
          <p:nvPr/>
        </p:nvSpPr>
        <p:spPr>
          <a:xfrm>
            <a:off x="502920" y="6172200"/>
            <a:ext cx="11155680" cy="274320"/>
          </a:xfrm>
          <a:prstGeom prst="rect">
            <a:avLst/>
          </a:prstGeom>
          <a:noFill/>
          <a:ln/>
        </p:spPr>
        <p:txBody>
          <a:bodyPr wrap="square" rtlCol="0" anchor="ctr"/>
          <a:lstStyle/>
          <a:p>
            <a:pPr algn="ctr" indent="0" marL="0">
              <a:buNone/>
            </a:pPr>
            <a:r>
              <a:rPr lang="en-US" sz="1050" i="1" dirty="0">
                <a:solidFill>
                  <a:srgbClr val="6B7480"/>
                </a:solidFill>
                <a:latin typeface="Calibri" pitchFamily="34" charset="0"/>
                <a:ea typeface="Calibri" pitchFamily="34" charset="-122"/>
                <a:cs typeface="Calibri" pitchFamily="34" charset="-120"/>
              </a:rPr>
              <a:t>Consistent with the reference list in the accompanying Project Review Document.</a:t>
            </a:r>
            <a:endParaRPr lang="en-US" sz="1050" dirty="0"/>
          </a:p>
        </p:txBody>
      </p:sp>
      <p:sp>
        <p:nvSpPr>
          <p:cNvPr id="12" name="Text 10"/>
          <p:cNvSpPr txBox="1"/>
          <p:nvPr/>
        </p:nvSpPr>
        <p:spPr>
          <a:xfrm>
            <a:off x="502920" y="6492240"/>
            <a:ext cx="9601200" cy="237744"/>
          </a:xfrm>
          <a:prstGeom prst="rect">
            <a:avLst/>
          </a:prstGeom>
          <a:noFill/>
          <a:ln/>
        </p:spPr>
        <p:txBody>
          <a:bodyPr wrap="square" rtlCol="0" anchor="ctr"/>
          <a:lstStyle/>
          <a:p>
            <a:pPr indent="0" marL="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3" name="Text 11"/>
          <p:cNvSpPr txBox="1"/>
          <p:nvPr/>
        </p:nvSpPr>
        <p:spPr>
          <a:xfrm>
            <a:off x="11247120" y="6492240"/>
            <a:ext cx="457200" cy="237744"/>
          </a:xfrm>
          <a:prstGeom prst="rect">
            <a:avLst/>
          </a:prstGeom>
          <a:noFill/>
          <a:ln/>
        </p:spPr>
        <p:txBody>
          <a:bodyPr wrap="square" rtlCol="0" anchor="ctr"/>
          <a:lstStyle/>
          <a:p>
            <a:pPr algn="r" indent="0" marL="0">
              <a:buNone/>
            </a:pPr>
            <a:r>
              <a:rPr lang="en-US" sz="800" dirty="0">
                <a:solidFill>
                  <a:srgbClr val="9AA3AF"/>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2026-09-13T16:38:07Z</dcterms:created>
  <dcterms:modified xsi:type="dcterms:W3CDTF">2026-09-13T16:38:07Z</dcterms:modified>
</cp:coreProperties>
</file>