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78" r:id="rId3"/>
    <p:sldId id="257" r:id="rId4"/>
    <p:sldId id="258" r:id="rId5"/>
    <p:sldId id="259" r:id="rId6"/>
    <p:sldId id="260" r:id="rId7"/>
    <p:sldId id="261" r:id="rId8"/>
    <p:sldId id="262" r:id="rId9"/>
    <p:sldId id="279" r:id="rId10"/>
    <p:sldId id="263" r:id="rId11"/>
    <p:sldId id="264" r:id="rId12"/>
    <p:sldId id="280" r:id="rId13"/>
    <p:sldId id="281" r:id="rId14"/>
    <p:sldId id="265" r:id="rId15"/>
    <p:sldId id="266" r:id="rId16"/>
    <p:sldId id="267" r:id="rId17"/>
    <p:sldId id="268" r:id="rId18"/>
    <p:sldId id="287" r:id="rId19"/>
    <p:sldId id="282" r:id="rId20"/>
    <p:sldId id="283" r:id="rId21"/>
    <p:sldId id="284" r:id="rId22"/>
    <p:sldId id="272" r:id="rId23"/>
    <p:sldId id="273" r:id="rId24"/>
    <p:sldId id="274" r:id="rId25"/>
    <p:sldId id="285" r:id="rId26"/>
    <p:sldId id="275" r:id="rId27"/>
    <p:sldId id="276" r:id="rId28"/>
    <p:sldId id="277" r:id="rId29"/>
    <p:sldId id="270" r:id="rId30"/>
    <p:sldId id="271" r:id="rId31"/>
    <p:sldId id="286"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2490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I'll be presenting my Compiler Design project review: a Range-Aware Edge AI Quantization Compiler. This is a compiler-optimization project that uses SSA and static range analysis to decide, at compile time, when FP32 values can be safely represented as INT8.</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Edge devices are constrained in memory, compute, energy and data movement. FP32 uses 4 bytes per value while INT8 uses 1 byte, so precision reduction is attractive — but only if it can be done safely, which motivates the rest of the project. We do not claim automatic runtime or energy gains without measurement.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precise research question: not 'should we quantize', but 'can the compiler prove it is safe'. If the four proof obligations hold, we quantize; otherwise we conservatively keep FP32. This slide is the one I'd point to in a viva.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precision conversion doesn't scale and is error-prone. Dynamic checking works but adds runtime cost on every execution. Static compiler analysis lets us make the safety decision once, at compile time, by reasoning directly over the IR.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concrete objectives: from the front end through SSA, range and integrality analysis, conservative safety checks, the quantization transform itself, and source-level traceability so diagnostics can point back to the original code.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literature spans four areas: Edge AI, quantization, compiler optimization, and static analysis / SSA. This project sits deliberately at the intersection — it is a compiler that uses SSA-based static analysis to make a quantization decision.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sources across four themes: INT8 quantization (Jacob, Krishnamoorthi, Han), the Edge AI motivation (Sze), compiler-driven optimization (TVM), and the static-analysis foundations we build on directly — SSA construction (Cytron et al.), abstract interpretation (Cousot &amp; Cousot), and SSA-based range analysis on LLVM IR (Pereira et al.), which is the closest prior technique.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claiming that no one has done quantization before — we're claiming a different, complementary focus: a compact compiler where the safety reasoning is fully explainable via SSA and range analysis, rather than folded into a large framework.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a conventional front end — lexer, parser, AST, semantic analysis, TAC, CFG — followed by SSA construction and the project's core contribution: range and integrality analysis feeding an INT8 safety check, which gates the quantization transform before code generation and evaluation.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Rather than force every syllabus topic in, we only show the concepts that genuinely map to a real component: intermediate code generation, CFG/backpatching, data-flow analysis, basic blocks, machine-independent optimization, SSA, and code generation.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tiny example: x is assigned 10, conditionally reassigned to 20, and SSA introduces a phi node x3 merging both. Range analysis gives x3 the interval [10,20], and propagating through addition gives y1 the interval [15,25]. This range, plus integrality, feeds the quantization decision.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symmetric cases show the decision rule directly: a range fully inside [-128,127] is quantized; a range that overflows is rejected. The bottom case is the key insight the project adds — x = 1.5 fits numerically but is not integral, so it must still be rejected.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loop like this counter, SSA introduces a phi node at the loop header merging the initial and back-edge values. Range propagation must run to a fixed point; the analysis uses a bounded/widening strategy so it always converges and terminates, never looping forever trying to refine the range.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compiler emits a diagnostic per variable: source location, inferred range, integrality, and the safety verdict. On the left, z is safely quantized. On the right, x is rejected with a clear, source-traceable reason — possible overflow at line 14, column 7.</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Since the first review, the project has moved from a proposed architecture to an implemented compiler core. Every stage of the pipeline from Review 1 now exists in code: lexer, parser and AST, semantic analysis, TAC, basic blocks and CFG, SSA, range and integrality analysis, INT8 safety analysis, selective quantization, quantized SSA IR, a lightweight simulator, and diagnostics. The pipeline runs end-to-end for the current scope and is backed by 20 passing automated tests and five representative example programs. This is a teaching-scale prototype, not a production compiler — the following slides show the evidence and the current limits.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table is the implementation checklist from the Review 2 report, with the evidence for each component — the source module and the tests that exercise it. Thirteen components are fully implemented. Two are deliberately qualified: loop widening is implemented conservatively, and the end-to-end pipeline is implemented for the current scope of the language. The point is traceability: each claimed stage maps to code and to a test, rather than to a plan.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verification evidence. The full automated suite — 20 tests — passes, run with python -m unittest discover in about 18 milliseconds. On top of the unit tests, five representative programs go through the whole pipeline: a safe case, two rejection cases for overflow and non-integrality, an if/else that exercises SSA phi nodes, and a while loop that exercises widening. For the two control-flow programs the simulator runs both the original and the quantized IR and produces identical output: 20 and 15. What this shows is correctness on the tested programs — not a guarantee for every possible program.</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actual outputs from the compiler, not mock-ups. On the left, the safe program: every SSA value has a known integral range inside INT8, so all three are rewritten and the quantized IR types them as int8. On the right, the same addition with 100 plus 30: z.1 is 130, which exceeds 127, so it is rejected with an explicit reason. Below it, 3.5 is in range numerically but is not integral, so it and the sum that depends on it are rejected. Rejection is selective — the safe operands in each program are still quantized.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Straight-line code is the easy case, so this slide shows control flow. In the if/else program, SSA inserts a phi node at the join, max.4 equals phi of max.3 from B3 and max.2 from B4, and range analysis merges the branches to [10, 20], integral. The comparison temporary using the greater-than operator is not supported by the quantization pass, so it is left unquantized. In the while loop, the analysis uses conservative widening: if a range does not stabilise within the threshold it becomes UNKNOWN and is not quantized. In both programs the simulator gives the same output before and after quantization: 20 and 15. The trade-off is coverage: widening may give up on some loop values that are actually safe.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keep this grounded, here is exactly what the prototype does not do yet. Loop widening is conservative and can return UNKNOWN; operations like the greater-than comparison are not quantized; the backend is a lightweight IR simulator rather than LLVM or real hardware; and we have not yet measured runtime, latency, energy or power, so we make no performance claims. Note that every limitation fails safe — when in doubt, the compiler leaves the value unquantized. At this 60 percent milestone we have a working compiler core for the current scope, verified on representative programs.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project delivers three outcomes. First, a static safety check that proves at compile time that a value stays integral and inside the INT8 range on every execution path. Second, selective quantization — only certified-safe operations are rewritten to INT8, and anything unproven stays FP32. Third, a traceable output: line-by-line diagnostics saying whether each variable was converted or rejected, and why. The memory outcome is a 4x reduction per quantized value, which follows directly from the 4-byte to 1-byte width change; runtime and energy gains we will measure rather than assume. Thank you.</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3C"/>
        </a:solidFill>
        <a:effectLst/>
      </p:bgPr>
    </p:bg>
    <p:spTree>
      <p:nvGrpSpPr>
        <p:cNvPr id="1" name=""/>
        <p:cNvGrpSpPr/>
        <p:nvPr/>
      </p:nvGrpSpPr>
      <p:grpSpPr>
        <a:xfrm>
          <a:off x="0" y="0"/>
          <a:ext cx="0" cy="0"/>
          <a:chOff x="0" y="0"/>
          <a:chExt cx="0" cy="0"/>
        </a:xfrm>
      </p:grpSpPr>
      <p:sp>
        <p:nvSpPr>
          <p:cNvPr id="2" name="Text 0"/>
          <p:cNvSpPr txBox="1"/>
          <p:nvPr/>
        </p:nvSpPr>
        <p:spPr>
          <a:xfrm>
            <a:off x="0" y="1371600"/>
            <a:ext cx="12191695" cy="320040"/>
          </a:xfrm>
          <a:prstGeom prst="rect">
            <a:avLst/>
          </a:prstGeom>
          <a:noFill/>
          <a:ln/>
        </p:spPr>
        <p:txBody>
          <a:bodyPr wrap="square" rtlCol="0" anchor="ctr"/>
          <a:lstStyle/>
          <a:p>
            <a:pPr marL="0" indent="0" algn="ctr">
              <a:buNone/>
            </a:pPr>
            <a:r>
              <a:rPr lang="en-US" sz="1300" b="1" kern="0" spc="300" dirty="0">
                <a:solidFill>
                  <a:srgbClr val="8FB6C2"/>
                </a:solidFill>
                <a:latin typeface="Calibri" pitchFamily="34" charset="0"/>
                <a:ea typeface="Calibri" pitchFamily="34" charset="-122"/>
                <a:cs typeface="Calibri" pitchFamily="34" charset="-120"/>
              </a:rPr>
              <a:t>PROJECT REVIEW 2 PRESENTATION</a:t>
            </a:r>
            <a:endParaRPr lang="en-US" sz="1300" dirty="0"/>
          </a:p>
        </p:txBody>
      </p:sp>
      <p:sp>
        <p:nvSpPr>
          <p:cNvPr id="3" name="Text 1"/>
          <p:cNvSpPr txBox="1"/>
          <p:nvPr/>
        </p:nvSpPr>
        <p:spPr>
          <a:xfrm>
            <a:off x="731520" y="1828800"/>
            <a:ext cx="10725912" cy="1737360"/>
          </a:xfrm>
          <a:prstGeom prst="rect">
            <a:avLst/>
          </a:prstGeom>
          <a:noFill/>
          <a:ln/>
        </p:spPr>
        <p:txBody>
          <a:bodyPr wrap="square" rtlCol="0" anchor="ctr"/>
          <a:lstStyle/>
          <a:p>
            <a:pPr marL="0" indent="0" algn="ctr">
              <a:lnSpc>
                <a:spcPct val="105000"/>
              </a:lnSpc>
              <a:buNone/>
            </a:pPr>
            <a:r>
              <a:rPr lang="en-US" sz="4200" b="1" dirty="0">
                <a:solidFill>
                  <a:srgbClr val="FFFFFF"/>
                </a:solidFill>
                <a:latin typeface="Cambria" pitchFamily="34" charset="0"/>
                <a:ea typeface="Cambria" pitchFamily="34" charset="-122"/>
                <a:cs typeface="Cambria" pitchFamily="34" charset="-120"/>
              </a:rPr>
              <a:t>Range-Aware Edge AI</a:t>
            </a:r>
            <a:endParaRPr lang="en-US" sz="4200" dirty="0"/>
          </a:p>
          <a:p>
            <a:pPr marL="0" indent="0" algn="ctr">
              <a:lnSpc>
                <a:spcPct val="105000"/>
              </a:lnSpc>
              <a:buNone/>
            </a:pPr>
            <a:r>
              <a:rPr lang="en-US" sz="4200" b="1" dirty="0">
                <a:solidFill>
                  <a:srgbClr val="FFFFFF"/>
                </a:solidFill>
                <a:latin typeface="Cambria" pitchFamily="34" charset="0"/>
                <a:ea typeface="Cambria" pitchFamily="34" charset="-122"/>
                <a:cs typeface="Cambria" pitchFamily="34" charset="-120"/>
              </a:rPr>
              <a:t>Quantization Compiler</a:t>
            </a:r>
            <a:endParaRPr lang="en-US" sz="4200" dirty="0"/>
          </a:p>
        </p:txBody>
      </p:sp>
      <p:sp>
        <p:nvSpPr>
          <p:cNvPr id="4" name="Text 2"/>
          <p:cNvSpPr txBox="1"/>
          <p:nvPr/>
        </p:nvSpPr>
        <p:spPr>
          <a:xfrm>
            <a:off x="731520" y="3566160"/>
            <a:ext cx="10725912" cy="457200"/>
          </a:xfrm>
          <a:prstGeom prst="rect">
            <a:avLst/>
          </a:prstGeom>
          <a:noFill/>
          <a:ln/>
        </p:spPr>
        <p:txBody>
          <a:bodyPr wrap="square" rtlCol="0" anchor="ctr"/>
          <a:lstStyle/>
          <a:p>
            <a:pPr marL="0" indent="0" algn="ctr">
              <a:buNone/>
            </a:pPr>
            <a:r>
              <a:rPr lang="en-US" sz="1800" i="1" dirty="0">
                <a:solidFill>
                  <a:srgbClr val="9FC3CE"/>
                </a:solidFill>
                <a:latin typeface="Calibri" pitchFamily="34" charset="0"/>
                <a:ea typeface="Calibri" pitchFamily="34" charset="-122"/>
                <a:cs typeface="Calibri" pitchFamily="34" charset="-120"/>
              </a:rPr>
              <a:t>SSA-Based Static Analysis for Safe FP32 → INT8 Optimization</a:t>
            </a:r>
            <a:endParaRPr lang="en-US" sz="1800" dirty="0"/>
          </a:p>
        </p:txBody>
      </p:sp>
      <p:sp>
        <p:nvSpPr>
          <p:cNvPr id="5" name="Shape 3"/>
          <p:cNvSpPr/>
          <p:nvPr/>
        </p:nvSpPr>
        <p:spPr>
          <a:xfrm>
            <a:off x="2461108" y="4389120"/>
            <a:ext cx="1051560" cy="502920"/>
          </a:xfrm>
          <a:prstGeom prst="rect">
            <a:avLst/>
          </a:prstGeom>
          <a:solidFill>
            <a:srgbClr val="1F2A3C"/>
          </a:solidFill>
          <a:ln w="12700">
            <a:solidFill>
              <a:srgbClr val="4C7C8C"/>
            </a:solidFill>
            <a:prstDash val="solid"/>
          </a:ln>
        </p:spPr>
        <p:txBody>
          <a:bodyPr/>
          <a:lstStyle/>
          <a:p>
            <a:endParaRPr/>
          </a:p>
        </p:txBody>
      </p:sp>
      <p:sp>
        <p:nvSpPr>
          <p:cNvPr id="6" name="Text 4"/>
          <p:cNvSpPr txBox="1"/>
          <p:nvPr/>
        </p:nvSpPr>
        <p:spPr>
          <a:xfrm>
            <a:off x="2461108" y="4389120"/>
            <a:ext cx="1051560" cy="502920"/>
          </a:xfrm>
          <a:prstGeom prst="rect">
            <a:avLst/>
          </a:prstGeom>
          <a:noFill/>
          <a:ln/>
        </p:spPr>
        <p:txBody>
          <a:bodyPr wrap="square" lIns="0" tIns="0" rIns="0" bIns="0" rtlCol="0" anchor="ctr"/>
          <a:lstStyle/>
          <a:p>
            <a:pPr marL="0" indent="0" algn="ctr">
              <a:buNone/>
            </a:pPr>
            <a:r>
              <a:rPr lang="en-US" sz="1050" b="1" dirty="0">
                <a:solidFill>
                  <a:srgbClr val="CFE3E9"/>
                </a:solidFill>
                <a:latin typeface="Calibri" pitchFamily="34" charset="0"/>
                <a:ea typeface="Calibri" pitchFamily="34" charset="-122"/>
                <a:cs typeface="Calibri" pitchFamily="34" charset="-120"/>
              </a:rPr>
              <a:t>SRC</a:t>
            </a:r>
            <a:endParaRPr lang="en-US" sz="1050" dirty="0"/>
          </a:p>
        </p:txBody>
      </p:sp>
      <p:sp>
        <p:nvSpPr>
          <p:cNvPr id="7" name="Shape 5"/>
          <p:cNvSpPr/>
          <p:nvPr/>
        </p:nvSpPr>
        <p:spPr>
          <a:xfrm>
            <a:off x="3512668" y="4640580"/>
            <a:ext cx="502920" cy="0"/>
          </a:xfrm>
          <a:prstGeom prst="line">
            <a:avLst/>
          </a:prstGeom>
          <a:noFill/>
          <a:ln w="15875">
            <a:solidFill>
              <a:srgbClr val="4C7C8C"/>
            </a:solidFill>
            <a:prstDash val="solid"/>
            <a:tailEnd type="triangle"/>
          </a:ln>
        </p:spPr>
        <p:txBody>
          <a:bodyPr/>
          <a:lstStyle/>
          <a:p>
            <a:endParaRPr/>
          </a:p>
        </p:txBody>
      </p:sp>
      <p:sp>
        <p:nvSpPr>
          <p:cNvPr id="8" name="Shape 6"/>
          <p:cNvSpPr/>
          <p:nvPr/>
        </p:nvSpPr>
        <p:spPr>
          <a:xfrm>
            <a:off x="4015588" y="4389120"/>
            <a:ext cx="1051560" cy="502920"/>
          </a:xfrm>
          <a:prstGeom prst="rect">
            <a:avLst/>
          </a:prstGeom>
          <a:solidFill>
            <a:srgbClr val="1F2A3C"/>
          </a:solidFill>
          <a:ln w="12700">
            <a:solidFill>
              <a:srgbClr val="4C7C8C"/>
            </a:solidFill>
            <a:prstDash val="solid"/>
          </a:ln>
        </p:spPr>
        <p:txBody>
          <a:bodyPr/>
          <a:lstStyle/>
          <a:p>
            <a:endParaRPr/>
          </a:p>
        </p:txBody>
      </p:sp>
      <p:sp>
        <p:nvSpPr>
          <p:cNvPr id="9" name="Text 7"/>
          <p:cNvSpPr txBox="1"/>
          <p:nvPr/>
        </p:nvSpPr>
        <p:spPr>
          <a:xfrm>
            <a:off x="4015588" y="4389120"/>
            <a:ext cx="1051560" cy="502920"/>
          </a:xfrm>
          <a:prstGeom prst="rect">
            <a:avLst/>
          </a:prstGeom>
          <a:noFill/>
          <a:ln/>
        </p:spPr>
        <p:txBody>
          <a:bodyPr wrap="square" lIns="0" tIns="0" rIns="0" bIns="0" rtlCol="0" anchor="ctr"/>
          <a:lstStyle/>
          <a:p>
            <a:pPr marL="0" indent="0" algn="ctr">
              <a:buNone/>
            </a:pPr>
            <a:r>
              <a:rPr lang="en-US" sz="1050" b="1" dirty="0">
                <a:solidFill>
                  <a:srgbClr val="CFE3E9"/>
                </a:solidFill>
                <a:latin typeface="Calibri" pitchFamily="34" charset="0"/>
                <a:ea typeface="Calibri" pitchFamily="34" charset="-122"/>
                <a:cs typeface="Calibri" pitchFamily="34" charset="-120"/>
              </a:rPr>
              <a:t>AST</a:t>
            </a:r>
            <a:endParaRPr lang="en-US" sz="1050" dirty="0"/>
          </a:p>
        </p:txBody>
      </p:sp>
      <p:sp>
        <p:nvSpPr>
          <p:cNvPr id="10" name="Shape 8"/>
          <p:cNvSpPr/>
          <p:nvPr/>
        </p:nvSpPr>
        <p:spPr>
          <a:xfrm>
            <a:off x="5067148" y="4640580"/>
            <a:ext cx="502920" cy="0"/>
          </a:xfrm>
          <a:prstGeom prst="line">
            <a:avLst/>
          </a:prstGeom>
          <a:noFill/>
          <a:ln w="15875">
            <a:solidFill>
              <a:srgbClr val="4C7C8C"/>
            </a:solidFill>
            <a:prstDash val="solid"/>
            <a:tailEnd type="triangle"/>
          </a:ln>
        </p:spPr>
        <p:txBody>
          <a:bodyPr/>
          <a:lstStyle/>
          <a:p>
            <a:endParaRPr/>
          </a:p>
        </p:txBody>
      </p:sp>
      <p:sp>
        <p:nvSpPr>
          <p:cNvPr id="11" name="Shape 9"/>
          <p:cNvSpPr/>
          <p:nvPr/>
        </p:nvSpPr>
        <p:spPr>
          <a:xfrm>
            <a:off x="5570068" y="4389120"/>
            <a:ext cx="1051560" cy="502920"/>
          </a:xfrm>
          <a:prstGeom prst="rect">
            <a:avLst/>
          </a:prstGeom>
          <a:solidFill>
            <a:srgbClr val="1F2A3C"/>
          </a:solidFill>
          <a:ln w="12700">
            <a:solidFill>
              <a:srgbClr val="4C7C8C"/>
            </a:solidFill>
            <a:prstDash val="solid"/>
          </a:ln>
        </p:spPr>
        <p:txBody>
          <a:bodyPr/>
          <a:lstStyle/>
          <a:p>
            <a:endParaRPr/>
          </a:p>
        </p:txBody>
      </p:sp>
      <p:sp>
        <p:nvSpPr>
          <p:cNvPr id="12" name="Text 10"/>
          <p:cNvSpPr txBox="1"/>
          <p:nvPr/>
        </p:nvSpPr>
        <p:spPr>
          <a:xfrm>
            <a:off x="5570068" y="4389120"/>
            <a:ext cx="1051560" cy="502920"/>
          </a:xfrm>
          <a:prstGeom prst="rect">
            <a:avLst/>
          </a:prstGeom>
          <a:noFill/>
          <a:ln/>
        </p:spPr>
        <p:txBody>
          <a:bodyPr wrap="square" lIns="0" tIns="0" rIns="0" bIns="0" rtlCol="0" anchor="ctr"/>
          <a:lstStyle/>
          <a:p>
            <a:pPr marL="0" indent="0" algn="ctr">
              <a:buNone/>
            </a:pPr>
            <a:r>
              <a:rPr lang="en-US" sz="1050" b="1" dirty="0">
                <a:solidFill>
                  <a:srgbClr val="CFE3E9"/>
                </a:solidFill>
                <a:latin typeface="Calibri" pitchFamily="34" charset="0"/>
                <a:ea typeface="Calibri" pitchFamily="34" charset="-122"/>
                <a:cs typeface="Calibri" pitchFamily="34" charset="-120"/>
              </a:rPr>
              <a:t>SSA</a:t>
            </a:r>
            <a:endParaRPr lang="en-US" sz="1050" dirty="0"/>
          </a:p>
        </p:txBody>
      </p:sp>
      <p:sp>
        <p:nvSpPr>
          <p:cNvPr id="13" name="Shape 11"/>
          <p:cNvSpPr/>
          <p:nvPr/>
        </p:nvSpPr>
        <p:spPr>
          <a:xfrm>
            <a:off x="6621628" y="4640580"/>
            <a:ext cx="502920" cy="0"/>
          </a:xfrm>
          <a:prstGeom prst="line">
            <a:avLst/>
          </a:prstGeom>
          <a:noFill/>
          <a:ln w="15875">
            <a:solidFill>
              <a:srgbClr val="4C7C8C"/>
            </a:solidFill>
            <a:prstDash val="solid"/>
            <a:tailEnd type="triangle"/>
          </a:ln>
        </p:spPr>
        <p:txBody>
          <a:bodyPr/>
          <a:lstStyle/>
          <a:p>
            <a:endParaRPr/>
          </a:p>
        </p:txBody>
      </p:sp>
      <p:sp>
        <p:nvSpPr>
          <p:cNvPr id="14" name="Shape 12"/>
          <p:cNvSpPr/>
          <p:nvPr/>
        </p:nvSpPr>
        <p:spPr>
          <a:xfrm>
            <a:off x="7124548" y="4389120"/>
            <a:ext cx="1051560" cy="502920"/>
          </a:xfrm>
          <a:prstGeom prst="rect">
            <a:avLst/>
          </a:prstGeom>
          <a:solidFill>
            <a:srgbClr val="1F2A3C"/>
          </a:solidFill>
          <a:ln w="12700">
            <a:solidFill>
              <a:srgbClr val="4C7C8C"/>
            </a:solidFill>
            <a:prstDash val="solid"/>
          </a:ln>
        </p:spPr>
        <p:txBody>
          <a:bodyPr/>
          <a:lstStyle/>
          <a:p>
            <a:endParaRPr/>
          </a:p>
        </p:txBody>
      </p:sp>
      <p:sp>
        <p:nvSpPr>
          <p:cNvPr id="15" name="Text 13"/>
          <p:cNvSpPr txBox="1"/>
          <p:nvPr/>
        </p:nvSpPr>
        <p:spPr>
          <a:xfrm>
            <a:off x="7124548" y="4389120"/>
            <a:ext cx="1051560" cy="502920"/>
          </a:xfrm>
          <a:prstGeom prst="rect">
            <a:avLst/>
          </a:prstGeom>
          <a:noFill/>
          <a:ln/>
        </p:spPr>
        <p:txBody>
          <a:bodyPr wrap="square" lIns="0" tIns="0" rIns="0" bIns="0" rtlCol="0" anchor="ctr"/>
          <a:lstStyle/>
          <a:p>
            <a:pPr marL="0" indent="0" algn="ctr">
              <a:buNone/>
            </a:pPr>
            <a:r>
              <a:rPr lang="en-US" sz="1050" b="1" dirty="0">
                <a:solidFill>
                  <a:srgbClr val="CFE3E9"/>
                </a:solidFill>
                <a:latin typeface="Calibri" pitchFamily="34" charset="0"/>
                <a:ea typeface="Calibri" pitchFamily="34" charset="-122"/>
                <a:cs typeface="Calibri" pitchFamily="34" charset="-120"/>
              </a:rPr>
              <a:t>RANGE</a:t>
            </a:r>
            <a:endParaRPr lang="en-US" sz="1050" dirty="0"/>
          </a:p>
        </p:txBody>
      </p:sp>
      <p:sp>
        <p:nvSpPr>
          <p:cNvPr id="16" name="Shape 14"/>
          <p:cNvSpPr/>
          <p:nvPr/>
        </p:nvSpPr>
        <p:spPr>
          <a:xfrm>
            <a:off x="8176108" y="4640580"/>
            <a:ext cx="502920" cy="0"/>
          </a:xfrm>
          <a:prstGeom prst="line">
            <a:avLst/>
          </a:prstGeom>
          <a:noFill/>
          <a:ln w="15875">
            <a:solidFill>
              <a:srgbClr val="4C7C8C"/>
            </a:solidFill>
            <a:prstDash val="solid"/>
            <a:tailEnd type="triangle"/>
          </a:ln>
        </p:spPr>
        <p:txBody>
          <a:bodyPr/>
          <a:lstStyle/>
          <a:p>
            <a:endParaRPr/>
          </a:p>
        </p:txBody>
      </p:sp>
      <p:sp>
        <p:nvSpPr>
          <p:cNvPr id="17" name="Shape 15"/>
          <p:cNvSpPr/>
          <p:nvPr/>
        </p:nvSpPr>
        <p:spPr>
          <a:xfrm>
            <a:off x="8679028" y="4389120"/>
            <a:ext cx="1051560" cy="502920"/>
          </a:xfrm>
          <a:prstGeom prst="rect">
            <a:avLst/>
          </a:prstGeom>
          <a:solidFill>
            <a:srgbClr val="1F2A3C"/>
          </a:solidFill>
          <a:ln w="12700">
            <a:solidFill>
              <a:srgbClr val="4C7C8C"/>
            </a:solidFill>
            <a:prstDash val="solid"/>
          </a:ln>
        </p:spPr>
        <p:txBody>
          <a:bodyPr/>
          <a:lstStyle/>
          <a:p>
            <a:endParaRPr/>
          </a:p>
        </p:txBody>
      </p:sp>
      <p:sp>
        <p:nvSpPr>
          <p:cNvPr id="18" name="Text 16"/>
          <p:cNvSpPr txBox="1"/>
          <p:nvPr/>
        </p:nvSpPr>
        <p:spPr>
          <a:xfrm>
            <a:off x="8679028" y="4389120"/>
            <a:ext cx="1051560" cy="502920"/>
          </a:xfrm>
          <a:prstGeom prst="rect">
            <a:avLst/>
          </a:prstGeom>
          <a:noFill/>
          <a:ln/>
        </p:spPr>
        <p:txBody>
          <a:bodyPr wrap="square" lIns="0" tIns="0" rIns="0" bIns="0" rtlCol="0" anchor="ctr"/>
          <a:lstStyle/>
          <a:p>
            <a:pPr marL="0" indent="0" algn="ctr">
              <a:buNone/>
            </a:pPr>
            <a:r>
              <a:rPr lang="en-US" sz="1050" b="1" dirty="0">
                <a:solidFill>
                  <a:srgbClr val="CFE3E9"/>
                </a:solidFill>
                <a:latin typeface="Calibri" pitchFamily="34" charset="0"/>
                <a:ea typeface="Calibri" pitchFamily="34" charset="-122"/>
                <a:cs typeface="Calibri" pitchFamily="34" charset="-120"/>
              </a:rPr>
              <a:t>INT8</a:t>
            </a:r>
            <a:endParaRPr lang="en-US" sz="1050" dirty="0"/>
          </a:p>
        </p:txBody>
      </p:sp>
      <p:sp>
        <p:nvSpPr>
          <p:cNvPr id="19" name="Text 17"/>
          <p:cNvSpPr txBox="1"/>
          <p:nvPr/>
        </p:nvSpPr>
        <p:spPr>
          <a:xfrm>
            <a:off x="731520" y="5394960"/>
            <a:ext cx="10725912" cy="1005840"/>
          </a:xfrm>
          <a:prstGeom prst="rect">
            <a:avLst/>
          </a:prstGeom>
          <a:noFill/>
          <a:ln/>
        </p:spPr>
        <p:txBody>
          <a:bodyPr wrap="square" rtlCol="0" anchor="ctr"/>
          <a:lstStyle/>
          <a:p>
            <a:pPr marL="0" indent="0" algn="ctr">
              <a:lnSpc>
                <a:spcPct val="140000"/>
              </a:lnSpc>
              <a:buNone/>
            </a:pPr>
            <a:r>
              <a:rPr lang="en-US" sz="1300" dirty="0">
                <a:solidFill>
                  <a:srgbClr val="C9D4DE"/>
                </a:solidFill>
                <a:latin typeface="Calibri" pitchFamily="34" charset="0"/>
                <a:ea typeface="Calibri" pitchFamily="34" charset="-122"/>
                <a:cs typeface="Calibri" pitchFamily="34" charset="-120"/>
              </a:rPr>
              <a:t>Course: BCSE307L — Compiler Design</a:t>
            </a:r>
            <a:endParaRPr lang="en-US" sz="1300" dirty="0"/>
          </a:p>
          <a:p>
            <a:pPr marL="0" indent="0" algn="ctr">
              <a:lnSpc>
                <a:spcPct val="140000"/>
              </a:lnSpc>
              <a:buNone/>
            </a:pPr>
            <a:r>
              <a:rPr lang="en-US" sz="1300" dirty="0">
                <a:solidFill>
                  <a:srgbClr val="C9D4DE"/>
                </a:solidFill>
                <a:latin typeface="Calibri" pitchFamily="34" charset="0"/>
                <a:ea typeface="Calibri" pitchFamily="34" charset="-122"/>
                <a:cs typeface="Calibri" pitchFamily="34" charset="-120"/>
              </a:rPr>
              <a:t>Yash Pradhan (24BCE0702)  •  Anjini Pandey (24BCE0714)  •  Ishita Srivastava (24BDS0234)</a:t>
            </a:r>
            <a:endParaRPr lang="en-US" sz="1300" dirty="0"/>
          </a:p>
          <a:p>
            <a:pPr marL="0" indent="0" algn="ctr">
              <a:lnSpc>
                <a:spcPct val="140000"/>
              </a:lnSpc>
              <a:buNone/>
            </a:pPr>
            <a:r>
              <a:rPr lang="en-US" sz="1300" dirty="0">
                <a:solidFill>
                  <a:srgbClr val="C9D4DE"/>
                </a:solidFill>
                <a:latin typeface="Calibri" pitchFamily="34" charset="0"/>
                <a:ea typeface="Calibri" pitchFamily="34" charset="-122"/>
                <a:cs typeface="Calibri" pitchFamily="34" charset="-120"/>
              </a:rPr>
              <a:t>Faculty Guide: Prof. Kanagaraj 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347472"/>
            <a:ext cx="10607040" cy="256032"/>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2E6E7E"/>
                </a:solidFill>
                <a:latin typeface="Calibri"/>
              </a:rPr>
              <a:t>INTRODUCTION</a:t>
            </a:r>
          </a:p>
        </p:txBody>
      </p:sp>
      <p:sp>
        <p:nvSpPr>
          <p:cNvPr id="3" name="TextBox 2"/>
          <p:cNvSpPr txBox="1"/>
          <p:nvPr/>
        </p:nvSpPr>
        <p:spPr>
          <a:xfrm>
            <a:off x="502920" y="621792"/>
            <a:ext cx="11155680" cy="566928"/>
          </a:xfrm>
          <a:prstGeom prst="rect">
            <a:avLst/>
          </a:prstGeom>
          <a:noFill/>
        </p:spPr>
        <p:txBody>
          <a:bodyPr wrap="square" lIns="0" tIns="0" rIns="0" bIns="0" anchor="t">
            <a:spAutoFit/>
          </a:bodyPr>
          <a:lstStyle/>
          <a:p>
            <a:pPr algn="l">
              <a:lnSpc>
                <a:spcPct val="100000"/>
              </a:lnSpc>
              <a:spcBef>
                <a:spcPts val="0"/>
              </a:spcBef>
              <a:spcAft>
                <a:spcPts val="0"/>
              </a:spcAft>
            </a:pPr>
            <a:r>
              <a:rPr sz="2800" b="1" i="0">
                <a:solidFill>
                  <a:srgbClr val="1F2A3C"/>
                </a:solidFill>
                <a:latin typeface="Cambria"/>
              </a:rPr>
              <a:t>A Compiler Pass for Safety-Aware Precision Reduction</a:t>
            </a:r>
          </a:p>
        </p:txBody>
      </p:sp>
      <p:sp>
        <p:nvSpPr>
          <p:cNvPr id="4" name="TextBox 3"/>
          <p:cNvSpPr txBox="1"/>
          <p:nvPr/>
        </p:nvSpPr>
        <p:spPr>
          <a:xfrm>
            <a:off x="502920" y="6492240"/>
            <a:ext cx="9875520" cy="201168"/>
          </a:xfrm>
          <a:prstGeom prst="rect">
            <a:avLst/>
          </a:prstGeom>
          <a:noFill/>
        </p:spPr>
        <p:txBody>
          <a:bodyPr wrap="square" lIns="0" tIns="0" rIns="0" bIns="0" anchor="t">
            <a:spAutoFit/>
          </a:bodyPr>
          <a:lstStyle/>
          <a:p>
            <a:pPr algn="l">
              <a:lnSpc>
                <a:spcPct val="100000"/>
              </a:lnSpc>
              <a:spcBef>
                <a:spcPts val="0"/>
              </a:spcBef>
              <a:spcAft>
                <a:spcPts val="0"/>
              </a:spcAft>
            </a:pPr>
            <a:r>
              <a:rPr sz="850" b="0" i="0">
                <a:solidFill>
                  <a:srgbClr val="8A919A"/>
                </a:solidFill>
                <a:latin typeface="Calibri"/>
              </a:rPr>
              <a:t>BCSE307L — Compiler Design   |   Range-Aware Edge AI Quantization Compiler</a:t>
            </a:r>
          </a:p>
        </p:txBody>
      </p:sp>
      <p:sp>
        <p:nvSpPr>
          <p:cNvPr id="5" name="TextBox 4"/>
          <p:cNvSpPr txBox="1"/>
          <p:nvPr/>
        </p:nvSpPr>
        <p:spPr>
          <a:xfrm>
            <a:off x="11228832" y="6492240"/>
            <a:ext cx="457200" cy="201168"/>
          </a:xfrm>
          <a:prstGeom prst="rect">
            <a:avLst/>
          </a:prstGeom>
          <a:noFill/>
        </p:spPr>
        <p:txBody>
          <a:bodyPr wrap="square" lIns="0" tIns="0" rIns="0" bIns="0" anchor="t">
            <a:spAutoFit/>
          </a:bodyPr>
          <a:lstStyle/>
          <a:p>
            <a:pPr algn="r"/>
            <a:r>
              <a:rPr sz="850">
                <a:solidFill>
                  <a:srgbClr val="8A919A"/>
                </a:solidFill>
                <a:latin typeface="Calibri"/>
              </a:rPr>
              <a:t>2</a:t>
            </a:r>
          </a:p>
        </p:txBody>
      </p:sp>
      <p:sp>
        <p:nvSpPr>
          <p:cNvPr id="6" name="Rectangle 5"/>
          <p:cNvSpPr/>
          <p:nvPr/>
        </p:nvSpPr>
        <p:spPr>
          <a:xfrm>
            <a:off x="548640" y="1417320"/>
            <a:ext cx="11109960" cy="868680"/>
          </a:xfrm>
          <a:prstGeom prst="rect">
            <a:avLst/>
          </a:prstGeom>
          <a:solidFill>
            <a:srgbClr val="F3F5F7"/>
          </a:solidFill>
          <a:ln w="1016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572768"/>
            <a:ext cx="10652760" cy="566928"/>
          </a:xfrm>
          <a:prstGeom prst="rect">
            <a:avLst/>
          </a:prstGeom>
          <a:noFill/>
        </p:spPr>
        <p:txBody>
          <a:bodyPr wrap="square" lIns="0" tIns="0" rIns="0" bIns="0" anchor="t">
            <a:spAutoFit/>
          </a:bodyPr>
          <a:lstStyle/>
          <a:p>
            <a:pPr algn="l">
              <a:lnSpc>
                <a:spcPct val="100000"/>
              </a:lnSpc>
              <a:spcBef>
                <a:spcPts val="0"/>
              </a:spcBef>
              <a:spcAft>
                <a:spcPts val="0"/>
              </a:spcAft>
            </a:pPr>
            <a:r>
              <a:rPr sz="1400" b="0" i="0">
                <a:solidFill>
                  <a:srgbClr val="303845"/>
                </a:solidFill>
                <a:latin typeface="Calibri"/>
              </a:rPr>
              <a:t>The Range-Aware Edge AI Quantization Compiler is a teaching-scale compiler that examines whether supported numerical values can be represented as INT8 before rewriting them. It makes the analysis and decision visible across compiler stages rather than relying on blind datatype replacement.</a:t>
            </a:r>
          </a:p>
        </p:txBody>
      </p:sp>
      <p:sp>
        <p:nvSpPr>
          <p:cNvPr id="8" name="Rectangle 7"/>
          <p:cNvSpPr/>
          <p:nvPr/>
        </p:nvSpPr>
        <p:spPr>
          <a:xfrm>
            <a:off x="548640" y="2578608"/>
            <a:ext cx="3520440" cy="1417320"/>
          </a:xfrm>
          <a:prstGeom prst="rect">
            <a:avLst/>
          </a:prstGeom>
          <a:solidFill>
            <a:srgbClr val="FFFFFF"/>
          </a:solidFill>
          <a:ln w="1016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2578608"/>
            <a:ext cx="64008" cy="1417320"/>
          </a:xfrm>
          <a:prstGeom prst="rect">
            <a:avLst/>
          </a:prstGeom>
          <a:solidFill>
            <a:srgbClr val="2E6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670048"/>
            <a:ext cx="3209544" cy="246888"/>
          </a:xfrm>
          <a:prstGeom prst="rect">
            <a:avLst/>
          </a:prstGeom>
          <a:noFill/>
        </p:spPr>
        <p:txBody>
          <a:bodyPr wrap="square" lIns="0" tIns="0" rIns="0" bIns="0" anchor="t">
            <a:spAutoFit/>
          </a:bodyPr>
          <a:lstStyle/>
          <a:p>
            <a:pPr algn="l">
              <a:lnSpc>
                <a:spcPct val="100000"/>
              </a:lnSpc>
              <a:spcBef>
                <a:spcPts val="0"/>
              </a:spcBef>
              <a:spcAft>
                <a:spcPts val="0"/>
              </a:spcAft>
            </a:pPr>
            <a:r>
              <a:rPr sz="1420" b="1" i="0">
                <a:solidFill>
                  <a:srgbClr val="1F2A3C"/>
                </a:solidFill>
                <a:latin typeface="Calibri"/>
              </a:rPr>
              <a:t>Why reduced precision?</a:t>
            </a:r>
          </a:p>
        </p:txBody>
      </p:sp>
      <p:sp>
        <p:nvSpPr>
          <p:cNvPr id="11" name="TextBox 10"/>
          <p:cNvSpPr txBox="1"/>
          <p:nvPr/>
        </p:nvSpPr>
        <p:spPr>
          <a:xfrm>
            <a:off x="731520" y="2962656"/>
            <a:ext cx="3209544" cy="941832"/>
          </a:xfrm>
          <a:prstGeom prst="rect">
            <a:avLst/>
          </a:prstGeom>
          <a:noFill/>
        </p:spPr>
        <p:txBody>
          <a:bodyPr wrap="square" lIns="0" tIns="0" rIns="0" bIns="0" anchor="t">
            <a:spAutoFit/>
          </a:bodyPr>
          <a:lstStyle/>
          <a:p>
            <a:pPr algn="l">
              <a:lnSpc>
                <a:spcPct val="100000"/>
              </a:lnSpc>
              <a:spcBef>
                <a:spcPts val="0"/>
              </a:spcBef>
              <a:spcAft>
                <a:spcPts val="0"/>
              </a:spcAft>
            </a:pPr>
            <a:r>
              <a:rPr sz="1140" b="0" i="0">
                <a:solidFill>
                  <a:srgbClr val="303845"/>
                </a:solidFill>
                <a:latin typeface="Calibri"/>
              </a:rPr>
              <a:t>Edge devices can face memory, compute and energy constraints. FP32 uses 4 bytes per value; INT8 uses 1 byte, reducing storage per quantized value.</a:t>
            </a:r>
          </a:p>
        </p:txBody>
      </p:sp>
      <p:sp>
        <p:nvSpPr>
          <p:cNvPr id="12" name="Rectangle 11"/>
          <p:cNvSpPr/>
          <p:nvPr/>
        </p:nvSpPr>
        <p:spPr>
          <a:xfrm>
            <a:off x="4343400" y="2578608"/>
            <a:ext cx="3520440" cy="1417320"/>
          </a:xfrm>
          <a:prstGeom prst="rect">
            <a:avLst/>
          </a:prstGeom>
          <a:solidFill>
            <a:srgbClr val="FFFFFF"/>
          </a:solidFill>
          <a:ln w="1016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43400" y="2578608"/>
            <a:ext cx="64008" cy="1417320"/>
          </a:xfrm>
          <a:prstGeom prst="rect">
            <a:avLst/>
          </a:prstGeom>
          <a:solidFill>
            <a:srgbClr val="B75A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26280" y="2670048"/>
            <a:ext cx="3209544" cy="246888"/>
          </a:xfrm>
          <a:prstGeom prst="rect">
            <a:avLst/>
          </a:prstGeom>
          <a:noFill/>
        </p:spPr>
        <p:txBody>
          <a:bodyPr wrap="square" lIns="0" tIns="0" rIns="0" bIns="0" anchor="t">
            <a:spAutoFit/>
          </a:bodyPr>
          <a:lstStyle/>
          <a:p>
            <a:pPr algn="l">
              <a:lnSpc>
                <a:spcPct val="100000"/>
              </a:lnSpc>
              <a:spcBef>
                <a:spcPts val="0"/>
              </a:spcBef>
              <a:spcAft>
                <a:spcPts val="0"/>
              </a:spcAft>
            </a:pPr>
            <a:r>
              <a:rPr sz="1420" b="1" i="0">
                <a:solidFill>
                  <a:srgbClr val="1F2A3C"/>
                </a:solidFill>
                <a:latin typeface="Calibri"/>
              </a:rPr>
              <a:t>Why not cast blindly?</a:t>
            </a:r>
          </a:p>
        </p:txBody>
      </p:sp>
      <p:sp>
        <p:nvSpPr>
          <p:cNvPr id="15" name="TextBox 14"/>
          <p:cNvSpPr txBox="1"/>
          <p:nvPr/>
        </p:nvSpPr>
        <p:spPr>
          <a:xfrm>
            <a:off x="4526280" y="2962656"/>
            <a:ext cx="3209544" cy="941832"/>
          </a:xfrm>
          <a:prstGeom prst="rect">
            <a:avLst/>
          </a:prstGeom>
          <a:noFill/>
        </p:spPr>
        <p:txBody>
          <a:bodyPr wrap="square" lIns="0" tIns="0" rIns="0" bIns="0" anchor="t">
            <a:spAutoFit/>
          </a:bodyPr>
          <a:lstStyle/>
          <a:p>
            <a:pPr algn="l">
              <a:lnSpc>
                <a:spcPct val="100000"/>
              </a:lnSpc>
              <a:spcBef>
                <a:spcPts val="0"/>
              </a:spcBef>
              <a:spcAft>
                <a:spcPts val="0"/>
              </a:spcAft>
            </a:pPr>
            <a:r>
              <a:rPr sz="1140" b="0" i="0">
                <a:solidFill>
                  <a:srgbClr val="303845"/>
                </a:solidFill>
                <a:latin typeface="Calibri"/>
              </a:rPr>
              <a:t>A value may exceed [−128,127], be fractional, or change downstream results. Range alone is not enough to justify conversion.</a:t>
            </a:r>
          </a:p>
        </p:txBody>
      </p:sp>
      <p:sp>
        <p:nvSpPr>
          <p:cNvPr id="16" name="Rectangle 15"/>
          <p:cNvSpPr/>
          <p:nvPr/>
        </p:nvSpPr>
        <p:spPr>
          <a:xfrm>
            <a:off x="8138160" y="2578608"/>
            <a:ext cx="3520440" cy="1417320"/>
          </a:xfrm>
          <a:prstGeom prst="rect">
            <a:avLst/>
          </a:prstGeom>
          <a:solidFill>
            <a:srgbClr val="FFFFFF"/>
          </a:solidFill>
          <a:ln w="1016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38160" y="2578608"/>
            <a:ext cx="64008" cy="1417320"/>
          </a:xfrm>
          <a:prstGeom prst="rect">
            <a:avLst/>
          </a:prstGeom>
          <a:solidFill>
            <a:srgbClr val="2F74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21040" y="2670048"/>
            <a:ext cx="3209544" cy="246888"/>
          </a:xfrm>
          <a:prstGeom prst="rect">
            <a:avLst/>
          </a:prstGeom>
          <a:noFill/>
        </p:spPr>
        <p:txBody>
          <a:bodyPr wrap="square" lIns="0" tIns="0" rIns="0" bIns="0" anchor="t">
            <a:spAutoFit/>
          </a:bodyPr>
          <a:lstStyle/>
          <a:p>
            <a:pPr algn="l">
              <a:lnSpc>
                <a:spcPct val="100000"/>
              </a:lnSpc>
              <a:spcBef>
                <a:spcPts val="0"/>
              </a:spcBef>
              <a:spcAft>
                <a:spcPts val="0"/>
              </a:spcAft>
            </a:pPr>
            <a:r>
              <a:rPr sz="1420" b="1" i="0">
                <a:solidFill>
                  <a:srgbClr val="1F2A3C"/>
                </a:solidFill>
                <a:latin typeface="Calibri"/>
              </a:rPr>
              <a:t>What this project does</a:t>
            </a:r>
          </a:p>
        </p:txBody>
      </p:sp>
      <p:sp>
        <p:nvSpPr>
          <p:cNvPr id="19" name="TextBox 18"/>
          <p:cNvSpPr txBox="1"/>
          <p:nvPr/>
        </p:nvSpPr>
        <p:spPr>
          <a:xfrm>
            <a:off x="8321040" y="2962656"/>
            <a:ext cx="3209544" cy="941832"/>
          </a:xfrm>
          <a:prstGeom prst="rect">
            <a:avLst/>
          </a:prstGeom>
          <a:noFill/>
        </p:spPr>
        <p:txBody>
          <a:bodyPr wrap="square" lIns="0" tIns="0" rIns="0" bIns="0" anchor="t">
            <a:spAutoFit/>
          </a:bodyPr>
          <a:lstStyle/>
          <a:p>
            <a:pPr algn="l">
              <a:lnSpc>
                <a:spcPct val="100000"/>
              </a:lnSpc>
              <a:spcBef>
                <a:spcPts val="0"/>
              </a:spcBef>
              <a:spcAft>
                <a:spcPts val="0"/>
              </a:spcAft>
            </a:pPr>
            <a:r>
              <a:rPr sz="1140" b="0" i="0">
                <a:solidFill>
                  <a:srgbClr val="303845"/>
                </a:solidFill>
                <a:latin typeface="Calibri"/>
              </a:rPr>
              <a:t>SSA exposes individual definitions; static range and integrality analysis feed conservative safety rules. Unproven values remain unchanged.</a:t>
            </a:r>
          </a:p>
        </p:txBody>
      </p:sp>
      <p:sp>
        <p:nvSpPr>
          <p:cNvPr id="20" name="Rectangle 19"/>
          <p:cNvSpPr/>
          <p:nvPr/>
        </p:nvSpPr>
        <p:spPr>
          <a:xfrm>
            <a:off x="594360" y="4407408"/>
            <a:ext cx="2286000" cy="914400"/>
          </a:xfrm>
          <a:prstGeom prst="rect">
            <a:avLst/>
          </a:prstGeom>
          <a:solidFill>
            <a:srgbClr val="E9F1F3"/>
          </a:solidFill>
          <a:ln w="1016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4088" y="4553712"/>
            <a:ext cx="2066543" cy="228600"/>
          </a:xfrm>
          <a:prstGeom prst="rect">
            <a:avLst/>
          </a:prstGeom>
          <a:noFill/>
        </p:spPr>
        <p:txBody>
          <a:bodyPr wrap="square" lIns="0" tIns="0" rIns="0" bIns="0" anchor="t">
            <a:spAutoFit/>
          </a:bodyPr>
          <a:lstStyle/>
          <a:p>
            <a:pPr algn="ctr">
              <a:lnSpc>
                <a:spcPct val="100000"/>
              </a:lnSpc>
              <a:spcBef>
                <a:spcPts val="0"/>
              </a:spcBef>
              <a:spcAft>
                <a:spcPts val="0"/>
              </a:spcAft>
            </a:pPr>
            <a:r>
              <a:rPr sz="1250" b="1" i="0">
                <a:solidFill>
                  <a:srgbClr val="245E6B"/>
                </a:solidFill>
                <a:latin typeface="Calibri"/>
              </a:rPr>
              <a:t>SSA IR</a:t>
            </a:r>
          </a:p>
        </p:txBody>
      </p:sp>
      <p:sp>
        <p:nvSpPr>
          <p:cNvPr id="22" name="TextBox 21"/>
          <p:cNvSpPr txBox="1"/>
          <p:nvPr/>
        </p:nvSpPr>
        <p:spPr>
          <a:xfrm>
            <a:off x="704088" y="4828032"/>
            <a:ext cx="2066543" cy="347472"/>
          </a:xfrm>
          <a:prstGeom prst="rect">
            <a:avLst/>
          </a:prstGeom>
          <a:noFill/>
        </p:spPr>
        <p:txBody>
          <a:bodyPr wrap="square" lIns="0" tIns="0" rIns="0" bIns="0" anchor="t">
            <a:spAutoFit/>
          </a:bodyPr>
          <a:lstStyle/>
          <a:p>
            <a:pPr algn="ctr">
              <a:lnSpc>
                <a:spcPct val="100000"/>
              </a:lnSpc>
              <a:spcBef>
                <a:spcPts val="0"/>
              </a:spcBef>
              <a:spcAft>
                <a:spcPts val="0"/>
              </a:spcAft>
            </a:pPr>
            <a:r>
              <a:rPr sz="1000" b="0" i="0">
                <a:solidFill>
                  <a:srgbClr val="303845"/>
                </a:solidFill>
                <a:latin typeface="Calibri"/>
              </a:rPr>
              <a:t>Versioned values</a:t>
            </a:r>
          </a:p>
        </p:txBody>
      </p:sp>
      <p:sp>
        <p:nvSpPr>
          <p:cNvPr id="23" name="TextBox 22"/>
          <p:cNvSpPr txBox="1"/>
          <p:nvPr/>
        </p:nvSpPr>
        <p:spPr>
          <a:xfrm>
            <a:off x="2935224" y="4690872"/>
            <a:ext cx="384048" cy="292608"/>
          </a:xfrm>
          <a:prstGeom prst="rect">
            <a:avLst/>
          </a:prstGeom>
          <a:noFill/>
        </p:spPr>
        <p:txBody>
          <a:bodyPr wrap="square" lIns="0" tIns="0" rIns="0" bIns="0" anchor="t">
            <a:spAutoFit/>
          </a:bodyPr>
          <a:lstStyle/>
          <a:p>
            <a:pPr algn="ctr">
              <a:lnSpc>
                <a:spcPct val="100000"/>
              </a:lnSpc>
              <a:spcBef>
                <a:spcPts val="0"/>
              </a:spcBef>
              <a:spcAft>
                <a:spcPts val="0"/>
              </a:spcAft>
            </a:pPr>
            <a:r>
              <a:rPr sz="2200" b="1" i="0">
                <a:solidFill>
                  <a:srgbClr val="2E6E7E"/>
                </a:solidFill>
                <a:latin typeface="Calibri"/>
              </a:rPr>
              <a:t>→</a:t>
            </a:r>
          </a:p>
        </p:txBody>
      </p:sp>
      <p:sp>
        <p:nvSpPr>
          <p:cNvPr id="24" name="Rectangle 23"/>
          <p:cNvSpPr/>
          <p:nvPr/>
        </p:nvSpPr>
        <p:spPr>
          <a:xfrm>
            <a:off x="3493008" y="4407408"/>
            <a:ext cx="2286000" cy="914400"/>
          </a:xfrm>
          <a:prstGeom prst="rect">
            <a:avLst/>
          </a:prstGeom>
          <a:solidFill>
            <a:srgbClr val="E9F1F3"/>
          </a:solidFill>
          <a:ln w="1016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02736" y="4553712"/>
            <a:ext cx="2066543" cy="228600"/>
          </a:xfrm>
          <a:prstGeom prst="rect">
            <a:avLst/>
          </a:prstGeom>
          <a:noFill/>
        </p:spPr>
        <p:txBody>
          <a:bodyPr wrap="square" lIns="0" tIns="0" rIns="0" bIns="0" anchor="t">
            <a:spAutoFit/>
          </a:bodyPr>
          <a:lstStyle/>
          <a:p>
            <a:pPr algn="ctr">
              <a:lnSpc>
                <a:spcPct val="100000"/>
              </a:lnSpc>
              <a:spcBef>
                <a:spcPts val="0"/>
              </a:spcBef>
              <a:spcAft>
                <a:spcPts val="0"/>
              </a:spcAft>
            </a:pPr>
            <a:r>
              <a:rPr sz="1250" b="1" i="0">
                <a:solidFill>
                  <a:srgbClr val="245E6B"/>
                </a:solidFill>
                <a:latin typeface="Calibri"/>
              </a:rPr>
              <a:t>Range + integrality</a:t>
            </a:r>
          </a:p>
        </p:txBody>
      </p:sp>
      <p:sp>
        <p:nvSpPr>
          <p:cNvPr id="26" name="TextBox 25"/>
          <p:cNvSpPr txBox="1"/>
          <p:nvPr/>
        </p:nvSpPr>
        <p:spPr>
          <a:xfrm>
            <a:off x="3602736" y="4828032"/>
            <a:ext cx="2066543" cy="347472"/>
          </a:xfrm>
          <a:prstGeom prst="rect">
            <a:avLst/>
          </a:prstGeom>
          <a:noFill/>
        </p:spPr>
        <p:txBody>
          <a:bodyPr wrap="square" lIns="0" tIns="0" rIns="0" bIns="0" anchor="t">
            <a:spAutoFit/>
          </a:bodyPr>
          <a:lstStyle/>
          <a:p>
            <a:pPr algn="ctr">
              <a:lnSpc>
                <a:spcPct val="100000"/>
              </a:lnSpc>
              <a:spcBef>
                <a:spcPts val="0"/>
              </a:spcBef>
              <a:spcAft>
                <a:spcPts val="0"/>
              </a:spcAft>
            </a:pPr>
            <a:r>
              <a:rPr sz="1000" b="0" i="0">
                <a:solidFill>
                  <a:srgbClr val="303845"/>
                </a:solidFill>
                <a:latin typeface="Calibri"/>
              </a:rPr>
              <a:t>Infer bounds and integer property</a:t>
            </a:r>
          </a:p>
        </p:txBody>
      </p:sp>
      <p:sp>
        <p:nvSpPr>
          <p:cNvPr id="27" name="TextBox 26"/>
          <p:cNvSpPr txBox="1"/>
          <p:nvPr/>
        </p:nvSpPr>
        <p:spPr>
          <a:xfrm>
            <a:off x="5833872" y="4690872"/>
            <a:ext cx="384048" cy="292608"/>
          </a:xfrm>
          <a:prstGeom prst="rect">
            <a:avLst/>
          </a:prstGeom>
          <a:noFill/>
        </p:spPr>
        <p:txBody>
          <a:bodyPr wrap="square" lIns="0" tIns="0" rIns="0" bIns="0" anchor="t">
            <a:spAutoFit/>
          </a:bodyPr>
          <a:lstStyle/>
          <a:p>
            <a:pPr algn="ctr">
              <a:lnSpc>
                <a:spcPct val="100000"/>
              </a:lnSpc>
              <a:spcBef>
                <a:spcPts val="0"/>
              </a:spcBef>
              <a:spcAft>
                <a:spcPts val="0"/>
              </a:spcAft>
            </a:pPr>
            <a:r>
              <a:rPr sz="2200" b="1" i="0">
                <a:solidFill>
                  <a:srgbClr val="2E6E7E"/>
                </a:solidFill>
                <a:latin typeface="Calibri"/>
              </a:rPr>
              <a:t>→</a:t>
            </a:r>
          </a:p>
        </p:txBody>
      </p:sp>
      <p:sp>
        <p:nvSpPr>
          <p:cNvPr id="28" name="Rectangle 27"/>
          <p:cNvSpPr/>
          <p:nvPr/>
        </p:nvSpPr>
        <p:spPr>
          <a:xfrm>
            <a:off x="6391656" y="4407408"/>
            <a:ext cx="2286000" cy="914400"/>
          </a:xfrm>
          <a:prstGeom prst="rect">
            <a:avLst/>
          </a:prstGeom>
          <a:solidFill>
            <a:srgbClr val="E9F1F3"/>
          </a:solidFill>
          <a:ln w="1016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01384" y="4553712"/>
            <a:ext cx="2066543" cy="228600"/>
          </a:xfrm>
          <a:prstGeom prst="rect">
            <a:avLst/>
          </a:prstGeom>
          <a:noFill/>
        </p:spPr>
        <p:txBody>
          <a:bodyPr wrap="square" lIns="0" tIns="0" rIns="0" bIns="0" anchor="t">
            <a:spAutoFit/>
          </a:bodyPr>
          <a:lstStyle/>
          <a:p>
            <a:pPr algn="ctr">
              <a:lnSpc>
                <a:spcPct val="100000"/>
              </a:lnSpc>
              <a:spcBef>
                <a:spcPts val="0"/>
              </a:spcBef>
              <a:spcAft>
                <a:spcPts val="0"/>
              </a:spcAft>
            </a:pPr>
            <a:r>
              <a:rPr sz="1250" b="1" i="0">
                <a:solidFill>
                  <a:srgbClr val="245E6B"/>
                </a:solidFill>
                <a:latin typeface="Calibri"/>
              </a:rPr>
              <a:t>Safety gate</a:t>
            </a:r>
          </a:p>
        </p:txBody>
      </p:sp>
      <p:sp>
        <p:nvSpPr>
          <p:cNvPr id="30" name="TextBox 29"/>
          <p:cNvSpPr txBox="1"/>
          <p:nvPr/>
        </p:nvSpPr>
        <p:spPr>
          <a:xfrm>
            <a:off x="6501384" y="4828032"/>
            <a:ext cx="2066543" cy="347472"/>
          </a:xfrm>
          <a:prstGeom prst="rect">
            <a:avLst/>
          </a:prstGeom>
          <a:noFill/>
        </p:spPr>
        <p:txBody>
          <a:bodyPr wrap="square" lIns="0" tIns="0" rIns="0" bIns="0" anchor="t">
            <a:spAutoFit/>
          </a:bodyPr>
          <a:lstStyle/>
          <a:p>
            <a:pPr algn="ctr">
              <a:lnSpc>
                <a:spcPct val="100000"/>
              </a:lnSpc>
              <a:spcBef>
                <a:spcPts val="0"/>
              </a:spcBef>
              <a:spcAft>
                <a:spcPts val="0"/>
              </a:spcAft>
            </a:pPr>
            <a:r>
              <a:rPr sz="1000" b="0" i="0">
                <a:solidFill>
                  <a:srgbClr val="303845"/>
                </a:solidFill>
                <a:latin typeface="Calibri"/>
              </a:rPr>
              <a:t>Check bounds and supported operation</a:t>
            </a:r>
          </a:p>
        </p:txBody>
      </p:sp>
      <p:sp>
        <p:nvSpPr>
          <p:cNvPr id="31" name="TextBox 30"/>
          <p:cNvSpPr txBox="1"/>
          <p:nvPr/>
        </p:nvSpPr>
        <p:spPr>
          <a:xfrm>
            <a:off x="8732520" y="4690872"/>
            <a:ext cx="384048" cy="292608"/>
          </a:xfrm>
          <a:prstGeom prst="rect">
            <a:avLst/>
          </a:prstGeom>
          <a:noFill/>
        </p:spPr>
        <p:txBody>
          <a:bodyPr wrap="square" lIns="0" tIns="0" rIns="0" bIns="0" anchor="t">
            <a:spAutoFit/>
          </a:bodyPr>
          <a:lstStyle/>
          <a:p>
            <a:pPr algn="ctr">
              <a:lnSpc>
                <a:spcPct val="100000"/>
              </a:lnSpc>
              <a:spcBef>
                <a:spcPts val="0"/>
              </a:spcBef>
              <a:spcAft>
                <a:spcPts val="0"/>
              </a:spcAft>
            </a:pPr>
            <a:r>
              <a:rPr sz="2200" b="1" i="0">
                <a:solidFill>
                  <a:srgbClr val="2E6E7E"/>
                </a:solidFill>
                <a:latin typeface="Calibri"/>
              </a:rPr>
              <a:t>→</a:t>
            </a:r>
          </a:p>
        </p:txBody>
      </p:sp>
      <p:sp>
        <p:nvSpPr>
          <p:cNvPr id="32" name="Rectangle 31"/>
          <p:cNvSpPr/>
          <p:nvPr/>
        </p:nvSpPr>
        <p:spPr>
          <a:xfrm>
            <a:off x="9290304" y="4407408"/>
            <a:ext cx="2286000" cy="914400"/>
          </a:xfrm>
          <a:prstGeom prst="rect">
            <a:avLst/>
          </a:prstGeom>
          <a:solidFill>
            <a:srgbClr val="EAF3F0"/>
          </a:solidFill>
          <a:ln w="1016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400032" y="4553712"/>
            <a:ext cx="2066543" cy="228600"/>
          </a:xfrm>
          <a:prstGeom prst="rect">
            <a:avLst/>
          </a:prstGeom>
          <a:noFill/>
        </p:spPr>
        <p:txBody>
          <a:bodyPr wrap="square" lIns="0" tIns="0" rIns="0" bIns="0" anchor="t">
            <a:spAutoFit/>
          </a:bodyPr>
          <a:lstStyle/>
          <a:p>
            <a:pPr algn="ctr">
              <a:lnSpc>
                <a:spcPct val="100000"/>
              </a:lnSpc>
              <a:spcBef>
                <a:spcPts val="0"/>
              </a:spcBef>
              <a:spcAft>
                <a:spcPts val="0"/>
              </a:spcAft>
            </a:pPr>
            <a:r>
              <a:rPr sz="1250" b="1" i="0">
                <a:solidFill>
                  <a:srgbClr val="2F746C"/>
                </a:solidFill>
                <a:latin typeface="Calibri"/>
              </a:rPr>
              <a:t>Selective rewrite</a:t>
            </a:r>
          </a:p>
        </p:txBody>
      </p:sp>
      <p:sp>
        <p:nvSpPr>
          <p:cNvPr id="34" name="TextBox 33"/>
          <p:cNvSpPr txBox="1"/>
          <p:nvPr/>
        </p:nvSpPr>
        <p:spPr>
          <a:xfrm>
            <a:off x="9400032" y="4828032"/>
            <a:ext cx="2066543" cy="347472"/>
          </a:xfrm>
          <a:prstGeom prst="rect">
            <a:avLst/>
          </a:prstGeom>
          <a:noFill/>
        </p:spPr>
        <p:txBody>
          <a:bodyPr wrap="square" lIns="0" tIns="0" rIns="0" bIns="0" anchor="t">
            <a:spAutoFit/>
          </a:bodyPr>
          <a:lstStyle/>
          <a:p>
            <a:pPr algn="ctr">
              <a:lnSpc>
                <a:spcPct val="100000"/>
              </a:lnSpc>
              <a:spcBef>
                <a:spcPts val="0"/>
              </a:spcBef>
              <a:spcAft>
                <a:spcPts val="0"/>
              </a:spcAft>
            </a:pPr>
            <a:r>
              <a:rPr sz="1000" b="0" i="0">
                <a:solidFill>
                  <a:srgbClr val="303845"/>
                </a:solidFill>
                <a:latin typeface="Calibri"/>
              </a:rPr>
              <a:t>Only proven-safe values</a:t>
            </a:r>
          </a:p>
        </p:txBody>
      </p:sp>
      <p:sp>
        <p:nvSpPr>
          <p:cNvPr id="35" name="TextBox 34"/>
          <p:cNvSpPr txBox="1"/>
          <p:nvPr/>
        </p:nvSpPr>
        <p:spPr>
          <a:xfrm>
            <a:off x="685800" y="5596128"/>
            <a:ext cx="10881360" cy="384048"/>
          </a:xfrm>
          <a:prstGeom prst="rect">
            <a:avLst/>
          </a:prstGeom>
          <a:noFill/>
        </p:spPr>
        <p:txBody>
          <a:bodyPr wrap="square" lIns="0" tIns="0" rIns="0" bIns="0" anchor="t">
            <a:spAutoFit/>
          </a:bodyPr>
          <a:lstStyle/>
          <a:p>
            <a:pPr algn="ctr">
              <a:lnSpc>
                <a:spcPct val="100000"/>
              </a:lnSpc>
              <a:spcBef>
                <a:spcPts val="0"/>
              </a:spcBef>
              <a:spcAft>
                <a:spcPts val="0"/>
              </a:spcAft>
            </a:pPr>
            <a:r>
              <a:rPr sz="1150" b="0" i="1">
                <a:solidFill>
                  <a:srgbClr val="7B8490"/>
                </a:solidFill>
                <a:latin typeface="Calibri"/>
              </a:rPr>
              <a:t>Purpose: demonstrate an explainable, source-traceable compiler optimization over a small C-like language — not a full ML framework.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marL="0" indent="0">
              <a:buNone/>
            </a:pPr>
            <a:r>
              <a:rPr lang="en-US" sz="1100" b="1" kern="0" spc="200" dirty="0">
                <a:solidFill>
                  <a:srgbClr val="2E6E7E"/>
                </a:solidFill>
                <a:latin typeface="Calibri" pitchFamily="34" charset="0"/>
                <a:ea typeface="Calibri" pitchFamily="34" charset="-122"/>
                <a:cs typeface="Calibri" pitchFamily="34" charset="-120"/>
              </a:rPr>
              <a:t>PROBLEM</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marL="0" indent="0">
              <a:buNone/>
            </a:pPr>
            <a:r>
              <a:rPr lang="en-US" sz="2900" b="1" dirty="0">
                <a:solidFill>
                  <a:srgbClr val="1F2A3C"/>
                </a:solidFill>
                <a:latin typeface="Cambria" pitchFamily="34" charset="0"/>
                <a:ea typeface="Cambria" pitchFamily="34" charset="-122"/>
                <a:cs typeface="Cambria" pitchFamily="34" charset="-120"/>
              </a:rPr>
              <a:t>Why Precision Matters at the Edge</a:t>
            </a:r>
            <a:endParaRPr lang="en-US" sz="2900" dirty="0"/>
          </a:p>
        </p:txBody>
      </p:sp>
      <p:sp>
        <p:nvSpPr>
          <p:cNvPr id="4" name="Text 2"/>
          <p:cNvSpPr txBox="1"/>
          <p:nvPr/>
        </p:nvSpPr>
        <p:spPr>
          <a:xfrm>
            <a:off x="502920" y="1783080"/>
            <a:ext cx="5120640" cy="320040"/>
          </a:xfrm>
          <a:prstGeom prst="rect">
            <a:avLst/>
          </a:prstGeom>
          <a:noFill/>
          <a:ln/>
        </p:spPr>
        <p:txBody>
          <a:bodyPr wrap="square" rtlCol="0" anchor="t"/>
          <a:lstStyle/>
          <a:p>
            <a:pPr marL="0" indent="0" algn="l">
              <a:buNone/>
            </a:pPr>
            <a:r>
              <a:rPr lang="en-US" sz="1500" b="1" dirty="0">
                <a:solidFill>
                  <a:srgbClr val="1F2A3C"/>
                </a:solidFill>
                <a:latin typeface="Calibri" pitchFamily="34" charset="0"/>
                <a:ea typeface="Calibri" pitchFamily="34" charset="-122"/>
                <a:cs typeface="Calibri" pitchFamily="34" charset="-120"/>
              </a:rPr>
              <a:t>Edge Device Constraints</a:t>
            </a:r>
            <a:endParaRPr lang="en-US" sz="1500" dirty="0"/>
          </a:p>
        </p:txBody>
      </p:sp>
      <p:sp>
        <p:nvSpPr>
          <p:cNvPr id="5" name="Shape 3"/>
          <p:cNvSpPr/>
          <p:nvPr/>
        </p:nvSpPr>
        <p:spPr>
          <a:xfrm>
            <a:off x="502920" y="2286000"/>
            <a:ext cx="384048" cy="384048"/>
          </a:xfrm>
          <a:prstGeom prst="ellipse">
            <a:avLst/>
          </a:prstGeom>
          <a:solidFill>
            <a:srgbClr val="2E6E7E"/>
          </a:solidFill>
          <a:ln/>
        </p:spPr>
        <p:txBody>
          <a:bodyPr/>
          <a:lstStyle/>
          <a:p>
            <a:endParaRPr/>
          </a:p>
        </p:txBody>
      </p:sp>
      <p:sp>
        <p:nvSpPr>
          <p:cNvPr id="6" name="Text 4"/>
          <p:cNvSpPr txBox="1"/>
          <p:nvPr/>
        </p:nvSpPr>
        <p:spPr>
          <a:xfrm>
            <a:off x="502920" y="22860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a:t>
            </a:r>
            <a:endParaRPr lang="en-US" sz="1300" dirty="0"/>
          </a:p>
        </p:txBody>
      </p:sp>
      <p:sp>
        <p:nvSpPr>
          <p:cNvPr id="7" name="Text 5"/>
          <p:cNvSpPr txBox="1"/>
          <p:nvPr/>
        </p:nvSpPr>
        <p:spPr>
          <a:xfrm>
            <a:off x="1051560" y="2231136"/>
            <a:ext cx="4572000" cy="320040"/>
          </a:xfrm>
          <a:prstGeom prst="rect">
            <a:avLst/>
          </a:prstGeom>
          <a:noFill/>
          <a:ln/>
        </p:spPr>
        <p:txBody>
          <a:bodyPr wrap="square" rtlCol="0" anchor="t"/>
          <a:lstStyle/>
          <a:p>
            <a:pPr marL="0" indent="0" algn="l">
              <a:buNone/>
            </a:pPr>
            <a:r>
              <a:rPr lang="en-US" sz="1400" b="1" dirty="0">
                <a:solidFill>
                  <a:srgbClr val="1F2A3C"/>
                </a:solidFill>
                <a:latin typeface="Calibri" pitchFamily="34" charset="0"/>
                <a:ea typeface="Calibri" pitchFamily="34" charset="-122"/>
                <a:cs typeface="Calibri" pitchFamily="34" charset="-120"/>
              </a:rPr>
              <a:t>Memory</a:t>
            </a:r>
            <a:endParaRPr lang="en-US" sz="1400" dirty="0"/>
          </a:p>
        </p:txBody>
      </p:sp>
      <p:sp>
        <p:nvSpPr>
          <p:cNvPr id="8" name="Text 6"/>
          <p:cNvSpPr txBox="1"/>
          <p:nvPr/>
        </p:nvSpPr>
        <p:spPr>
          <a:xfrm>
            <a:off x="1051560" y="2578608"/>
            <a:ext cx="4663440" cy="411480"/>
          </a:xfrm>
          <a:prstGeom prst="rect">
            <a:avLst/>
          </a:prstGeom>
          <a:noFill/>
          <a:ln/>
        </p:spPr>
        <p:txBody>
          <a:bodyPr wrap="square" rtlCol="0" anchor="t"/>
          <a:lstStyle/>
          <a:p>
            <a:pPr marL="0" indent="0" algn="l">
              <a:buNone/>
            </a:pPr>
            <a:r>
              <a:rPr lang="en-US" sz="1050" dirty="0">
                <a:solidFill>
                  <a:srgbClr val="6B7480"/>
                </a:solidFill>
                <a:latin typeface="Calibri" pitchFamily="34" charset="0"/>
                <a:ea typeface="Calibri" pitchFamily="34" charset="-122"/>
                <a:cs typeface="Calibri" pitchFamily="34" charset="-120"/>
              </a:rPr>
              <a:t>Limited RAM/flash for weights and intermediate values.</a:t>
            </a:r>
            <a:endParaRPr lang="en-US" sz="1050" dirty="0"/>
          </a:p>
        </p:txBody>
      </p:sp>
      <p:sp>
        <p:nvSpPr>
          <p:cNvPr id="9" name="Shape 7"/>
          <p:cNvSpPr/>
          <p:nvPr/>
        </p:nvSpPr>
        <p:spPr>
          <a:xfrm>
            <a:off x="502920" y="3081528"/>
            <a:ext cx="384048" cy="384048"/>
          </a:xfrm>
          <a:prstGeom prst="ellipse">
            <a:avLst/>
          </a:prstGeom>
          <a:solidFill>
            <a:srgbClr val="2E6E7E"/>
          </a:solidFill>
          <a:ln/>
        </p:spPr>
        <p:txBody>
          <a:bodyPr/>
          <a:lstStyle/>
          <a:p>
            <a:endParaRPr/>
          </a:p>
        </p:txBody>
      </p:sp>
      <p:sp>
        <p:nvSpPr>
          <p:cNvPr id="10" name="Text 8"/>
          <p:cNvSpPr txBox="1"/>
          <p:nvPr/>
        </p:nvSpPr>
        <p:spPr>
          <a:xfrm>
            <a:off x="502920" y="308152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11" name="Text 9"/>
          <p:cNvSpPr txBox="1"/>
          <p:nvPr/>
        </p:nvSpPr>
        <p:spPr>
          <a:xfrm>
            <a:off x="1051560" y="3026664"/>
            <a:ext cx="4572000" cy="320040"/>
          </a:xfrm>
          <a:prstGeom prst="rect">
            <a:avLst/>
          </a:prstGeom>
          <a:noFill/>
          <a:ln/>
        </p:spPr>
        <p:txBody>
          <a:bodyPr wrap="square" rtlCol="0" anchor="t"/>
          <a:lstStyle/>
          <a:p>
            <a:pPr marL="0" indent="0" algn="l">
              <a:buNone/>
            </a:pPr>
            <a:r>
              <a:rPr lang="en-US" sz="1400" b="1" dirty="0">
                <a:solidFill>
                  <a:srgbClr val="1F2A3C"/>
                </a:solidFill>
                <a:latin typeface="Calibri" pitchFamily="34" charset="0"/>
                <a:ea typeface="Calibri" pitchFamily="34" charset="-122"/>
                <a:cs typeface="Calibri" pitchFamily="34" charset="-120"/>
              </a:rPr>
              <a:t>Compute</a:t>
            </a:r>
            <a:endParaRPr lang="en-US" sz="1400" dirty="0"/>
          </a:p>
        </p:txBody>
      </p:sp>
      <p:sp>
        <p:nvSpPr>
          <p:cNvPr id="12" name="Text 10"/>
          <p:cNvSpPr txBox="1"/>
          <p:nvPr/>
        </p:nvSpPr>
        <p:spPr>
          <a:xfrm>
            <a:off x="1051560" y="3374136"/>
            <a:ext cx="4663440" cy="411480"/>
          </a:xfrm>
          <a:prstGeom prst="rect">
            <a:avLst/>
          </a:prstGeom>
          <a:noFill/>
          <a:ln/>
        </p:spPr>
        <p:txBody>
          <a:bodyPr wrap="square" rtlCol="0" anchor="t"/>
          <a:lstStyle/>
          <a:p>
            <a:pPr marL="0" indent="0" algn="l">
              <a:buNone/>
            </a:pPr>
            <a:r>
              <a:rPr lang="en-US" sz="1050" dirty="0">
                <a:solidFill>
                  <a:srgbClr val="6B7480"/>
                </a:solidFill>
                <a:latin typeface="Calibri" pitchFamily="34" charset="0"/>
                <a:ea typeface="Calibri" pitchFamily="34" charset="-122"/>
                <a:cs typeface="Calibri" pitchFamily="34" charset="-120"/>
              </a:rPr>
              <a:t>Restricted CPU/accelerator throughput vs. server GPUs.</a:t>
            </a:r>
            <a:endParaRPr lang="en-US" sz="1050" dirty="0"/>
          </a:p>
        </p:txBody>
      </p:sp>
      <p:sp>
        <p:nvSpPr>
          <p:cNvPr id="13" name="Shape 11"/>
          <p:cNvSpPr/>
          <p:nvPr/>
        </p:nvSpPr>
        <p:spPr>
          <a:xfrm>
            <a:off x="502920" y="3877056"/>
            <a:ext cx="384048" cy="384048"/>
          </a:xfrm>
          <a:prstGeom prst="ellipse">
            <a:avLst/>
          </a:prstGeom>
          <a:solidFill>
            <a:srgbClr val="2E6E7E"/>
          </a:solidFill>
          <a:ln/>
        </p:spPr>
        <p:txBody>
          <a:bodyPr/>
          <a:lstStyle/>
          <a:p>
            <a:endParaRPr/>
          </a:p>
        </p:txBody>
      </p:sp>
      <p:sp>
        <p:nvSpPr>
          <p:cNvPr id="14" name="Text 12"/>
          <p:cNvSpPr txBox="1"/>
          <p:nvPr/>
        </p:nvSpPr>
        <p:spPr>
          <a:xfrm>
            <a:off x="502920" y="3877056"/>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a:t>
            </a:r>
            <a:endParaRPr lang="en-US" sz="1300" dirty="0"/>
          </a:p>
        </p:txBody>
      </p:sp>
      <p:sp>
        <p:nvSpPr>
          <p:cNvPr id="15" name="Text 13"/>
          <p:cNvSpPr txBox="1"/>
          <p:nvPr/>
        </p:nvSpPr>
        <p:spPr>
          <a:xfrm>
            <a:off x="1051560" y="3822192"/>
            <a:ext cx="4572000" cy="320040"/>
          </a:xfrm>
          <a:prstGeom prst="rect">
            <a:avLst/>
          </a:prstGeom>
          <a:noFill/>
          <a:ln/>
        </p:spPr>
        <p:txBody>
          <a:bodyPr wrap="square" rtlCol="0" anchor="t"/>
          <a:lstStyle/>
          <a:p>
            <a:pPr marL="0" indent="0" algn="l">
              <a:buNone/>
            </a:pPr>
            <a:r>
              <a:rPr lang="en-US" sz="1400" b="1" dirty="0">
                <a:solidFill>
                  <a:srgbClr val="1F2A3C"/>
                </a:solidFill>
                <a:latin typeface="Calibri" pitchFamily="34" charset="0"/>
                <a:ea typeface="Calibri" pitchFamily="34" charset="-122"/>
                <a:cs typeface="Calibri" pitchFamily="34" charset="-120"/>
              </a:rPr>
              <a:t>Energy</a:t>
            </a:r>
            <a:endParaRPr lang="en-US" sz="1400" dirty="0"/>
          </a:p>
        </p:txBody>
      </p:sp>
      <p:sp>
        <p:nvSpPr>
          <p:cNvPr id="16" name="Text 14"/>
          <p:cNvSpPr txBox="1"/>
          <p:nvPr/>
        </p:nvSpPr>
        <p:spPr>
          <a:xfrm>
            <a:off x="1051560" y="4169664"/>
            <a:ext cx="4663440" cy="411480"/>
          </a:xfrm>
          <a:prstGeom prst="rect">
            <a:avLst/>
          </a:prstGeom>
          <a:noFill/>
          <a:ln/>
        </p:spPr>
        <p:txBody>
          <a:bodyPr wrap="square" rtlCol="0" anchor="t"/>
          <a:lstStyle/>
          <a:p>
            <a:pPr marL="0" indent="0" algn="l">
              <a:buNone/>
            </a:pPr>
            <a:r>
              <a:rPr lang="en-US" sz="1050" dirty="0">
                <a:solidFill>
                  <a:srgbClr val="6B7480"/>
                </a:solidFill>
                <a:latin typeface="Calibri" pitchFamily="34" charset="0"/>
                <a:ea typeface="Calibri" pitchFamily="34" charset="-122"/>
                <a:cs typeface="Calibri" pitchFamily="34" charset="-120"/>
              </a:rPr>
              <a:t>Battery-powered operation favors low-power arithmetic.</a:t>
            </a:r>
            <a:endParaRPr lang="en-US" sz="1050" dirty="0"/>
          </a:p>
        </p:txBody>
      </p:sp>
      <p:sp>
        <p:nvSpPr>
          <p:cNvPr id="17" name="Shape 15"/>
          <p:cNvSpPr/>
          <p:nvPr/>
        </p:nvSpPr>
        <p:spPr>
          <a:xfrm>
            <a:off x="502920" y="4672584"/>
            <a:ext cx="384048" cy="384048"/>
          </a:xfrm>
          <a:prstGeom prst="ellipse">
            <a:avLst/>
          </a:prstGeom>
          <a:solidFill>
            <a:srgbClr val="2E6E7E"/>
          </a:solidFill>
          <a:ln/>
        </p:spPr>
        <p:txBody>
          <a:bodyPr/>
          <a:lstStyle/>
          <a:p>
            <a:endParaRPr/>
          </a:p>
        </p:txBody>
      </p:sp>
      <p:sp>
        <p:nvSpPr>
          <p:cNvPr id="18" name="Text 16"/>
          <p:cNvSpPr txBox="1"/>
          <p:nvPr/>
        </p:nvSpPr>
        <p:spPr>
          <a:xfrm>
            <a:off x="502920" y="467258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19" name="Text 17"/>
          <p:cNvSpPr txBox="1"/>
          <p:nvPr/>
        </p:nvSpPr>
        <p:spPr>
          <a:xfrm>
            <a:off x="1051560" y="4617720"/>
            <a:ext cx="4572000" cy="320040"/>
          </a:xfrm>
          <a:prstGeom prst="rect">
            <a:avLst/>
          </a:prstGeom>
          <a:noFill/>
          <a:ln/>
        </p:spPr>
        <p:txBody>
          <a:bodyPr wrap="square" rtlCol="0" anchor="t"/>
          <a:lstStyle/>
          <a:p>
            <a:pPr marL="0" indent="0" algn="l">
              <a:buNone/>
            </a:pPr>
            <a:r>
              <a:rPr lang="en-US" sz="1400" b="1" dirty="0">
                <a:solidFill>
                  <a:srgbClr val="1F2A3C"/>
                </a:solidFill>
                <a:latin typeface="Calibri" pitchFamily="34" charset="0"/>
                <a:ea typeface="Calibri" pitchFamily="34" charset="-122"/>
                <a:cs typeface="Calibri" pitchFamily="34" charset="-120"/>
              </a:rPr>
              <a:t>Data Movement</a:t>
            </a:r>
            <a:endParaRPr lang="en-US" sz="1400" dirty="0"/>
          </a:p>
        </p:txBody>
      </p:sp>
      <p:sp>
        <p:nvSpPr>
          <p:cNvPr id="20" name="Text 18"/>
          <p:cNvSpPr txBox="1"/>
          <p:nvPr/>
        </p:nvSpPr>
        <p:spPr>
          <a:xfrm>
            <a:off x="1051560" y="4965192"/>
            <a:ext cx="4663440" cy="411480"/>
          </a:xfrm>
          <a:prstGeom prst="rect">
            <a:avLst/>
          </a:prstGeom>
          <a:noFill/>
          <a:ln/>
        </p:spPr>
        <p:txBody>
          <a:bodyPr wrap="square" rtlCol="0" anchor="t"/>
          <a:lstStyle/>
          <a:p>
            <a:pPr marL="0" indent="0" algn="l">
              <a:buNone/>
            </a:pPr>
            <a:r>
              <a:rPr lang="en-US" sz="1050" dirty="0">
                <a:solidFill>
                  <a:srgbClr val="6B7480"/>
                </a:solidFill>
                <a:latin typeface="Calibri" pitchFamily="34" charset="0"/>
                <a:ea typeface="Calibri" pitchFamily="34" charset="-122"/>
                <a:cs typeface="Calibri" pitchFamily="34" charset="-120"/>
              </a:rPr>
              <a:t>Off-chip memory access dominates cost in many workloads.</a:t>
            </a:r>
            <a:endParaRPr lang="en-US" sz="1050" dirty="0"/>
          </a:p>
        </p:txBody>
      </p:sp>
      <p:sp>
        <p:nvSpPr>
          <p:cNvPr id="21" name="Shape 19"/>
          <p:cNvSpPr/>
          <p:nvPr/>
        </p:nvSpPr>
        <p:spPr>
          <a:xfrm>
            <a:off x="6903720" y="1920240"/>
            <a:ext cx="2377440" cy="960120"/>
          </a:xfrm>
          <a:prstGeom prst="rect">
            <a:avLst/>
          </a:prstGeom>
          <a:solidFill>
            <a:srgbClr val="F4F6F8"/>
          </a:solidFill>
          <a:ln w="12700">
            <a:solidFill>
              <a:srgbClr val="1F2A3C"/>
            </a:solidFill>
            <a:prstDash val="solid"/>
          </a:ln>
        </p:spPr>
        <p:txBody>
          <a:bodyPr/>
          <a:lstStyle/>
          <a:p>
            <a:endParaRPr/>
          </a:p>
        </p:txBody>
      </p:sp>
      <p:sp>
        <p:nvSpPr>
          <p:cNvPr id="22" name="Text 20"/>
          <p:cNvSpPr txBox="1"/>
          <p:nvPr/>
        </p:nvSpPr>
        <p:spPr>
          <a:xfrm>
            <a:off x="6931152" y="1920240"/>
            <a:ext cx="2322576" cy="960120"/>
          </a:xfrm>
          <a:prstGeom prst="rect">
            <a:avLst/>
          </a:prstGeom>
          <a:noFill/>
          <a:ln/>
        </p:spPr>
        <p:txBody>
          <a:bodyPr wrap="square" lIns="0" tIns="0" rIns="0" bIns="0" rtlCol="0" anchor="ctr"/>
          <a:lstStyle/>
          <a:p>
            <a:pPr marL="0" indent="0" algn="ctr">
              <a:buNone/>
            </a:pPr>
            <a:r>
              <a:rPr lang="en-US" sz="2000" b="1" dirty="0">
                <a:solidFill>
                  <a:srgbClr val="1F2A3C"/>
                </a:solidFill>
                <a:latin typeface="Calibri" pitchFamily="34" charset="0"/>
                <a:ea typeface="Calibri" pitchFamily="34" charset="-122"/>
                <a:cs typeface="Calibri" pitchFamily="34" charset="-120"/>
              </a:rPr>
              <a:t>FP32</a:t>
            </a:r>
            <a:endParaRPr lang="en-US" sz="2000" dirty="0"/>
          </a:p>
        </p:txBody>
      </p:sp>
      <p:sp>
        <p:nvSpPr>
          <p:cNvPr id="23" name="Text 21"/>
          <p:cNvSpPr txBox="1"/>
          <p:nvPr/>
        </p:nvSpPr>
        <p:spPr>
          <a:xfrm>
            <a:off x="9445752" y="1938528"/>
            <a:ext cx="2514600" cy="914400"/>
          </a:xfrm>
          <a:prstGeom prst="rect">
            <a:avLst/>
          </a:prstGeom>
          <a:noFill/>
          <a:ln/>
        </p:spPr>
        <p:txBody>
          <a:bodyPr wrap="square" rtlCol="0" anchor="ctr"/>
          <a:lstStyle/>
          <a:p>
            <a:pPr marL="0" indent="0" algn="l">
              <a:buNone/>
            </a:pPr>
            <a:r>
              <a:rPr lang="en-US" sz="1050" dirty="0">
                <a:solidFill>
                  <a:srgbClr val="6B7480"/>
                </a:solidFill>
                <a:latin typeface="Calibri" pitchFamily="34" charset="0"/>
                <a:ea typeface="Calibri" pitchFamily="34" charset="-122"/>
                <a:cs typeface="Calibri" pitchFamily="34" charset="-120"/>
              </a:rPr>
              <a:t>32-bit floating point → higher storage &amp; compute cost per value</a:t>
            </a:r>
            <a:endParaRPr lang="en-US" sz="1050" dirty="0"/>
          </a:p>
        </p:txBody>
      </p:sp>
      <p:sp>
        <p:nvSpPr>
          <p:cNvPr id="24" name="Shape 22"/>
          <p:cNvSpPr/>
          <p:nvPr/>
        </p:nvSpPr>
        <p:spPr>
          <a:xfrm>
            <a:off x="8092440" y="2880360"/>
            <a:ext cx="0" cy="457200"/>
          </a:xfrm>
          <a:prstGeom prst="line">
            <a:avLst/>
          </a:prstGeom>
          <a:noFill/>
          <a:ln w="19050">
            <a:solidFill>
              <a:srgbClr val="6B7480"/>
            </a:solidFill>
            <a:prstDash val="solid"/>
            <a:tailEnd type="triangle"/>
          </a:ln>
        </p:spPr>
        <p:txBody>
          <a:bodyPr/>
          <a:lstStyle/>
          <a:p>
            <a:endParaRPr/>
          </a:p>
        </p:txBody>
      </p:sp>
      <p:sp>
        <p:nvSpPr>
          <p:cNvPr id="25" name="Shape 23"/>
          <p:cNvSpPr/>
          <p:nvPr/>
        </p:nvSpPr>
        <p:spPr>
          <a:xfrm>
            <a:off x="7269480" y="3337560"/>
            <a:ext cx="1645920" cy="685800"/>
          </a:xfrm>
          <a:prstGeom prst="rect">
            <a:avLst/>
          </a:prstGeom>
          <a:solidFill>
            <a:srgbClr val="E4EEF0"/>
          </a:solidFill>
          <a:ln w="12700">
            <a:solidFill>
              <a:srgbClr val="2E6E7E"/>
            </a:solidFill>
            <a:prstDash val="solid"/>
          </a:ln>
        </p:spPr>
        <p:txBody>
          <a:bodyPr/>
          <a:lstStyle/>
          <a:p>
            <a:endParaRPr/>
          </a:p>
        </p:txBody>
      </p:sp>
      <p:sp>
        <p:nvSpPr>
          <p:cNvPr id="26" name="Text 24"/>
          <p:cNvSpPr txBox="1"/>
          <p:nvPr/>
        </p:nvSpPr>
        <p:spPr>
          <a:xfrm>
            <a:off x="7296912" y="3337560"/>
            <a:ext cx="1591056" cy="685800"/>
          </a:xfrm>
          <a:prstGeom prst="rect">
            <a:avLst/>
          </a:prstGeom>
          <a:noFill/>
          <a:ln/>
        </p:spPr>
        <p:txBody>
          <a:bodyPr wrap="square" lIns="0" tIns="0" rIns="0" bIns="0" rtlCol="0" anchor="ctr"/>
          <a:lstStyle/>
          <a:p>
            <a:pPr marL="0" indent="0" algn="ctr">
              <a:buNone/>
            </a:pPr>
            <a:r>
              <a:rPr lang="en-US" sz="1700" b="1" dirty="0">
                <a:solidFill>
                  <a:srgbClr val="2E6E7E"/>
                </a:solidFill>
                <a:latin typeface="Calibri" pitchFamily="34" charset="0"/>
                <a:ea typeface="Calibri" pitchFamily="34" charset="-122"/>
                <a:cs typeface="Calibri" pitchFamily="34" charset="-120"/>
              </a:rPr>
              <a:t>INT8</a:t>
            </a:r>
            <a:endParaRPr lang="en-US" sz="1700" dirty="0"/>
          </a:p>
        </p:txBody>
      </p:sp>
      <p:sp>
        <p:nvSpPr>
          <p:cNvPr id="27" name="Text 25"/>
          <p:cNvSpPr txBox="1"/>
          <p:nvPr/>
        </p:nvSpPr>
        <p:spPr>
          <a:xfrm>
            <a:off x="9445752" y="3364992"/>
            <a:ext cx="2514600" cy="685800"/>
          </a:xfrm>
          <a:prstGeom prst="rect">
            <a:avLst/>
          </a:prstGeom>
          <a:noFill/>
          <a:ln/>
        </p:spPr>
        <p:txBody>
          <a:bodyPr wrap="square" rtlCol="0" anchor="ctr"/>
          <a:lstStyle/>
          <a:p>
            <a:pPr marL="0" indent="0" algn="l">
              <a:buNone/>
            </a:pPr>
            <a:r>
              <a:rPr lang="en-US" sz="1050" dirty="0">
                <a:solidFill>
                  <a:srgbClr val="6B7480"/>
                </a:solidFill>
                <a:latin typeface="Calibri" pitchFamily="34" charset="0"/>
                <a:ea typeface="Calibri" pitchFamily="34" charset="-122"/>
                <a:cs typeface="Calibri" pitchFamily="34" charset="-120"/>
              </a:rPr>
              <a:t>8-bit integer → lower storage footprint</a:t>
            </a:r>
            <a:endParaRPr lang="en-US" sz="1050" dirty="0"/>
          </a:p>
        </p:txBody>
      </p:sp>
      <p:sp>
        <p:nvSpPr>
          <p:cNvPr id="28" name="Shape 26"/>
          <p:cNvSpPr/>
          <p:nvPr/>
        </p:nvSpPr>
        <p:spPr>
          <a:xfrm>
            <a:off x="6903720" y="4343400"/>
            <a:ext cx="4754880" cy="868680"/>
          </a:xfrm>
          <a:prstGeom prst="rect">
            <a:avLst/>
          </a:prstGeom>
          <a:solidFill>
            <a:srgbClr val="F4F6F8"/>
          </a:solidFill>
          <a:ln w="12700">
            <a:solidFill>
              <a:srgbClr val="D6DCE2"/>
            </a:solidFill>
            <a:prstDash val="solid"/>
          </a:ln>
        </p:spPr>
        <p:txBody>
          <a:bodyPr/>
          <a:lstStyle/>
          <a:p>
            <a:endParaRPr/>
          </a:p>
        </p:txBody>
      </p:sp>
      <p:sp>
        <p:nvSpPr>
          <p:cNvPr id="29" name="Text 27"/>
          <p:cNvSpPr txBox="1"/>
          <p:nvPr/>
        </p:nvSpPr>
        <p:spPr>
          <a:xfrm>
            <a:off x="7086600" y="4434840"/>
            <a:ext cx="4389120" cy="685800"/>
          </a:xfrm>
          <a:prstGeom prst="rect">
            <a:avLst/>
          </a:prstGeom>
          <a:noFill/>
          <a:ln/>
        </p:spPr>
        <p:txBody>
          <a:bodyPr wrap="square" rtlCol="0" anchor="ctr"/>
          <a:lstStyle/>
          <a:p>
            <a:pPr marL="0" indent="0" algn="l">
              <a:buNone/>
            </a:pPr>
            <a:r>
              <a:rPr lang="en-US" sz="1150" i="1" dirty="0">
                <a:solidFill>
                  <a:srgbClr val="1F2A3C"/>
                </a:solidFill>
                <a:latin typeface="Calibri" pitchFamily="34" charset="0"/>
                <a:ea typeface="Calibri" pitchFamily="34" charset="-122"/>
                <a:cs typeface="Calibri" pitchFamily="34" charset="-120"/>
              </a:rPr>
              <a:t>But converting FP32 → INT8 blindly is unsafe — the compiler must first prove it is safe for each value.</a:t>
            </a:r>
            <a:endParaRPr lang="en-US" sz="1150" dirty="0"/>
          </a:p>
        </p:txBody>
      </p:sp>
      <p:sp>
        <p:nvSpPr>
          <p:cNvPr id="30" name="Text 28"/>
          <p:cNvSpPr txBox="1"/>
          <p:nvPr/>
        </p:nvSpPr>
        <p:spPr>
          <a:xfrm>
            <a:off x="502920" y="6492240"/>
            <a:ext cx="9601200" cy="237744"/>
          </a:xfrm>
          <a:prstGeom prst="rect">
            <a:avLst/>
          </a:prstGeom>
          <a:noFill/>
          <a:ln/>
        </p:spPr>
        <p:txBody>
          <a:bodyPr wrap="square" rtlCol="0" anchor="ctr"/>
          <a:lstStyle/>
          <a:p>
            <a:pPr marL="0" indent="0">
              <a:buNone/>
            </a:pPr>
            <a:r>
              <a:rPr lang="en-US" sz="800" dirty="0">
                <a:solidFill>
                  <a:srgbClr val="9AA3AF"/>
                </a:solidFill>
                <a:latin typeface="Calibri" pitchFamily="34" charset="0"/>
                <a:ea typeface="Calibri" pitchFamily="34" charset="-122"/>
                <a:cs typeface="Calibri" pitchFamily="34" charset="-120"/>
              </a:rPr>
              <a:t>BCSE307L — Compiler Design   |   Range-Aware Edge AI Quantization Compiler</a:t>
            </a:r>
            <a:endParaRPr lang="en-US" sz="800" dirty="0"/>
          </a:p>
        </p:txBody>
      </p:sp>
      <p:sp>
        <p:nvSpPr>
          <p:cNvPr id="31" name="Text 29"/>
          <p:cNvSpPr txBox="1"/>
          <p:nvPr/>
        </p:nvSpPr>
        <p:spPr>
          <a:xfrm>
            <a:off x="11247120" y="6492240"/>
            <a:ext cx="457200" cy="237744"/>
          </a:xfrm>
          <a:prstGeom prst="rect">
            <a:avLst/>
          </a:prstGeom>
          <a:noFill/>
          <a:ln/>
        </p:spPr>
        <p:txBody>
          <a:bodyPr wrap="square" rtlCol="0" anchor="ctr"/>
          <a:lstStyle/>
          <a:p>
            <a:pPr algn="r"/>
            <a:r>
              <a:rPr sz="850">
                <a:solidFill>
                  <a:srgbClr val="8A919A"/>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marL="0" indent="0">
              <a:buNone/>
            </a:pPr>
            <a:r>
              <a:rPr lang="en-US" sz="1100" b="1" kern="0" spc="200" dirty="0">
                <a:solidFill>
                  <a:srgbClr val="2E6E7E"/>
                </a:solidFill>
                <a:latin typeface="Calibri" pitchFamily="34" charset="0"/>
                <a:ea typeface="Calibri" pitchFamily="34" charset="-122"/>
                <a:cs typeface="Calibri" pitchFamily="34" charset="-120"/>
              </a:rPr>
              <a:t>PROBLEM STATEMENT</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marL="0" indent="0">
              <a:buNone/>
            </a:pPr>
            <a:r>
              <a:rPr lang="en-US" sz="2900" b="1" dirty="0">
                <a:solidFill>
                  <a:srgbClr val="1F2A3C"/>
                </a:solidFill>
                <a:latin typeface="Cambria" pitchFamily="34" charset="0"/>
                <a:ea typeface="Cambria" pitchFamily="34" charset="-122"/>
                <a:cs typeface="Cambria" pitchFamily="34" charset="-120"/>
              </a:rPr>
              <a:t>The Central Question</a:t>
            </a:r>
            <a:endParaRPr lang="en-US" sz="2900" dirty="0"/>
          </a:p>
        </p:txBody>
      </p:sp>
      <p:sp>
        <p:nvSpPr>
          <p:cNvPr id="4" name="Shape 2"/>
          <p:cNvSpPr/>
          <p:nvPr/>
        </p:nvSpPr>
        <p:spPr>
          <a:xfrm>
            <a:off x="731520" y="1600200"/>
            <a:ext cx="10725912" cy="960120"/>
          </a:xfrm>
          <a:prstGeom prst="rect">
            <a:avLst/>
          </a:prstGeom>
          <a:solidFill>
            <a:srgbClr val="F4F6F8"/>
          </a:solidFill>
          <a:ln w="12700">
            <a:solidFill>
              <a:srgbClr val="D6DCE2"/>
            </a:solidFill>
            <a:prstDash val="solid"/>
          </a:ln>
        </p:spPr>
        <p:txBody>
          <a:bodyPr/>
          <a:lstStyle/>
          <a:p>
            <a:endParaRPr/>
          </a:p>
        </p:txBody>
      </p:sp>
      <p:sp>
        <p:nvSpPr>
          <p:cNvPr id="5" name="Text 3"/>
          <p:cNvSpPr txBox="1"/>
          <p:nvPr/>
        </p:nvSpPr>
        <p:spPr>
          <a:xfrm>
            <a:off x="1051560" y="1600200"/>
            <a:ext cx="10058400" cy="960120"/>
          </a:xfrm>
          <a:prstGeom prst="rect">
            <a:avLst/>
          </a:prstGeom>
          <a:noFill/>
          <a:ln/>
        </p:spPr>
        <p:txBody>
          <a:bodyPr wrap="square" rtlCol="0" anchor="ctr"/>
          <a:lstStyle/>
          <a:p>
            <a:pPr marL="0" indent="0" algn="ctr">
              <a:buNone/>
            </a:pPr>
            <a:r>
              <a:rPr lang="en-US" sz="1600" i="1" dirty="0">
                <a:solidFill>
                  <a:srgbClr val="1F2A3C"/>
                </a:solidFill>
                <a:latin typeface="Cambria" pitchFamily="34" charset="0"/>
                <a:ea typeface="Cambria" pitchFamily="34" charset="-122"/>
                <a:cs typeface="Cambria" pitchFamily="34" charset="-120"/>
              </a:rPr>
              <a:t>“Can a compiler statically determine which numerical computations can be safely represented using INT8, and transform only those computations for which safety can be proven?”</a:t>
            </a:r>
            <a:endParaRPr lang="en-US" sz="1600" dirty="0"/>
          </a:p>
        </p:txBody>
      </p:sp>
      <p:sp>
        <p:nvSpPr>
          <p:cNvPr id="6" name="Shape 4"/>
          <p:cNvSpPr/>
          <p:nvPr/>
        </p:nvSpPr>
        <p:spPr>
          <a:xfrm>
            <a:off x="4998568" y="2788920"/>
            <a:ext cx="2194560" cy="548640"/>
          </a:xfrm>
          <a:prstGeom prst="rect">
            <a:avLst/>
          </a:prstGeom>
          <a:solidFill>
            <a:srgbClr val="F4F6F8"/>
          </a:solidFill>
          <a:ln w="12700">
            <a:solidFill>
              <a:srgbClr val="1F2A3C"/>
            </a:solidFill>
            <a:prstDash val="solid"/>
          </a:ln>
        </p:spPr>
        <p:txBody>
          <a:bodyPr/>
          <a:lstStyle/>
          <a:p>
            <a:endParaRPr/>
          </a:p>
        </p:txBody>
      </p:sp>
      <p:sp>
        <p:nvSpPr>
          <p:cNvPr id="7" name="Text 5"/>
          <p:cNvSpPr txBox="1"/>
          <p:nvPr/>
        </p:nvSpPr>
        <p:spPr>
          <a:xfrm>
            <a:off x="5026000" y="2788920"/>
            <a:ext cx="2139696" cy="548640"/>
          </a:xfrm>
          <a:prstGeom prst="rect">
            <a:avLst/>
          </a:prstGeom>
          <a:noFill/>
          <a:ln/>
        </p:spPr>
        <p:txBody>
          <a:bodyPr wrap="square" lIns="0" tIns="0" rIns="0" bIns="0" rtlCol="0" anchor="ctr"/>
          <a:lstStyle/>
          <a:p>
            <a:pPr marL="0" indent="0" algn="ctr">
              <a:buNone/>
            </a:pPr>
            <a:r>
              <a:rPr lang="en-US" sz="1300" b="1" dirty="0">
                <a:solidFill>
                  <a:srgbClr val="1F2A3C"/>
                </a:solidFill>
                <a:latin typeface="Calibri" pitchFamily="34" charset="0"/>
                <a:ea typeface="Calibri" pitchFamily="34" charset="-122"/>
                <a:cs typeface="Calibri" pitchFamily="34" charset="-120"/>
              </a:rPr>
              <a:t>FP32 Value</a:t>
            </a:r>
            <a:endParaRPr lang="en-US" sz="1300" dirty="0"/>
          </a:p>
        </p:txBody>
      </p:sp>
      <p:sp>
        <p:nvSpPr>
          <p:cNvPr id="8" name="Shape 6"/>
          <p:cNvSpPr/>
          <p:nvPr/>
        </p:nvSpPr>
        <p:spPr>
          <a:xfrm>
            <a:off x="6095848" y="3337560"/>
            <a:ext cx="0" cy="274320"/>
          </a:xfrm>
          <a:prstGeom prst="line">
            <a:avLst/>
          </a:prstGeom>
          <a:noFill/>
          <a:ln w="19050">
            <a:solidFill>
              <a:srgbClr val="6B7480"/>
            </a:solidFill>
            <a:prstDash val="solid"/>
            <a:tailEnd type="triangle"/>
          </a:ln>
        </p:spPr>
        <p:txBody>
          <a:bodyPr/>
          <a:lstStyle/>
          <a:p>
            <a:endParaRPr/>
          </a:p>
        </p:txBody>
      </p:sp>
      <p:sp>
        <p:nvSpPr>
          <p:cNvPr id="9" name="Shape 7"/>
          <p:cNvSpPr/>
          <p:nvPr/>
        </p:nvSpPr>
        <p:spPr>
          <a:xfrm>
            <a:off x="3626968" y="3611880"/>
            <a:ext cx="4937760" cy="1097280"/>
          </a:xfrm>
          <a:prstGeom prst="rect">
            <a:avLst/>
          </a:prstGeom>
          <a:solidFill>
            <a:srgbClr val="FFFFFF"/>
          </a:solidFill>
          <a:ln w="15875">
            <a:solidFill>
              <a:srgbClr val="1F2A3C"/>
            </a:solidFill>
            <a:prstDash val="solid"/>
          </a:ln>
        </p:spPr>
        <p:txBody>
          <a:bodyPr/>
          <a:lstStyle/>
          <a:p>
            <a:endParaRPr/>
          </a:p>
        </p:txBody>
      </p:sp>
      <p:sp>
        <p:nvSpPr>
          <p:cNvPr id="10" name="Text 8"/>
          <p:cNvSpPr txBox="1"/>
          <p:nvPr/>
        </p:nvSpPr>
        <p:spPr>
          <a:xfrm>
            <a:off x="3809848" y="3657600"/>
            <a:ext cx="4572000" cy="256032"/>
          </a:xfrm>
          <a:prstGeom prst="rect">
            <a:avLst/>
          </a:prstGeom>
          <a:noFill/>
          <a:ln/>
        </p:spPr>
        <p:txBody>
          <a:bodyPr wrap="square" rtlCol="0" anchor="t"/>
          <a:lstStyle/>
          <a:p>
            <a:pPr marL="0" indent="0" algn="l">
              <a:buNone/>
            </a:pPr>
            <a:r>
              <a:rPr lang="en-US" sz="1150" b="1" dirty="0">
                <a:solidFill>
                  <a:srgbClr val="1F2A3C"/>
                </a:solidFill>
                <a:latin typeface="Calibri" pitchFamily="34" charset="0"/>
                <a:ea typeface="Calibri" pitchFamily="34" charset="-122"/>
                <a:cs typeface="Calibri" pitchFamily="34" charset="-120"/>
              </a:rPr>
              <a:t>Can the compiler prove:</a:t>
            </a:r>
            <a:endParaRPr lang="en-US" sz="1150" dirty="0"/>
          </a:p>
        </p:txBody>
      </p:sp>
      <p:sp>
        <p:nvSpPr>
          <p:cNvPr id="11" name="Text 9"/>
          <p:cNvSpPr txBox="1"/>
          <p:nvPr/>
        </p:nvSpPr>
        <p:spPr>
          <a:xfrm>
            <a:off x="3855568" y="3931920"/>
            <a:ext cx="4572000" cy="731520"/>
          </a:xfrm>
          <a:prstGeom prst="rect">
            <a:avLst/>
          </a:prstGeom>
          <a:noFill/>
          <a:ln/>
        </p:spPr>
        <p:txBody>
          <a:bodyPr wrap="square" rtlCol="0" anchor="ctr"/>
          <a:lstStyle/>
          <a:p>
            <a:pPr marL="342900" indent="-342900">
              <a:lnSpc>
                <a:spcPct val="105000"/>
              </a:lnSpc>
              <a:buSzPct val="100000"/>
              <a:buChar char="▪"/>
            </a:pPr>
            <a:r>
              <a:rPr lang="en-US" sz="1000" dirty="0">
                <a:solidFill>
                  <a:srgbClr val="23262B"/>
                </a:solidFill>
                <a:latin typeface="Calibri" pitchFamily="34" charset="0"/>
                <a:ea typeface="Calibri" pitchFamily="34" charset="-122"/>
                <a:cs typeface="Calibri" pitchFamily="34" charset="-120"/>
              </a:rPr>
              <a:t>Bounded range within [−128, 127]?</a:t>
            </a:r>
            <a:endParaRPr lang="en-US" sz="1000" dirty="0"/>
          </a:p>
          <a:p>
            <a:pPr marL="342900" indent="-342900">
              <a:lnSpc>
                <a:spcPct val="105000"/>
              </a:lnSpc>
              <a:buSzPct val="100000"/>
              <a:buChar char="▪"/>
            </a:pPr>
            <a:r>
              <a:rPr lang="en-US" sz="1000" dirty="0">
                <a:solidFill>
                  <a:srgbClr val="23262B"/>
                </a:solidFill>
                <a:latin typeface="Calibri" pitchFamily="34" charset="0"/>
                <a:ea typeface="Calibri" pitchFamily="34" charset="-122"/>
                <a:cs typeface="Calibri" pitchFamily="34" charset="-120"/>
              </a:rPr>
              <a:t>Value guaranteed integral?</a:t>
            </a:r>
            <a:endParaRPr lang="en-US" sz="1000" dirty="0"/>
          </a:p>
          <a:p>
            <a:pPr marL="342900" indent="-342900">
              <a:lnSpc>
                <a:spcPct val="105000"/>
              </a:lnSpc>
              <a:buSzPct val="100000"/>
              <a:buChar char="▪"/>
            </a:pPr>
            <a:r>
              <a:rPr lang="en-US" sz="1000" dirty="0">
                <a:solidFill>
                  <a:srgbClr val="23262B"/>
                </a:solidFill>
                <a:latin typeface="Calibri" pitchFamily="34" charset="0"/>
                <a:ea typeface="Calibri" pitchFamily="34" charset="-122"/>
                <a:cs typeface="Calibri" pitchFamily="34" charset="-120"/>
              </a:rPr>
              <a:t>No possible overflow?</a:t>
            </a:r>
            <a:endParaRPr lang="en-US" sz="1000" dirty="0"/>
          </a:p>
          <a:p>
            <a:pPr marL="342900" indent="-342900">
              <a:lnSpc>
                <a:spcPct val="105000"/>
              </a:lnSpc>
              <a:buSzPct val="100000"/>
              <a:buChar char="▪"/>
            </a:pPr>
            <a:r>
              <a:rPr lang="en-US" sz="1000" dirty="0">
                <a:solidFill>
                  <a:srgbClr val="23262B"/>
                </a:solidFill>
                <a:latin typeface="Calibri" pitchFamily="34" charset="0"/>
                <a:ea typeface="Calibri" pitchFamily="34" charset="-122"/>
                <a:cs typeface="Calibri" pitchFamily="34" charset="-120"/>
              </a:rPr>
              <a:t>Operation supported for quantization?</a:t>
            </a:r>
            <a:endParaRPr lang="en-US" sz="1000" dirty="0"/>
          </a:p>
        </p:txBody>
      </p:sp>
      <p:sp>
        <p:nvSpPr>
          <p:cNvPr id="12" name="Shape 10"/>
          <p:cNvSpPr/>
          <p:nvPr/>
        </p:nvSpPr>
        <p:spPr>
          <a:xfrm>
            <a:off x="6095848" y="4709160"/>
            <a:ext cx="0" cy="182880"/>
          </a:xfrm>
          <a:prstGeom prst="line">
            <a:avLst/>
          </a:prstGeom>
          <a:noFill/>
          <a:ln w="19050">
            <a:solidFill>
              <a:srgbClr val="6B7480"/>
            </a:solidFill>
            <a:prstDash val="solid"/>
          </a:ln>
        </p:spPr>
        <p:txBody>
          <a:bodyPr/>
          <a:lstStyle/>
          <a:p>
            <a:endParaRPr/>
          </a:p>
        </p:txBody>
      </p:sp>
      <p:sp>
        <p:nvSpPr>
          <p:cNvPr id="13" name="Shape 11"/>
          <p:cNvSpPr/>
          <p:nvPr/>
        </p:nvSpPr>
        <p:spPr>
          <a:xfrm flipH="1">
            <a:off x="3200400" y="4892040"/>
            <a:ext cx="2895448" cy="320040"/>
          </a:xfrm>
          <a:prstGeom prst="line">
            <a:avLst/>
          </a:prstGeom>
          <a:noFill/>
          <a:ln w="19050">
            <a:solidFill>
              <a:srgbClr val="2E6E7E"/>
            </a:solidFill>
            <a:prstDash val="solid"/>
            <a:tailEnd type="triangle"/>
          </a:ln>
        </p:spPr>
        <p:txBody>
          <a:bodyPr/>
          <a:lstStyle/>
          <a:p>
            <a:endParaRPr/>
          </a:p>
        </p:txBody>
      </p:sp>
      <p:sp>
        <p:nvSpPr>
          <p:cNvPr id="14" name="Shape 12"/>
          <p:cNvSpPr/>
          <p:nvPr/>
        </p:nvSpPr>
        <p:spPr>
          <a:xfrm>
            <a:off x="6095848" y="4892040"/>
            <a:ext cx="2892704" cy="320040"/>
          </a:xfrm>
          <a:prstGeom prst="line">
            <a:avLst/>
          </a:prstGeom>
          <a:noFill/>
          <a:ln w="19050">
            <a:solidFill>
              <a:srgbClr val="9C4A3E"/>
            </a:solidFill>
            <a:prstDash val="solid"/>
            <a:tailEnd type="triangle"/>
          </a:ln>
        </p:spPr>
        <p:txBody>
          <a:bodyPr/>
          <a:lstStyle/>
          <a:p>
            <a:endParaRPr/>
          </a:p>
        </p:txBody>
      </p:sp>
      <p:sp>
        <p:nvSpPr>
          <p:cNvPr id="15" name="Shape 13"/>
          <p:cNvSpPr/>
          <p:nvPr/>
        </p:nvSpPr>
        <p:spPr>
          <a:xfrm>
            <a:off x="1920240" y="5212080"/>
            <a:ext cx="2560320" cy="777240"/>
          </a:xfrm>
          <a:prstGeom prst="rect">
            <a:avLst/>
          </a:prstGeom>
          <a:solidFill>
            <a:srgbClr val="2E6E7E"/>
          </a:solidFill>
          <a:ln w="12700">
            <a:solidFill>
              <a:srgbClr val="2E6E7E"/>
            </a:solidFill>
            <a:prstDash val="solid"/>
          </a:ln>
        </p:spPr>
        <p:txBody>
          <a:bodyPr/>
          <a:lstStyle/>
          <a:p>
            <a:endParaRPr/>
          </a:p>
        </p:txBody>
      </p:sp>
      <p:sp>
        <p:nvSpPr>
          <p:cNvPr id="16" name="Text 14"/>
          <p:cNvSpPr txBox="1"/>
          <p:nvPr/>
        </p:nvSpPr>
        <p:spPr>
          <a:xfrm>
            <a:off x="1947672" y="5212080"/>
            <a:ext cx="2505456" cy="7772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YES → Quantize to INT8</a:t>
            </a:r>
            <a:endParaRPr lang="en-US" sz="1300" dirty="0"/>
          </a:p>
        </p:txBody>
      </p:sp>
      <p:sp>
        <p:nvSpPr>
          <p:cNvPr id="17" name="Shape 15"/>
          <p:cNvSpPr/>
          <p:nvPr/>
        </p:nvSpPr>
        <p:spPr>
          <a:xfrm>
            <a:off x="7708392" y="5212080"/>
            <a:ext cx="2560320" cy="777240"/>
          </a:xfrm>
          <a:prstGeom prst="rect">
            <a:avLst/>
          </a:prstGeom>
          <a:solidFill>
            <a:srgbClr val="F3E7E5"/>
          </a:solidFill>
          <a:ln w="12700">
            <a:solidFill>
              <a:srgbClr val="9C4A3E"/>
            </a:solidFill>
            <a:prstDash val="solid"/>
          </a:ln>
        </p:spPr>
        <p:txBody>
          <a:bodyPr/>
          <a:lstStyle/>
          <a:p>
            <a:endParaRPr/>
          </a:p>
        </p:txBody>
      </p:sp>
      <p:sp>
        <p:nvSpPr>
          <p:cNvPr id="18" name="Text 16"/>
          <p:cNvSpPr txBox="1"/>
          <p:nvPr/>
        </p:nvSpPr>
        <p:spPr>
          <a:xfrm>
            <a:off x="7735824" y="5212080"/>
            <a:ext cx="2505456" cy="777240"/>
          </a:xfrm>
          <a:prstGeom prst="rect">
            <a:avLst/>
          </a:prstGeom>
          <a:noFill/>
          <a:ln/>
        </p:spPr>
        <p:txBody>
          <a:bodyPr wrap="square" lIns="0" tIns="0" rIns="0" bIns="0" rtlCol="0" anchor="ctr"/>
          <a:lstStyle/>
          <a:p>
            <a:pPr marL="0" indent="0" algn="ctr">
              <a:buNone/>
            </a:pPr>
            <a:r>
              <a:rPr lang="en-US" sz="1300" b="1" dirty="0">
                <a:solidFill>
                  <a:srgbClr val="9C4A3E"/>
                </a:solidFill>
                <a:latin typeface="Calibri" pitchFamily="34" charset="0"/>
                <a:ea typeface="Calibri" pitchFamily="34" charset="-122"/>
                <a:cs typeface="Calibri" pitchFamily="34" charset="-120"/>
              </a:rPr>
              <a:t>NO → Preserve FP32</a:t>
            </a:r>
            <a:endParaRPr lang="en-US" sz="1300" dirty="0"/>
          </a:p>
        </p:txBody>
      </p:sp>
      <p:sp>
        <p:nvSpPr>
          <p:cNvPr id="19" name="Text 17"/>
          <p:cNvSpPr txBox="1"/>
          <p:nvPr/>
        </p:nvSpPr>
        <p:spPr>
          <a:xfrm>
            <a:off x="502920" y="6492240"/>
            <a:ext cx="9601200" cy="237744"/>
          </a:xfrm>
          <a:prstGeom prst="rect">
            <a:avLst/>
          </a:prstGeom>
          <a:noFill/>
          <a:ln/>
        </p:spPr>
        <p:txBody>
          <a:bodyPr wrap="square" rtlCol="0" anchor="ctr"/>
          <a:lstStyle/>
          <a:p>
            <a:pPr marL="0" indent="0">
              <a:buNone/>
            </a:pPr>
            <a:r>
              <a:rPr lang="en-US" sz="800" dirty="0">
                <a:solidFill>
                  <a:srgbClr val="9AA3AF"/>
                </a:solidFill>
                <a:latin typeface="Calibri" pitchFamily="34" charset="0"/>
                <a:ea typeface="Calibri" pitchFamily="34" charset="-122"/>
                <a:cs typeface="Calibri" pitchFamily="34" charset="-120"/>
              </a:rPr>
              <a:t>BCSE307L — Compiler Design   |   Range-Aware Edge AI Quantization Compiler</a:t>
            </a:r>
            <a:endParaRPr lang="en-US" sz="800" dirty="0"/>
          </a:p>
        </p:txBody>
      </p:sp>
      <p:sp>
        <p:nvSpPr>
          <p:cNvPr id="20" name="Text 18"/>
          <p:cNvSpPr txBox="1"/>
          <p:nvPr/>
        </p:nvSpPr>
        <p:spPr>
          <a:xfrm>
            <a:off x="11247120" y="6492240"/>
            <a:ext cx="457200" cy="237744"/>
          </a:xfrm>
          <a:prstGeom prst="rect">
            <a:avLst/>
          </a:prstGeom>
          <a:noFill/>
          <a:ln/>
        </p:spPr>
        <p:txBody>
          <a:bodyPr wrap="square" rtlCol="0" anchor="ctr"/>
          <a:lstStyle/>
          <a:p>
            <a:pPr algn="r"/>
            <a:r>
              <a:rPr sz="850">
                <a:solidFill>
                  <a:srgbClr val="8A919A"/>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marL="0" indent="0">
              <a:buNone/>
            </a:pPr>
            <a:r>
              <a:rPr lang="en-US" sz="1100" b="1" kern="0" spc="200" dirty="0">
                <a:solidFill>
                  <a:srgbClr val="2E6E7E"/>
                </a:solidFill>
                <a:latin typeface="Calibri" pitchFamily="34" charset="0"/>
                <a:ea typeface="Calibri" pitchFamily="34" charset="-122"/>
                <a:cs typeface="Calibri" pitchFamily="34" charset="-120"/>
              </a:rPr>
              <a:t>MOTIVATION</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marL="0" indent="0">
              <a:buNone/>
            </a:pPr>
            <a:r>
              <a:rPr lang="en-US" sz="2900" b="1" dirty="0">
                <a:solidFill>
                  <a:srgbClr val="1F2A3C"/>
                </a:solidFill>
                <a:latin typeface="Cambria" pitchFamily="34" charset="0"/>
                <a:ea typeface="Cambria" pitchFamily="34" charset="-122"/>
                <a:cs typeface="Cambria" pitchFamily="34" charset="-120"/>
              </a:rPr>
              <a:t>Why Compiler-Based Analysis?</a:t>
            </a:r>
            <a:endParaRPr lang="en-US" sz="2900" dirty="0"/>
          </a:p>
        </p:txBody>
      </p:sp>
      <p:sp>
        <p:nvSpPr>
          <p:cNvPr id="4" name="Shape 2"/>
          <p:cNvSpPr/>
          <p:nvPr/>
        </p:nvSpPr>
        <p:spPr>
          <a:xfrm>
            <a:off x="548640" y="1783080"/>
            <a:ext cx="11091672" cy="1005840"/>
          </a:xfrm>
          <a:prstGeom prst="rect">
            <a:avLst/>
          </a:prstGeom>
          <a:solidFill>
            <a:srgbClr val="F4F6F8"/>
          </a:solidFill>
          <a:ln w="12700">
            <a:solidFill>
              <a:srgbClr val="D6DCE2"/>
            </a:solidFill>
            <a:prstDash val="solid"/>
          </a:ln>
        </p:spPr>
        <p:txBody>
          <a:bodyPr/>
          <a:lstStyle/>
          <a:p>
            <a:endParaRPr/>
          </a:p>
        </p:txBody>
      </p:sp>
      <p:sp>
        <p:nvSpPr>
          <p:cNvPr id="5" name="Text 3"/>
          <p:cNvSpPr txBox="1"/>
          <p:nvPr/>
        </p:nvSpPr>
        <p:spPr>
          <a:xfrm>
            <a:off x="868680" y="1783080"/>
            <a:ext cx="4206240" cy="1005840"/>
          </a:xfrm>
          <a:prstGeom prst="rect">
            <a:avLst/>
          </a:prstGeom>
          <a:noFill/>
          <a:ln/>
        </p:spPr>
        <p:txBody>
          <a:bodyPr wrap="square" rtlCol="0" anchor="ctr"/>
          <a:lstStyle/>
          <a:p>
            <a:pPr marL="0" indent="0" algn="l">
              <a:buNone/>
            </a:pPr>
            <a:r>
              <a:rPr lang="en-US" sz="1500" b="1" dirty="0">
                <a:solidFill>
                  <a:srgbClr val="1F2A3C"/>
                </a:solidFill>
                <a:latin typeface="Calibri" pitchFamily="34" charset="0"/>
                <a:ea typeface="Calibri" pitchFamily="34" charset="-122"/>
                <a:cs typeface="Calibri" pitchFamily="34" charset="-120"/>
              </a:rPr>
              <a:t>Manual Conversion</a:t>
            </a:r>
            <a:endParaRPr lang="en-US" sz="1500" dirty="0"/>
          </a:p>
        </p:txBody>
      </p:sp>
      <p:sp>
        <p:nvSpPr>
          <p:cNvPr id="6" name="Shape 4"/>
          <p:cNvSpPr/>
          <p:nvPr/>
        </p:nvSpPr>
        <p:spPr>
          <a:xfrm>
            <a:off x="5212080" y="2286000"/>
            <a:ext cx="822960" cy="0"/>
          </a:xfrm>
          <a:prstGeom prst="line">
            <a:avLst/>
          </a:prstGeom>
          <a:noFill/>
          <a:ln w="19050">
            <a:solidFill>
              <a:srgbClr val="1F2A3C"/>
            </a:solidFill>
            <a:prstDash val="solid"/>
            <a:tailEnd type="triangle"/>
          </a:ln>
        </p:spPr>
        <p:txBody>
          <a:bodyPr/>
          <a:lstStyle/>
          <a:p>
            <a:endParaRPr/>
          </a:p>
        </p:txBody>
      </p:sp>
      <p:sp>
        <p:nvSpPr>
          <p:cNvPr id="7" name="Text 5"/>
          <p:cNvSpPr txBox="1"/>
          <p:nvPr/>
        </p:nvSpPr>
        <p:spPr>
          <a:xfrm>
            <a:off x="6217920" y="1783080"/>
            <a:ext cx="5212080" cy="1005840"/>
          </a:xfrm>
          <a:prstGeom prst="rect">
            <a:avLst/>
          </a:prstGeom>
          <a:noFill/>
          <a:ln/>
        </p:spPr>
        <p:txBody>
          <a:bodyPr wrap="square" rtlCol="0" anchor="ctr"/>
          <a:lstStyle/>
          <a:p>
            <a:pPr marL="0" indent="0" algn="l">
              <a:buNone/>
            </a:pPr>
            <a:r>
              <a:rPr lang="en-US" sz="1300" dirty="0">
                <a:solidFill>
                  <a:srgbClr val="1F2A3C"/>
                </a:solidFill>
                <a:latin typeface="Calibri" pitchFamily="34" charset="0"/>
                <a:ea typeface="Calibri" pitchFamily="34" charset="-122"/>
                <a:cs typeface="Calibri" pitchFamily="34" charset="-120"/>
              </a:rPr>
              <a:t>Error-prone, difficult to scale across programs</a:t>
            </a:r>
            <a:endParaRPr lang="en-US" sz="1300" dirty="0"/>
          </a:p>
        </p:txBody>
      </p:sp>
      <p:sp>
        <p:nvSpPr>
          <p:cNvPr id="8" name="Shape 6"/>
          <p:cNvSpPr/>
          <p:nvPr/>
        </p:nvSpPr>
        <p:spPr>
          <a:xfrm>
            <a:off x="548640" y="2953512"/>
            <a:ext cx="11091672" cy="1005840"/>
          </a:xfrm>
          <a:prstGeom prst="rect">
            <a:avLst/>
          </a:prstGeom>
          <a:solidFill>
            <a:srgbClr val="F4F6F8"/>
          </a:solidFill>
          <a:ln w="12700">
            <a:solidFill>
              <a:srgbClr val="D6DCE2"/>
            </a:solidFill>
            <a:prstDash val="solid"/>
          </a:ln>
        </p:spPr>
        <p:txBody>
          <a:bodyPr/>
          <a:lstStyle/>
          <a:p>
            <a:endParaRPr/>
          </a:p>
        </p:txBody>
      </p:sp>
      <p:sp>
        <p:nvSpPr>
          <p:cNvPr id="9" name="Text 7"/>
          <p:cNvSpPr txBox="1"/>
          <p:nvPr/>
        </p:nvSpPr>
        <p:spPr>
          <a:xfrm>
            <a:off x="868680" y="2953512"/>
            <a:ext cx="4206240" cy="1005840"/>
          </a:xfrm>
          <a:prstGeom prst="rect">
            <a:avLst/>
          </a:prstGeom>
          <a:noFill/>
          <a:ln/>
        </p:spPr>
        <p:txBody>
          <a:bodyPr wrap="square" rtlCol="0" anchor="ctr"/>
          <a:lstStyle/>
          <a:p>
            <a:pPr marL="0" indent="0" algn="l">
              <a:buNone/>
            </a:pPr>
            <a:r>
              <a:rPr lang="en-US" sz="1500" b="1" dirty="0">
                <a:solidFill>
                  <a:srgbClr val="1F2A3C"/>
                </a:solidFill>
                <a:latin typeface="Calibri" pitchFamily="34" charset="0"/>
                <a:ea typeface="Calibri" pitchFamily="34" charset="-122"/>
                <a:cs typeface="Calibri" pitchFamily="34" charset="-120"/>
              </a:rPr>
              <a:t>Dynamic / Runtime Checking</a:t>
            </a:r>
            <a:endParaRPr lang="en-US" sz="1500" dirty="0"/>
          </a:p>
        </p:txBody>
      </p:sp>
      <p:sp>
        <p:nvSpPr>
          <p:cNvPr id="10" name="Shape 8"/>
          <p:cNvSpPr/>
          <p:nvPr/>
        </p:nvSpPr>
        <p:spPr>
          <a:xfrm>
            <a:off x="5212080" y="3456432"/>
            <a:ext cx="822960" cy="0"/>
          </a:xfrm>
          <a:prstGeom prst="line">
            <a:avLst/>
          </a:prstGeom>
          <a:noFill/>
          <a:ln w="19050">
            <a:solidFill>
              <a:srgbClr val="1F2A3C"/>
            </a:solidFill>
            <a:prstDash val="solid"/>
            <a:tailEnd type="triangle"/>
          </a:ln>
        </p:spPr>
        <p:txBody>
          <a:bodyPr/>
          <a:lstStyle/>
          <a:p>
            <a:endParaRPr/>
          </a:p>
        </p:txBody>
      </p:sp>
      <p:sp>
        <p:nvSpPr>
          <p:cNvPr id="11" name="Text 9"/>
          <p:cNvSpPr txBox="1"/>
          <p:nvPr/>
        </p:nvSpPr>
        <p:spPr>
          <a:xfrm>
            <a:off x="6217920" y="2953512"/>
            <a:ext cx="5212080" cy="1005840"/>
          </a:xfrm>
          <a:prstGeom prst="rect">
            <a:avLst/>
          </a:prstGeom>
          <a:noFill/>
          <a:ln/>
        </p:spPr>
        <p:txBody>
          <a:bodyPr wrap="square" rtlCol="0" anchor="ctr"/>
          <a:lstStyle/>
          <a:p>
            <a:pPr marL="0" indent="0" algn="l">
              <a:buNone/>
            </a:pPr>
            <a:r>
              <a:rPr lang="en-US" sz="1300" dirty="0">
                <a:solidFill>
                  <a:srgbClr val="1F2A3C"/>
                </a:solidFill>
                <a:latin typeface="Calibri" pitchFamily="34" charset="0"/>
                <a:ea typeface="Calibri" pitchFamily="34" charset="-122"/>
                <a:cs typeface="Calibri" pitchFamily="34" charset="-120"/>
              </a:rPr>
              <a:t>Correct, but adds overhead on every execution</a:t>
            </a:r>
            <a:endParaRPr lang="en-US" sz="1300" dirty="0"/>
          </a:p>
        </p:txBody>
      </p:sp>
      <p:sp>
        <p:nvSpPr>
          <p:cNvPr id="12" name="Shape 10"/>
          <p:cNvSpPr/>
          <p:nvPr/>
        </p:nvSpPr>
        <p:spPr>
          <a:xfrm>
            <a:off x="548640" y="4123944"/>
            <a:ext cx="11091672" cy="1005840"/>
          </a:xfrm>
          <a:prstGeom prst="rect">
            <a:avLst/>
          </a:prstGeom>
          <a:solidFill>
            <a:srgbClr val="2E6E7E"/>
          </a:solidFill>
          <a:ln w="12700">
            <a:solidFill>
              <a:srgbClr val="2E6E7E"/>
            </a:solidFill>
            <a:prstDash val="solid"/>
          </a:ln>
        </p:spPr>
        <p:txBody>
          <a:bodyPr/>
          <a:lstStyle/>
          <a:p>
            <a:endParaRPr/>
          </a:p>
        </p:txBody>
      </p:sp>
      <p:sp>
        <p:nvSpPr>
          <p:cNvPr id="13" name="Text 11"/>
          <p:cNvSpPr txBox="1"/>
          <p:nvPr/>
        </p:nvSpPr>
        <p:spPr>
          <a:xfrm>
            <a:off x="868680" y="4123944"/>
            <a:ext cx="4206240" cy="1005840"/>
          </a:xfrm>
          <a:prstGeom prst="rect">
            <a:avLst/>
          </a:prstGeom>
          <a:noFill/>
          <a:ln/>
        </p:spPr>
        <p:txBody>
          <a:bodyPr wrap="square" rtlCol="0" anchor="ctr"/>
          <a:lstStyle/>
          <a:p>
            <a:pPr marL="0" indent="0" algn="l">
              <a:buNone/>
            </a:pPr>
            <a:r>
              <a:rPr lang="en-US" sz="1500" b="1" dirty="0">
                <a:solidFill>
                  <a:srgbClr val="FFFFFF"/>
                </a:solidFill>
                <a:latin typeface="Calibri" pitchFamily="34" charset="0"/>
                <a:ea typeface="Calibri" pitchFamily="34" charset="-122"/>
                <a:cs typeface="Calibri" pitchFamily="34" charset="-120"/>
              </a:rPr>
              <a:t>Static Compiler Analysis</a:t>
            </a:r>
            <a:endParaRPr lang="en-US" sz="1500" dirty="0"/>
          </a:p>
        </p:txBody>
      </p:sp>
      <p:sp>
        <p:nvSpPr>
          <p:cNvPr id="14" name="Shape 12"/>
          <p:cNvSpPr/>
          <p:nvPr/>
        </p:nvSpPr>
        <p:spPr>
          <a:xfrm>
            <a:off x="5212080" y="4626864"/>
            <a:ext cx="822960" cy="0"/>
          </a:xfrm>
          <a:prstGeom prst="line">
            <a:avLst/>
          </a:prstGeom>
          <a:noFill/>
          <a:ln w="19050">
            <a:solidFill>
              <a:srgbClr val="FFFFFF"/>
            </a:solidFill>
            <a:prstDash val="solid"/>
            <a:tailEnd type="triangle"/>
          </a:ln>
        </p:spPr>
        <p:txBody>
          <a:bodyPr/>
          <a:lstStyle/>
          <a:p>
            <a:endParaRPr/>
          </a:p>
        </p:txBody>
      </p:sp>
      <p:sp>
        <p:nvSpPr>
          <p:cNvPr id="15" name="Text 13"/>
          <p:cNvSpPr txBox="1"/>
          <p:nvPr/>
        </p:nvSpPr>
        <p:spPr>
          <a:xfrm>
            <a:off x="6217920" y="4123944"/>
            <a:ext cx="5212080" cy="1005840"/>
          </a:xfrm>
          <a:prstGeom prst="rect">
            <a:avLst/>
          </a:prstGeom>
          <a:noFill/>
          <a:ln/>
        </p:spPr>
        <p:txBody>
          <a:bodyPr wrap="square"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Decision made once, before execution — our approach</a:t>
            </a:r>
            <a:endParaRPr lang="en-US" sz="1300" dirty="0"/>
          </a:p>
        </p:txBody>
      </p:sp>
      <p:sp>
        <p:nvSpPr>
          <p:cNvPr id="16" name="Text 14"/>
          <p:cNvSpPr txBox="1"/>
          <p:nvPr/>
        </p:nvSpPr>
        <p:spPr>
          <a:xfrm>
            <a:off x="548640" y="5486400"/>
            <a:ext cx="11091672" cy="548640"/>
          </a:xfrm>
          <a:prstGeom prst="rect">
            <a:avLst/>
          </a:prstGeom>
          <a:noFill/>
          <a:ln/>
        </p:spPr>
        <p:txBody>
          <a:bodyPr wrap="square" rtlCol="0" anchor="t"/>
          <a:lstStyle/>
          <a:p>
            <a:pPr marL="0" indent="0" algn="l">
              <a:buNone/>
            </a:pPr>
            <a:r>
              <a:rPr lang="en-US" sz="1200" i="1" dirty="0">
                <a:solidFill>
                  <a:srgbClr val="6B7480"/>
                </a:solidFill>
                <a:latin typeface="Calibri" pitchFamily="34" charset="0"/>
                <a:ea typeface="Calibri" pitchFamily="34" charset="-122"/>
                <a:cs typeface="Calibri" pitchFamily="34" charset="-120"/>
              </a:rPr>
              <a:t>The compiler inspects intermediate representation and reasons about value ranges before performing the optimization — the safety decision is explainable and made once, at compile time.</a:t>
            </a:r>
            <a:endParaRPr lang="en-US" sz="1200" dirty="0"/>
          </a:p>
        </p:txBody>
      </p:sp>
      <p:sp>
        <p:nvSpPr>
          <p:cNvPr id="17" name="Text 15"/>
          <p:cNvSpPr txBox="1"/>
          <p:nvPr/>
        </p:nvSpPr>
        <p:spPr>
          <a:xfrm>
            <a:off x="502920" y="6492240"/>
            <a:ext cx="9601200" cy="237744"/>
          </a:xfrm>
          <a:prstGeom prst="rect">
            <a:avLst/>
          </a:prstGeom>
          <a:noFill/>
          <a:ln/>
        </p:spPr>
        <p:txBody>
          <a:bodyPr wrap="square" rtlCol="0" anchor="ctr"/>
          <a:lstStyle/>
          <a:p>
            <a:pPr marL="0" indent="0">
              <a:buNone/>
            </a:pPr>
            <a:r>
              <a:rPr lang="en-US" sz="800" dirty="0">
                <a:solidFill>
                  <a:srgbClr val="9AA3AF"/>
                </a:solidFill>
                <a:latin typeface="Calibri" pitchFamily="34" charset="0"/>
                <a:ea typeface="Calibri" pitchFamily="34" charset="-122"/>
                <a:cs typeface="Calibri" pitchFamily="34" charset="-120"/>
              </a:rPr>
              <a:t>BCSE307L — Compiler Design   |   Range-Aware Edge AI Quantization Compiler</a:t>
            </a:r>
            <a:endParaRPr lang="en-US" sz="800" dirty="0"/>
          </a:p>
        </p:txBody>
      </p:sp>
      <p:sp>
        <p:nvSpPr>
          <p:cNvPr id="18" name="Text 16"/>
          <p:cNvSpPr txBox="1"/>
          <p:nvPr/>
        </p:nvSpPr>
        <p:spPr>
          <a:xfrm>
            <a:off x="11247120" y="6492240"/>
            <a:ext cx="457200" cy="237744"/>
          </a:xfrm>
          <a:prstGeom prst="rect">
            <a:avLst/>
          </a:prstGeom>
          <a:noFill/>
          <a:ln/>
        </p:spPr>
        <p:txBody>
          <a:bodyPr wrap="square" rtlCol="0" anchor="ctr"/>
          <a:lstStyle/>
          <a:p>
            <a:pPr algn="r"/>
            <a:r>
              <a:rPr sz="850">
                <a:solidFill>
                  <a:srgbClr val="8A919A"/>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marL="0" indent="0">
              <a:buNone/>
            </a:pPr>
            <a:r>
              <a:rPr lang="en-US" sz="1100" b="1" kern="0" spc="200" dirty="0">
                <a:solidFill>
                  <a:srgbClr val="2E6E7E"/>
                </a:solidFill>
                <a:latin typeface="Calibri" pitchFamily="34" charset="0"/>
                <a:ea typeface="Calibri" pitchFamily="34" charset="-122"/>
                <a:cs typeface="Calibri" pitchFamily="34" charset="-120"/>
              </a:rPr>
              <a:t>OBJECTIVES</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marL="0" indent="0">
              <a:buNone/>
            </a:pPr>
            <a:r>
              <a:rPr lang="en-US" sz="2900" b="1" dirty="0">
                <a:solidFill>
                  <a:srgbClr val="1F2A3C"/>
                </a:solidFill>
                <a:latin typeface="Cambria" pitchFamily="34" charset="0"/>
                <a:ea typeface="Cambria" pitchFamily="34" charset="-122"/>
                <a:cs typeface="Cambria" pitchFamily="34" charset="-120"/>
              </a:rPr>
              <a:t>Project Objectives</a:t>
            </a:r>
            <a:endParaRPr lang="en-US" sz="2900" dirty="0"/>
          </a:p>
        </p:txBody>
      </p:sp>
      <p:sp>
        <p:nvSpPr>
          <p:cNvPr id="4" name="Shape 2"/>
          <p:cNvSpPr/>
          <p:nvPr/>
        </p:nvSpPr>
        <p:spPr>
          <a:xfrm>
            <a:off x="502920" y="1783080"/>
            <a:ext cx="329184" cy="329184"/>
          </a:xfrm>
          <a:prstGeom prst="ellipse">
            <a:avLst/>
          </a:prstGeom>
          <a:solidFill>
            <a:srgbClr val="2E6E7E"/>
          </a:solidFill>
          <a:ln/>
        </p:spPr>
        <p:txBody>
          <a:bodyPr/>
          <a:lstStyle/>
          <a:p>
            <a:endParaRPr/>
          </a:p>
        </p:txBody>
      </p:sp>
      <p:sp>
        <p:nvSpPr>
          <p:cNvPr id="5" name="Text 3"/>
          <p:cNvSpPr txBox="1"/>
          <p:nvPr/>
        </p:nvSpPr>
        <p:spPr>
          <a:xfrm>
            <a:off x="502920" y="178308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1005840" y="1728216"/>
            <a:ext cx="4800600" cy="365760"/>
          </a:xfrm>
          <a:prstGeom prst="rect">
            <a:avLst/>
          </a:prstGeom>
          <a:noFill/>
          <a:ln/>
        </p:spPr>
        <p:txBody>
          <a:bodyPr wrap="square" rtlCol="0" anchor="t"/>
          <a:lstStyle/>
          <a:p>
            <a:pPr marL="0" indent="0" algn="l">
              <a:buNone/>
            </a:pPr>
            <a:r>
              <a:rPr lang="en-US" sz="1250" b="1" dirty="0">
                <a:solidFill>
                  <a:srgbClr val="1F2A3C"/>
                </a:solidFill>
                <a:latin typeface="Calibri" pitchFamily="34" charset="0"/>
                <a:ea typeface="Calibri" pitchFamily="34" charset="-122"/>
                <a:cs typeface="Calibri" pitchFamily="34" charset="-120"/>
              </a:rPr>
              <a:t>Build a small numerical C-like compiler front end.</a:t>
            </a:r>
            <a:endParaRPr lang="en-US" sz="1250" dirty="0"/>
          </a:p>
        </p:txBody>
      </p:sp>
      <p:sp>
        <p:nvSpPr>
          <p:cNvPr id="7" name="Text 5"/>
          <p:cNvSpPr txBox="1"/>
          <p:nvPr/>
        </p:nvSpPr>
        <p:spPr>
          <a:xfrm>
            <a:off x="1005840" y="2093976"/>
            <a:ext cx="4800600" cy="502920"/>
          </a:xfrm>
          <a:prstGeom prst="rect">
            <a:avLst/>
          </a:prstGeom>
          <a:noFill/>
          <a:ln/>
        </p:spPr>
        <p:txBody>
          <a:bodyPr wrap="square" rtlCol="0" anchor="t"/>
          <a:lstStyle/>
          <a:p>
            <a:pPr marL="0" indent="0" algn="l">
              <a:buNone/>
            </a:pPr>
            <a:r>
              <a:rPr lang="en-US" sz="1050" dirty="0">
                <a:solidFill>
                  <a:srgbClr val="6B7480"/>
                </a:solidFill>
                <a:latin typeface="Calibri" pitchFamily="34" charset="0"/>
                <a:ea typeface="Calibri" pitchFamily="34" charset="-122"/>
                <a:cs typeface="Calibri" pitchFamily="34" charset="-120"/>
              </a:rPr>
              <a:t>Lexer, parser and AST for a deliberately compact language.</a:t>
            </a:r>
            <a:endParaRPr lang="en-US" sz="1050" dirty="0"/>
          </a:p>
        </p:txBody>
      </p:sp>
      <p:sp>
        <p:nvSpPr>
          <p:cNvPr id="8" name="Shape 6"/>
          <p:cNvSpPr/>
          <p:nvPr/>
        </p:nvSpPr>
        <p:spPr>
          <a:xfrm>
            <a:off x="502920" y="3081528"/>
            <a:ext cx="329184" cy="329184"/>
          </a:xfrm>
          <a:prstGeom prst="ellipse">
            <a:avLst/>
          </a:prstGeom>
          <a:solidFill>
            <a:srgbClr val="2E6E7E"/>
          </a:solidFill>
          <a:ln/>
        </p:spPr>
        <p:txBody>
          <a:bodyPr/>
          <a:lstStyle/>
          <a:p>
            <a:endParaRPr/>
          </a:p>
        </p:txBody>
      </p:sp>
      <p:sp>
        <p:nvSpPr>
          <p:cNvPr id="9" name="Text 7"/>
          <p:cNvSpPr txBox="1"/>
          <p:nvPr/>
        </p:nvSpPr>
        <p:spPr>
          <a:xfrm>
            <a:off x="502920" y="30815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txBox="1"/>
          <p:nvPr/>
        </p:nvSpPr>
        <p:spPr>
          <a:xfrm>
            <a:off x="1005840" y="3026664"/>
            <a:ext cx="4800600" cy="365760"/>
          </a:xfrm>
          <a:prstGeom prst="rect">
            <a:avLst/>
          </a:prstGeom>
          <a:noFill/>
          <a:ln/>
        </p:spPr>
        <p:txBody>
          <a:bodyPr wrap="square" rtlCol="0" anchor="t"/>
          <a:lstStyle/>
          <a:p>
            <a:pPr marL="0" indent="0" algn="l">
              <a:buNone/>
            </a:pPr>
            <a:r>
              <a:rPr lang="en-US" sz="1250" b="1" dirty="0">
                <a:solidFill>
                  <a:srgbClr val="1F2A3C"/>
                </a:solidFill>
                <a:latin typeface="Calibri" pitchFamily="34" charset="0"/>
                <a:ea typeface="Calibri" pitchFamily="34" charset="-122"/>
                <a:cs typeface="Calibri" pitchFamily="34" charset="-120"/>
              </a:rPr>
              <a:t>Generate Three Address Code and construct CFG.</a:t>
            </a:r>
            <a:endParaRPr lang="en-US" sz="1250" dirty="0"/>
          </a:p>
        </p:txBody>
      </p:sp>
      <p:sp>
        <p:nvSpPr>
          <p:cNvPr id="11" name="Text 9"/>
          <p:cNvSpPr txBox="1"/>
          <p:nvPr/>
        </p:nvSpPr>
        <p:spPr>
          <a:xfrm>
            <a:off x="1005840" y="3392424"/>
            <a:ext cx="4800600" cy="502920"/>
          </a:xfrm>
          <a:prstGeom prst="rect">
            <a:avLst/>
          </a:prstGeom>
          <a:noFill/>
          <a:ln/>
        </p:spPr>
        <p:txBody>
          <a:bodyPr wrap="square" rtlCol="0" anchor="t"/>
          <a:lstStyle/>
          <a:p>
            <a:pPr marL="0" indent="0" algn="l">
              <a:buNone/>
            </a:pPr>
            <a:r>
              <a:rPr lang="en-US" sz="1050" dirty="0">
                <a:solidFill>
                  <a:srgbClr val="6B7480"/>
                </a:solidFill>
                <a:latin typeface="Calibri" pitchFamily="34" charset="0"/>
                <a:ea typeface="Calibri" pitchFamily="34" charset="-122"/>
                <a:cs typeface="Calibri" pitchFamily="34" charset="-120"/>
              </a:rPr>
              <a:t>Lower AST to TAC and form basic blocks.</a:t>
            </a:r>
            <a:endParaRPr lang="en-US" sz="1050" dirty="0"/>
          </a:p>
        </p:txBody>
      </p:sp>
      <p:sp>
        <p:nvSpPr>
          <p:cNvPr id="12" name="Shape 10"/>
          <p:cNvSpPr/>
          <p:nvPr/>
        </p:nvSpPr>
        <p:spPr>
          <a:xfrm>
            <a:off x="502920" y="4379976"/>
            <a:ext cx="329184" cy="329184"/>
          </a:xfrm>
          <a:prstGeom prst="ellipse">
            <a:avLst/>
          </a:prstGeom>
          <a:solidFill>
            <a:srgbClr val="2E6E7E"/>
          </a:solidFill>
          <a:ln/>
        </p:spPr>
        <p:txBody>
          <a:bodyPr/>
          <a:lstStyle/>
          <a:p>
            <a:endParaRPr/>
          </a:p>
        </p:txBody>
      </p:sp>
      <p:sp>
        <p:nvSpPr>
          <p:cNvPr id="13" name="Text 11"/>
          <p:cNvSpPr txBox="1"/>
          <p:nvPr/>
        </p:nvSpPr>
        <p:spPr>
          <a:xfrm>
            <a:off x="502920" y="43799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txBox="1"/>
          <p:nvPr/>
        </p:nvSpPr>
        <p:spPr>
          <a:xfrm>
            <a:off x="1005840" y="4325112"/>
            <a:ext cx="4800600" cy="365760"/>
          </a:xfrm>
          <a:prstGeom prst="rect">
            <a:avLst/>
          </a:prstGeom>
          <a:noFill/>
          <a:ln/>
        </p:spPr>
        <p:txBody>
          <a:bodyPr wrap="square" rtlCol="0" anchor="t"/>
          <a:lstStyle/>
          <a:p>
            <a:pPr marL="0" indent="0" algn="l">
              <a:buNone/>
            </a:pPr>
            <a:r>
              <a:rPr lang="en-US" sz="1250" b="1" dirty="0">
                <a:solidFill>
                  <a:srgbClr val="1F2A3C"/>
                </a:solidFill>
                <a:latin typeface="Calibri" pitchFamily="34" charset="0"/>
                <a:ea typeface="Calibri" pitchFamily="34" charset="-122"/>
                <a:cs typeface="Calibri" pitchFamily="34" charset="-120"/>
              </a:rPr>
              <a:t>Convert the IR into SSA form.</a:t>
            </a:r>
            <a:endParaRPr lang="en-US" sz="1250" dirty="0"/>
          </a:p>
        </p:txBody>
      </p:sp>
      <p:sp>
        <p:nvSpPr>
          <p:cNvPr id="15" name="Text 13"/>
          <p:cNvSpPr txBox="1"/>
          <p:nvPr/>
        </p:nvSpPr>
        <p:spPr>
          <a:xfrm>
            <a:off x="1005840" y="4690872"/>
            <a:ext cx="4800600" cy="502920"/>
          </a:xfrm>
          <a:prstGeom prst="rect">
            <a:avLst/>
          </a:prstGeom>
          <a:noFill/>
          <a:ln/>
        </p:spPr>
        <p:txBody>
          <a:bodyPr wrap="square" rtlCol="0" anchor="t"/>
          <a:lstStyle/>
          <a:p>
            <a:pPr marL="0" indent="0" algn="l">
              <a:buNone/>
            </a:pPr>
            <a:r>
              <a:rPr lang="en-US" sz="1050" dirty="0">
                <a:solidFill>
                  <a:srgbClr val="6B7480"/>
                </a:solidFill>
                <a:latin typeface="Calibri" pitchFamily="34" charset="0"/>
                <a:ea typeface="Calibri" pitchFamily="34" charset="-122"/>
                <a:cs typeface="Calibri" pitchFamily="34" charset="-120"/>
              </a:rPr>
              <a:t>Enable precise, flow-sensitive analysis.</a:t>
            </a:r>
            <a:endParaRPr lang="en-US" sz="1050" dirty="0"/>
          </a:p>
        </p:txBody>
      </p:sp>
      <p:sp>
        <p:nvSpPr>
          <p:cNvPr id="16" name="Shape 14"/>
          <p:cNvSpPr/>
          <p:nvPr/>
        </p:nvSpPr>
        <p:spPr>
          <a:xfrm>
            <a:off x="502920" y="5678424"/>
            <a:ext cx="329184" cy="329184"/>
          </a:xfrm>
          <a:prstGeom prst="ellipse">
            <a:avLst/>
          </a:prstGeom>
          <a:solidFill>
            <a:srgbClr val="2E6E7E"/>
          </a:solidFill>
          <a:ln/>
        </p:spPr>
        <p:txBody>
          <a:bodyPr/>
          <a:lstStyle/>
          <a:p>
            <a:endParaRPr/>
          </a:p>
        </p:txBody>
      </p:sp>
      <p:sp>
        <p:nvSpPr>
          <p:cNvPr id="17" name="Text 15"/>
          <p:cNvSpPr txBox="1"/>
          <p:nvPr/>
        </p:nvSpPr>
        <p:spPr>
          <a:xfrm>
            <a:off x="502920" y="567842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txBox="1"/>
          <p:nvPr/>
        </p:nvSpPr>
        <p:spPr>
          <a:xfrm>
            <a:off x="1005840" y="5623560"/>
            <a:ext cx="4800600" cy="365760"/>
          </a:xfrm>
          <a:prstGeom prst="rect">
            <a:avLst/>
          </a:prstGeom>
          <a:noFill/>
          <a:ln/>
        </p:spPr>
        <p:txBody>
          <a:bodyPr wrap="square" rtlCol="0" anchor="t"/>
          <a:lstStyle/>
          <a:p>
            <a:pPr marL="0" indent="0" algn="l">
              <a:buNone/>
            </a:pPr>
            <a:r>
              <a:rPr lang="en-US" sz="1250" b="1" dirty="0">
                <a:solidFill>
                  <a:srgbClr val="1F2A3C"/>
                </a:solidFill>
                <a:latin typeface="Calibri" pitchFamily="34" charset="0"/>
                <a:ea typeface="Calibri" pitchFamily="34" charset="-122"/>
                <a:cs typeface="Calibri" pitchFamily="34" charset="-120"/>
              </a:rPr>
              <a:t>Perform static range and integrality analysis.</a:t>
            </a:r>
            <a:endParaRPr lang="en-US" sz="1250" dirty="0"/>
          </a:p>
        </p:txBody>
      </p:sp>
      <p:sp>
        <p:nvSpPr>
          <p:cNvPr id="19" name="Text 17"/>
          <p:cNvSpPr txBox="1"/>
          <p:nvPr/>
        </p:nvSpPr>
        <p:spPr>
          <a:xfrm>
            <a:off x="1005840" y="5989320"/>
            <a:ext cx="4800600" cy="502920"/>
          </a:xfrm>
          <a:prstGeom prst="rect">
            <a:avLst/>
          </a:prstGeom>
          <a:noFill/>
          <a:ln/>
        </p:spPr>
        <p:txBody>
          <a:bodyPr wrap="square" rtlCol="0" anchor="t"/>
          <a:lstStyle/>
          <a:p>
            <a:pPr marL="0" indent="0" algn="l">
              <a:buNone/>
            </a:pPr>
            <a:r>
              <a:rPr lang="en-US" sz="1050" dirty="0">
                <a:solidFill>
                  <a:srgbClr val="6B7480"/>
                </a:solidFill>
                <a:latin typeface="Calibri" pitchFamily="34" charset="0"/>
                <a:ea typeface="Calibri" pitchFamily="34" charset="-122"/>
                <a:cs typeface="Calibri" pitchFamily="34" charset="-120"/>
              </a:rPr>
              <a:t>Interval reasoning over SSA values, including loops.</a:t>
            </a:r>
            <a:endParaRPr lang="en-US" sz="1050" dirty="0"/>
          </a:p>
        </p:txBody>
      </p:sp>
      <p:sp>
        <p:nvSpPr>
          <p:cNvPr id="20" name="Shape 18"/>
          <p:cNvSpPr/>
          <p:nvPr/>
        </p:nvSpPr>
        <p:spPr>
          <a:xfrm>
            <a:off x="6263640" y="1783080"/>
            <a:ext cx="329184" cy="329184"/>
          </a:xfrm>
          <a:prstGeom prst="ellipse">
            <a:avLst/>
          </a:prstGeom>
          <a:solidFill>
            <a:srgbClr val="2E6E7E"/>
          </a:solidFill>
          <a:ln/>
        </p:spPr>
        <p:txBody>
          <a:bodyPr/>
          <a:lstStyle/>
          <a:p>
            <a:endParaRPr/>
          </a:p>
        </p:txBody>
      </p:sp>
      <p:sp>
        <p:nvSpPr>
          <p:cNvPr id="21" name="Text 19"/>
          <p:cNvSpPr txBox="1"/>
          <p:nvPr/>
        </p:nvSpPr>
        <p:spPr>
          <a:xfrm>
            <a:off x="6263640" y="178308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20"/>
          <p:cNvSpPr txBox="1"/>
          <p:nvPr/>
        </p:nvSpPr>
        <p:spPr>
          <a:xfrm>
            <a:off x="6766560" y="1728216"/>
            <a:ext cx="4800600" cy="365760"/>
          </a:xfrm>
          <a:prstGeom prst="rect">
            <a:avLst/>
          </a:prstGeom>
          <a:noFill/>
          <a:ln/>
        </p:spPr>
        <p:txBody>
          <a:bodyPr wrap="square" rtlCol="0" anchor="t"/>
          <a:lstStyle/>
          <a:p>
            <a:pPr marL="0" indent="0" algn="l">
              <a:buNone/>
            </a:pPr>
            <a:r>
              <a:rPr lang="en-US" sz="1250" b="1" dirty="0">
                <a:solidFill>
                  <a:srgbClr val="1F2A3C"/>
                </a:solidFill>
                <a:latin typeface="Calibri" pitchFamily="34" charset="0"/>
                <a:ea typeface="Calibri" pitchFamily="34" charset="-122"/>
                <a:cs typeface="Calibri" pitchFamily="34" charset="-120"/>
              </a:rPr>
              <a:t>Develop conservative INT8 safety checks.</a:t>
            </a:r>
            <a:endParaRPr lang="en-US" sz="1250" dirty="0"/>
          </a:p>
        </p:txBody>
      </p:sp>
      <p:sp>
        <p:nvSpPr>
          <p:cNvPr id="23" name="Text 21"/>
          <p:cNvSpPr txBox="1"/>
          <p:nvPr/>
        </p:nvSpPr>
        <p:spPr>
          <a:xfrm>
            <a:off x="6766560" y="2093976"/>
            <a:ext cx="4800600" cy="502920"/>
          </a:xfrm>
          <a:prstGeom prst="rect">
            <a:avLst/>
          </a:prstGeom>
          <a:noFill/>
          <a:ln/>
        </p:spPr>
        <p:txBody>
          <a:bodyPr wrap="square" rtlCol="0" anchor="t"/>
          <a:lstStyle/>
          <a:p>
            <a:pPr marL="0" indent="0" algn="l">
              <a:buNone/>
            </a:pPr>
            <a:r>
              <a:rPr lang="en-US" sz="1050" dirty="0">
                <a:solidFill>
                  <a:srgbClr val="6B7480"/>
                </a:solidFill>
                <a:latin typeface="Calibri" pitchFamily="34" charset="0"/>
                <a:ea typeface="Calibri" pitchFamily="34" charset="-122"/>
                <a:cs typeface="Calibri" pitchFamily="34" charset="-120"/>
              </a:rPr>
              <a:t>Reject whenever safety cannot be proven.</a:t>
            </a:r>
            <a:endParaRPr lang="en-US" sz="1050" dirty="0"/>
          </a:p>
        </p:txBody>
      </p:sp>
      <p:sp>
        <p:nvSpPr>
          <p:cNvPr id="24" name="Shape 22"/>
          <p:cNvSpPr/>
          <p:nvPr/>
        </p:nvSpPr>
        <p:spPr>
          <a:xfrm>
            <a:off x="6263640" y="3081528"/>
            <a:ext cx="329184" cy="329184"/>
          </a:xfrm>
          <a:prstGeom prst="ellipse">
            <a:avLst/>
          </a:prstGeom>
          <a:solidFill>
            <a:srgbClr val="2E6E7E"/>
          </a:solidFill>
          <a:ln/>
        </p:spPr>
        <p:txBody>
          <a:bodyPr/>
          <a:lstStyle/>
          <a:p>
            <a:endParaRPr/>
          </a:p>
        </p:txBody>
      </p:sp>
      <p:sp>
        <p:nvSpPr>
          <p:cNvPr id="25" name="Text 23"/>
          <p:cNvSpPr txBox="1"/>
          <p:nvPr/>
        </p:nvSpPr>
        <p:spPr>
          <a:xfrm>
            <a:off x="6263640" y="308152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6" name="Text 24"/>
          <p:cNvSpPr txBox="1"/>
          <p:nvPr/>
        </p:nvSpPr>
        <p:spPr>
          <a:xfrm>
            <a:off x="6766560" y="3026664"/>
            <a:ext cx="4800600" cy="365760"/>
          </a:xfrm>
          <a:prstGeom prst="rect">
            <a:avLst/>
          </a:prstGeom>
          <a:noFill/>
          <a:ln/>
        </p:spPr>
        <p:txBody>
          <a:bodyPr wrap="square" rtlCol="0" anchor="t"/>
          <a:lstStyle/>
          <a:p>
            <a:pPr marL="0" indent="0" algn="l">
              <a:buNone/>
            </a:pPr>
            <a:r>
              <a:rPr lang="en-US" sz="1250" b="1" dirty="0">
                <a:solidFill>
                  <a:srgbClr val="1F2A3C"/>
                </a:solidFill>
                <a:latin typeface="Calibri" pitchFamily="34" charset="0"/>
                <a:ea typeface="Calibri" pitchFamily="34" charset="-122"/>
                <a:cs typeface="Calibri" pitchFamily="34" charset="-120"/>
              </a:rPr>
              <a:t>Transform proven-safe computations to INT8 IR.</a:t>
            </a:r>
            <a:endParaRPr lang="en-US" sz="1250" dirty="0"/>
          </a:p>
        </p:txBody>
      </p:sp>
      <p:sp>
        <p:nvSpPr>
          <p:cNvPr id="27" name="Text 25"/>
          <p:cNvSpPr txBox="1"/>
          <p:nvPr/>
        </p:nvSpPr>
        <p:spPr>
          <a:xfrm>
            <a:off x="6766560" y="3392424"/>
            <a:ext cx="4800600" cy="502920"/>
          </a:xfrm>
          <a:prstGeom prst="rect">
            <a:avLst/>
          </a:prstGeom>
          <a:noFill/>
          <a:ln/>
        </p:spPr>
        <p:txBody>
          <a:bodyPr wrap="square" rtlCol="0" anchor="t"/>
          <a:lstStyle/>
          <a:p>
            <a:pPr marL="0" indent="0" algn="l">
              <a:buNone/>
            </a:pPr>
            <a:r>
              <a:rPr lang="en-US" sz="1050" dirty="0">
                <a:solidFill>
                  <a:srgbClr val="6B7480"/>
                </a:solidFill>
                <a:latin typeface="Calibri" pitchFamily="34" charset="0"/>
                <a:ea typeface="Calibri" pitchFamily="34" charset="-122"/>
                <a:cs typeface="Calibri" pitchFamily="34" charset="-120"/>
              </a:rPr>
              <a:t>Quantize only what is provably safe.</a:t>
            </a:r>
            <a:endParaRPr lang="en-US" sz="1050" dirty="0"/>
          </a:p>
        </p:txBody>
      </p:sp>
      <p:sp>
        <p:nvSpPr>
          <p:cNvPr id="28" name="Shape 26"/>
          <p:cNvSpPr/>
          <p:nvPr/>
        </p:nvSpPr>
        <p:spPr>
          <a:xfrm>
            <a:off x="6263640" y="4379976"/>
            <a:ext cx="329184" cy="329184"/>
          </a:xfrm>
          <a:prstGeom prst="ellipse">
            <a:avLst/>
          </a:prstGeom>
          <a:solidFill>
            <a:srgbClr val="2E6E7E"/>
          </a:solidFill>
          <a:ln/>
        </p:spPr>
        <p:txBody>
          <a:bodyPr/>
          <a:lstStyle/>
          <a:p>
            <a:endParaRPr/>
          </a:p>
        </p:txBody>
      </p:sp>
      <p:sp>
        <p:nvSpPr>
          <p:cNvPr id="29" name="Text 27"/>
          <p:cNvSpPr txBox="1"/>
          <p:nvPr/>
        </p:nvSpPr>
        <p:spPr>
          <a:xfrm>
            <a:off x="6263640" y="43799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0" name="Text 28"/>
          <p:cNvSpPr txBox="1"/>
          <p:nvPr/>
        </p:nvSpPr>
        <p:spPr>
          <a:xfrm>
            <a:off x="6766560" y="4325112"/>
            <a:ext cx="4800600" cy="365760"/>
          </a:xfrm>
          <a:prstGeom prst="rect">
            <a:avLst/>
          </a:prstGeom>
          <a:noFill/>
          <a:ln/>
        </p:spPr>
        <p:txBody>
          <a:bodyPr wrap="square" rtlCol="0" anchor="t"/>
          <a:lstStyle/>
          <a:p>
            <a:pPr marL="0" indent="0" algn="l">
              <a:buNone/>
            </a:pPr>
            <a:r>
              <a:rPr lang="en-US" sz="1250" b="1" dirty="0">
                <a:solidFill>
                  <a:srgbClr val="1F2A3C"/>
                </a:solidFill>
                <a:latin typeface="Calibri" pitchFamily="34" charset="0"/>
                <a:ea typeface="Calibri" pitchFamily="34" charset="-122"/>
                <a:cs typeface="Calibri" pitchFamily="34" charset="-120"/>
              </a:rPr>
              <a:t>Preserve source-level traceability throughout.</a:t>
            </a:r>
            <a:endParaRPr lang="en-US" sz="1250" dirty="0"/>
          </a:p>
        </p:txBody>
      </p:sp>
      <p:sp>
        <p:nvSpPr>
          <p:cNvPr id="31" name="Text 29"/>
          <p:cNvSpPr txBox="1"/>
          <p:nvPr/>
        </p:nvSpPr>
        <p:spPr>
          <a:xfrm>
            <a:off x="6766560" y="4690872"/>
            <a:ext cx="4800600" cy="502920"/>
          </a:xfrm>
          <a:prstGeom prst="rect">
            <a:avLst/>
          </a:prstGeom>
          <a:noFill/>
          <a:ln/>
        </p:spPr>
        <p:txBody>
          <a:bodyPr wrap="square" rtlCol="0" anchor="t"/>
          <a:lstStyle/>
          <a:p>
            <a:pPr marL="0" indent="0" algn="l">
              <a:buNone/>
            </a:pPr>
            <a:r>
              <a:rPr lang="en-US" sz="1050" dirty="0">
                <a:solidFill>
                  <a:srgbClr val="6B7480"/>
                </a:solidFill>
                <a:latin typeface="Calibri" pitchFamily="34" charset="0"/>
                <a:ea typeface="Calibri" pitchFamily="34" charset="-122"/>
                <a:cs typeface="Calibri" pitchFamily="34" charset="-120"/>
              </a:rPr>
              <a:t>Line/column tracked from lexer to diagnostics.</a:t>
            </a:r>
            <a:endParaRPr lang="en-US" sz="1050" dirty="0"/>
          </a:p>
        </p:txBody>
      </p:sp>
      <p:sp>
        <p:nvSpPr>
          <p:cNvPr id="32" name="Text 30"/>
          <p:cNvSpPr txBox="1"/>
          <p:nvPr/>
        </p:nvSpPr>
        <p:spPr>
          <a:xfrm>
            <a:off x="502920" y="6492240"/>
            <a:ext cx="9601200" cy="237744"/>
          </a:xfrm>
          <a:prstGeom prst="rect">
            <a:avLst/>
          </a:prstGeom>
          <a:noFill/>
          <a:ln/>
        </p:spPr>
        <p:txBody>
          <a:bodyPr wrap="square" rtlCol="0" anchor="ctr"/>
          <a:lstStyle/>
          <a:p>
            <a:pPr marL="0" indent="0">
              <a:buNone/>
            </a:pPr>
            <a:r>
              <a:rPr lang="en-US" sz="800" dirty="0">
                <a:solidFill>
                  <a:srgbClr val="9AA3AF"/>
                </a:solidFill>
                <a:latin typeface="Calibri" pitchFamily="34" charset="0"/>
                <a:ea typeface="Calibri" pitchFamily="34" charset="-122"/>
                <a:cs typeface="Calibri" pitchFamily="34" charset="-120"/>
              </a:rPr>
              <a:t>BCSE307L — Compiler Design   |   Range-Aware Edge AI Quantization Compiler</a:t>
            </a:r>
            <a:endParaRPr lang="en-US" sz="800" dirty="0"/>
          </a:p>
        </p:txBody>
      </p:sp>
      <p:sp>
        <p:nvSpPr>
          <p:cNvPr id="33" name="Text 31"/>
          <p:cNvSpPr txBox="1"/>
          <p:nvPr/>
        </p:nvSpPr>
        <p:spPr>
          <a:xfrm>
            <a:off x="11247120" y="6492240"/>
            <a:ext cx="457200" cy="237744"/>
          </a:xfrm>
          <a:prstGeom prst="rect">
            <a:avLst/>
          </a:prstGeom>
          <a:noFill/>
          <a:ln/>
        </p:spPr>
        <p:txBody>
          <a:bodyPr wrap="square" rtlCol="0" anchor="ctr"/>
          <a:lstStyle/>
          <a:p>
            <a:pPr algn="r"/>
            <a:r>
              <a:rPr sz="850">
                <a:solidFill>
                  <a:srgbClr val="8A919A"/>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marL="0" indent="0">
              <a:buNone/>
            </a:pPr>
            <a:r>
              <a:rPr lang="en-US" sz="1100" b="1" kern="0" spc="200" dirty="0">
                <a:solidFill>
                  <a:srgbClr val="2E6E7E"/>
                </a:solidFill>
                <a:latin typeface="Calibri" pitchFamily="34" charset="0"/>
                <a:ea typeface="Calibri" pitchFamily="34" charset="-122"/>
                <a:cs typeface="Calibri" pitchFamily="34" charset="-120"/>
              </a:rPr>
              <a:t>LITERATURE SURVEY</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marL="0" indent="0">
              <a:buNone/>
            </a:pPr>
            <a:r>
              <a:rPr lang="en-US" sz="2900" b="1" dirty="0">
                <a:solidFill>
                  <a:srgbClr val="1F2A3C"/>
                </a:solidFill>
                <a:latin typeface="Cambria" pitchFamily="34" charset="0"/>
                <a:ea typeface="Cambria" pitchFamily="34" charset="-122"/>
                <a:cs typeface="Cambria" pitchFamily="34" charset="-120"/>
              </a:rPr>
              <a:t>Research Landscape</a:t>
            </a:r>
            <a:endParaRPr lang="en-US" sz="2900" dirty="0"/>
          </a:p>
        </p:txBody>
      </p:sp>
      <p:sp>
        <p:nvSpPr>
          <p:cNvPr id="4" name="Shape 2"/>
          <p:cNvSpPr/>
          <p:nvPr/>
        </p:nvSpPr>
        <p:spPr>
          <a:xfrm>
            <a:off x="502920" y="1783080"/>
            <a:ext cx="5394960" cy="1554480"/>
          </a:xfrm>
          <a:prstGeom prst="rect">
            <a:avLst/>
          </a:prstGeom>
          <a:solidFill>
            <a:srgbClr val="F4F6F8"/>
          </a:solidFill>
          <a:ln w="12700">
            <a:solidFill>
              <a:srgbClr val="D6DCE2"/>
            </a:solidFill>
            <a:prstDash val="solid"/>
          </a:ln>
        </p:spPr>
        <p:txBody>
          <a:bodyPr/>
          <a:lstStyle/>
          <a:p>
            <a:endParaRPr/>
          </a:p>
        </p:txBody>
      </p:sp>
      <p:sp>
        <p:nvSpPr>
          <p:cNvPr id="5" name="Text 3"/>
          <p:cNvSpPr txBox="1"/>
          <p:nvPr/>
        </p:nvSpPr>
        <p:spPr>
          <a:xfrm>
            <a:off x="777240" y="1984248"/>
            <a:ext cx="4846320" cy="411480"/>
          </a:xfrm>
          <a:prstGeom prst="rect">
            <a:avLst/>
          </a:prstGeom>
          <a:noFill/>
          <a:ln/>
        </p:spPr>
        <p:txBody>
          <a:bodyPr wrap="square" rtlCol="0" anchor="t"/>
          <a:lstStyle/>
          <a:p>
            <a:pPr marL="0" indent="0" algn="l">
              <a:buNone/>
            </a:pPr>
            <a:r>
              <a:rPr lang="en-US" sz="1450" b="1" dirty="0">
                <a:solidFill>
                  <a:srgbClr val="1F2A3C"/>
                </a:solidFill>
                <a:latin typeface="Calibri" pitchFamily="34" charset="0"/>
                <a:ea typeface="Calibri" pitchFamily="34" charset="-122"/>
                <a:cs typeface="Calibri" pitchFamily="34" charset="-120"/>
              </a:rPr>
              <a:t>Edge AI / Efficient Inference</a:t>
            </a:r>
            <a:endParaRPr lang="en-US" sz="1450" dirty="0"/>
          </a:p>
        </p:txBody>
      </p:sp>
      <p:sp>
        <p:nvSpPr>
          <p:cNvPr id="6" name="Text 4"/>
          <p:cNvSpPr txBox="1"/>
          <p:nvPr/>
        </p:nvSpPr>
        <p:spPr>
          <a:xfrm>
            <a:off x="777240" y="2441448"/>
            <a:ext cx="4846320" cy="777240"/>
          </a:xfrm>
          <a:prstGeom prst="rect">
            <a:avLst/>
          </a:prstGeom>
          <a:noFill/>
          <a:ln/>
        </p:spPr>
        <p:txBody>
          <a:bodyPr wrap="square" rtlCol="0" anchor="t"/>
          <a:lstStyle/>
          <a:p>
            <a:pPr marL="0" indent="0" algn="l">
              <a:buNone/>
            </a:pPr>
            <a:r>
              <a:rPr lang="en-US" sz="1100" dirty="0">
                <a:solidFill>
                  <a:srgbClr val="6B7480"/>
                </a:solidFill>
                <a:latin typeface="Calibri" pitchFamily="34" charset="0"/>
                <a:ea typeface="Calibri" pitchFamily="34" charset="-122"/>
                <a:cs typeface="Calibri" pitchFamily="34" charset="-120"/>
              </a:rPr>
              <a:t>Resource-constrained deployment of ML workloads on devices.</a:t>
            </a:r>
            <a:endParaRPr lang="en-US" sz="1100" dirty="0"/>
          </a:p>
        </p:txBody>
      </p:sp>
      <p:sp>
        <p:nvSpPr>
          <p:cNvPr id="7" name="Shape 5"/>
          <p:cNvSpPr/>
          <p:nvPr/>
        </p:nvSpPr>
        <p:spPr>
          <a:xfrm>
            <a:off x="6263640" y="1783080"/>
            <a:ext cx="5394960" cy="1554480"/>
          </a:xfrm>
          <a:prstGeom prst="rect">
            <a:avLst/>
          </a:prstGeom>
          <a:solidFill>
            <a:srgbClr val="F4F6F8"/>
          </a:solidFill>
          <a:ln w="12700">
            <a:solidFill>
              <a:srgbClr val="D6DCE2"/>
            </a:solidFill>
            <a:prstDash val="solid"/>
          </a:ln>
        </p:spPr>
        <p:txBody>
          <a:bodyPr/>
          <a:lstStyle/>
          <a:p>
            <a:endParaRPr/>
          </a:p>
        </p:txBody>
      </p:sp>
      <p:sp>
        <p:nvSpPr>
          <p:cNvPr id="8" name="Text 6"/>
          <p:cNvSpPr txBox="1"/>
          <p:nvPr/>
        </p:nvSpPr>
        <p:spPr>
          <a:xfrm>
            <a:off x="6537960" y="1984248"/>
            <a:ext cx="4846320" cy="411480"/>
          </a:xfrm>
          <a:prstGeom prst="rect">
            <a:avLst/>
          </a:prstGeom>
          <a:noFill/>
          <a:ln/>
        </p:spPr>
        <p:txBody>
          <a:bodyPr wrap="square" rtlCol="0" anchor="t"/>
          <a:lstStyle/>
          <a:p>
            <a:pPr marL="0" indent="0" algn="l">
              <a:buNone/>
            </a:pPr>
            <a:r>
              <a:rPr lang="en-US" sz="1450" b="1" dirty="0">
                <a:solidFill>
                  <a:srgbClr val="1F2A3C"/>
                </a:solidFill>
                <a:latin typeface="Calibri" pitchFamily="34" charset="0"/>
                <a:ea typeface="Calibri" pitchFamily="34" charset="-122"/>
                <a:cs typeface="Calibri" pitchFamily="34" charset="-120"/>
              </a:rPr>
              <a:t>Quantization / Reduced Precision</a:t>
            </a:r>
            <a:endParaRPr lang="en-US" sz="1450" dirty="0"/>
          </a:p>
        </p:txBody>
      </p:sp>
      <p:sp>
        <p:nvSpPr>
          <p:cNvPr id="9" name="Text 7"/>
          <p:cNvSpPr txBox="1"/>
          <p:nvPr/>
        </p:nvSpPr>
        <p:spPr>
          <a:xfrm>
            <a:off x="6537960" y="2441448"/>
            <a:ext cx="4846320" cy="777240"/>
          </a:xfrm>
          <a:prstGeom prst="rect">
            <a:avLst/>
          </a:prstGeom>
          <a:noFill/>
          <a:ln/>
        </p:spPr>
        <p:txBody>
          <a:bodyPr wrap="square" rtlCol="0" anchor="t"/>
          <a:lstStyle/>
          <a:p>
            <a:pPr marL="0" indent="0" algn="l">
              <a:buNone/>
            </a:pPr>
            <a:r>
              <a:rPr lang="en-US" sz="1100" dirty="0">
                <a:solidFill>
                  <a:srgbClr val="6B7480"/>
                </a:solidFill>
                <a:latin typeface="Calibri" pitchFamily="34" charset="0"/>
                <a:ea typeface="Calibri" pitchFamily="34" charset="-122"/>
                <a:cs typeface="Calibri" pitchFamily="34" charset="-120"/>
              </a:rPr>
              <a:t>Representing values/weights with fewer bits (e.g. INT8).</a:t>
            </a:r>
            <a:endParaRPr lang="en-US" sz="1100" dirty="0"/>
          </a:p>
        </p:txBody>
      </p:sp>
      <p:sp>
        <p:nvSpPr>
          <p:cNvPr id="10" name="Shape 8"/>
          <p:cNvSpPr/>
          <p:nvPr/>
        </p:nvSpPr>
        <p:spPr>
          <a:xfrm>
            <a:off x="502920" y="4434840"/>
            <a:ext cx="5394960" cy="1554480"/>
          </a:xfrm>
          <a:prstGeom prst="rect">
            <a:avLst/>
          </a:prstGeom>
          <a:solidFill>
            <a:srgbClr val="F4F6F8"/>
          </a:solidFill>
          <a:ln w="12700">
            <a:solidFill>
              <a:srgbClr val="D6DCE2"/>
            </a:solidFill>
            <a:prstDash val="solid"/>
          </a:ln>
        </p:spPr>
        <p:txBody>
          <a:bodyPr/>
          <a:lstStyle/>
          <a:p>
            <a:endParaRPr/>
          </a:p>
        </p:txBody>
      </p:sp>
      <p:sp>
        <p:nvSpPr>
          <p:cNvPr id="11" name="Text 9"/>
          <p:cNvSpPr txBox="1"/>
          <p:nvPr/>
        </p:nvSpPr>
        <p:spPr>
          <a:xfrm>
            <a:off x="777240" y="4636008"/>
            <a:ext cx="4846320" cy="411480"/>
          </a:xfrm>
          <a:prstGeom prst="rect">
            <a:avLst/>
          </a:prstGeom>
          <a:noFill/>
          <a:ln/>
        </p:spPr>
        <p:txBody>
          <a:bodyPr wrap="square" rtlCol="0" anchor="t"/>
          <a:lstStyle/>
          <a:p>
            <a:pPr marL="0" indent="0" algn="l">
              <a:buNone/>
            </a:pPr>
            <a:r>
              <a:rPr lang="en-US" sz="1450" b="1" dirty="0">
                <a:solidFill>
                  <a:srgbClr val="1F2A3C"/>
                </a:solidFill>
                <a:latin typeface="Calibri" pitchFamily="34" charset="0"/>
                <a:ea typeface="Calibri" pitchFamily="34" charset="-122"/>
                <a:cs typeface="Calibri" pitchFamily="34" charset="-120"/>
              </a:rPr>
              <a:t>Compiler-Based Optimization</a:t>
            </a:r>
            <a:endParaRPr lang="en-US" sz="1450" dirty="0"/>
          </a:p>
        </p:txBody>
      </p:sp>
      <p:sp>
        <p:nvSpPr>
          <p:cNvPr id="12" name="Text 10"/>
          <p:cNvSpPr txBox="1"/>
          <p:nvPr/>
        </p:nvSpPr>
        <p:spPr>
          <a:xfrm>
            <a:off x="777240" y="5093208"/>
            <a:ext cx="4846320" cy="777240"/>
          </a:xfrm>
          <a:prstGeom prst="rect">
            <a:avLst/>
          </a:prstGeom>
          <a:noFill/>
          <a:ln/>
        </p:spPr>
        <p:txBody>
          <a:bodyPr wrap="square" rtlCol="0" anchor="t"/>
          <a:lstStyle/>
          <a:p>
            <a:pPr marL="0" indent="0" algn="l">
              <a:buNone/>
            </a:pPr>
            <a:r>
              <a:rPr lang="en-US" sz="1100" dirty="0">
                <a:solidFill>
                  <a:srgbClr val="6B7480"/>
                </a:solidFill>
                <a:latin typeface="Calibri" pitchFamily="34" charset="0"/>
                <a:ea typeface="Calibri" pitchFamily="34" charset="-122"/>
                <a:cs typeface="Calibri" pitchFamily="34" charset="-120"/>
              </a:rPr>
              <a:t>Using compiler passes/IR to drive performance transformations.</a:t>
            </a:r>
            <a:endParaRPr lang="en-US" sz="1100" dirty="0"/>
          </a:p>
        </p:txBody>
      </p:sp>
      <p:sp>
        <p:nvSpPr>
          <p:cNvPr id="13" name="Shape 11"/>
          <p:cNvSpPr/>
          <p:nvPr/>
        </p:nvSpPr>
        <p:spPr>
          <a:xfrm>
            <a:off x="6263640" y="4434840"/>
            <a:ext cx="5394960" cy="1554480"/>
          </a:xfrm>
          <a:prstGeom prst="rect">
            <a:avLst/>
          </a:prstGeom>
          <a:solidFill>
            <a:srgbClr val="F4F6F8"/>
          </a:solidFill>
          <a:ln w="12700">
            <a:solidFill>
              <a:srgbClr val="D6DCE2"/>
            </a:solidFill>
            <a:prstDash val="solid"/>
          </a:ln>
        </p:spPr>
        <p:txBody>
          <a:bodyPr/>
          <a:lstStyle/>
          <a:p>
            <a:endParaRPr/>
          </a:p>
        </p:txBody>
      </p:sp>
      <p:sp>
        <p:nvSpPr>
          <p:cNvPr id="14" name="Text 12"/>
          <p:cNvSpPr txBox="1"/>
          <p:nvPr/>
        </p:nvSpPr>
        <p:spPr>
          <a:xfrm>
            <a:off x="6537960" y="4636008"/>
            <a:ext cx="4846320" cy="411480"/>
          </a:xfrm>
          <a:prstGeom prst="rect">
            <a:avLst/>
          </a:prstGeom>
          <a:noFill/>
          <a:ln/>
        </p:spPr>
        <p:txBody>
          <a:bodyPr wrap="square" rtlCol="0" anchor="t"/>
          <a:lstStyle/>
          <a:p>
            <a:pPr marL="0" indent="0" algn="l">
              <a:buNone/>
            </a:pPr>
            <a:r>
              <a:rPr lang="en-US" sz="1450" b="1" dirty="0">
                <a:solidFill>
                  <a:srgbClr val="1F2A3C"/>
                </a:solidFill>
                <a:latin typeface="Calibri" pitchFamily="34" charset="0"/>
                <a:ea typeface="Calibri" pitchFamily="34" charset="-122"/>
                <a:cs typeface="Calibri" pitchFamily="34" charset="-120"/>
              </a:rPr>
              <a:t>Static Analysis / SSA</a:t>
            </a:r>
            <a:endParaRPr lang="en-US" sz="1450" dirty="0"/>
          </a:p>
        </p:txBody>
      </p:sp>
      <p:sp>
        <p:nvSpPr>
          <p:cNvPr id="15" name="Text 13"/>
          <p:cNvSpPr txBox="1"/>
          <p:nvPr/>
        </p:nvSpPr>
        <p:spPr>
          <a:xfrm>
            <a:off x="6537960" y="5093208"/>
            <a:ext cx="4846320" cy="777240"/>
          </a:xfrm>
          <a:prstGeom prst="rect">
            <a:avLst/>
          </a:prstGeom>
          <a:noFill/>
          <a:ln/>
        </p:spPr>
        <p:txBody>
          <a:bodyPr wrap="square" rtlCol="0" anchor="t"/>
          <a:lstStyle/>
          <a:p>
            <a:pPr marL="0" indent="0" algn="l">
              <a:buNone/>
            </a:pPr>
            <a:r>
              <a:rPr lang="en-US" sz="1100" dirty="0">
                <a:solidFill>
                  <a:srgbClr val="6B7480"/>
                </a:solidFill>
                <a:latin typeface="Calibri" pitchFamily="34" charset="0"/>
                <a:ea typeface="Calibri" pitchFamily="34" charset="-122"/>
                <a:cs typeface="Calibri" pitchFamily="34" charset="-120"/>
              </a:rPr>
              <a:t>Flow-sensitive, provable reasoning over program values.</a:t>
            </a:r>
            <a:endParaRPr lang="en-US" sz="1100" dirty="0"/>
          </a:p>
        </p:txBody>
      </p:sp>
      <p:sp>
        <p:nvSpPr>
          <p:cNvPr id="16" name="Shape 14"/>
          <p:cNvSpPr/>
          <p:nvPr/>
        </p:nvSpPr>
        <p:spPr>
          <a:xfrm>
            <a:off x="4449928" y="3456432"/>
            <a:ext cx="3291840" cy="777240"/>
          </a:xfrm>
          <a:prstGeom prst="rect">
            <a:avLst/>
          </a:prstGeom>
          <a:solidFill>
            <a:srgbClr val="2E6E7E"/>
          </a:solidFill>
          <a:ln w="12700">
            <a:solidFill>
              <a:srgbClr val="2E6E7E"/>
            </a:solidFill>
            <a:prstDash val="solid"/>
          </a:ln>
        </p:spPr>
        <p:txBody>
          <a:bodyPr/>
          <a:lstStyle/>
          <a:p>
            <a:endParaRPr/>
          </a:p>
        </p:txBody>
      </p:sp>
      <p:sp>
        <p:nvSpPr>
          <p:cNvPr id="17" name="Text 15"/>
          <p:cNvSpPr txBox="1"/>
          <p:nvPr/>
        </p:nvSpPr>
        <p:spPr>
          <a:xfrm>
            <a:off x="4587088" y="3456432"/>
            <a:ext cx="3017520" cy="7772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This Project — Intersection of all four areas</a:t>
            </a:r>
            <a:endParaRPr lang="en-US" sz="1200" dirty="0"/>
          </a:p>
        </p:txBody>
      </p:sp>
      <p:sp>
        <p:nvSpPr>
          <p:cNvPr id="18" name="Text 16"/>
          <p:cNvSpPr txBox="1"/>
          <p:nvPr/>
        </p:nvSpPr>
        <p:spPr>
          <a:xfrm>
            <a:off x="502920" y="6492240"/>
            <a:ext cx="9601200" cy="237744"/>
          </a:xfrm>
          <a:prstGeom prst="rect">
            <a:avLst/>
          </a:prstGeom>
          <a:noFill/>
          <a:ln/>
        </p:spPr>
        <p:txBody>
          <a:bodyPr wrap="square" rtlCol="0" anchor="ctr"/>
          <a:lstStyle/>
          <a:p>
            <a:pPr marL="0" indent="0">
              <a:buNone/>
            </a:pPr>
            <a:r>
              <a:rPr lang="en-US" sz="800" dirty="0">
                <a:solidFill>
                  <a:srgbClr val="9AA3AF"/>
                </a:solidFill>
                <a:latin typeface="Calibri" pitchFamily="34" charset="0"/>
                <a:ea typeface="Calibri" pitchFamily="34" charset="-122"/>
                <a:cs typeface="Calibri" pitchFamily="34" charset="-120"/>
              </a:rPr>
              <a:t>BCSE307L — Compiler Design   |   Range-Aware Edge AI Quantization Compiler</a:t>
            </a:r>
            <a:endParaRPr lang="en-US" sz="800" dirty="0"/>
          </a:p>
        </p:txBody>
      </p:sp>
      <p:sp>
        <p:nvSpPr>
          <p:cNvPr id="19" name="Text 17"/>
          <p:cNvSpPr txBox="1"/>
          <p:nvPr/>
        </p:nvSpPr>
        <p:spPr>
          <a:xfrm>
            <a:off x="11247120" y="6492240"/>
            <a:ext cx="457200" cy="237744"/>
          </a:xfrm>
          <a:prstGeom prst="rect">
            <a:avLst/>
          </a:prstGeom>
          <a:noFill/>
          <a:ln/>
        </p:spPr>
        <p:txBody>
          <a:bodyPr wrap="square" rtlCol="0" anchor="ctr"/>
          <a:lstStyle/>
          <a:p>
            <a:pPr algn="r"/>
            <a:r>
              <a:rPr sz="850">
                <a:solidFill>
                  <a:srgbClr val="8A919A"/>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marL="0" indent="0">
              <a:buNone/>
            </a:pPr>
            <a:r>
              <a:rPr lang="en-US" sz="1100" b="1" kern="0" spc="200" dirty="0">
                <a:solidFill>
                  <a:srgbClr val="2E6E7E"/>
                </a:solidFill>
                <a:latin typeface="Calibri" pitchFamily="34" charset="0"/>
                <a:ea typeface="Calibri" pitchFamily="34" charset="-122"/>
                <a:cs typeface="Calibri" pitchFamily="34" charset="-120"/>
              </a:rPr>
              <a:t>LITERATURE SURVEY</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marL="0" indent="0">
              <a:buNone/>
            </a:pPr>
            <a:r>
              <a:rPr lang="en-US" sz="2900" b="1" dirty="0">
                <a:solidFill>
                  <a:srgbClr val="1F2A3C"/>
                </a:solidFill>
                <a:latin typeface="Cambria" pitchFamily="34" charset="0"/>
                <a:ea typeface="Cambria" pitchFamily="34" charset="-122"/>
                <a:cs typeface="Cambria" pitchFamily="34" charset="-120"/>
              </a:rPr>
              <a:t>Key Related Work</a:t>
            </a:r>
            <a:endParaRPr lang="en-US" sz="2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92840" cy="4279392"/>
        </p:xfrm>
        <a:graphic>
          <a:graphicData uri="http://schemas.openxmlformats.org/drawingml/2006/table">
            <a:tbl>
              <a:tblPr/>
              <a:tblGrid>
                <a:gridCol w="196596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475488">
                <a:tc>
                  <a:txBody>
                    <a:bodyPr/>
                    <a:lstStyle/>
                    <a:p>
                      <a:pPr>
                        <a:lnSpc>
                          <a:spcPct val="100000"/>
                        </a:lnSpc>
                        <a:spcBef>
                          <a:spcPts val="0"/>
                        </a:spcBef>
                        <a:spcAft>
                          <a:spcPts val="0"/>
                        </a:spcAft>
                      </a:pPr>
                      <a:r>
                        <a:rPr sz="1050" b="1">
                          <a:solidFill>
                            <a:srgbClr val="FFFFFF"/>
                          </a:solidFill>
                          <a:latin typeface="Calibri"/>
                        </a:rPr>
                        <a:t>Work</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1F2A3C"/>
                    </a:solidFill>
                  </a:tcPr>
                </a:tc>
                <a:tc>
                  <a:txBody>
                    <a:bodyPr/>
                    <a:lstStyle/>
                    <a:p>
                      <a:pPr>
                        <a:lnSpc>
                          <a:spcPct val="100000"/>
                        </a:lnSpc>
                        <a:spcBef>
                          <a:spcPts val="0"/>
                        </a:spcBef>
                        <a:spcAft>
                          <a:spcPts val="0"/>
                        </a:spcAft>
                      </a:pPr>
                      <a:r>
                        <a:rPr sz="1050" b="1">
                          <a:solidFill>
                            <a:srgbClr val="FFFFFF"/>
                          </a:solidFill>
                          <a:latin typeface="Calibri"/>
                        </a:rPr>
                        <a:t>Main Idea</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1F2A3C"/>
                    </a:solidFill>
                  </a:tcPr>
                </a:tc>
                <a:tc>
                  <a:txBody>
                    <a:bodyPr/>
                    <a:lstStyle/>
                    <a:p>
                      <a:pPr>
                        <a:lnSpc>
                          <a:spcPct val="100000"/>
                        </a:lnSpc>
                        <a:spcBef>
                          <a:spcPts val="0"/>
                        </a:spcBef>
                        <a:spcAft>
                          <a:spcPts val="0"/>
                        </a:spcAft>
                      </a:pPr>
                      <a:r>
                        <a:rPr sz="1050" b="1">
                          <a:solidFill>
                            <a:srgbClr val="FFFFFF"/>
                          </a:solidFill>
                          <a:latin typeface="Calibri"/>
                        </a:rPr>
                        <a:t>Relevance</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1F2A3C"/>
                    </a:solidFill>
                  </a:tcPr>
                </a:tc>
                <a:tc>
                  <a:txBody>
                    <a:bodyPr/>
                    <a:lstStyle/>
                    <a:p>
                      <a:pPr>
                        <a:lnSpc>
                          <a:spcPct val="100000"/>
                        </a:lnSpc>
                        <a:spcBef>
                          <a:spcPts val="0"/>
                        </a:spcBef>
                        <a:spcAft>
                          <a:spcPts val="0"/>
                        </a:spcAft>
                      </a:pPr>
                      <a:r>
                        <a:rPr sz="1050" b="1">
                          <a:solidFill>
                            <a:srgbClr val="FFFFFF"/>
                          </a:solidFill>
                          <a:latin typeface="Calibri"/>
                        </a:rPr>
                        <a:t>Difference from Our Project</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1F2A3C"/>
                    </a:solidFill>
                  </a:tcPr>
                </a:tc>
                <a:extLst>
                  <a:ext uri="{0D108BD9-81ED-4DB2-BD59-A6C34878D82A}">
                    <a16:rowId xmlns:a16="http://schemas.microsoft.com/office/drawing/2014/main" val="10000"/>
                  </a:ext>
                </a:extLst>
              </a:tr>
              <a:tr h="475488">
                <a:tc>
                  <a:txBody>
                    <a:bodyPr/>
                    <a:lstStyle/>
                    <a:p>
                      <a:pPr>
                        <a:lnSpc>
                          <a:spcPct val="100000"/>
                        </a:lnSpc>
                        <a:spcBef>
                          <a:spcPts val="0"/>
                        </a:spcBef>
                        <a:spcAft>
                          <a:spcPts val="0"/>
                        </a:spcAft>
                      </a:pPr>
                      <a:r>
                        <a:rPr sz="819" b="1">
                          <a:solidFill>
                            <a:srgbClr val="303845"/>
                          </a:solidFill>
                          <a:latin typeface="Calibri"/>
                        </a:rPr>
                        <a:t>Zhou et al. [1]</a:t>
                      </a:r>
                    </a:p>
                    <a:p>
                      <a:pPr>
                        <a:lnSpc>
                          <a:spcPct val="100000"/>
                        </a:lnSpc>
                        <a:spcBef>
                          <a:spcPts val="0"/>
                        </a:spcBef>
                        <a:spcAft>
                          <a:spcPts val="0"/>
                        </a:spcAft>
                      </a:pPr>
                      <a:r>
                        <a:rPr sz="819" b="1">
                          <a:solidFill>
                            <a:srgbClr val="303845"/>
                          </a:solidFill>
                          <a:latin typeface="Calibri"/>
                        </a:rPr>
                        <a:t>Proc. IEEE 2019</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3F5F7"/>
                    </a:solidFill>
                  </a:tcPr>
                </a:tc>
                <a:tc>
                  <a:txBody>
                    <a:bodyPr/>
                    <a:lstStyle/>
                    <a:p>
                      <a:pPr>
                        <a:lnSpc>
                          <a:spcPct val="100000"/>
                        </a:lnSpc>
                        <a:spcBef>
                          <a:spcPts val="0"/>
                        </a:spcBef>
                        <a:spcAft>
                          <a:spcPts val="0"/>
                        </a:spcAft>
                      </a:pPr>
                      <a:r>
                        <a:rPr sz="819" b="0">
                          <a:solidFill>
                            <a:srgbClr val="303845"/>
                          </a:solidFill>
                          <a:latin typeface="Calibri"/>
                        </a:rPr>
                        <a:t>Survey of edge intelligence and on-device AI systems</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3F5F7"/>
                    </a:solidFill>
                  </a:tcPr>
                </a:tc>
                <a:tc>
                  <a:txBody>
                    <a:bodyPr/>
                    <a:lstStyle/>
                    <a:p>
                      <a:pPr>
                        <a:lnSpc>
                          <a:spcPct val="100000"/>
                        </a:lnSpc>
                        <a:spcBef>
                          <a:spcPts val="0"/>
                        </a:spcBef>
                        <a:spcAft>
                          <a:spcPts val="0"/>
                        </a:spcAft>
                      </a:pPr>
                      <a:r>
                        <a:rPr sz="819" b="0">
                          <a:solidFill>
                            <a:srgbClr val="303845"/>
                          </a:solidFill>
                          <a:latin typeface="Calibri"/>
                        </a:rPr>
                        <a:t>Frames memory, compute and energy constraints at the edge</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3F5F7"/>
                    </a:solidFill>
                  </a:tcPr>
                </a:tc>
                <a:tc>
                  <a:txBody>
                    <a:bodyPr/>
                    <a:lstStyle/>
                    <a:p>
                      <a:pPr>
                        <a:lnSpc>
                          <a:spcPct val="100000"/>
                        </a:lnSpc>
                        <a:spcBef>
                          <a:spcPts val="0"/>
                        </a:spcBef>
                        <a:spcAft>
                          <a:spcPts val="0"/>
                        </a:spcAft>
                      </a:pPr>
                      <a:r>
                        <a:rPr sz="819" b="0">
                          <a:solidFill>
                            <a:srgbClr val="303845"/>
                          </a:solidFill>
                          <a:latin typeface="Calibri"/>
                        </a:rPr>
                        <a:t>Motivates the application; no compiler or per-value safety proof</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3F5F7"/>
                    </a:solidFill>
                  </a:tcPr>
                </a:tc>
                <a:extLst>
                  <a:ext uri="{0D108BD9-81ED-4DB2-BD59-A6C34878D82A}">
                    <a16:rowId xmlns:a16="http://schemas.microsoft.com/office/drawing/2014/main" val="10001"/>
                  </a:ext>
                </a:extLst>
              </a:tr>
              <a:tr h="475488">
                <a:tc>
                  <a:txBody>
                    <a:bodyPr/>
                    <a:lstStyle/>
                    <a:p>
                      <a:pPr>
                        <a:lnSpc>
                          <a:spcPct val="100000"/>
                        </a:lnSpc>
                        <a:spcBef>
                          <a:spcPts val="0"/>
                        </a:spcBef>
                        <a:spcAft>
                          <a:spcPts val="0"/>
                        </a:spcAft>
                      </a:pPr>
                      <a:r>
                        <a:rPr sz="819" b="1">
                          <a:solidFill>
                            <a:srgbClr val="303845"/>
                          </a:solidFill>
                          <a:latin typeface="Calibri"/>
                        </a:rPr>
                        <a:t>Chen &amp; Ran [2]</a:t>
                      </a:r>
                    </a:p>
                    <a:p>
                      <a:pPr>
                        <a:lnSpc>
                          <a:spcPct val="100000"/>
                        </a:lnSpc>
                        <a:spcBef>
                          <a:spcPts val="0"/>
                        </a:spcBef>
                        <a:spcAft>
                          <a:spcPts val="0"/>
                        </a:spcAft>
                      </a:pPr>
                      <a:r>
                        <a:rPr sz="819" b="1">
                          <a:solidFill>
                            <a:srgbClr val="303845"/>
                          </a:solidFill>
                          <a:latin typeface="Calibri"/>
                        </a:rPr>
                        <a:t>Proc. IEEE 2019</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a:lnSpc>
                          <a:spcPct val="100000"/>
                        </a:lnSpc>
                        <a:spcBef>
                          <a:spcPts val="0"/>
                        </a:spcBef>
                        <a:spcAft>
                          <a:spcPts val="0"/>
                        </a:spcAft>
                      </a:pPr>
                      <a:r>
                        <a:rPr sz="819" b="0">
                          <a:solidFill>
                            <a:srgbClr val="303845"/>
                          </a:solidFill>
                          <a:latin typeface="Calibri"/>
                        </a:rPr>
                        <a:t>Review of deep learning with edge computing</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a:lnSpc>
                          <a:spcPct val="100000"/>
                        </a:lnSpc>
                        <a:spcBef>
                          <a:spcPts val="0"/>
                        </a:spcBef>
                        <a:spcAft>
                          <a:spcPts val="0"/>
                        </a:spcAft>
                      </a:pPr>
                      <a:r>
                        <a:rPr sz="819" b="0">
                          <a:solidFill>
                            <a:srgbClr val="303845"/>
                          </a:solidFill>
                          <a:latin typeface="Calibri"/>
                        </a:rPr>
                        <a:t>Covers deployment, compression and edge/cloud trade-offs</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a:lnSpc>
                          <a:spcPct val="100000"/>
                        </a:lnSpc>
                        <a:spcBef>
                          <a:spcPts val="0"/>
                        </a:spcBef>
                        <a:spcAft>
                          <a:spcPts val="0"/>
                        </a:spcAft>
                      </a:pPr>
                      <a:r>
                        <a:rPr sz="819" b="0">
                          <a:solidFill>
                            <a:srgbClr val="303845"/>
                          </a:solidFill>
                          <a:latin typeface="Calibri"/>
                        </a:rPr>
                        <a:t>Model/system-level review rather than an IR optimization</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a:lnSpc>
                          <a:spcPct val="100000"/>
                        </a:lnSpc>
                        <a:spcBef>
                          <a:spcPts val="0"/>
                        </a:spcBef>
                        <a:spcAft>
                          <a:spcPts val="0"/>
                        </a:spcAft>
                      </a:pPr>
                      <a:r>
                        <a:rPr sz="819" b="1">
                          <a:solidFill>
                            <a:srgbClr val="303845"/>
                          </a:solidFill>
                          <a:latin typeface="Calibri"/>
                        </a:rPr>
                        <a:t>Jacob et al. [3]</a:t>
                      </a:r>
                    </a:p>
                    <a:p>
                      <a:pPr>
                        <a:lnSpc>
                          <a:spcPct val="100000"/>
                        </a:lnSpc>
                        <a:spcBef>
                          <a:spcPts val="0"/>
                        </a:spcBef>
                        <a:spcAft>
                          <a:spcPts val="0"/>
                        </a:spcAft>
                      </a:pPr>
                      <a:r>
                        <a:rPr sz="819" b="1">
                          <a:solidFill>
                            <a:srgbClr val="303845"/>
                          </a:solidFill>
                          <a:latin typeface="Calibri"/>
                        </a:rPr>
                        <a:t>CVPR 2018</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3F5F7"/>
                    </a:solidFill>
                  </a:tcPr>
                </a:tc>
                <a:tc>
                  <a:txBody>
                    <a:bodyPr/>
                    <a:lstStyle/>
                    <a:p>
                      <a:pPr>
                        <a:lnSpc>
                          <a:spcPct val="100000"/>
                        </a:lnSpc>
                        <a:spcBef>
                          <a:spcPts val="0"/>
                        </a:spcBef>
                        <a:spcAft>
                          <a:spcPts val="0"/>
                        </a:spcAft>
                      </a:pPr>
                      <a:r>
                        <a:rPr sz="819" b="0">
                          <a:solidFill>
                            <a:srgbClr val="303845"/>
                          </a:solidFill>
                          <a:latin typeface="Calibri"/>
                        </a:rPr>
                        <a:t>Integer-only inference with quantization-aware training</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3F5F7"/>
                    </a:solidFill>
                  </a:tcPr>
                </a:tc>
                <a:tc>
                  <a:txBody>
                    <a:bodyPr/>
                    <a:lstStyle/>
                    <a:p>
                      <a:pPr>
                        <a:lnSpc>
                          <a:spcPct val="100000"/>
                        </a:lnSpc>
                        <a:spcBef>
                          <a:spcPts val="0"/>
                        </a:spcBef>
                        <a:spcAft>
                          <a:spcPts val="0"/>
                        </a:spcAft>
                      </a:pPr>
                      <a:r>
                        <a:rPr sz="819" b="0">
                          <a:solidFill>
                            <a:srgbClr val="303845"/>
                          </a:solidFill>
                          <a:latin typeface="Calibri"/>
                        </a:rPr>
                        <a:t>Shows the practical relevance of INT8 inference</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3F5F7"/>
                    </a:solidFill>
                  </a:tcPr>
                </a:tc>
                <a:tc>
                  <a:txBody>
                    <a:bodyPr/>
                    <a:lstStyle/>
                    <a:p>
                      <a:pPr>
                        <a:lnSpc>
                          <a:spcPct val="100000"/>
                        </a:lnSpc>
                        <a:spcBef>
                          <a:spcPts val="0"/>
                        </a:spcBef>
                        <a:spcAft>
                          <a:spcPts val="0"/>
                        </a:spcAft>
                      </a:pPr>
                      <a:r>
                        <a:rPr sz="819" b="0">
                          <a:solidFill>
                            <a:srgbClr val="303845"/>
                          </a:solidFill>
                          <a:latin typeface="Calibri"/>
                        </a:rPr>
                        <a:t>Neural-network quantization; we analyze a small program IR</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3F5F7"/>
                    </a:solidFill>
                  </a:tcPr>
                </a:tc>
                <a:extLst>
                  <a:ext uri="{0D108BD9-81ED-4DB2-BD59-A6C34878D82A}">
                    <a16:rowId xmlns:a16="http://schemas.microsoft.com/office/drawing/2014/main" val="10003"/>
                  </a:ext>
                </a:extLst>
              </a:tr>
              <a:tr h="475488">
                <a:tc>
                  <a:txBody>
                    <a:bodyPr/>
                    <a:lstStyle/>
                    <a:p>
                      <a:pPr>
                        <a:lnSpc>
                          <a:spcPct val="100000"/>
                        </a:lnSpc>
                        <a:spcBef>
                          <a:spcPts val="0"/>
                        </a:spcBef>
                        <a:spcAft>
                          <a:spcPts val="0"/>
                        </a:spcAft>
                      </a:pPr>
                      <a:r>
                        <a:rPr sz="819" b="1">
                          <a:solidFill>
                            <a:srgbClr val="303845"/>
                          </a:solidFill>
                          <a:latin typeface="Calibri"/>
                        </a:rPr>
                        <a:t>Krishnamoorthi [4]</a:t>
                      </a:r>
                    </a:p>
                    <a:p>
                      <a:pPr>
                        <a:lnSpc>
                          <a:spcPct val="100000"/>
                        </a:lnSpc>
                        <a:spcBef>
                          <a:spcPts val="0"/>
                        </a:spcBef>
                        <a:spcAft>
                          <a:spcPts val="0"/>
                        </a:spcAft>
                      </a:pPr>
                      <a:r>
                        <a:rPr sz="819" b="1">
                          <a:solidFill>
                            <a:srgbClr val="303845"/>
                          </a:solidFill>
                          <a:latin typeface="Calibri"/>
                        </a:rPr>
                        <a:t>arXiv 2018</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a:lnSpc>
                          <a:spcPct val="100000"/>
                        </a:lnSpc>
                        <a:spcBef>
                          <a:spcPts val="0"/>
                        </a:spcBef>
                        <a:spcAft>
                          <a:spcPts val="0"/>
                        </a:spcAft>
                      </a:pPr>
                      <a:r>
                        <a:rPr sz="819" b="0">
                          <a:solidFill>
                            <a:srgbClr val="303845"/>
                          </a:solidFill>
                          <a:latin typeface="Calibri"/>
                        </a:rPr>
                        <a:t>Practical guide to post-training and QAT quantization</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a:lnSpc>
                          <a:spcPct val="100000"/>
                        </a:lnSpc>
                        <a:spcBef>
                          <a:spcPts val="0"/>
                        </a:spcBef>
                        <a:spcAft>
                          <a:spcPts val="0"/>
                        </a:spcAft>
                      </a:pPr>
                      <a:r>
                        <a:rPr sz="819" b="0">
                          <a:solidFill>
                            <a:srgbClr val="303845"/>
                          </a:solidFill>
                          <a:latin typeface="Calibri"/>
                        </a:rPr>
                        <a:t>Explains scaling, calibration and quantization choices</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a:lnSpc>
                          <a:spcPct val="100000"/>
                        </a:lnSpc>
                        <a:spcBef>
                          <a:spcPts val="0"/>
                        </a:spcBef>
                        <a:spcAft>
                          <a:spcPts val="0"/>
                        </a:spcAft>
                      </a:pPr>
                      <a:r>
                        <a:rPr sz="819" b="0">
                          <a:solidFill>
                            <a:srgbClr val="303845"/>
                          </a:solidFill>
                          <a:latin typeface="Calibri"/>
                        </a:rPr>
                        <a:t>Model-level practice, not per-value static proof</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a:lnSpc>
                          <a:spcPct val="100000"/>
                        </a:lnSpc>
                        <a:spcBef>
                          <a:spcPts val="0"/>
                        </a:spcBef>
                        <a:spcAft>
                          <a:spcPts val="0"/>
                        </a:spcAft>
                      </a:pPr>
                      <a:r>
                        <a:rPr sz="819" b="1">
                          <a:solidFill>
                            <a:srgbClr val="303845"/>
                          </a:solidFill>
                          <a:latin typeface="Calibri"/>
                        </a:rPr>
                        <a:t>Cousot &amp; Cousot [5]</a:t>
                      </a:r>
                    </a:p>
                    <a:p>
                      <a:pPr>
                        <a:lnSpc>
                          <a:spcPct val="100000"/>
                        </a:lnSpc>
                        <a:spcBef>
                          <a:spcPts val="0"/>
                        </a:spcBef>
                        <a:spcAft>
                          <a:spcPts val="0"/>
                        </a:spcAft>
                      </a:pPr>
                      <a:r>
                        <a:rPr sz="819" b="1">
                          <a:solidFill>
                            <a:srgbClr val="303845"/>
                          </a:solidFill>
                          <a:latin typeface="Calibri"/>
                        </a:rPr>
                        <a:t>ISOP 1976</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3F5F7"/>
                    </a:solidFill>
                  </a:tcPr>
                </a:tc>
                <a:tc>
                  <a:txBody>
                    <a:bodyPr/>
                    <a:lstStyle/>
                    <a:p>
                      <a:pPr>
                        <a:lnSpc>
                          <a:spcPct val="100000"/>
                        </a:lnSpc>
                        <a:spcBef>
                          <a:spcPts val="0"/>
                        </a:spcBef>
                        <a:spcAft>
                          <a:spcPts val="0"/>
                        </a:spcAft>
                      </a:pPr>
                      <a:r>
                        <a:rPr sz="819" b="0">
                          <a:solidFill>
                            <a:srgbClr val="303845"/>
                          </a:solidFill>
                          <a:latin typeface="Calibri"/>
                        </a:rPr>
                        <a:t>Static determination of dynamic program properties</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3F5F7"/>
                    </a:solidFill>
                  </a:tcPr>
                </a:tc>
                <a:tc>
                  <a:txBody>
                    <a:bodyPr/>
                    <a:lstStyle/>
                    <a:p>
                      <a:pPr>
                        <a:lnSpc>
                          <a:spcPct val="100000"/>
                        </a:lnSpc>
                        <a:spcBef>
                          <a:spcPts val="0"/>
                        </a:spcBef>
                        <a:spcAft>
                          <a:spcPts val="0"/>
                        </a:spcAft>
                      </a:pPr>
                      <a:r>
                        <a:rPr sz="819" b="0">
                          <a:solidFill>
                            <a:srgbClr val="303845"/>
                          </a:solidFill>
                          <a:latin typeface="Calibri"/>
                        </a:rPr>
                        <a:t>Foundational interval/range abstraction</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3F5F7"/>
                    </a:solidFill>
                  </a:tcPr>
                </a:tc>
                <a:tc>
                  <a:txBody>
                    <a:bodyPr/>
                    <a:lstStyle/>
                    <a:p>
                      <a:pPr>
                        <a:lnSpc>
                          <a:spcPct val="100000"/>
                        </a:lnSpc>
                        <a:spcBef>
                          <a:spcPts val="0"/>
                        </a:spcBef>
                        <a:spcAft>
                          <a:spcPts val="0"/>
                        </a:spcAft>
                      </a:pPr>
                      <a:r>
                        <a:rPr sz="819" b="0">
                          <a:solidFill>
                            <a:srgbClr val="303845"/>
                          </a:solidFill>
                          <a:latin typeface="Calibri"/>
                        </a:rPr>
                        <a:t>General static analysis; applied here to INT8 eligibility</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3F5F7"/>
                    </a:solidFill>
                  </a:tcPr>
                </a:tc>
                <a:extLst>
                  <a:ext uri="{0D108BD9-81ED-4DB2-BD59-A6C34878D82A}">
                    <a16:rowId xmlns:a16="http://schemas.microsoft.com/office/drawing/2014/main" val="10005"/>
                  </a:ext>
                </a:extLst>
              </a:tr>
              <a:tr h="475488">
                <a:tc>
                  <a:txBody>
                    <a:bodyPr/>
                    <a:lstStyle/>
                    <a:p>
                      <a:pPr>
                        <a:lnSpc>
                          <a:spcPct val="100000"/>
                        </a:lnSpc>
                        <a:spcBef>
                          <a:spcPts val="0"/>
                        </a:spcBef>
                        <a:spcAft>
                          <a:spcPts val="0"/>
                        </a:spcAft>
                      </a:pPr>
                      <a:r>
                        <a:rPr sz="819" b="1">
                          <a:solidFill>
                            <a:srgbClr val="303845"/>
                          </a:solidFill>
                          <a:latin typeface="Calibri"/>
                        </a:rPr>
                        <a:t>Cousot &amp; Cousot [6]</a:t>
                      </a:r>
                    </a:p>
                    <a:p>
                      <a:pPr>
                        <a:lnSpc>
                          <a:spcPct val="100000"/>
                        </a:lnSpc>
                        <a:spcBef>
                          <a:spcPts val="0"/>
                        </a:spcBef>
                        <a:spcAft>
                          <a:spcPts val="0"/>
                        </a:spcAft>
                      </a:pPr>
                      <a:r>
                        <a:rPr sz="819" b="1">
                          <a:solidFill>
                            <a:srgbClr val="303845"/>
                          </a:solidFill>
                          <a:latin typeface="Calibri"/>
                        </a:rPr>
                        <a:t>POPL 1977</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a:lnSpc>
                          <a:spcPct val="100000"/>
                        </a:lnSpc>
                        <a:spcBef>
                          <a:spcPts val="0"/>
                        </a:spcBef>
                        <a:spcAft>
                          <a:spcPts val="0"/>
                        </a:spcAft>
                      </a:pPr>
                      <a:r>
                        <a:rPr sz="819" b="0">
                          <a:solidFill>
                            <a:srgbClr val="303845"/>
                          </a:solidFill>
                          <a:latin typeface="Calibri"/>
                        </a:rPr>
                        <a:t>Abstract interpretation and fixed-point analysis</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a:lnSpc>
                          <a:spcPct val="100000"/>
                        </a:lnSpc>
                        <a:spcBef>
                          <a:spcPts val="0"/>
                        </a:spcBef>
                        <a:spcAft>
                          <a:spcPts val="0"/>
                        </a:spcAft>
                      </a:pPr>
                      <a:r>
                        <a:rPr sz="819" b="0">
                          <a:solidFill>
                            <a:srgbClr val="303845"/>
                          </a:solidFill>
                          <a:latin typeface="Calibri"/>
                        </a:rPr>
                        <a:t>Grounds conservative data-flow reasoning</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a:lnSpc>
                          <a:spcPct val="100000"/>
                        </a:lnSpc>
                        <a:spcBef>
                          <a:spcPts val="0"/>
                        </a:spcBef>
                        <a:spcAft>
                          <a:spcPts val="0"/>
                        </a:spcAft>
                      </a:pPr>
                      <a:r>
                        <a:rPr sz="819" b="0">
                          <a:solidFill>
                            <a:srgbClr val="303845"/>
                          </a:solidFill>
                          <a:latin typeface="Calibri"/>
                        </a:rPr>
                        <a:t>General framework; project uses a narrow interval domain</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a:lnSpc>
                          <a:spcPct val="100000"/>
                        </a:lnSpc>
                        <a:spcBef>
                          <a:spcPts val="0"/>
                        </a:spcBef>
                        <a:spcAft>
                          <a:spcPts val="0"/>
                        </a:spcAft>
                      </a:pPr>
                      <a:r>
                        <a:rPr sz="819" b="1">
                          <a:solidFill>
                            <a:srgbClr val="303845"/>
                          </a:solidFill>
                          <a:latin typeface="Calibri"/>
                        </a:rPr>
                        <a:t>Bourdoncle [7]</a:t>
                      </a:r>
                    </a:p>
                    <a:p>
                      <a:pPr>
                        <a:lnSpc>
                          <a:spcPct val="100000"/>
                        </a:lnSpc>
                        <a:spcBef>
                          <a:spcPts val="0"/>
                        </a:spcBef>
                        <a:spcAft>
                          <a:spcPts val="0"/>
                        </a:spcAft>
                      </a:pPr>
                      <a:r>
                        <a:rPr sz="819" b="1">
                          <a:solidFill>
                            <a:srgbClr val="303845"/>
                          </a:solidFill>
                          <a:latin typeface="Calibri"/>
                        </a:rPr>
                        <a:t>LNCS 735, 1993</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3F5F7"/>
                    </a:solidFill>
                  </a:tcPr>
                </a:tc>
                <a:tc>
                  <a:txBody>
                    <a:bodyPr/>
                    <a:lstStyle/>
                    <a:p>
                      <a:pPr>
                        <a:lnSpc>
                          <a:spcPct val="100000"/>
                        </a:lnSpc>
                        <a:spcBef>
                          <a:spcPts val="0"/>
                        </a:spcBef>
                        <a:spcAft>
                          <a:spcPts val="0"/>
                        </a:spcAft>
                      </a:pPr>
                      <a:r>
                        <a:rPr sz="819" b="0">
                          <a:solidFill>
                            <a:srgbClr val="303845"/>
                          </a:solidFill>
                          <a:latin typeface="Calibri"/>
                        </a:rPr>
                        <a:t>Widening/narrowing for chaotic iteration</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3F5F7"/>
                    </a:solidFill>
                  </a:tcPr>
                </a:tc>
                <a:tc>
                  <a:txBody>
                    <a:bodyPr/>
                    <a:lstStyle/>
                    <a:p>
                      <a:pPr>
                        <a:lnSpc>
                          <a:spcPct val="100000"/>
                        </a:lnSpc>
                        <a:spcBef>
                          <a:spcPts val="0"/>
                        </a:spcBef>
                        <a:spcAft>
                          <a:spcPts val="0"/>
                        </a:spcAft>
                      </a:pPr>
                      <a:r>
                        <a:rPr sz="819" b="0">
                          <a:solidFill>
                            <a:srgbClr val="303845"/>
                          </a:solidFill>
                          <a:latin typeface="Calibri"/>
                        </a:rPr>
                        <a:t>Informs bounded loop-analysis convergence</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3F5F7"/>
                    </a:solidFill>
                  </a:tcPr>
                </a:tc>
                <a:tc>
                  <a:txBody>
                    <a:bodyPr/>
                    <a:lstStyle/>
                    <a:p>
                      <a:pPr>
                        <a:lnSpc>
                          <a:spcPct val="100000"/>
                        </a:lnSpc>
                        <a:spcBef>
                          <a:spcPts val="0"/>
                        </a:spcBef>
                        <a:spcAft>
                          <a:spcPts val="0"/>
                        </a:spcAft>
                      </a:pPr>
                      <a:r>
                        <a:rPr sz="819" b="0">
                          <a:solidFill>
                            <a:srgbClr val="303845"/>
                          </a:solidFill>
                          <a:latin typeface="Calibri"/>
                        </a:rPr>
                        <a:t>General convergence method at teaching-scale scope</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3F5F7"/>
                    </a:solidFill>
                  </a:tcPr>
                </a:tc>
                <a:extLst>
                  <a:ext uri="{0D108BD9-81ED-4DB2-BD59-A6C34878D82A}">
                    <a16:rowId xmlns:a16="http://schemas.microsoft.com/office/drawing/2014/main" val="10007"/>
                  </a:ext>
                </a:extLst>
              </a:tr>
              <a:tr h="475488">
                <a:tc>
                  <a:txBody>
                    <a:bodyPr/>
                    <a:lstStyle/>
                    <a:p>
                      <a:pPr>
                        <a:lnSpc>
                          <a:spcPct val="100000"/>
                        </a:lnSpc>
                        <a:spcBef>
                          <a:spcPts val="0"/>
                        </a:spcBef>
                        <a:spcAft>
                          <a:spcPts val="0"/>
                        </a:spcAft>
                      </a:pPr>
                      <a:r>
                        <a:rPr sz="819" b="1">
                          <a:solidFill>
                            <a:srgbClr val="303845"/>
                          </a:solidFill>
                          <a:latin typeface="Calibri"/>
                        </a:rPr>
                        <a:t>Blanchet et al. [8]</a:t>
                      </a:r>
                    </a:p>
                    <a:p>
                      <a:pPr>
                        <a:lnSpc>
                          <a:spcPct val="100000"/>
                        </a:lnSpc>
                        <a:spcBef>
                          <a:spcPts val="0"/>
                        </a:spcBef>
                        <a:spcAft>
                          <a:spcPts val="0"/>
                        </a:spcAft>
                      </a:pPr>
                      <a:r>
                        <a:rPr sz="819" b="1">
                          <a:solidFill>
                            <a:srgbClr val="303845"/>
                          </a:solidFill>
                          <a:latin typeface="Calibri"/>
                        </a:rPr>
                        <a:t>PLDI 2003</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a:lnSpc>
                          <a:spcPct val="100000"/>
                        </a:lnSpc>
                        <a:spcBef>
                          <a:spcPts val="0"/>
                        </a:spcBef>
                        <a:spcAft>
                          <a:spcPts val="0"/>
                        </a:spcAft>
                      </a:pPr>
                      <a:r>
                        <a:rPr sz="819" b="0">
                          <a:solidFill>
                            <a:srgbClr val="303845"/>
                          </a:solidFill>
                          <a:latin typeface="Calibri"/>
                        </a:rPr>
                        <a:t>Astrée static analysis for safety-critical software</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a:lnSpc>
                          <a:spcPct val="100000"/>
                        </a:lnSpc>
                        <a:spcBef>
                          <a:spcPts val="0"/>
                        </a:spcBef>
                        <a:spcAft>
                          <a:spcPts val="0"/>
                        </a:spcAft>
                      </a:pPr>
                      <a:r>
                        <a:rPr sz="819" b="0">
                          <a:solidFill>
                            <a:srgbClr val="303845"/>
                          </a:solidFill>
                          <a:latin typeface="Calibri"/>
                        </a:rPr>
                        <a:t>Demonstrates range analysis for run-time error proofs</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a:lnSpc>
                          <a:spcPct val="100000"/>
                        </a:lnSpc>
                        <a:spcBef>
                          <a:spcPts val="0"/>
                        </a:spcBef>
                        <a:spcAft>
                          <a:spcPts val="0"/>
                        </a:spcAft>
                      </a:pPr>
                      <a:r>
                        <a:rPr sz="819" b="0">
                          <a:solidFill>
                            <a:srgbClr val="303845"/>
                          </a:solidFill>
                          <a:latin typeface="Calibri"/>
                        </a:rPr>
                        <a:t>Industrial-scale analyzer; ours targets a small language</a:t>
                      </a:r>
                    </a:p>
                  </a:txBody>
                  <a:tcPr marL="64008" marR="54864" marT="32004" marB="22860"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5" name="Text 2"/>
          <p:cNvSpPr txBox="1"/>
          <p:nvPr/>
        </p:nvSpPr>
        <p:spPr>
          <a:xfrm>
            <a:off x="457200" y="6263640"/>
            <a:ext cx="11292840" cy="320040"/>
          </a:xfrm>
          <a:prstGeom prst="rect">
            <a:avLst/>
          </a:prstGeom>
          <a:noFill/>
          <a:ln/>
        </p:spPr>
        <p:txBody>
          <a:bodyPr wrap="square" rtlCol="0" anchor="t"/>
          <a:lstStyle/>
          <a:p>
            <a:r>
              <a:rPr sz="850" i="1">
                <a:solidFill>
                  <a:srgbClr val="7B8490"/>
                </a:solidFill>
                <a:latin typeface="Calibri"/>
              </a:rPr>
              <a:t>Reference numbering follows the accompanying Review 2 Report: [1]–[8]. Papers [9]–[12] continue on the next slide.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347472"/>
            <a:ext cx="10607040" cy="256032"/>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2E6E7E"/>
                </a:solidFill>
                <a:latin typeface="Calibri"/>
              </a:rPr>
              <a:t>LITERATURE SURVEY</a:t>
            </a:r>
          </a:p>
        </p:txBody>
      </p:sp>
      <p:sp>
        <p:nvSpPr>
          <p:cNvPr id="3" name="TextBox 2"/>
          <p:cNvSpPr txBox="1"/>
          <p:nvPr/>
        </p:nvSpPr>
        <p:spPr>
          <a:xfrm>
            <a:off x="502920" y="621792"/>
            <a:ext cx="11155680" cy="566928"/>
          </a:xfrm>
          <a:prstGeom prst="rect">
            <a:avLst/>
          </a:prstGeom>
          <a:noFill/>
        </p:spPr>
        <p:txBody>
          <a:bodyPr wrap="square" lIns="0" tIns="0" rIns="0" bIns="0" anchor="t">
            <a:spAutoFit/>
          </a:bodyPr>
          <a:lstStyle/>
          <a:p>
            <a:pPr algn="l">
              <a:lnSpc>
                <a:spcPct val="100000"/>
              </a:lnSpc>
              <a:spcBef>
                <a:spcPts val="0"/>
              </a:spcBef>
              <a:spcAft>
                <a:spcPts val="0"/>
              </a:spcAft>
            </a:pPr>
            <a:r>
              <a:rPr sz="2800" b="1" i="0">
                <a:solidFill>
                  <a:srgbClr val="1F2A3C"/>
                </a:solidFill>
                <a:latin typeface="Cambria"/>
              </a:rPr>
              <a:t>Additional Related Work — Compiler Foundations &amp; Systems</a:t>
            </a:r>
          </a:p>
        </p:txBody>
      </p:sp>
      <p:sp>
        <p:nvSpPr>
          <p:cNvPr id="4" name="TextBox 3"/>
          <p:cNvSpPr txBox="1"/>
          <p:nvPr/>
        </p:nvSpPr>
        <p:spPr>
          <a:xfrm>
            <a:off x="502920" y="6492240"/>
            <a:ext cx="9875520" cy="201168"/>
          </a:xfrm>
          <a:prstGeom prst="rect">
            <a:avLst/>
          </a:prstGeom>
          <a:noFill/>
        </p:spPr>
        <p:txBody>
          <a:bodyPr wrap="square" lIns="0" tIns="0" rIns="0" bIns="0" anchor="t">
            <a:spAutoFit/>
          </a:bodyPr>
          <a:lstStyle/>
          <a:p>
            <a:pPr algn="l">
              <a:lnSpc>
                <a:spcPct val="100000"/>
              </a:lnSpc>
              <a:spcBef>
                <a:spcPts val="0"/>
              </a:spcBef>
              <a:spcAft>
                <a:spcPts val="0"/>
              </a:spcAft>
            </a:pPr>
            <a:r>
              <a:rPr sz="850" b="0" i="0">
                <a:solidFill>
                  <a:srgbClr val="8A919A"/>
                </a:solidFill>
                <a:latin typeface="Calibri"/>
              </a:rPr>
              <a:t>BCSE307L — Compiler Design   |   Range-Aware Edge AI Quantization Compiler</a:t>
            </a:r>
          </a:p>
        </p:txBody>
      </p:sp>
      <p:sp>
        <p:nvSpPr>
          <p:cNvPr id="5" name="TextBox 4"/>
          <p:cNvSpPr txBox="1"/>
          <p:nvPr/>
        </p:nvSpPr>
        <p:spPr>
          <a:xfrm>
            <a:off x="11228832" y="6492240"/>
            <a:ext cx="457200" cy="201168"/>
          </a:xfrm>
          <a:prstGeom prst="rect">
            <a:avLst/>
          </a:prstGeom>
          <a:noFill/>
        </p:spPr>
        <p:txBody>
          <a:bodyPr wrap="square" lIns="0" tIns="0" rIns="0" bIns="0" anchor="t">
            <a:spAutoFit/>
          </a:bodyPr>
          <a:lstStyle/>
          <a:p>
            <a:pPr algn="r"/>
            <a:r>
              <a:rPr sz="850">
                <a:solidFill>
                  <a:srgbClr val="8A919A"/>
                </a:solidFill>
                <a:latin typeface="Calibri"/>
              </a:rPr>
              <a:t>9</a:t>
            </a:r>
          </a:p>
        </p:txBody>
      </p:sp>
      <p:graphicFrame>
        <p:nvGraphicFramePr>
          <p:cNvPr id="6" name="Table 5"/>
          <p:cNvGraphicFramePr>
            <a:graphicFrameLocks noGrp="1"/>
          </p:cNvGraphicFramePr>
          <p:nvPr/>
        </p:nvGraphicFramePr>
        <p:xfrm>
          <a:off x="502920" y="1508760"/>
          <a:ext cx="11155680" cy="3337560"/>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3154680">
                  <a:extLst>
                    <a:ext uri="{9D8B030D-6E8A-4147-A177-3AD203B41FA5}">
                      <a16:colId xmlns:a16="http://schemas.microsoft.com/office/drawing/2014/main" val="20003"/>
                    </a:ext>
                  </a:extLst>
                </a:gridCol>
              </a:tblGrid>
              <a:tr h="667512">
                <a:tc>
                  <a:txBody>
                    <a:bodyPr/>
                    <a:lstStyle/>
                    <a:p>
                      <a:pPr>
                        <a:lnSpc>
                          <a:spcPct val="100000"/>
                        </a:lnSpc>
                        <a:spcBef>
                          <a:spcPts val="0"/>
                        </a:spcBef>
                        <a:spcAft>
                          <a:spcPts val="0"/>
                        </a:spcAft>
                      </a:pPr>
                      <a:r>
                        <a:rPr sz="1050" b="1">
                          <a:solidFill>
                            <a:srgbClr val="FFFFFF"/>
                          </a:solidFill>
                          <a:latin typeface="Calibri"/>
                        </a:rPr>
                        <a:t>Work</a:t>
                      </a:r>
                    </a:p>
                  </a:txBody>
                  <a:tcPr marL="64008" marR="54864" marT="32004" marB="22860" anchor="ctr">
                    <a:solidFill>
                      <a:srgbClr val="1F2A3C"/>
                    </a:solidFill>
                  </a:tcPr>
                </a:tc>
                <a:tc>
                  <a:txBody>
                    <a:bodyPr/>
                    <a:lstStyle/>
                    <a:p>
                      <a:pPr>
                        <a:lnSpc>
                          <a:spcPct val="100000"/>
                        </a:lnSpc>
                        <a:spcBef>
                          <a:spcPts val="0"/>
                        </a:spcBef>
                        <a:spcAft>
                          <a:spcPts val="0"/>
                        </a:spcAft>
                      </a:pPr>
                      <a:r>
                        <a:rPr sz="1050" b="1">
                          <a:solidFill>
                            <a:srgbClr val="FFFFFF"/>
                          </a:solidFill>
                          <a:latin typeface="Calibri"/>
                        </a:rPr>
                        <a:t>Central contribution</a:t>
                      </a:r>
                    </a:p>
                  </a:txBody>
                  <a:tcPr marL="64008" marR="54864" marT="32004" marB="22860" anchor="ctr">
                    <a:solidFill>
                      <a:srgbClr val="1F2A3C"/>
                    </a:solidFill>
                  </a:tcPr>
                </a:tc>
                <a:tc>
                  <a:txBody>
                    <a:bodyPr/>
                    <a:lstStyle/>
                    <a:p>
                      <a:pPr>
                        <a:lnSpc>
                          <a:spcPct val="100000"/>
                        </a:lnSpc>
                        <a:spcBef>
                          <a:spcPts val="0"/>
                        </a:spcBef>
                        <a:spcAft>
                          <a:spcPts val="0"/>
                        </a:spcAft>
                      </a:pPr>
                      <a:r>
                        <a:rPr sz="1050" b="1">
                          <a:solidFill>
                            <a:srgbClr val="FFFFFF"/>
                          </a:solidFill>
                          <a:latin typeface="Calibri"/>
                        </a:rPr>
                        <a:t>Relevance to this project</a:t>
                      </a:r>
                    </a:p>
                  </a:txBody>
                  <a:tcPr marL="64008" marR="54864" marT="32004" marB="22860" anchor="ctr">
                    <a:solidFill>
                      <a:srgbClr val="1F2A3C"/>
                    </a:solidFill>
                  </a:tcPr>
                </a:tc>
                <a:tc>
                  <a:txBody>
                    <a:bodyPr/>
                    <a:lstStyle/>
                    <a:p>
                      <a:pPr>
                        <a:lnSpc>
                          <a:spcPct val="100000"/>
                        </a:lnSpc>
                        <a:spcBef>
                          <a:spcPts val="0"/>
                        </a:spcBef>
                        <a:spcAft>
                          <a:spcPts val="0"/>
                        </a:spcAft>
                      </a:pPr>
                      <a:r>
                        <a:rPr sz="1050" b="1">
                          <a:solidFill>
                            <a:srgbClr val="FFFFFF"/>
                          </a:solidFill>
                          <a:latin typeface="Calibri"/>
                        </a:rPr>
                        <a:t>Difference from our scope</a:t>
                      </a:r>
                    </a:p>
                  </a:txBody>
                  <a:tcPr marL="64008" marR="54864" marT="32004" marB="22860" anchor="ctr">
                    <a:solidFill>
                      <a:srgbClr val="1F2A3C"/>
                    </a:solidFill>
                  </a:tcPr>
                </a:tc>
                <a:extLst>
                  <a:ext uri="{0D108BD9-81ED-4DB2-BD59-A6C34878D82A}">
                    <a16:rowId xmlns:a16="http://schemas.microsoft.com/office/drawing/2014/main" val="10000"/>
                  </a:ext>
                </a:extLst>
              </a:tr>
              <a:tr h="667512">
                <a:tc>
                  <a:txBody>
                    <a:bodyPr/>
                    <a:lstStyle/>
                    <a:p>
                      <a:pPr>
                        <a:lnSpc>
                          <a:spcPct val="100000"/>
                        </a:lnSpc>
                        <a:spcBef>
                          <a:spcPts val="0"/>
                        </a:spcBef>
                        <a:spcAft>
                          <a:spcPts val="0"/>
                        </a:spcAft>
                      </a:pPr>
                      <a:r>
                        <a:rPr sz="1010" b="1">
                          <a:solidFill>
                            <a:srgbClr val="303845"/>
                          </a:solidFill>
                          <a:latin typeface="Calibri"/>
                        </a:rPr>
                        <a:t>Cytron et al. [9]</a:t>
                      </a:r>
                    </a:p>
                    <a:p>
                      <a:pPr>
                        <a:lnSpc>
                          <a:spcPct val="100000"/>
                        </a:lnSpc>
                        <a:spcBef>
                          <a:spcPts val="0"/>
                        </a:spcBef>
                        <a:spcAft>
                          <a:spcPts val="0"/>
                        </a:spcAft>
                      </a:pPr>
                      <a:r>
                        <a:rPr sz="1010" b="1">
                          <a:solidFill>
                            <a:srgbClr val="303845"/>
                          </a:solidFill>
                          <a:latin typeface="Calibri"/>
                        </a:rPr>
                        <a:t>ACM TOPLAS 1991</a:t>
                      </a:r>
                    </a:p>
                  </a:txBody>
                  <a:tcPr marL="64008" marR="54864" marT="32004" marB="22860" anchor="ctr">
                    <a:solidFill>
                      <a:srgbClr val="F3F5F7"/>
                    </a:solidFill>
                  </a:tcPr>
                </a:tc>
                <a:tc>
                  <a:txBody>
                    <a:bodyPr/>
                    <a:lstStyle/>
                    <a:p>
                      <a:pPr>
                        <a:lnSpc>
                          <a:spcPct val="100000"/>
                        </a:lnSpc>
                        <a:spcBef>
                          <a:spcPts val="0"/>
                        </a:spcBef>
                        <a:spcAft>
                          <a:spcPts val="0"/>
                        </a:spcAft>
                      </a:pPr>
                      <a:r>
                        <a:rPr sz="1010" b="0">
                          <a:solidFill>
                            <a:srgbClr val="303845"/>
                          </a:solidFill>
                          <a:latin typeface="Calibri"/>
                        </a:rPr>
                        <a:t>Dominance-frontier algorithm for SSA and φ-function placement.</a:t>
                      </a:r>
                    </a:p>
                  </a:txBody>
                  <a:tcPr marL="64008" marR="54864" marT="32004" marB="22860" anchor="ctr">
                    <a:solidFill>
                      <a:srgbClr val="F3F5F7"/>
                    </a:solidFill>
                  </a:tcPr>
                </a:tc>
                <a:tc>
                  <a:txBody>
                    <a:bodyPr/>
                    <a:lstStyle/>
                    <a:p>
                      <a:pPr>
                        <a:lnSpc>
                          <a:spcPct val="100000"/>
                        </a:lnSpc>
                        <a:spcBef>
                          <a:spcPts val="0"/>
                        </a:spcBef>
                        <a:spcAft>
                          <a:spcPts val="0"/>
                        </a:spcAft>
                      </a:pPr>
                      <a:r>
                        <a:rPr sz="1010" b="0">
                          <a:solidFill>
                            <a:srgbClr val="303845"/>
                          </a:solidFill>
                          <a:latin typeface="Calibri"/>
                        </a:rPr>
                        <a:t>Provides the classical SSA construction foundation.</a:t>
                      </a:r>
                    </a:p>
                  </a:txBody>
                  <a:tcPr marL="64008" marR="54864" marT="32004" marB="22860" anchor="ctr">
                    <a:solidFill>
                      <a:srgbClr val="F3F5F7"/>
                    </a:solidFill>
                  </a:tcPr>
                </a:tc>
                <a:tc>
                  <a:txBody>
                    <a:bodyPr/>
                    <a:lstStyle/>
                    <a:p>
                      <a:pPr>
                        <a:lnSpc>
                          <a:spcPct val="100000"/>
                        </a:lnSpc>
                        <a:spcBef>
                          <a:spcPts val="0"/>
                        </a:spcBef>
                        <a:spcAft>
                          <a:spcPts val="0"/>
                        </a:spcAft>
                      </a:pPr>
                      <a:r>
                        <a:rPr sz="1010" b="0">
                          <a:solidFill>
                            <a:srgbClr val="303845"/>
                          </a:solidFill>
                          <a:latin typeface="Calibri"/>
                        </a:rPr>
                        <a:t>General SSA construction; our project uses SSA for range/integrality facts.</a:t>
                      </a:r>
                    </a:p>
                  </a:txBody>
                  <a:tcPr marL="64008" marR="54864" marT="32004" marB="22860" anchor="ctr">
                    <a:solidFill>
                      <a:srgbClr val="F3F5F7"/>
                    </a:solidFill>
                  </a:tcPr>
                </a:tc>
                <a:extLst>
                  <a:ext uri="{0D108BD9-81ED-4DB2-BD59-A6C34878D82A}">
                    <a16:rowId xmlns:a16="http://schemas.microsoft.com/office/drawing/2014/main" val="10001"/>
                  </a:ext>
                </a:extLst>
              </a:tr>
              <a:tr h="667512">
                <a:tc>
                  <a:txBody>
                    <a:bodyPr/>
                    <a:lstStyle/>
                    <a:p>
                      <a:pPr>
                        <a:lnSpc>
                          <a:spcPct val="100000"/>
                        </a:lnSpc>
                        <a:spcBef>
                          <a:spcPts val="0"/>
                        </a:spcBef>
                        <a:spcAft>
                          <a:spcPts val="0"/>
                        </a:spcAft>
                      </a:pPr>
                      <a:r>
                        <a:rPr sz="1010" b="1">
                          <a:solidFill>
                            <a:srgbClr val="303845"/>
                          </a:solidFill>
                          <a:latin typeface="Calibri"/>
                        </a:rPr>
                        <a:t>Lattner &amp; Adve [10]</a:t>
                      </a:r>
                    </a:p>
                    <a:p>
                      <a:pPr>
                        <a:lnSpc>
                          <a:spcPct val="100000"/>
                        </a:lnSpc>
                        <a:spcBef>
                          <a:spcPts val="0"/>
                        </a:spcBef>
                        <a:spcAft>
                          <a:spcPts val="0"/>
                        </a:spcAft>
                      </a:pPr>
                      <a:r>
                        <a:rPr sz="1010" b="1">
                          <a:solidFill>
                            <a:srgbClr val="303845"/>
                          </a:solidFill>
                          <a:latin typeface="Calibri"/>
                        </a:rPr>
                        <a:t>CGO 2004</a:t>
                      </a:r>
                    </a:p>
                  </a:txBody>
                  <a:tcPr marL="64008" marR="54864" marT="32004" marB="22860" anchor="ctr">
                    <a:solidFill>
                      <a:srgbClr val="FFFFFF"/>
                    </a:solidFill>
                  </a:tcPr>
                </a:tc>
                <a:tc>
                  <a:txBody>
                    <a:bodyPr/>
                    <a:lstStyle/>
                    <a:p>
                      <a:pPr>
                        <a:lnSpc>
                          <a:spcPct val="100000"/>
                        </a:lnSpc>
                        <a:spcBef>
                          <a:spcPts val="0"/>
                        </a:spcBef>
                        <a:spcAft>
                          <a:spcPts val="0"/>
                        </a:spcAft>
                      </a:pPr>
                      <a:r>
                        <a:rPr sz="1010" b="0">
                          <a:solidFill>
                            <a:srgbClr val="303845"/>
                          </a:solidFill>
                          <a:latin typeface="Calibri"/>
                        </a:rPr>
                        <a:t>LLVM IR and compiler pass framework for program analysis and transformation.</a:t>
                      </a:r>
                    </a:p>
                  </a:txBody>
                  <a:tcPr marL="64008" marR="54864" marT="32004" marB="22860" anchor="ctr">
                    <a:solidFill>
                      <a:srgbClr val="FFFFFF"/>
                    </a:solidFill>
                  </a:tcPr>
                </a:tc>
                <a:tc>
                  <a:txBody>
                    <a:bodyPr/>
                    <a:lstStyle/>
                    <a:p>
                      <a:pPr>
                        <a:lnSpc>
                          <a:spcPct val="100000"/>
                        </a:lnSpc>
                        <a:spcBef>
                          <a:spcPts val="0"/>
                        </a:spcBef>
                        <a:spcAft>
                          <a:spcPts val="0"/>
                        </a:spcAft>
                      </a:pPr>
                      <a:r>
                        <a:rPr sz="1010" b="0">
                          <a:solidFill>
                            <a:srgbClr val="303845"/>
                          </a:solidFill>
                          <a:latin typeface="Calibri"/>
                        </a:rPr>
                        <a:t>Supports the design principle of explicit IR and modular passes.</a:t>
                      </a:r>
                    </a:p>
                  </a:txBody>
                  <a:tcPr marL="64008" marR="54864" marT="32004" marB="22860" anchor="ctr">
                    <a:solidFill>
                      <a:srgbClr val="FFFFFF"/>
                    </a:solidFill>
                  </a:tcPr>
                </a:tc>
                <a:tc>
                  <a:txBody>
                    <a:bodyPr/>
                    <a:lstStyle/>
                    <a:p>
                      <a:pPr>
                        <a:lnSpc>
                          <a:spcPct val="100000"/>
                        </a:lnSpc>
                        <a:spcBef>
                          <a:spcPts val="0"/>
                        </a:spcBef>
                        <a:spcAft>
                          <a:spcPts val="0"/>
                        </a:spcAft>
                      </a:pPr>
                      <a:r>
                        <a:rPr sz="1010" b="0">
                          <a:solidFill>
                            <a:srgbClr val="303845"/>
                          </a:solidFill>
                          <a:latin typeface="Calibri"/>
                        </a:rPr>
                        <a:t>Industrial compiler infrastructure is outside v1 scope.</a:t>
                      </a:r>
                    </a:p>
                  </a:txBody>
                  <a:tcPr marL="64008" marR="54864" marT="32004" marB="22860" anchor="ctr">
                    <a:solidFill>
                      <a:srgbClr val="FFFFFF"/>
                    </a:solidFill>
                  </a:tcPr>
                </a:tc>
                <a:extLst>
                  <a:ext uri="{0D108BD9-81ED-4DB2-BD59-A6C34878D82A}">
                    <a16:rowId xmlns:a16="http://schemas.microsoft.com/office/drawing/2014/main" val="10002"/>
                  </a:ext>
                </a:extLst>
              </a:tr>
              <a:tr h="667512">
                <a:tc>
                  <a:txBody>
                    <a:bodyPr/>
                    <a:lstStyle/>
                    <a:p>
                      <a:pPr>
                        <a:lnSpc>
                          <a:spcPct val="100000"/>
                        </a:lnSpc>
                        <a:spcBef>
                          <a:spcPts val="0"/>
                        </a:spcBef>
                        <a:spcAft>
                          <a:spcPts val="0"/>
                        </a:spcAft>
                      </a:pPr>
                      <a:r>
                        <a:rPr sz="1010" b="1">
                          <a:solidFill>
                            <a:srgbClr val="303845"/>
                          </a:solidFill>
                          <a:latin typeface="Calibri"/>
                        </a:rPr>
                        <a:t>Ragan-Kelley et al. [11]</a:t>
                      </a:r>
                    </a:p>
                    <a:p>
                      <a:pPr>
                        <a:lnSpc>
                          <a:spcPct val="100000"/>
                        </a:lnSpc>
                        <a:spcBef>
                          <a:spcPts val="0"/>
                        </a:spcBef>
                        <a:spcAft>
                          <a:spcPts val="0"/>
                        </a:spcAft>
                      </a:pPr>
                      <a:r>
                        <a:rPr sz="1010" b="1">
                          <a:solidFill>
                            <a:srgbClr val="303845"/>
                          </a:solidFill>
                          <a:latin typeface="Calibri"/>
                        </a:rPr>
                        <a:t>PLDI 2013</a:t>
                      </a:r>
                    </a:p>
                  </a:txBody>
                  <a:tcPr marL="64008" marR="54864" marT="32004" marB="22860" anchor="ctr">
                    <a:solidFill>
                      <a:srgbClr val="F3F5F7"/>
                    </a:solidFill>
                  </a:tcPr>
                </a:tc>
                <a:tc>
                  <a:txBody>
                    <a:bodyPr/>
                    <a:lstStyle/>
                    <a:p>
                      <a:pPr>
                        <a:lnSpc>
                          <a:spcPct val="100000"/>
                        </a:lnSpc>
                        <a:spcBef>
                          <a:spcPts val="0"/>
                        </a:spcBef>
                        <a:spcAft>
                          <a:spcPts val="0"/>
                        </a:spcAft>
                      </a:pPr>
                      <a:r>
                        <a:rPr sz="1010" b="0">
                          <a:solidFill>
                            <a:srgbClr val="303845"/>
                          </a:solidFill>
                          <a:latin typeface="Calibri"/>
                        </a:rPr>
                        <a:t>Halide separates algorithm description from scheduling for locality and parallelism.</a:t>
                      </a:r>
                    </a:p>
                  </a:txBody>
                  <a:tcPr marL="64008" marR="54864" marT="32004" marB="22860" anchor="ctr">
                    <a:solidFill>
                      <a:srgbClr val="F3F5F7"/>
                    </a:solidFill>
                  </a:tcPr>
                </a:tc>
                <a:tc>
                  <a:txBody>
                    <a:bodyPr/>
                    <a:lstStyle/>
                    <a:p>
                      <a:pPr>
                        <a:lnSpc>
                          <a:spcPct val="100000"/>
                        </a:lnSpc>
                        <a:spcBef>
                          <a:spcPts val="0"/>
                        </a:spcBef>
                        <a:spcAft>
                          <a:spcPts val="0"/>
                        </a:spcAft>
                      </a:pPr>
                      <a:r>
                        <a:rPr sz="1010" b="0">
                          <a:solidFill>
                            <a:srgbClr val="303845"/>
                          </a:solidFill>
                          <a:latin typeface="Calibri"/>
                        </a:rPr>
                        <a:t>Illustrates compiler-driven optimization under hardware constraints.</a:t>
                      </a:r>
                    </a:p>
                  </a:txBody>
                  <a:tcPr marL="64008" marR="54864" marT="32004" marB="22860" anchor="ctr">
                    <a:solidFill>
                      <a:srgbClr val="F3F5F7"/>
                    </a:solidFill>
                  </a:tcPr>
                </a:tc>
                <a:tc>
                  <a:txBody>
                    <a:bodyPr/>
                    <a:lstStyle/>
                    <a:p>
                      <a:pPr>
                        <a:lnSpc>
                          <a:spcPct val="100000"/>
                        </a:lnSpc>
                        <a:spcBef>
                          <a:spcPts val="0"/>
                        </a:spcBef>
                        <a:spcAft>
                          <a:spcPts val="0"/>
                        </a:spcAft>
                      </a:pPr>
                      <a:r>
                        <a:rPr sz="1010" b="0">
                          <a:solidFill>
                            <a:srgbClr val="303845"/>
                          </a:solidFill>
                          <a:latin typeface="Calibri"/>
                        </a:rPr>
                        <a:t>Targets image-processing pipelines and schedules, not per-value INT8 safety.</a:t>
                      </a:r>
                    </a:p>
                  </a:txBody>
                  <a:tcPr marL="64008" marR="54864" marT="32004" marB="22860" anchor="ctr">
                    <a:solidFill>
                      <a:srgbClr val="F3F5F7"/>
                    </a:solidFill>
                  </a:tcPr>
                </a:tc>
                <a:extLst>
                  <a:ext uri="{0D108BD9-81ED-4DB2-BD59-A6C34878D82A}">
                    <a16:rowId xmlns:a16="http://schemas.microsoft.com/office/drawing/2014/main" val="10003"/>
                  </a:ext>
                </a:extLst>
              </a:tr>
              <a:tr h="667512">
                <a:tc>
                  <a:txBody>
                    <a:bodyPr/>
                    <a:lstStyle/>
                    <a:p>
                      <a:pPr>
                        <a:lnSpc>
                          <a:spcPct val="100000"/>
                        </a:lnSpc>
                        <a:spcBef>
                          <a:spcPts val="0"/>
                        </a:spcBef>
                        <a:spcAft>
                          <a:spcPts val="0"/>
                        </a:spcAft>
                      </a:pPr>
                      <a:r>
                        <a:rPr sz="1010" b="1">
                          <a:solidFill>
                            <a:srgbClr val="303845"/>
                          </a:solidFill>
                          <a:latin typeface="Calibri"/>
                        </a:rPr>
                        <a:t>Chen et al. [12]</a:t>
                      </a:r>
                    </a:p>
                    <a:p>
                      <a:pPr>
                        <a:lnSpc>
                          <a:spcPct val="100000"/>
                        </a:lnSpc>
                        <a:spcBef>
                          <a:spcPts val="0"/>
                        </a:spcBef>
                        <a:spcAft>
                          <a:spcPts val="0"/>
                        </a:spcAft>
                      </a:pPr>
                      <a:r>
                        <a:rPr sz="1010" b="1">
                          <a:solidFill>
                            <a:srgbClr val="303845"/>
                          </a:solidFill>
                          <a:latin typeface="Calibri"/>
                        </a:rPr>
                        <a:t>OSDI 2018</a:t>
                      </a:r>
                    </a:p>
                  </a:txBody>
                  <a:tcPr marL="64008" marR="54864" marT="32004" marB="22860" anchor="ctr">
                    <a:solidFill>
                      <a:srgbClr val="FFFFFF"/>
                    </a:solidFill>
                  </a:tcPr>
                </a:tc>
                <a:tc>
                  <a:txBody>
                    <a:bodyPr/>
                    <a:lstStyle/>
                    <a:p>
                      <a:pPr>
                        <a:lnSpc>
                          <a:spcPct val="100000"/>
                        </a:lnSpc>
                        <a:spcBef>
                          <a:spcPts val="0"/>
                        </a:spcBef>
                        <a:spcAft>
                          <a:spcPts val="0"/>
                        </a:spcAft>
                      </a:pPr>
                      <a:r>
                        <a:rPr sz="1010" b="0">
                          <a:solidFill>
                            <a:srgbClr val="303845"/>
                          </a:solidFill>
                          <a:latin typeface="Calibri"/>
                        </a:rPr>
                        <a:t>TVM provides an end-to-end optimizing compiler for deep-learning workloads.</a:t>
                      </a:r>
                    </a:p>
                  </a:txBody>
                  <a:tcPr marL="64008" marR="54864" marT="32004" marB="22860" anchor="ctr">
                    <a:solidFill>
                      <a:srgbClr val="FFFFFF"/>
                    </a:solidFill>
                  </a:tcPr>
                </a:tc>
                <a:tc>
                  <a:txBody>
                    <a:bodyPr/>
                    <a:lstStyle/>
                    <a:p>
                      <a:pPr>
                        <a:lnSpc>
                          <a:spcPct val="100000"/>
                        </a:lnSpc>
                        <a:spcBef>
                          <a:spcPts val="0"/>
                        </a:spcBef>
                        <a:spcAft>
                          <a:spcPts val="0"/>
                        </a:spcAft>
                      </a:pPr>
                      <a:r>
                        <a:rPr sz="1010" b="0">
                          <a:solidFill>
                            <a:srgbClr val="303845"/>
                          </a:solidFill>
                          <a:latin typeface="Calibri"/>
                        </a:rPr>
                        <a:t>Demonstrates an ML compiler stack with target-aware transformations.</a:t>
                      </a:r>
                    </a:p>
                  </a:txBody>
                  <a:tcPr marL="64008" marR="54864" marT="32004" marB="22860" anchor="ctr">
                    <a:solidFill>
                      <a:srgbClr val="FFFFFF"/>
                    </a:solidFill>
                  </a:tcPr>
                </a:tc>
                <a:tc>
                  <a:txBody>
                    <a:bodyPr/>
                    <a:lstStyle/>
                    <a:p>
                      <a:pPr>
                        <a:lnSpc>
                          <a:spcPct val="100000"/>
                        </a:lnSpc>
                        <a:spcBef>
                          <a:spcPts val="0"/>
                        </a:spcBef>
                        <a:spcAft>
                          <a:spcPts val="0"/>
                        </a:spcAft>
                      </a:pPr>
                      <a:r>
                        <a:rPr sz="1010" b="0">
                          <a:solidFill>
                            <a:srgbClr val="303845"/>
                          </a:solidFill>
                          <a:latin typeface="Calibri"/>
                        </a:rPr>
                        <a:t>Optimizes model graphs/operators at a larger scale than this teaching prototype.</a:t>
                      </a:r>
                    </a:p>
                  </a:txBody>
                  <a:tcPr marL="64008" marR="54864" marT="32004" marB="22860" anchor="ctr">
                    <a:solidFill>
                      <a:srgbClr val="FFFFFF"/>
                    </a:solidFill>
                  </a:tcPr>
                </a:tc>
                <a:extLst>
                  <a:ext uri="{0D108BD9-81ED-4DB2-BD59-A6C34878D82A}">
                    <a16:rowId xmlns:a16="http://schemas.microsoft.com/office/drawing/2014/main" val="10004"/>
                  </a:ext>
                </a:extLst>
              </a:tr>
            </a:tbl>
          </a:graphicData>
        </a:graphic>
      </p:graphicFrame>
      <p:sp>
        <p:nvSpPr>
          <p:cNvPr id="7" name="Rectangle 6"/>
          <p:cNvSpPr/>
          <p:nvPr/>
        </p:nvSpPr>
        <p:spPr>
          <a:xfrm>
            <a:off x="502920" y="5138928"/>
            <a:ext cx="11155680" cy="713232"/>
          </a:xfrm>
          <a:prstGeom prst="rect">
            <a:avLst/>
          </a:prstGeom>
          <a:solidFill>
            <a:srgbClr val="E9F1F3"/>
          </a:solidFill>
          <a:ln w="1016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5285232"/>
            <a:ext cx="1051560" cy="228600"/>
          </a:xfrm>
          <a:prstGeom prst="rect">
            <a:avLst/>
          </a:prstGeom>
          <a:noFill/>
        </p:spPr>
        <p:txBody>
          <a:bodyPr wrap="square" lIns="0" tIns="0" rIns="0" bIns="0" anchor="t">
            <a:spAutoFit/>
          </a:bodyPr>
          <a:lstStyle/>
          <a:p>
            <a:pPr algn="l">
              <a:lnSpc>
                <a:spcPct val="100000"/>
              </a:lnSpc>
              <a:spcBef>
                <a:spcPts val="0"/>
              </a:spcBef>
              <a:spcAft>
                <a:spcPts val="0"/>
              </a:spcAft>
            </a:pPr>
            <a:r>
              <a:rPr sz="1200" b="1" i="0">
                <a:solidFill>
                  <a:srgbClr val="2E6E7E"/>
                </a:solidFill>
                <a:latin typeface="Calibri"/>
              </a:rPr>
              <a:t>Synthesis</a:t>
            </a:r>
          </a:p>
        </p:txBody>
      </p:sp>
      <p:sp>
        <p:nvSpPr>
          <p:cNvPr id="9" name="TextBox 8"/>
          <p:cNvSpPr txBox="1"/>
          <p:nvPr/>
        </p:nvSpPr>
        <p:spPr>
          <a:xfrm>
            <a:off x="1783080" y="5239512"/>
            <a:ext cx="9555480" cy="411480"/>
          </a:xfrm>
          <a:prstGeom prst="rect">
            <a:avLst/>
          </a:prstGeom>
          <a:noFill/>
        </p:spPr>
        <p:txBody>
          <a:bodyPr wrap="square" lIns="0" tIns="0" rIns="0" bIns="0" anchor="t">
            <a:spAutoFit/>
          </a:bodyPr>
          <a:lstStyle/>
          <a:p>
            <a:pPr algn="l">
              <a:lnSpc>
                <a:spcPct val="100000"/>
              </a:lnSpc>
              <a:spcBef>
                <a:spcPts val="0"/>
              </a:spcBef>
              <a:spcAft>
                <a:spcPts val="0"/>
              </a:spcAft>
            </a:pPr>
            <a:r>
              <a:rPr sz="1100" b="0" i="0">
                <a:solidFill>
                  <a:srgbClr val="303845"/>
                </a:solidFill>
                <a:latin typeface="Calibri"/>
              </a:rPr>
              <a:t>Together, references [1]–[12] motivate edge-efficient numerical representations and establish the compiler/analysis foundations; this project combines them in a compact, inspectable pipeline.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marL="0" indent="0">
              <a:buNone/>
            </a:pPr>
            <a:r>
              <a:rPr lang="en-US" sz="1100" b="1" kern="0" spc="200" dirty="0">
                <a:solidFill>
                  <a:srgbClr val="2E6E7E"/>
                </a:solidFill>
                <a:latin typeface="Calibri" pitchFamily="34" charset="0"/>
                <a:ea typeface="Calibri" pitchFamily="34" charset="-122"/>
                <a:cs typeface="Calibri" pitchFamily="34" charset="-120"/>
              </a:rPr>
              <a:t>POSITIONING</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marL="0" indent="0">
              <a:buNone/>
            </a:pPr>
            <a:r>
              <a:rPr lang="en-US" sz="2900" b="1" dirty="0">
                <a:solidFill>
                  <a:srgbClr val="1F2A3C"/>
                </a:solidFill>
                <a:latin typeface="Cambria" pitchFamily="34" charset="0"/>
                <a:ea typeface="Cambria" pitchFamily="34" charset="-122"/>
                <a:cs typeface="Cambria" pitchFamily="34" charset="-120"/>
              </a:rPr>
              <a:t>Where This Project Fits</a:t>
            </a:r>
            <a:endParaRPr lang="en-US" sz="2900" dirty="0"/>
          </a:p>
        </p:txBody>
      </p:sp>
      <p:sp>
        <p:nvSpPr>
          <p:cNvPr id="4" name="Text 2"/>
          <p:cNvSpPr txBox="1"/>
          <p:nvPr/>
        </p:nvSpPr>
        <p:spPr>
          <a:xfrm>
            <a:off x="548640" y="1828800"/>
            <a:ext cx="5029200" cy="3017520"/>
          </a:xfrm>
          <a:prstGeom prst="rect">
            <a:avLst/>
          </a:prstGeom>
          <a:noFill/>
          <a:ln/>
        </p:spPr>
        <p:txBody>
          <a:bodyPr wrap="square" rtlCol="0" anchor="t"/>
          <a:lstStyle/>
          <a:p>
            <a:pPr marL="0" indent="0" algn="l">
              <a:lnSpc>
                <a:spcPct val="125000"/>
              </a:lnSpc>
              <a:buNone/>
            </a:pPr>
            <a:r>
              <a:rPr lang="en-US" sz="1300" dirty="0">
                <a:solidFill>
                  <a:srgbClr val="23262B"/>
                </a:solidFill>
                <a:latin typeface="Calibri" pitchFamily="34" charset="0"/>
                <a:ea typeface="Calibri" pitchFamily="34" charset="-122"/>
                <a:cs typeface="Calibri" pitchFamily="34" charset="-120"/>
              </a:rPr>
              <a:t>Existing industrial and research systems for quantization typically operate at a substantially larger model, compiler, or framework scale (e.g. whole deep-learning compilers or training frameworks).</a:t>
            </a:r>
            <a:endParaRPr lang="en-US" sz="1300" dirty="0"/>
          </a:p>
          <a:p>
            <a:pPr marL="0" indent="0" algn="l">
              <a:lnSpc>
                <a:spcPct val="125000"/>
              </a:lnSpc>
              <a:buNone/>
            </a:pPr>
            <a:endParaRPr lang="en-US" sz="1300" dirty="0"/>
          </a:p>
          <a:p>
            <a:pPr marL="0" indent="0" algn="l">
              <a:lnSpc>
                <a:spcPct val="125000"/>
              </a:lnSpc>
              <a:buNone/>
            </a:pPr>
            <a:r>
              <a:rPr lang="en-US" sz="1300" dirty="0">
                <a:solidFill>
                  <a:srgbClr val="23262B"/>
                </a:solidFill>
                <a:latin typeface="Calibri" pitchFamily="34" charset="0"/>
                <a:ea typeface="Calibri" pitchFamily="34" charset="-122"/>
                <a:cs typeface="Calibri" pitchFamily="34" charset="-120"/>
              </a:rPr>
              <a:t>This project instead focuses on a small, explainable compiler pipeline in which every quantization decision is directly justified by SSA structure, static range analysis, and integrality checking — making the underlying optimization principle easy to inspect and verify.</a:t>
            </a:r>
            <a:endParaRPr lang="en-US" sz="1300" dirty="0"/>
          </a:p>
        </p:txBody>
      </p:sp>
      <p:sp>
        <p:nvSpPr>
          <p:cNvPr id="5" name="Shape 3"/>
          <p:cNvSpPr/>
          <p:nvPr/>
        </p:nvSpPr>
        <p:spPr>
          <a:xfrm>
            <a:off x="6126480" y="1965960"/>
            <a:ext cx="5394960" cy="960120"/>
          </a:xfrm>
          <a:prstGeom prst="rect">
            <a:avLst/>
          </a:prstGeom>
          <a:solidFill>
            <a:srgbClr val="F4F6F8"/>
          </a:solidFill>
          <a:ln w="12700">
            <a:solidFill>
              <a:srgbClr val="1F2A3C"/>
            </a:solidFill>
            <a:prstDash val="solid"/>
          </a:ln>
        </p:spPr>
        <p:txBody>
          <a:bodyPr/>
          <a:lstStyle/>
          <a:p>
            <a:endParaRPr/>
          </a:p>
        </p:txBody>
      </p:sp>
      <p:sp>
        <p:nvSpPr>
          <p:cNvPr id="6" name="Text 4"/>
          <p:cNvSpPr txBox="1"/>
          <p:nvPr/>
        </p:nvSpPr>
        <p:spPr>
          <a:xfrm>
            <a:off x="6153912" y="1965960"/>
            <a:ext cx="5340096" cy="960120"/>
          </a:xfrm>
          <a:prstGeom prst="rect">
            <a:avLst/>
          </a:prstGeom>
          <a:noFill/>
          <a:ln/>
        </p:spPr>
        <p:txBody>
          <a:bodyPr wrap="square" lIns="0" tIns="0" rIns="0" bIns="0" rtlCol="0" anchor="ctr"/>
          <a:lstStyle/>
          <a:p>
            <a:pPr marL="0" indent="0" algn="ctr">
              <a:buNone/>
            </a:pPr>
            <a:r>
              <a:rPr lang="en-US" sz="1250" b="1" dirty="0">
                <a:solidFill>
                  <a:srgbClr val="1F2A3C"/>
                </a:solidFill>
                <a:latin typeface="Calibri" pitchFamily="34" charset="0"/>
                <a:ea typeface="Calibri" pitchFamily="34" charset="-122"/>
                <a:cs typeface="Calibri" pitchFamily="34" charset="-120"/>
              </a:rPr>
              <a:t>Existing Systems</a:t>
            </a:r>
            <a:endParaRPr lang="en-US" sz="1250" dirty="0"/>
          </a:p>
          <a:p>
            <a:pPr marL="0" indent="0" algn="ctr">
              <a:buNone/>
            </a:pPr>
            <a:r>
              <a:rPr lang="en-US" sz="1250" b="1" dirty="0">
                <a:solidFill>
                  <a:srgbClr val="1F2A3C"/>
                </a:solidFill>
                <a:latin typeface="Calibri" pitchFamily="34" charset="0"/>
                <a:ea typeface="Calibri" pitchFamily="34" charset="-122"/>
                <a:cs typeface="Calibri" pitchFamily="34" charset="-120"/>
              </a:rPr>
              <a:t>Framework / Model / Compiler Scale</a:t>
            </a:r>
            <a:endParaRPr lang="en-US" sz="1250" dirty="0"/>
          </a:p>
        </p:txBody>
      </p:sp>
      <p:sp>
        <p:nvSpPr>
          <p:cNvPr id="7" name="Shape 5"/>
          <p:cNvSpPr/>
          <p:nvPr/>
        </p:nvSpPr>
        <p:spPr>
          <a:xfrm>
            <a:off x="8823960" y="2926080"/>
            <a:ext cx="0" cy="502920"/>
          </a:xfrm>
          <a:prstGeom prst="line">
            <a:avLst/>
          </a:prstGeom>
          <a:noFill/>
          <a:ln w="19050">
            <a:solidFill>
              <a:srgbClr val="6B7480"/>
            </a:solidFill>
            <a:prstDash val="solid"/>
            <a:tailEnd type="triangle"/>
          </a:ln>
        </p:spPr>
        <p:txBody>
          <a:bodyPr/>
          <a:lstStyle/>
          <a:p>
            <a:endParaRPr/>
          </a:p>
        </p:txBody>
      </p:sp>
      <p:sp>
        <p:nvSpPr>
          <p:cNvPr id="8" name="Shape 6"/>
          <p:cNvSpPr/>
          <p:nvPr/>
        </p:nvSpPr>
        <p:spPr>
          <a:xfrm>
            <a:off x="6126480" y="3429000"/>
            <a:ext cx="5394960" cy="1691640"/>
          </a:xfrm>
          <a:prstGeom prst="rect">
            <a:avLst/>
          </a:prstGeom>
          <a:solidFill>
            <a:srgbClr val="E4EEF0"/>
          </a:solidFill>
          <a:ln w="19050">
            <a:solidFill>
              <a:srgbClr val="2E6E7E"/>
            </a:solidFill>
            <a:prstDash val="solid"/>
          </a:ln>
        </p:spPr>
        <p:txBody>
          <a:bodyPr/>
          <a:lstStyle/>
          <a:p>
            <a:endParaRPr/>
          </a:p>
        </p:txBody>
      </p:sp>
      <p:sp>
        <p:nvSpPr>
          <p:cNvPr id="9" name="Text 7"/>
          <p:cNvSpPr txBox="1"/>
          <p:nvPr/>
        </p:nvSpPr>
        <p:spPr>
          <a:xfrm>
            <a:off x="6400800" y="3566160"/>
            <a:ext cx="4846320" cy="365760"/>
          </a:xfrm>
          <a:prstGeom prst="rect">
            <a:avLst/>
          </a:prstGeom>
          <a:noFill/>
          <a:ln/>
        </p:spPr>
        <p:txBody>
          <a:bodyPr wrap="square" rtlCol="0" anchor="t"/>
          <a:lstStyle/>
          <a:p>
            <a:pPr marL="0" indent="0" algn="ctr">
              <a:buNone/>
            </a:pPr>
            <a:r>
              <a:rPr lang="en-US" sz="1400" b="1" dirty="0">
                <a:solidFill>
                  <a:srgbClr val="2E6E7E"/>
                </a:solidFill>
                <a:latin typeface="Calibri" pitchFamily="34" charset="0"/>
                <a:ea typeface="Calibri" pitchFamily="34" charset="-122"/>
                <a:cs typeface="Calibri" pitchFamily="34" charset="-120"/>
              </a:rPr>
              <a:t>PROPOSED FOCUS</a:t>
            </a:r>
            <a:endParaRPr lang="en-US" sz="1400" dirty="0"/>
          </a:p>
        </p:txBody>
      </p:sp>
      <p:sp>
        <p:nvSpPr>
          <p:cNvPr id="10" name="Text 8"/>
          <p:cNvSpPr txBox="1"/>
          <p:nvPr/>
        </p:nvSpPr>
        <p:spPr>
          <a:xfrm>
            <a:off x="6400800" y="3931920"/>
            <a:ext cx="4846320" cy="1097280"/>
          </a:xfrm>
          <a:prstGeom prst="rect">
            <a:avLst/>
          </a:prstGeom>
          <a:noFill/>
          <a:ln/>
        </p:spPr>
        <p:txBody>
          <a:bodyPr wrap="square" rtlCol="0" anchor="ctr"/>
          <a:lstStyle/>
          <a:p>
            <a:pPr marL="0" indent="0" algn="ctr">
              <a:lnSpc>
                <a:spcPct val="130000"/>
              </a:lnSpc>
              <a:buNone/>
            </a:pPr>
            <a:r>
              <a:rPr lang="en-US" sz="1250" b="1" dirty="0">
                <a:solidFill>
                  <a:srgbClr val="1F2A3C"/>
                </a:solidFill>
                <a:latin typeface="Calibri" pitchFamily="34" charset="0"/>
                <a:ea typeface="Calibri" pitchFamily="34" charset="-122"/>
                <a:cs typeface="Calibri" pitchFamily="34" charset="-120"/>
              </a:rPr>
              <a:t>SSA  +  Range &amp; Integrality Analysis  +  INT8 Safety Checking</a:t>
            </a:r>
            <a:endParaRPr lang="en-US" sz="1250" dirty="0"/>
          </a:p>
        </p:txBody>
      </p:sp>
      <p:sp>
        <p:nvSpPr>
          <p:cNvPr id="11" name="Text 9"/>
          <p:cNvSpPr txBox="1"/>
          <p:nvPr/>
        </p:nvSpPr>
        <p:spPr>
          <a:xfrm>
            <a:off x="6126480" y="5257800"/>
            <a:ext cx="5394960" cy="457200"/>
          </a:xfrm>
          <a:prstGeom prst="rect">
            <a:avLst/>
          </a:prstGeom>
          <a:noFill/>
          <a:ln/>
        </p:spPr>
        <p:txBody>
          <a:bodyPr wrap="square" rtlCol="0" anchor="t"/>
          <a:lstStyle/>
          <a:p>
            <a:pPr marL="0" indent="0" algn="ctr">
              <a:buNone/>
            </a:pPr>
            <a:r>
              <a:rPr lang="en-US" sz="1050" i="1" dirty="0">
                <a:solidFill>
                  <a:srgbClr val="6B7480"/>
                </a:solidFill>
                <a:latin typeface="Calibri" pitchFamily="34" charset="0"/>
                <a:ea typeface="Calibri" pitchFamily="34" charset="-122"/>
                <a:cs typeface="Calibri" pitchFamily="34" charset="-120"/>
              </a:rPr>
              <a:t>Explainable compiler IR + static safety analysis + safe precision reduction</a:t>
            </a:r>
            <a:endParaRPr lang="en-US" sz="1050" dirty="0"/>
          </a:p>
        </p:txBody>
      </p:sp>
      <p:sp>
        <p:nvSpPr>
          <p:cNvPr id="12" name="Text 10"/>
          <p:cNvSpPr txBox="1"/>
          <p:nvPr/>
        </p:nvSpPr>
        <p:spPr>
          <a:xfrm>
            <a:off x="502920" y="6492240"/>
            <a:ext cx="9601200" cy="237744"/>
          </a:xfrm>
          <a:prstGeom prst="rect">
            <a:avLst/>
          </a:prstGeom>
          <a:noFill/>
          <a:ln/>
        </p:spPr>
        <p:txBody>
          <a:bodyPr wrap="square" rtlCol="0" anchor="ctr"/>
          <a:lstStyle/>
          <a:p>
            <a:pPr marL="0" indent="0">
              <a:buNone/>
            </a:pPr>
            <a:r>
              <a:rPr lang="en-US" sz="800" dirty="0">
                <a:solidFill>
                  <a:srgbClr val="9AA3AF"/>
                </a:solidFill>
                <a:latin typeface="Calibri" pitchFamily="34" charset="0"/>
                <a:ea typeface="Calibri" pitchFamily="34" charset="-122"/>
                <a:cs typeface="Calibri" pitchFamily="34" charset="-120"/>
              </a:rPr>
              <a:t>BCSE307L — Compiler Design   |   Range-Aware Edge AI Quantization Compiler</a:t>
            </a:r>
            <a:endParaRPr lang="en-US" sz="800" dirty="0"/>
          </a:p>
        </p:txBody>
      </p:sp>
      <p:sp>
        <p:nvSpPr>
          <p:cNvPr id="13" name="Text 11"/>
          <p:cNvSpPr txBox="1"/>
          <p:nvPr/>
        </p:nvSpPr>
        <p:spPr>
          <a:xfrm>
            <a:off x="11247120" y="6492240"/>
            <a:ext cx="457200" cy="237744"/>
          </a:xfrm>
          <a:prstGeom prst="rect">
            <a:avLst/>
          </a:prstGeom>
          <a:noFill/>
          <a:ln/>
        </p:spPr>
        <p:txBody>
          <a:bodyPr wrap="square" rtlCol="0" anchor="ctr"/>
          <a:lstStyle/>
          <a:p>
            <a:pPr algn="r"/>
            <a:r>
              <a:rPr sz="850">
                <a:solidFill>
                  <a:srgbClr val="8A919A"/>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marL="0" indent="0">
              <a:buNone/>
            </a:pPr>
            <a:r>
              <a:rPr lang="en-US" sz="1100" b="1" kern="0" spc="200" dirty="0">
                <a:solidFill>
                  <a:srgbClr val="2E6E7E"/>
                </a:solidFill>
                <a:latin typeface="Calibri" pitchFamily="34" charset="0"/>
                <a:ea typeface="Calibri" pitchFamily="34" charset="-122"/>
                <a:cs typeface="Calibri" pitchFamily="34" charset="-120"/>
              </a:rPr>
              <a:t>METHODOLOGY</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marL="0" indent="0">
              <a:buNone/>
            </a:pPr>
            <a:r>
              <a:rPr lang="en-US" sz="2900" b="1" dirty="0">
                <a:solidFill>
                  <a:srgbClr val="1F2A3C"/>
                </a:solidFill>
                <a:latin typeface="Cambria" pitchFamily="34" charset="0"/>
                <a:ea typeface="Cambria" pitchFamily="34" charset="-122"/>
                <a:cs typeface="Cambria" pitchFamily="34" charset="-120"/>
              </a:rPr>
              <a:t>Compiler Pipeline Architecture</a:t>
            </a:r>
            <a:endParaRPr lang="en-US" sz="2900" dirty="0"/>
          </a:p>
        </p:txBody>
      </p:sp>
      <p:sp>
        <p:nvSpPr>
          <p:cNvPr id="4" name="Shape 2"/>
          <p:cNvSpPr/>
          <p:nvPr/>
        </p:nvSpPr>
        <p:spPr>
          <a:xfrm>
            <a:off x="457200" y="1965960"/>
            <a:ext cx="1472184" cy="868680"/>
          </a:xfrm>
          <a:prstGeom prst="rect">
            <a:avLst/>
          </a:prstGeom>
          <a:solidFill>
            <a:srgbClr val="FFFFFF"/>
          </a:solidFill>
          <a:ln w="12700">
            <a:solidFill>
              <a:srgbClr val="1F2A3C"/>
            </a:solidFill>
            <a:prstDash val="solid"/>
          </a:ln>
        </p:spPr>
        <p:txBody>
          <a:bodyPr/>
          <a:lstStyle/>
          <a:p>
            <a:endParaRPr/>
          </a:p>
        </p:txBody>
      </p:sp>
      <p:sp>
        <p:nvSpPr>
          <p:cNvPr id="5" name="Text 3"/>
          <p:cNvSpPr txBox="1"/>
          <p:nvPr/>
        </p:nvSpPr>
        <p:spPr>
          <a:xfrm>
            <a:off x="484632" y="1965960"/>
            <a:ext cx="1417320" cy="868680"/>
          </a:xfrm>
          <a:prstGeom prst="rect">
            <a:avLst/>
          </a:prstGeom>
          <a:noFill/>
          <a:ln/>
        </p:spPr>
        <p:txBody>
          <a:bodyPr wrap="square" lIns="0" tIns="0" rIns="0" bIns="0" rtlCol="0" anchor="ctr"/>
          <a:lstStyle/>
          <a:p>
            <a:pPr marL="0" indent="0" algn="ctr">
              <a:buNone/>
            </a:pPr>
            <a:r>
              <a:rPr lang="en-US" sz="950" b="1" dirty="0">
                <a:solidFill>
                  <a:srgbClr val="1F2A3C"/>
                </a:solidFill>
                <a:latin typeface="Calibri" pitchFamily="34" charset="0"/>
                <a:ea typeface="Calibri" pitchFamily="34" charset="-122"/>
                <a:cs typeface="Calibri" pitchFamily="34" charset="-120"/>
              </a:rPr>
              <a:t>Source</a:t>
            </a:r>
            <a:endParaRPr lang="en-US" sz="950" dirty="0"/>
          </a:p>
          <a:p>
            <a:pPr marL="0" indent="0" algn="ctr">
              <a:buNone/>
            </a:pPr>
            <a:r>
              <a:rPr lang="en-US" sz="950" b="1" dirty="0">
                <a:solidFill>
                  <a:srgbClr val="1F2A3C"/>
                </a:solidFill>
                <a:latin typeface="Calibri" pitchFamily="34" charset="0"/>
                <a:ea typeface="Calibri" pitchFamily="34" charset="-122"/>
                <a:cs typeface="Calibri" pitchFamily="34" charset="-120"/>
              </a:rPr>
              <a:t>Program</a:t>
            </a:r>
            <a:endParaRPr lang="en-US" sz="950" dirty="0"/>
          </a:p>
        </p:txBody>
      </p:sp>
      <p:sp>
        <p:nvSpPr>
          <p:cNvPr id="6" name="Shape 4"/>
          <p:cNvSpPr/>
          <p:nvPr/>
        </p:nvSpPr>
        <p:spPr>
          <a:xfrm>
            <a:off x="1929384" y="2400300"/>
            <a:ext cx="164592" cy="0"/>
          </a:xfrm>
          <a:prstGeom prst="line">
            <a:avLst/>
          </a:prstGeom>
          <a:noFill/>
          <a:ln w="13970">
            <a:solidFill>
              <a:srgbClr val="6B7480"/>
            </a:solidFill>
            <a:prstDash val="solid"/>
            <a:tailEnd type="triangle"/>
          </a:ln>
        </p:spPr>
        <p:txBody>
          <a:bodyPr/>
          <a:lstStyle/>
          <a:p>
            <a:endParaRPr/>
          </a:p>
        </p:txBody>
      </p:sp>
      <p:sp>
        <p:nvSpPr>
          <p:cNvPr id="7" name="Shape 5"/>
          <p:cNvSpPr/>
          <p:nvPr/>
        </p:nvSpPr>
        <p:spPr>
          <a:xfrm>
            <a:off x="2093976" y="1965960"/>
            <a:ext cx="1472184" cy="868680"/>
          </a:xfrm>
          <a:prstGeom prst="rect">
            <a:avLst/>
          </a:prstGeom>
          <a:solidFill>
            <a:srgbClr val="FFFFFF"/>
          </a:solidFill>
          <a:ln w="12700">
            <a:solidFill>
              <a:srgbClr val="1F2A3C"/>
            </a:solidFill>
            <a:prstDash val="solid"/>
          </a:ln>
        </p:spPr>
        <p:txBody>
          <a:bodyPr/>
          <a:lstStyle/>
          <a:p>
            <a:endParaRPr/>
          </a:p>
        </p:txBody>
      </p:sp>
      <p:sp>
        <p:nvSpPr>
          <p:cNvPr id="8" name="Text 6"/>
          <p:cNvSpPr txBox="1"/>
          <p:nvPr/>
        </p:nvSpPr>
        <p:spPr>
          <a:xfrm>
            <a:off x="2121408" y="1965960"/>
            <a:ext cx="1417320" cy="868680"/>
          </a:xfrm>
          <a:prstGeom prst="rect">
            <a:avLst/>
          </a:prstGeom>
          <a:noFill/>
          <a:ln/>
        </p:spPr>
        <p:txBody>
          <a:bodyPr wrap="square" lIns="0" tIns="0" rIns="0" bIns="0" rtlCol="0" anchor="ctr"/>
          <a:lstStyle/>
          <a:p>
            <a:pPr marL="0" indent="0" algn="ctr">
              <a:buNone/>
            </a:pPr>
            <a:r>
              <a:rPr lang="en-US" sz="950" b="1" dirty="0">
                <a:solidFill>
                  <a:srgbClr val="1F2A3C"/>
                </a:solidFill>
                <a:latin typeface="Calibri" pitchFamily="34" charset="0"/>
                <a:ea typeface="Calibri" pitchFamily="34" charset="-122"/>
                <a:cs typeface="Calibri" pitchFamily="34" charset="-120"/>
              </a:rPr>
              <a:t>Lexer</a:t>
            </a:r>
            <a:endParaRPr lang="en-US" sz="950" dirty="0"/>
          </a:p>
        </p:txBody>
      </p:sp>
      <p:sp>
        <p:nvSpPr>
          <p:cNvPr id="9" name="Shape 7"/>
          <p:cNvSpPr/>
          <p:nvPr/>
        </p:nvSpPr>
        <p:spPr>
          <a:xfrm>
            <a:off x="3566160" y="2400300"/>
            <a:ext cx="164592" cy="0"/>
          </a:xfrm>
          <a:prstGeom prst="line">
            <a:avLst/>
          </a:prstGeom>
          <a:noFill/>
          <a:ln w="13970">
            <a:solidFill>
              <a:srgbClr val="6B7480"/>
            </a:solidFill>
            <a:prstDash val="solid"/>
            <a:tailEnd type="triangle"/>
          </a:ln>
        </p:spPr>
        <p:txBody>
          <a:bodyPr/>
          <a:lstStyle/>
          <a:p>
            <a:endParaRPr/>
          </a:p>
        </p:txBody>
      </p:sp>
      <p:sp>
        <p:nvSpPr>
          <p:cNvPr id="10" name="Shape 8"/>
          <p:cNvSpPr/>
          <p:nvPr/>
        </p:nvSpPr>
        <p:spPr>
          <a:xfrm>
            <a:off x="3730752" y="1965960"/>
            <a:ext cx="1472184" cy="868680"/>
          </a:xfrm>
          <a:prstGeom prst="rect">
            <a:avLst/>
          </a:prstGeom>
          <a:solidFill>
            <a:srgbClr val="FFFFFF"/>
          </a:solidFill>
          <a:ln w="12700">
            <a:solidFill>
              <a:srgbClr val="1F2A3C"/>
            </a:solidFill>
            <a:prstDash val="solid"/>
          </a:ln>
        </p:spPr>
        <p:txBody>
          <a:bodyPr/>
          <a:lstStyle/>
          <a:p>
            <a:endParaRPr/>
          </a:p>
        </p:txBody>
      </p:sp>
      <p:sp>
        <p:nvSpPr>
          <p:cNvPr id="11" name="Text 9"/>
          <p:cNvSpPr txBox="1"/>
          <p:nvPr/>
        </p:nvSpPr>
        <p:spPr>
          <a:xfrm>
            <a:off x="3758184" y="1965960"/>
            <a:ext cx="1417320" cy="868680"/>
          </a:xfrm>
          <a:prstGeom prst="rect">
            <a:avLst/>
          </a:prstGeom>
          <a:noFill/>
          <a:ln/>
        </p:spPr>
        <p:txBody>
          <a:bodyPr wrap="square" lIns="0" tIns="0" rIns="0" bIns="0" rtlCol="0" anchor="ctr"/>
          <a:lstStyle/>
          <a:p>
            <a:pPr marL="0" indent="0" algn="ctr">
              <a:buNone/>
            </a:pPr>
            <a:r>
              <a:rPr lang="en-US" sz="950" b="1" dirty="0">
                <a:solidFill>
                  <a:srgbClr val="1F2A3C"/>
                </a:solidFill>
                <a:latin typeface="Calibri" pitchFamily="34" charset="0"/>
                <a:ea typeface="Calibri" pitchFamily="34" charset="-122"/>
                <a:cs typeface="Calibri" pitchFamily="34" charset="-120"/>
              </a:rPr>
              <a:t>Parser</a:t>
            </a:r>
            <a:endParaRPr lang="en-US" sz="950" dirty="0"/>
          </a:p>
        </p:txBody>
      </p:sp>
      <p:sp>
        <p:nvSpPr>
          <p:cNvPr id="12" name="Shape 10"/>
          <p:cNvSpPr/>
          <p:nvPr/>
        </p:nvSpPr>
        <p:spPr>
          <a:xfrm>
            <a:off x="5202936" y="2400300"/>
            <a:ext cx="164592" cy="0"/>
          </a:xfrm>
          <a:prstGeom prst="line">
            <a:avLst/>
          </a:prstGeom>
          <a:noFill/>
          <a:ln w="13970">
            <a:solidFill>
              <a:srgbClr val="6B7480"/>
            </a:solidFill>
            <a:prstDash val="solid"/>
            <a:tailEnd type="triangle"/>
          </a:ln>
        </p:spPr>
        <p:txBody>
          <a:bodyPr/>
          <a:lstStyle/>
          <a:p>
            <a:endParaRPr/>
          </a:p>
        </p:txBody>
      </p:sp>
      <p:sp>
        <p:nvSpPr>
          <p:cNvPr id="13" name="Shape 11"/>
          <p:cNvSpPr/>
          <p:nvPr/>
        </p:nvSpPr>
        <p:spPr>
          <a:xfrm>
            <a:off x="5367528" y="1965960"/>
            <a:ext cx="1472184" cy="868680"/>
          </a:xfrm>
          <a:prstGeom prst="rect">
            <a:avLst/>
          </a:prstGeom>
          <a:solidFill>
            <a:srgbClr val="FFFFFF"/>
          </a:solidFill>
          <a:ln w="12700">
            <a:solidFill>
              <a:srgbClr val="1F2A3C"/>
            </a:solidFill>
            <a:prstDash val="solid"/>
          </a:ln>
        </p:spPr>
        <p:txBody>
          <a:bodyPr/>
          <a:lstStyle/>
          <a:p>
            <a:endParaRPr/>
          </a:p>
        </p:txBody>
      </p:sp>
      <p:sp>
        <p:nvSpPr>
          <p:cNvPr id="14" name="Text 12"/>
          <p:cNvSpPr txBox="1"/>
          <p:nvPr/>
        </p:nvSpPr>
        <p:spPr>
          <a:xfrm>
            <a:off x="5394960" y="1965960"/>
            <a:ext cx="1417320" cy="868680"/>
          </a:xfrm>
          <a:prstGeom prst="rect">
            <a:avLst/>
          </a:prstGeom>
          <a:noFill/>
          <a:ln/>
        </p:spPr>
        <p:txBody>
          <a:bodyPr wrap="square" lIns="0" tIns="0" rIns="0" bIns="0" rtlCol="0" anchor="ctr"/>
          <a:lstStyle/>
          <a:p>
            <a:pPr marL="0" indent="0" algn="ctr">
              <a:buNone/>
            </a:pPr>
            <a:r>
              <a:rPr lang="en-US" sz="950" b="1" dirty="0">
                <a:solidFill>
                  <a:srgbClr val="1F2A3C"/>
                </a:solidFill>
                <a:latin typeface="Calibri" pitchFamily="34" charset="0"/>
                <a:ea typeface="Calibri" pitchFamily="34" charset="-122"/>
                <a:cs typeface="Calibri" pitchFamily="34" charset="-120"/>
              </a:rPr>
              <a:t>AST</a:t>
            </a:r>
            <a:endParaRPr lang="en-US" sz="950" dirty="0"/>
          </a:p>
        </p:txBody>
      </p:sp>
      <p:sp>
        <p:nvSpPr>
          <p:cNvPr id="15" name="Shape 13"/>
          <p:cNvSpPr/>
          <p:nvPr/>
        </p:nvSpPr>
        <p:spPr>
          <a:xfrm>
            <a:off x="6839712" y="2400300"/>
            <a:ext cx="164592" cy="0"/>
          </a:xfrm>
          <a:prstGeom prst="line">
            <a:avLst/>
          </a:prstGeom>
          <a:noFill/>
          <a:ln w="13970">
            <a:solidFill>
              <a:srgbClr val="6B7480"/>
            </a:solidFill>
            <a:prstDash val="solid"/>
            <a:tailEnd type="triangle"/>
          </a:ln>
        </p:spPr>
        <p:txBody>
          <a:bodyPr/>
          <a:lstStyle/>
          <a:p>
            <a:endParaRPr/>
          </a:p>
        </p:txBody>
      </p:sp>
      <p:sp>
        <p:nvSpPr>
          <p:cNvPr id="16" name="Shape 14"/>
          <p:cNvSpPr/>
          <p:nvPr/>
        </p:nvSpPr>
        <p:spPr>
          <a:xfrm>
            <a:off x="7004304" y="1965960"/>
            <a:ext cx="1472184" cy="868680"/>
          </a:xfrm>
          <a:prstGeom prst="rect">
            <a:avLst/>
          </a:prstGeom>
          <a:solidFill>
            <a:srgbClr val="FFFFFF"/>
          </a:solidFill>
          <a:ln w="12700">
            <a:solidFill>
              <a:srgbClr val="1F2A3C"/>
            </a:solidFill>
            <a:prstDash val="solid"/>
          </a:ln>
        </p:spPr>
        <p:txBody>
          <a:bodyPr/>
          <a:lstStyle/>
          <a:p>
            <a:endParaRPr/>
          </a:p>
        </p:txBody>
      </p:sp>
      <p:sp>
        <p:nvSpPr>
          <p:cNvPr id="17" name="Text 15"/>
          <p:cNvSpPr txBox="1"/>
          <p:nvPr/>
        </p:nvSpPr>
        <p:spPr>
          <a:xfrm>
            <a:off x="7031736" y="1965960"/>
            <a:ext cx="1417320" cy="868680"/>
          </a:xfrm>
          <a:prstGeom prst="rect">
            <a:avLst/>
          </a:prstGeom>
          <a:noFill/>
          <a:ln/>
        </p:spPr>
        <p:txBody>
          <a:bodyPr wrap="square" lIns="0" tIns="0" rIns="0" bIns="0" rtlCol="0" anchor="ctr"/>
          <a:lstStyle/>
          <a:p>
            <a:pPr marL="0" indent="0" algn="ctr">
              <a:buNone/>
            </a:pPr>
            <a:r>
              <a:rPr lang="en-US" sz="950" b="1" dirty="0">
                <a:solidFill>
                  <a:srgbClr val="1F2A3C"/>
                </a:solidFill>
                <a:latin typeface="Calibri" pitchFamily="34" charset="0"/>
                <a:ea typeface="Calibri" pitchFamily="34" charset="-122"/>
                <a:cs typeface="Calibri" pitchFamily="34" charset="-120"/>
              </a:rPr>
              <a:t>Semantic</a:t>
            </a:r>
            <a:endParaRPr lang="en-US" sz="950" dirty="0"/>
          </a:p>
          <a:p>
            <a:pPr marL="0" indent="0" algn="ctr">
              <a:buNone/>
            </a:pPr>
            <a:r>
              <a:rPr lang="en-US" sz="950" b="1" dirty="0">
                <a:solidFill>
                  <a:srgbClr val="1F2A3C"/>
                </a:solidFill>
                <a:latin typeface="Calibri" pitchFamily="34" charset="0"/>
                <a:ea typeface="Calibri" pitchFamily="34" charset="-122"/>
                <a:cs typeface="Calibri" pitchFamily="34" charset="-120"/>
              </a:rPr>
              <a:t>Analysis</a:t>
            </a:r>
            <a:endParaRPr lang="en-US" sz="950" dirty="0"/>
          </a:p>
        </p:txBody>
      </p:sp>
      <p:sp>
        <p:nvSpPr>
          <p:cNvPr id="18" name="Shape 16"/>
          <p:cNvSpPr/>
          <p:nvPr/>
        </p:nvSpPr>
        <p:spPr>
          <a:xfrm>
            <a:off x="8476488" y="2400300"/>
            <a:ext cx="164592" cy="0"/>
          </a:xfrm>
          <a:prstGeom prst="line">
            <a:avLst/>
          </a:prstGeom>
          <a:noFill/>
          <a:ln w="13970">
            <a:solidFill>
              <a:srgbClr val="6B7480"/>
            </a:solidFill>
            <a:prstDash val="solid"/>
            <a:tailEnd type="triangle"/>
          </a:ln>
        </p:spPr>
        <p:txBody>
          <a:bodyPr/>
          <a:lstStyle/>
          <a:p>
            <a:endParaRPr/>
          </a:p>
        </p:txBody>
      </p:sp>
      <p:sp>
        <p:nvSpPr>
          <p:cNvPr id="19" name="Shape 17"/>
          <p:cNvSpPr/>
          <p:nvPr/>
        </p:nvSpPr>
        <p:spPr>
          <a:xfrm>
            <a:off x="8641080" y="1965960"/>
            <a:ext cx="1472184" cy="868680"/>
          </a:xfrm>
          <a:prstGeom prst="rect">
            <a:avLst/>
          </a:prstGeom>
          <a:solidFill>
            <a:srgbClr val="FFFFFF"/>
          </a:solidFill>
          <a:ln w="12700">
            <a:solidFill>
              <a:srgbClr val="1F2A3C"/>
            </a:solidFill>
            <a:prstDash val="solid"/>
          </a:ln>
        </p:spPr>
        <p:txBody>
          <a:bodyPr/>
          <a:lstStyle/>
          <a:p>
            <a:endParaRPr/>
          </a:p>
        </p:txBody>
      </p:sp>
      <p:sp>
        <p:nvSpPr>
          <p:cNvPr id="20" name="Text 18"/>
          <p:cNvSpPr txBox="1"/>
          <p:nvPr/>
        </p:nvSpPr>
        <p:spPr>
          <a:xfrm>
            <a:off x="8668512" y="1965960"/>
            <a:ext cx="1417320" cy="868680"/>
          </a:xfrm>
          <a:prstGeom prst="rect">
            <a:avLst/>
          </a:prstGeom>
          <a:noFill/>
          <a:ln/>
        </p:spPr>
        <p:txBody>
          <a:bodyPr wrap="square" lIns="0" tIns="0" rIns="0" bIns="0" rtlCol="0" anchor="ctr"/>
          <a:lstStyle/>
          <a:p>
            <a:pPr marL="0" indent="0" algn="ctr">
              <a:buNone/>
            </a:pPr>
            <a:r>
              <a:rPr lang="en-US" sz="950" b="1" dirty="0">
                <a:solidFill>
                  <a:srgbClr val="1F2A3C"/>
                </a:solidFill>
                <a:latin typeface="Calibri" pitchFamily="34" charset="0"/>
                <a:ea typeface="Calibri" pitchFamily="34" charset="-122"/>
                <a:cs typeface="Calibri" pitchFamily="34" charset="-120"/>
              </a:rPr>
              <a:t>TAC</a:t>
            </a:r>
            <a:endParaRPr lang="en-US" sz="950" dirty="0"/>
          </a:p>
        </p:txBody>
      </p:sp>
      <p:sp>
        <p:nvSpPr>
          <p:cNvPr id="21" name="Shape 19"/>
          <p:cNvSpPr/>
          <p:nvPr/>
        </p:nvSpPr>
        <p:spPr>
          <a:xfrm>
            <a:off x="10113264" y="2400300"/>
            <a:ext cx="164592" cy="0"/>
          </a:xfrm>
          <a:prstGeom prst="line">
            <a:avLst/>
          </a:prstGeom>
          <a:noFill/>
          <a:ln w="13970">
            <a:solidFill>
              <a:srgbClr val="6B7480"/>
            </a:solidFill>
            <a:prstDash val="solid"/>
            <a:tailEnd type="triangle"/>
          </a:ln>
        </p:spPr>
        <p:txBody>
          <a:bodyPr/>
          <a:lstStyle/>
          <a:p>
            <a:endParaRPr/>
          </a:p>
        </p:txBody>
      </p:sp>
      <p:sp>
        <p:nvSpPr>
          <p:cNvPr id="22" name="Shape 20"/>
          <p:cNvSpPr/>
          <p:nvPr/>
        </p:nvSpPr>
        <p:spPr>
          <a:xfrm>
            <a:off x="10277856" y="1965960"/>
            <a:ext cx="1472184" cy="868680"/>
          </a:xfrm>
          <a:prstGeom prst="rect">
            <a:avLst/>
          </a:prstGeom>
          <a:solidFill>
            <a:srgbClr val="FFFFFF"/>
          </a:solidFill>
          <a:ln w="12700">
            <a:solidFill>
              <a:srgbClr val="1F2A3C"/>
            </a:solidFill>
            <a:prstDash val="solid"/>
          </a:ln>
        </p:spPr>
        <p:txBody>
          <a:bodyPr/>
          <a:lstStyle/>
          <a:p>
            <a:endParaRPr/>
          </a:p>
        </p:txBody>
      </p:sp>
      <p:sp>
        <p:nvSpPr>
          <p:cNvPr id="23" name="Text 21"/>
          <p:cNvSpPr txBox="1"/>
          <p:nvPr/>
        </p:nvSpPr>
        <p:spPr>
          <a:xfrm>
            <a:off x="10305288" y="1965960"/>
            <a:ext cx="1417320" cy="868680"/>
          </a:xfrm>
          <a:prstGeom prst="rect">
            <a:avLst/>
          </a:prstGeom>
          <a:noFill/>
          <a:ln/>
        </p:spPr>
        <p:txBody>
          <a:bodyPr wrap="square" lIns="0" tIns="0" rIns="0" bIns="0" rtlCol="0" anchor="ctr"/>
          <a:lstStyle/>
          <a:p>
            <a:pPr marL="0" indent="0" algn="ctr">
              <a:buNone/>
            </a:pPr>
            <a:r>
              <a:rPr lang="en-US" sz="950" b="1" dirty="0">
                <a:solidFill>
                  <a:srgbClr val="1F2A3C"/>
                </a:solidFill>
                <a:latin typeface="Calibri" pitchFamily="34" charset="0"/>
                <a:ea typeface="Calibri" pitchFamily="34" charset="-122"/>
                <a:cs typeface="Calibri" pitchFamily="34" charset="-120"/>
              </a:rPr>
              <a:t>Basic Blocks</a:t>
            </a:r>
            <a:endParaRPr lang="en-US" sz="950" dirty="0"/>
          </a:p>
          <a:p>
            <a:pPr marL="0" indent="0" algn="ctr">
              <a:buNone/>
            </a:pPr>
            <a:r>
              <a:rPr lang="en-US" sz="950" b="1" dirty="0">
                <a:solidFill>
                  <a:srgbClr val="1F2A3C"/>
                </a:solidFill>
                <a:latin typeface="Calibri" pitchFamily="34" charset="0"/>
                <a:ea typeface="Calibri" pitchFamily="34" charset="-122"/>
                <a:cs typeface="Calibri" pitchFamily="34" charset="-120"/>
              </a:rPr>
              <a:t>/ CFG</a:t>
            </a:r>
            <a:endParaRPr lang="en-US" sz="950" dirty="0"/>
          </a:p>
        </p:txBody>
      </p:sp>
      <p:sp>
        <p:nvSpPr>
          <p:cNvPr id="24" name="Shape 22"/>
          <p:cNvSpPr/>
          <p:nvPr/>
        </p:nvSpPr>
        <p:spPr>
          <a:xfrm>
            <a:off x="457200" y="3520440"/>
            <a:ext cx="1472184" cy="868680"/>
          </a:xfrm>
          <a:prstGeom prst="rect">
            <a:avLst/>
          </a:prstGeom>
          <a:solidFill>
            <a:srgbClr val="2E6E7E"/>
          </a:solidFill>
          <a:ln w="12700">
            <a:solidFill>
              <a:srgbClr val="2E6E7E"/>
            </a:solidFill>
            <a:prstDash val="solid"/>
          </a:ln>
        </p:spPr>
        <p:txBody>
          <a:bodyPr/>
          <a:lstStyle/>
          <a:p>
            <a:endParaRPr/>
          </a:p>
        </p:txBody>
      </p:sp>
      <p:sp>
        <p:nvSpPr>
          <p:cNvPr id="25" name="Text 23"/>
          <p:cNvSpPr txBox="1"/>
          <p:nvPr/>
        </p:nvSpPr>
        <p:spPr>
          <a:xfrm>
            <a:off x="484632" y="3520440"/>
            <a:ext cx="1417320" cy="86868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SSA</a:t>
            </a:r>
            <a:endParaRPr lang="en-US" sz="950" dirty="0"/>
          </a:p>
        </p:txBody>
      </p:sp>
      <p:sp>
        <p:nvSpPr>
          <p:cNvPr id="26" name="Shape 24"/>
          <p:cNvSpPr/>
          <p:nvPr/>
        </p:nvSpPr>
        <p:spPr>
          <a:xfrm>
            <a:off x="1929384" y="3954780"/>
            <a:ext cx="164592" cy="0"/>
          </a:xfrm>
          <a:prstGeom prst="line">
            <a:avLst/>
          </a:prstGeom>
          <a:noFill/>
          <a:ln w="13970">
            <a:solidFill>
              <a:srgbClr val="6B7480"/>
            </a:solidFill>
            <a:prstDash val="solid"/>
            <a:tailEnd type="triangle"/>
          </a:ln>
        </p:spPr>
        <p:txBody>
          <a:bodyPr/>
          <a:lstStyle/>
          <a:p>
            <a:endParaRPr/>
          </a:p>
        </p:txBody>
      </p:sp>
      <p:sp>
        <p:nvSpPr>
          <p:cNvPr id="27" name="Shape 25"/>
          <p:cNvSpPr/>
          <p:nvPr/>
        </p:nvSpPr>
        <p:spPr>
          <a:xfrm>
            <a:off x="2093976" y="3520440"/>
            <a:ext cx="1472184" cy="868680"/>
          </a:xfrm>
          <a:prstGeom prst="rect">
            <a:avLst/>
          </a:prstGeom>
          <a:solidFill>
            <a:srgbClr val="2E6E7E"/>
          </a:solidFill>
          <a:ln w="12700">
            <a:solidFill>
              <a:srgbClr val="2E6E7E"/>
            </a:solidFill>
            <a:prstDash val="solid"/>
          </a:ln>
        </p:spPr>
        <p:txBody>
          <a:bodyPr/>
          <a:lstStyle/>
          <a:p>
            <a:endParaRPr/>
          </a:p>
        </p:txBody>
      </p:sp>
      <p:sp>
        <p:nvSpPr>
          <p:cNvPr id="28" name="Text 26"/>
          <p:cNvSpPr txBox="1"/>
          <p:nvPr/>
        </p:nvSpPr>
        <p:spPr>
          <a:xfrm>
            <a:off x="2121408" y="3520440"/>
            <a:ext cx="1417320" cy="86868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Range +</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Integrality Analysis</a:t>
            </a:r>
            <a:endParaRPr lang="en-US" sz="950" dirty="0"/>
          </a:p>
        </p:txBody>
      </p:sp>
      <p:sp>
        <p:nvSpPr>
          <p:cNvPr id="29" name="Shape 27"/>
          <p:cNvSpPr/>
          <p:nvPr/>
        </p:nvSpPr>
        <p:spPr>
          <a:xfrm>
            <a:off x="3566160" y="3954780"/>
            <a:ext cx="164592" cy="0"/>
          </a:xfrm>
          <a:prstGeom prst="line">
            <a:avLst/>
          </a:prstGeom>
          <a:noFill/>
          <a:ln w="13970">
            <a:solidFill>
              <a:srgbClr val="6B7480"/>
            </a:solidFill>
            <a:prstDash val="solid"/>
            <a:tailEnd type="triangle"/>
          </a:ln>
        </p:spPr>
        <p:txBody>
          <a:bodyPr/>
          <a:lstStyle/>
          <a:p>
            <a:endParaRPr/>
          </a:p>
        </p:txBody>
      </p:sp>
      <p:sp>
        <p:nvSpPr>
          <p:cNvPr id="30" name="Shape 28"/>
          <p:cNvSpPr/>
          <p:nvPr/>
        </p:nvSpPr>
        <p:spPr>
          <a:xfrm>
            <a:off x="3730752" y="3520440"/>
            <a:ext cx="1472184" cy="868680"/>
          </a:xfrm>
          <a:prstGeom prst="rect">
            <a:avLst/>
          </a:prstGeom>
          <a:solidFill>
            <a:srgbClr val="2E6E7E"/>
          </a:solidFill>
          <a:ln w="12700">
            <a:solidFill>
              <a:srgbClr val="2E6E7E"/>
            </a:solidFill>
            <a:prstDash val="solid"/>
          </a:ln>
        </p:spPr>
        <p:txBody>
          <a:bodyPr/>
          <a:lstStyle/>
          <a:p>
            <a:endParaRPr/>
          </a:p>
        </p:txBody>
      </p:sp>
      <p:sp>
        <p:nvSpPr>
          <p:cNvPr id="31" name="Text 29"/>
          <p:cNvSpPr txBox="1"/>
          <p:nvPr/>
        </p:nvSpPr>
        <p:spPr>
          <a:xfrm>
            <a:off x="3758184" y="3520440"/>
            <a:ext cx="1417320" cy="86868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INT8 Safety</a:t>
            </a:r>
            <a:endParaRPr lang="en-US" sz="950" dirty="0"/>
          </a:p>
          <a:p>
            <a:pPr marL="0" indent="0" algn="ctr">
              <a:buNone/>
            </a:pPr>
            <a:r>
              <a:rPr lang="en-US" sz="950" b="1" dirty="0">
                <a:solidFill>
                  <a:srgbClr val="FFFFFF"/>
                </a:solidFill>
                <a:latin typeface="Calibri" pitchFamily="34" charset="0"/>
                <a:ea typeface="Calibri" pitchFamily="34" charset="-122"/>
                <a:cs typeface="Calibri" pitchFamily="34" charset="-120"/>
              </a:rPr>
              <a:t>Check</a:t>
            </a:r>
            <a:endParaRPr lang="en-US" sz="950" dirty="0"/>
          </a:p>
        </p:txBody>
      </p:sp>
      <p:sp>
        <p:nvSpPr>
          <p:cNvPr id="32" name="Shape 30"/>
          <p:cNvSpPr/>
          <p:nvPr/>
        </p:nvSpPr>
        <p:spPr>
          <a:xfrm>
            <a:off x="5202936" y="3954780"/>
            <a:ext cx="164592" cy="0"/>
          </a:xfrm>
          <a:prstGeom prst="line">
            <a:avLst/>
          </a:prstGeom>
          <a:noFill/>
          <a:ln w="13970">
            <a:solidFill>
              <a:srgbClr val="6B7480"/>
            </a:solidFill>
            <a:prstDash val="solid"/>
            <a:tailEnd type="triangle"/>
          </a:ln>
        </p:spPr>
        <p:txBody>
          <a:bodyPr/>
          <a:lstStyle/>
          <a:p>
            <a:endParaRPr/>
          </a:p>
        </p:txBody>
      </p:sp>
      <p:sp>
        <p:nvSpPr>
          <p:cNvPr id="33" name="Shape 31"/>
          <p:cNvSpPr/>
          <p:nvPr/>
        </p:nvSpPr>
        <p:spPr>
          <a:xfrm>
            <a:off x="5367528" y="3520440"/>
            <a:ext cx="1472184" cy="868680"/>
          </a:xfrm>
          <a:prstGeom prst="rect">
            <a:avLst/>
          </a:prstGeom>
          <a:solidFill>
            <a:srgbClr val="FFFFFF"/>
          </a:solidFill>
          <a:ln w="12700">
            <a:solidFill>
              <a:srgbClr val="1F2A3C"/>
            </a:solidFill>
            <a:prstDash val="solid"/>
          </a:ln>
        </p:spPr>
        <p:txBody>
          <a:bodyPr/>
          <a:lstStyle/>
          <a:p>
            <a:endParaRPr/>
          </a:p>
        </p:txBody>
      </p:sp>
      <p:sp>
        <p:nvSpPr>
          <p:cNvPr id="34" name="Text 32"/>
          <p:cNvSpPr txBox="1"/>
          <p:nvPr/>
        </p:nvSpPr>
        <p:spPr>
          <a:xfrm>
            <a:off x="5394960" y="3520440"/>
            <a:ext cx="1417320" cy="868680"/>
          </a:xfrm>
          <a:prstGeom prst="rect">
            <a:avLst/>
          </a:prstGeom>
          <a:noFill/>
          <a:ln/>
        </p:spPr>
        <p:txBody>
          <a:bodyPr wrap="square" lIns="0" tIns="0" rIns="0" bIns="0" rtlCol="0" anchor="ctr"/>
          <a:lstStyle/>
          <a:p>
            <a:pPr marL="0" indent="0" algn="ctr">
              <a:buNone/>
            </a:pPr>
            <a:r>
              <a:rPr lang="en-US" sz="950" b="1" dirty="0">
                <a:solidFill>
                  <a:srgbClr val="1F2A3C"/>
                </a:solidFill>
                <a:latin typeface="Calibri" pitchFamily="34" charset="0"/>
                <a:ea typeface="Calibri" pitchFamily="34" charset="-122"/>
                <a:cs typeface="Calibri" pitchFamily="34" charset="-120"/>
              </a:rPr>
              <a:t>Quantization</a:t>
            </a:r>
            <a:endParaRPr lang="en-US" sz="950" dirty="0"/>
          </a:p>
          <a:p>
            <a:pPr marL="0" indent="0" algn="ctr">
              <a:buNone/>
            </a:pPr>
            <a:r>
              <a:rPr lang="en-US" sz="950" b="1" dirty="0">
                <a:solidFill>
                  <a:srgbClr val="1F2A3C"/>
                </a:solidFill>
                <a:latin typeface="Calibri" pitchFamily="34" charset="0"/>
                <a:ea typeface="Calibri" pitchFamily="34" charset="-122"/>
                <a:cs typeface="Calibri" pitchFamily="34" charset="-120"/>
              </a:rPr>
              <a:t>Transform</a:t>
            </a:r>
            <a:endParaRPr lang="en-US" sz="950" dirty="0"/>
          </a:p>
        </p:txBody>
      </p:sp>
      <p:sp>
        <p:nvSpPr>
          <p:cNvPr id="35" name="Shape 33"/>
          <p:cNvSpPr/>
          <p:nvPr/>
        </p:nvSpPr>
        <p:spPr>
          <a:xfrm>
            <a:off x="6839712" y="3954780"/>
            <a:ext cx="164592" cy="0"/>
          </a:xfrm>
          <a:prstGeom prst="line">
            <a:avLst/>
          </a:prstGeom>
          <a:noFill/>
          <a:ln w="13970">
            <a:solidFill>
              <a:srgbClr val="6B7480"/>
            </a:solidFill>
            <a:prstDash val="solid"/>
            <a:tailEnd type="triangle"/>
          </a:ln>
        </p:spPr>
        <p:txBody>
          <a:bodyPr/>
          <a:lstStyle/>
          <a:p>
            <a:endParaRPr/>
          </a:p>
        </p:txBody>
      </p:sp>
      <p:sp>
        <p:nvSpPr>
          <p:cNvPr id="36" name="Shape 34"/>
          <p:cNvSpPr/>
          <p:nvPr/>
        </p:nvSpPr>
        <p:spPr>
          <a:xfrm>
            <a:off x="7004304" y="3520440"/>
            <a:ext cx="1472184" cy="868680"/>
          </a:xfrm>
          <a:prstGeom prst="rect">
            <a:avLst/>
          </a:prstGeom>
          <a:solidFill>
            <a:srgbClr val="FFFFFF"/>
          </a:solidFill>
          <a:ln w="12700">
            <a:solidFill>
              <a:srgbClr val="1F2A3C"/>
            </a:solidFill>
            <a:prstDash val="solid"/>
          </a:ln>
        </p:spPr>
        <p:txBody>
          <a:bodyPr/>
          <a:lstStyle/>
          <a:p>
            <a:endParaRPr/>
          </a:p>
        </p:txBody>
      </p:sp>
      <p:sp>
        <p:nvSpPr>
          <p:cNvPr id="37" name="Text 35"/>
          <p:cNvSpPr txBox="1"/>
          <p:nvPr/>
        </p:nvSpPr>
        <p:spPr>
          <a:xfrm>
            <a:off x="7031736" y="3520440"/>
            <a:ext cx="1417320" cy="868680"/>
          </a:xfrm>
          <a:prstGeom prst="rect">
            <a:avLst/>
          </a:prstGeom>
          <a:noFill/>
          <a:ln/>
        </p:spPr>
        <p:txBody>
          <a:bodyPr wrap="square" lIns="0" tIns="0" rIns="0" bIns="0" rtlCol="0" anchor="ctr"/>
          <a:lstStyle/>
          <a:p>
            <a:pPr marL="0" indent="0" algn="ctr">
              <a:buNone/>
            </a:pPr>
            <a:r>
              <a:rPr lang="en-US" sz="950" b="1" dirty="0">
                <a:solidFill>
                  <a:srgbClr val="1F2A3C"/>
                </a:solidFill>
                <a:latin typeface="Calibri" pitchFamily="34" charset="0"/>
                <a:ea typeface="Calibri" pitchFamily="34" charset="-122"/>
                <a:cs typeface="Calibri" pitchFamily="34" charset="-120"/>
              </a:rPr>
              <a:t>Quantized</a:t>
            </a:r>
            <a:endParaRPr lang="en-US" sz="950" dirty="0"/>
          </a:p>
          <a:p>
            <a:pPr marL="0" indent="0" algn="ctr">
              <a:buNone/>
            </a:pPr>
            <a:r>
              <a:rPr lang="en-US" sz="950" b="1" dirty="0">
                <a:solidFill>
                  <a:srgbClr val="1F2A3C"/>
                </a:solidFill>
                <a:latin typeface="Calibri" pitchFamily="34" charset="0"/>
                <a:ea typeface="Calibri" pitchFamily="34" charset="-122"/>
                <a:cs typeface="Calibri" pitchFamily="34" charset="-120"/>
              </a:rPr>
              <a:t>SSA IR</a:t>
            </a:r>
            <a:endParaRPr lang="en-US" sz="950" dirty="0"/>
          </a:p>
        </p:txBody>
      </p:sp>
      <p:sp>
        <p:nvSpPr>
          <p:cNvPr id="38" name="Shape 36"/>
          <p:cNvSpPr/>
          <p:nvPr/>
        </p:nvSpPr>
        <p:spPr>
          <a:xfrm>
            <a:off x="8476488" y="3954780"/>
            <a:ext cx="164592" cy="0"/>
          </a:xfrm>
          <a:prstGeom prst="line">
            <a:avLst/>
          </a:prstGeom>
          <a:noFill/>
          <a:ln w="13970">
            <a:solidFill>
              <a:srgbClr val="6B7480"/>
            </a:solidFill>
            <a:prstDash val="solid"/>
            <a:tailEnd type="triangle"/>
          </a:ln>
        </p:spPr>
        <p:txBody>
          <a:bodyPr/>
          <a:lstStyle/>
          <a:p>
            <a:endParaRPr/>
          </a:p>
        </p:txBody>
      </p:sp>
      <p:sp>
        <p:nvSpPr>
          <p:cNvPr id="39" name="Shape 37"/>
          <p:cNvSpPr/>
          <p:nvPr/>
        </p:nvSpPr>
        <p:spPr>
          <a:xfrm>
            <a:off x="8641080" y="3520440"/>
            <a:ext cx="1472184" cy="868680"/>
          </a:xfrm>
          <a:prstGeom prst="rect">
            <a:avLst/>
          </a:prstGeom>
          <a:solidFill>
            <a:srgbClr val="FFFFFF"/>
          </a:solidFill>
          <a:ln w="12700">
            <a:solidFill>
              <a:srgbClr val="1F2A3C"/>
            </a:solidFill>
            <a:prstDash val="solid"/>
          </a:ln>
        </p:spPr>
        <p:txBody>
          <a:bodyPr/>
          <a:lstStyle/>
          <a:p>
            <a:endParaRPr/>
          </a:p>
        </p:txBody>
      </p:sp>
      <p:sp>
        <p:nvSpPr>
          <p:cNvPr id="40" name="Text 38"/>
          <p:cNvSpPr txBox="1"/>
          <p:nvPr/>
        </p:nvSpPr>
        <p:spPr>
          <a:xfrm>
            <a:off x="8668512" y="3520440"/>
            <a:ext cx="1417320" cy="868680"/>
          </a:xfrm>
          <a:prstGeom prst="rect">
            <a:avLst/>
          </a:prstGeom>
          <a:noFill/>
          <a:ln/>
        </p:spPr>
        <p:txBody>
          <a:bodyPr wrap="square" lIns="0" tIns="0" rIns="0" bIns="0" rtlCol="0" anchor="ctr"/>
          <a:lstStyle/>
          <a:p>
            <a:pPr marL="0" indent="0" algn="ctr">
              <a:buNone/>
            </a:pPr>
            <a:r>
              <a:rPr lang="en-US" sz="950" b="1" dirty="0">
                <a:solidFill>
                  <a:srgbClr val="1F2A3C"/>
                </a:solidFill>
                <a:latin typeface="Calibri" pitchFamily="34" charset="0"/>
                <a:ea typeface="Calibri" pitchFamily="34" charset="-122"/>
                <a:cs typeface="Calibri" pitchFamily="34" charset="-120"/>
              </a:rPr>
              <a:t>Simulator /</a:t>
            </a:r>
            <a:endParaRPr lang="en-US" sz="950" dirty="0"/>
          </a:p>
          <a:p>
            <a:pPr marL="0" indent="0" algn="ctr">
              <a:buNone/>
            </a:pPr>
            <a:r>
              <a:rPr lang="en-US" sz="950" b="1" dirty="0">
                <a:solidFill>
                  <a:srgbClr val="1F2A3C"/>
                </a:solidFill>
                <a:latin typeface="Calibri" pitchFamily="34" charset="0"/>
                <a:ea typeface="Calibri" pitchFamily="34" charset="-122"/>
                <a:cs typeface="Calibri" pitchFamily="34" charset="-120"/>
              </a:rPr>
              <a:t>Backend</a:t>
            </a:r>
            <a:endParaRPr lang="en-US" sz="950" dirty="0"/>
          </a:p>
        </p:txBody>
      </p:sp>
      <p:sp>
        <p:nvSpPr>
          <p:cNvPr id="41" name="Shape 39"/>
          <p:cNvSpPr/>
          <p:nvPr/>
        </p:nvSpPr>
        <p:spPr>
          <a:xfrm>
            <a:off x="10113264" y="3954780"/>
            <a:ext cx="164592" cy="0"/>
          </a:xfrm>
          <a:prstGeom prst="line">
            <a:avLst/>
          </a:prstGeom>
          <a:noFill/>
          <a:ln w="13970">
            <a:solidFill>
              <a:srgbClr val="6B7480"/>
            </a:solidFill>
            <a:prstDash val="solid"/>
            <a:tailEnd type="triangle"/>
          </a:ln>
        </p:spPr>
        <p:txBody>
          <a:bodyPr/>
          <a:lstStyle/>
          <a:p>
            <a:endParaRPr/>
          </a:p>
        </p:txBody>
      </p:sp>
      <p:sp>
        <p:nvSpPr>
          <p:cNvPr id="42" name="Shape 40"/>
          <p:cNvSpPr/>
          <p:nvPr/>
        </p:nvSpPr>
        <p:spPr>
          <a:xfrm>
            <a:off x="10277856" y="3520440"/>
            <a:ext cx="1472184" cy="868680"/>
          </a:xfrm>
          <a:prstGeom prst="rect">
            <a:avLst/>
          </a:prstGeom>
          <a:solidFill>
            <a:srgbClr val="FFFFFF"/>
          </a:solidFill>
          <a:ln w="12700">
            <a:solidFill>
              <a:srgbClr val="1F2A3C"/>
            </a:solidFill>
            <a:prstDash val="solid"/>
          </a:ln>
        </p:spPr>
        <p:txBody>
          <a:bodyPr/>
          <a:lstStyle/>
          <a:p>
            <a:endParaRPr/>
          </a:p>
        </p:txBody>
      </p:sp>
      <p:sp>
        <p:nvSpPr>
          <p:cNvPr id="43" name="Text 41"/>
          <p:cNvSpPr txBox="1"/>
          <p:nvPr/>
        </p:nvSpPr>
        <p:spPr>
          <a:xfrm>
            <a:off x="10305288" y="3520440"/>
            <a:ext cx="1417320" cy="868680"/>
          </a:xfrm>
          <a:prstGeom prst="rect">
            <a:avLst/>
          </a:prstGeom>
          <a:noFill/>
          <a:ln/>
        </p:spPr>
        <p:txBody>
          <a:bodyPr wrap="square" lIns="0" tIns="0" rIns="0" bIns="0" rtlCol="0" anchor="ctr"/>
          <a:lstStyle/>
          <a:p>
            <a:pPr marL="0" indent="0" algn="ctr">
              <a:buNone/>
            </a:pPr>
            <a:r>
              <a:rPr lang="en-US" sz="950" b="1" dirty="0">
                <a:solidFill>
                  <a:srgbClr val="1F2A3C"/>
                </a:solidFill>
                <a:latin typeface="Calibri" pitchFamily="34" charset="0"/>
                <a:ea typeface="Calibri" pitchFamily="34" charset="-122"/>
                <a:cs typeface="Calibri" pitchFamily="34" charset="-120"/>
              </a:rPr>
              <a:t>Diagnostics +</a:t>
            </a:r>
            <a:endParaRPr lang="en-US" sz="950" dirty="0"/>
          </a:p>
          <a:p>
            <a:pPr marL="0" indent="0" algn="ctr">
              <a:buNone/>
            </a:pPr>
            <a:r>
              <a:rPr lang="en-US" sz="950" b="1" dirty="0">
                <a:solidFill>
                  <a:srgbClr val="1F2A3C"/>
                </a:solidFill>
                <a:latin typeface="Calibri" pitchFamily="34" charset="0"/>
                <a:ea typeface="Calibri" pitchFamily="34" charset="-122"/>
                <a:cs typeface="Calibri" pitchFamily="34" charset="-120"/>
              </a:rPr>
              <a:t>Evaluation</a:t>
            </a:r>
            <a:endParaRPr lang="en-US" sz="950" dirty="0"/>
          </a:p>
        </p:txBody>
      </p:sp>
      <p:sp>
        <p:nvSpPr>
          <p:cNvPr id="44" name="Shape 42"/>
          <p:cNvSpPr/>
          <p:nvPr/>
        </p:nvSpPr>
        <p:spPr>
          <a:xfrm>
            <a:off x="11013948" y="2834640"/>
            <a:ext cx="0" cy="365760"/>
          </a:xfrm>
          <a:prstGeom prst="line">
            <a:avLst/>
          </a:prstGeom>
          <a:noFill/>
          <a:ln w="13970">
            <a:solidFill>
              <a:srgbClr val="6B7480"/>
            </a:solidFill>
            <a:prstDash val="solid"/>
          </a:ln>
        </p:spPr>
        <p:txBody>
          <a:bodyPr/>
          <a:lstStyle/>
          <a:p>
            <a:endParaRPr/>
          </a:p>
        </p:txBody>
      </p:sp>
      <p:sp>
        <p:nvSpPr>
          <p:cNvPr id="45" name="Shape 43"/>
          <p:cNvSpPr/>
          <p:nvPr/>
        </p:nvSpPr>
        <p:spPr>
          <a:xfrm>
            <a:off x="1193292" y="3200400"/>
            <a:ext cx="9820656" cy="0"/>
          </a:xfrm>
          <a:prstGeom prst="line">
            <a:avLst/>
          </a:prstGeom>
          <a:noFill/>
          <a:ln w="13970">
            <a:solidFill>
              <a:srgbClr val="6B7480"/>
            </a:solidFill>
            <a:prstDash val="solid"/>
          </a:ln>
        </p:spPr>
        <p:txBody>
          <a:bodyPr/>
          <a:lstStyle/>
          <a:p>
            <a:endParaRPr/>
          </a:p>
        </p:txBody>
      </p:sp>
      <p:sp>
        <p:nvSpPr>
          <p:cNvPr id="46" name="Shape 44"/>
          <p:cNvSpPr/>
          <p:nvPr/>
        </p:nvSpPr>
        <p:spPr>
          <a:xfrm>
            <a:off x="1193292" y="3200400"/>
            <a:ext cx="0" cy="320040"/>
          </a:xfrm>
          <a:prstGeom prst="line">
            <a:avLst/>
          </a:prstGeom>
          <a:noFill/>
          <a:ln w="13970">
            <a:solidFill>
              <a:srgbClr val="6B7480"/>
            </a:solidFill>
            <a:prstDash val="solid"/>
            <a:tailEnd type="triangle"/>
          </a:ln>
        </p:spPr>
        <p:txBody>
          <a:bodyPr/>
          <a:lstStyle/>
          <a:p>
            <a:endParaRPr/>
          </a:p>
        </p:txBody>
      </p:sp>
      <p:sp>
        <p:nvSpPr>
          <p:cNvPr id="47" name="Text 45"/>
          <p:cNvSpPr txBox="1"/>
          <p:nvPr/>
        </p:nvSpPr>
        <p:spPr>
          <a:xfrm>
            <a:off x="457200" y="4526280"/>
            <a:ext cx="11292840" cy="320040"/>
          </a:xfrm>
          <a:prstGeom prst="rect">
            <a:avLst/>
          </a:prstGeom>
          <a:noFill/>
          <a:ln/>
        </p:spPr>
        <p:txBody>
          <a:bodyPr wrap="square" rtlCol="0" anchor="t"/>
          <a:lstStyle/>
          <a:p>
            <a:pPr marL="0" indent="0" algn="ctr">
              <a:buNone/>
            </a:pPr>
            <a:r>
              <a:rPr lang="en-US" sz="1050" i="1" dirty="0">
                <a:solidFill>
                  <a:srgbClr val="6B7480"/>
                </a:solidFill>
                <a:latin typeface="Calibri" pitchFamily="34" charset="0"/>
                <a:ea typeface="Calibri" pitchFamily="34" charset="-122"/>
                <a:cs typeface="Calibri" pitchFamily="34" charset="-120"/>
              </a:rPr>
              <a:t>Shaded stages form the core static-analysis contribution of this project.</a:t>
            </a:r>
            <a:endParaRPr lang="en-US" sz="1050" dirty="0"/>
          </a:p>
        </p:txBody>
      </p:sp>
      <p:sp>
        <p:nvSpPr>
          <p:cNvPr id="48" name="Text 46"/>
          <p:cNvSpPr txBox="1"/>
          <p:nvPr/>
        </p:nvSpPr>
        <p:spPr>
          <a:xfrm>
            <a:off x="502920" y="6492240"/>
            <a:ext cx="9601200" cy="237744"/>
          </a:xfrm>
          <a:prstGeom prst="rect">
            <a:avLst/>
          </a:prstGeom>
          <a:noFill/>
          <a:ln/>
        </p:spPr>
        <p:txBody>
          <a:bodyPr wrap="square" rtlCol="0" anchor="ctr"/>
          <a:lstStyle/>
          <a:p>
            <a:pPr marL="0" indent="0">
              <a:buNone/>
            </a:pPr>
            <a:r>
              <a:rPr lang="en-US" sz="800" dirty="0">
                <a:solidFill>
                  <a:srgbClr val="9AA3AF"/>
                </a:solidFill>
                <a:latin typeface="Calibri" pitchFamily="34" charset="0"/>
                <a:ea typeface="Calibri" pitchFamily="34" charset="-122"/>
                <a:cs typeface="Calibri" pitchFamily="34" charset="-120"/>
              </a:rPr>
              <a:t>BCSE307L — Compiler Design   |   Range-Aware Edge AI Quantization Compiler</a:t>
            </a:r>
            <a:endParaRPr lang="en-US" sz="800" dirty="0"/>
          </a:p>
        </p:txBody>
      </p:sp>
      <p:sp>
        <p:nvSpPr>
          <p:cNvPr id="49" name="Text 47"/>
          <p:cNvSpPr txBox="1"/>
          <p:nvPr/>
        </p:nvSpPr>
        <p:spPr>
          <a:xfrm>
            <a:off x="11247120" y="6492240"/>
            <a:ext cx="457200" cy="237744"/>
          </a:xfrm>
          <a:prstGeom prst="rect">
            <a:avLst/>
          </a:prstGeom>
          <a:noFill/>
          <a:ln/>
        </p:spPr>
        <p:txBody>
          <a:bodyPr wrap="square" rtlCol="0" anchor="ctr"/>
          <a:lstStyle/>
          <a:p>
            <a:pPr algn="r"/>
            <a:r>
              <a:rPr sz="850">
                <a:solidFill>
                  <a:srgbClr val="8A919A"/>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347472"/>
            <a:ext cx="10607040" cy="256032"/>
          </a:xfrm>
          <a:prstGeom prst="rect">
            <a:avLst/>
          </a:prstGeom>
          <a:noFill/>
        </p:spPr>
        <p:txBody>
          <a:bodyPr wrap="square" lIns="0" tIns="0" rIns="0" bIns="0" anchor="t">
            <a:spAutoFit/>
          </a:bodyPr>
          <a:lstStyle/>
          <a:p>
            <a:pPr algn="l">
              <a:lnSpc>
                <a:spcPct val="100000"/>
              </a:lnSpc>
              <a:spcBef>
                <a:spcPts val="0"/>
              </a:spcBef>
              <a:spcAft>
                <a:spcPts val="0"/>
              </a:spcAft>
            </a:pPr>
            <a:r>
              <a:rPr sz="1100" b="1" i="0" dirty="0">
                <a:solidFill>
                  <a:srgbClr val="2E6E7E"/>
                </a:solidFill>
                <a:latin typeface="Calibri"/>
              </a:rPr>
              <a:t>REVIEW 2 · MODULE DESCRIPTIONS</a:t>
            </a:r>
          </a:p>
        </p:txBody>
      </p:sp>
      <p:sp>
        <p:nvSpPr>
          <p:cNvPr id="3" name="TextBox 2"/>
          <p:cNvSpPr txBox="1"/>
          <p:nvPr/>
        </p:nvSpPr>
        <p:spPr>
          <a:xfrm>
            <a:off x="502920" y="621792"/>
            <a:ext cx="11155680" cy="566928"/>
          </a:xfrm>
          <a:prstGeom prst="rect">
            <a:avLst/>
          </a:prstGeom>
          <a:noFill/>
        </p:spPr>
        <p:txBody>
          <a:bodyPr wrap="square" lIns="0" tIns="0" rIns="0" bIns="0" anchor="t">
            <a:spAutoFit/>
          </a:bodyPr>
          <a:lstStyle/>
          <a:p>
            <a:pPr algn="l">
              <a:lnSpc>
                <a:spcPct val="100000"/>
              </a:lnSpc>
              <a:spcBef>
                <a:spcPts val="0"/>
              </a:spcBef>
              <a:spcAft>
                <a:spcPts val="0"/>
              </a:spcAft>
            </a:pPr>
            <a:r>
              <a:rPr sz="2800" b="1" i="0">
                <a:solidFill>
                  <a:srgbClr val="1F2A3C"/>
                </a:solidFill>
                <a:latin typeface="Cambria"/>
              </a:rPr>
              <a:t>Module Description I — Front End &amp; Intermediate Representation</a:t>
            </a:r>
          </a:p>
        </p:txBody>
      </p:sp>
      <p:sp>
        <p:nvSpPr>
          <p:cNvPr id="4" name="TextBox 3"/>
          <p:cNvSpPr txBox="1"/>
          <p:nvPr/>
        </p:nvSpPr>
        <p:spPr>
          <a:xfrm>
            <a:off x="502920" y="6492240"/>
            <a:ext cx="9875520" cy="201168"/>
          </a:xfrm>
          <a:prstGeom prst="rect">
            <a:avLst/>
          </a:prstGeom>
          <a:noFill/>
        </p:spPr>
        <p:txBody>
          <a:bodyPr wrap="square" lIns="0" tIns="0" rIns="0" bIns="0" anchor="t">
            <a:spAutoFit/>
          </a:bodyPr>
          <a:lstStyle/>
          <a:p>
            <a:pPr algn="l">
              <a:lnSpc>
                <a:spcPct val="100000"/>
              </a:lnSpc>
              <a:spcBef>
                <a:spcPts val="0"/>
              </a:spcBef>
              <a:spcAft>
                <a:spcPts val="0"/>
              </a:spcAft>
            </a:pPr>
            <a:r>
              <a:rPr sz="850" b="0" i="0">
                <a:solidFill>
                  <a:srgbClr val="8A919A"/>
                </a:solidFill>
                <a:latin typeface="Calibri"/>
              </a:rPr>
              <a:t>BCSE307L — Compiler Design   |   Range-Aware Edge AI Quantization Compiler</a:t>
            </a:r>
          </a:p>
        </p:txBody>
      </p:sp>
      <p:sp>
        <p:nvSpPr>
          <p:cNvPr id="5" name="TextBox 4"/>
          <p:cNvSpPr txBox="1"/>
          <p:nvPr/>
        </p:nvSpPr>
        <p:spPr>
          <a:xfrm>
            <a:off x="11228832" y="6492240"/>
            <a:ext cx="457200" cy="201168"/>
          </a:xfrm>
          <a:prstGeom prst="rect">
            <a:avLst/>
          </a:prstGeom>
          <a:noFill/>
        </p:spPr>
        <p:txBody>
          <a:bodyPr wrap="square" lIns="0" tIns="0" rIns="0" bIns="0" anchor="t">
            <a:spAutoFit/>
          </a:bodyPr>
          <a:lstStyle/>
          <a:p>
            <a:pPr algn="r"/>
            <a:r>
              <a:rPr sz="850">
                <a:solidFill>
                  <a:srgbClr val="8A919A"/>
                </a:solidFill>
                <a:latin typeface="Calibri"/>
              </a:rPr>
              <a:t>12</a:t>
            </a:r>
          </a:p>
        </p:txBody>
      </p:sp>
      <p:sp>
        <p:nvSpPr>
          <p:cNvPr id="6" name="Rectangle 5"/>
          <p:cNvSpPr/>
          <p:nvPr/>
        </p:nvSpPr>
        <p:spPr>
          <a:xfrm>
            <a:off x="548640" y="1417320"/>
            <a:ext cx="5440680" cy="1207008"/>
          </a:xfrm>
          <a:prstGeom prst="rect">
            <a:avLst/>
          </a:prstGeom>
          <a:solidFill>
            <a:srgbClr val="FFFFFF"/>
          </a:solidFill>
          <a:ln w="1016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417320"/>
            <a:ext cx="64008" cy="1207008"/>
          </a:xfrm>
          <a:prstGeom prst="rect">
            <a:avLst/>
          </a:prstGeom>
          <a:solidFill>
            <a:srgbClr val="2E6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508760"/>
            <a:ext cx="5129784" cy="246888"/>
          </a:xfrm>
          <a:prstGeom prst="rect">
            <a:avLst/>
          </a:prstGeom>
          <a:noFill/>
        </p:spPr>
        <p:txBody>
          <a:bodyPr wrap="square" lIns="0" tIns="0" rIns="0" bIns="0" anchor="t">
            <a:spAutoFit/>
          </a:bodyPr>
          <a:lstStyle/>
          <a:p>
            <a:pPr algn="l">
              <a:lnSpc>
                <a:spcPct val="100000"/>
              </a:lnSpc>
              <a:spcBef>
                <a:spcPts val="0"/>
              </a:spcBef>
              <a:spcAft>
                <a:spcPts val="0"/>
              </a:spcAft>
            </a:pPr>
            <a:r>
              <a:rPr sz="1340" b="1" i="0">
                <a:solidFill>
                  <a:srgbClr val="1F2A3C"/>
                </a:solidFill>
                <a:latin typeface="Calibri"/>
              </a:rPr>
              <a:t>1. Lexer</a:t>
            </a:r>
          </a:p>
        </p:txBody>
      </p:sp>
      <p:sp>
        <p:nvSpPr>
          <p:cNvPr id="9" name="TextBox 8"/>
          <p:cNvSpPr txBox="1"/>
          <p:nvPr/>
        </p:nvSpPr>
        <p:spPr>
          <a:xfrm>
            <a:off x="731520" y="1801368"/>
            <a:ext cx="5129784" cy="530352"/>
          </a:xfrm>
          <a:prstGeom prst="rect">
            <a:avLst/>
          </a:prstGeom>
          <a:noFill/>
        </p:spPr>
        <p:txBody>
          <a:bodyPr wrap="square" lIns="0" tIns="0" rIns="0" bIns="0" anchor="t">
            <a:spAutoFit/>
          </a:bodyPr>
          <a:lstStyle/>
          <a:p>
            <a:pPr algn="l">
              <a:lnSpc>
                <a:spcPct val="100000"/>
              </a:lnSpc>
              <a:spcBef>
                <a:spcPts val="0"/>
              </a:spcBef>
              <a:spcAft>
                <a:spcPts val="0"/>
              </a:spcAft>
            </a:pPr>
            <a:r>
              <a:rPr sz="1060" b="0" i="0">
                <a:solidFill>
                  <a:srgbClr val="303845"/>
                </a:solidFill>
                <a:latin typeface="Calibri"/>
              </a:rPr>
              <a:t>Recognizes keywords, identifiers, literals and operators from source characters. It emits tokens with line/column positions.</a:t>
            </a:r>
          </a:p>
        </p:txBody>
      </p:sp>
      <p:sp>
        <p:nvSpPr>
          <p:cNvPr id="10" name="TextBox 9"/>
          <p:cNvSpPr txBox="1"/>
          <p:nvPr/>
        </p:nvSpPr>
        <p:spPr>
          <a:xfrm>
            <a:off x="731520" y="2377440"/>
            <a:ext cx="5129784" cy="164592"/>
          </a:xfrm>
          <a:prstGeom prst="rect">
            <a:avLst/>
          </a:prstGeom>
          <a:noFill/>
        </p:spPr>
        <p:txBody>
          <a:bodyPr wrap="square" lIns="0" tIns="0" rIns="0" bIns="0" anchor="t">
            <a:spAutoFit/>
          </a:bodyPr>
          <a:lstStyle/>
          <a:p>
            <a:pPr algn="l">
              <a:lnSpc>
                <a:spcPct val="100000"/>
              </a:lnSpc>
              <a:spcBef>
                <a:spcPts val="0"/>
              </a:spcBef>
              <a:spcAft>
                <a:spcPts val="0"/>
              </a:spcAft>
            </a:pPr>
            <a:r>
              <a:rPr sz="940" b="1" i="0">
                <a:solidFill>
                  <a:srgbClr val="2E6E7E"/>
                </a:solidFill>
                <a:latin typeface="Calibri"/>
              </a:rPr>
              <a:t>Input: source text  →  Output: positioned tokens</a:t>
            </a:r>
          </a:p>
        </p:txBody>
      </p:sp>
      <p:sp>
        <p:nvSpPr>
          <p:cNvPr id="11" name="Rectangle 10"/>
          <p:cNvSpPr/>
          <p:nvPr/>
        </p:nvSpPr>
        <p:spPr>
          <a:xfrm>
            <a:off x="6263640" y="1417320"/>
            <a:ext cx="5440680" cy="1207008"/>
          </a:xfrm>
          <a:prstGeom prst="rect">
            <a:avLst/>
          </a:prstGeom>
          <a:solidFill>
            <a:srgbClr val="FFFFFF"/>
          </a:solidFill>
          <a:ln w="1016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63640" y="1417320"/>
            <a:ext cx="64008" cy="1207008"/>
          </a:xfrm>
          <a:prstGeom prst="rect">
            <a:avLst/>
          </a:prstGeom>
          <a:solidFill>
            <a:srgbClr val="2E6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1508760"/>
            <a:ext cx="5129784" cy="246888"/>
          </a:xfrm>
          <a:prstGeom prst="rect">
            <a:avLst/>
          </a:prstGeom>
          <a:noFill/>
        </p:spPr>
        <p:txBody>
          <a:bodyPr wrap="square" lIns="0" tIns="0" rIns="0" bIns="0" anchor="t">
            <a:spAutoFit/>
          </a:bodyPr>
          <a:lstStyle/>
          <a:p>
            <a:pPr algn="l">
              <a:lnSpc>
                <a:spcPct val="100000"/>
              </a:lnSpc>
              <a:spcBef>
                <a:spcPts val="0"/>
              </a:spcBef>
              <a:spcAft>
                <a:spcPts val="0"/>
              </a:spcAft>
            </a:pPr>
            <a:r>
              <a:rPr sz="1340" b="1" i="0">
                <a:solidFill>
                  <a:srgbClr val="1F2A3C"/>
                </a:solidFill>
                <a:latin typeface="Calibri"/>
              </a:rPr>
              <a:t>2. Parser &amp; AST</a:t>
            </a:r>
          </a:p>
        </p:txBody>
      </p:sp>
      <p:sp>
        <p:nvSpPr>
          <p:cNvPr id="14" name="TextBox 13"/>
          <p:cNvSpPr txBox="1"/>
          <p:nvPr/>
        </p:nvSpPr>
        <p:spPr>
          <a:xfrm>
            <a:off x="6446520" y="1801368"/>
            <a:ext cx="5129784" cy="530352"/>
          </a:xfrm>
          <a:prstGeom prst="rect">
            <a:avLst/>
          </a:prstGeom>
          <a:noFill/>
        </p:spPr>
        <p:txBody>
          <a:bodyPr wrap="square" lIns="0" tIns="0" rIns="0" bIns="0" anchor="t">
            <a:spAutoFit/>
          </a:bodyPr>
          <a:lstStyle/>
          <a:p>
            <a:pPr algn="l">
              <a:lnSpc>
                <a:spcPct val="100000"/>
              </a:lnSpc>
              <a:spcBef>
                <a:spcPts val="0"/>
              </a:spcBef>
              <a:spcAft>
                <a:spcPts val="0"/>
              </a:spcAft>
            </a:pPr>
            <a:r>
              <a:rPr sz="1060" b="0" i="0">
                <a:solidFill>
                  <a:srgbClr val="303845"/>
                </a:solidFill>
                <a:latin typeface="Calibri"/>
              </a:rPr>
              <a:t>Checks the supported grammar and builds a structured Abstract Syntax Tree. Source locations remain attached to AST nodes.</a:t>
            </a:r>
          </a:p>
        </p:txBody>
      </p:sp>
      <p:sp>
        <p:nvSpPr>
          <p:cNvPr id="15" name="TextBox 14"/>
          <p:cNvSpPr txBox="1"/>
          <p:nvPr/>
        </p:nvSpPr>
        <p:spPr>
          <a:xfrm>
            <a:off x="6446520" y="2377440"/>
            <a:ext cx="5129784" cy="164592"/>
          </a:xfrm>
          <a:prstGeom prst="rect">
            <a:avLst/>
          </a:prstGeom>
          <a:noFill/>
        </p:spPr>
        <p:txBody>
          <a:bodyPr wrap="square" lIns="0" tIns="0" rIns="0" bIns="0" anchor="t">
            <a:spAutoFit/>
          </a:bodyPr>
          <a:lstStyle/>
          <a:p>
            <a:pPr algn="l">
              <a:lnSpc>
                <a:spcPct val="100000"/>
              </a:lnSpc>
              <a:spcBef>
                <a:spcPts val="0"/>
              </a:spcBef>
              <a:spcAft>
                <a:spcPts val="0"/>
              </a:spcAft>
            </a:pPr>
            <a:r>
              <a:rPr sz="940" b="1" i="0">
                <a:solidFill>
                  <a:srgbClr val="2E6E7E"/>
                </a:solidFill>
                <a:latin typeface="Calibri"/>
              </a:rPr>
              <a:t>Input: tokens  →  Output: AST</a:t>
            </a:r>
          </a:p>
        </p:txBody>
      </p:sp>
      <p:sp>
        <p:nvSpPr>
          <p:cNvPr id="16" name="Rectangle 15"/>
          <p:cNvSpPr/>
          <p:nvPr/>
        </p:nvSpPr>
        <p:spPr>
          <a:xfrm>
            <a:off x="548640" y="2807208"/>
            <a:ext cx="5440680" cy="1207008"/>
          </a:xfrm>
          <a:prstGeom prst="rect">
            <a:avLst/>
          </a:prstGeom>
          <a:solidFill>
            <a:srgbClr val="FFFFFF"/>
          </a:solidFill>
          <a:ln w="1016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48640" y="2807208"/>
            <a:ext cx="64008" cy="1207008"/>
          </a:xfrm>
          <a:prstGeom prst="rect">
            <a:avLst/>
          </a:prstGeom>
          <a:solidFill>
            <a:srgbClr val="2E6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2898648"/>
            <a:ext cx="5129784" cy="246888"/>
          </a:xfrm>
          <a:prstGeom prst="rect">
            <a:avLst/>
          </a:prstGeom>
          <a:noFill/>
        </p:spPr>
        <p:txBody>
          <a:bodyPr wrap="square" lIns="0" tIns="0" rIns="0" bIns="0" anchor="t">
            <a:spAutoFit/>
          </a:bodyPr>
          <a:lstStyle/>
          <a:p>
            <a:pPr algn="l">
              <a:lnSpc>
                <a:spcPct val="100000"/>
              </a:lnSpc>
              <a:spcBef>
                <a:spcPts val="0"/>
              </a:spcBef>
              <a:spcAft>
                <a:spcPts val="0"/>
              </a:spcAft>
            </a:pPr>
            <a:r>
              <a:rPr sz="1340" b="1" i="0">
                <a:solidFill>
                  <a:srgbClr val="1F2A3C"/>
                </a:solidFill>
                <a:latin typeface="Calibri"/>
              </a:rPr>
              <a:t>3. Semantic Analysis</a:t>
            </a:r>
          </a:p>
        </p:txBody>
      </p:sp>
      <p:sp>
        <p:nvSpPr>
          <p:cNvPr id="19" name="TextBox 18"/>
          <p:cNvSpPr txBox="1"/>
          <p:nvPr/>
        </p:nvSpPr>
        <p:spPr>
          <a:xfrm>
            <a:off x="731520" y="3191256"/>
            <a:ext cx="5129784" cy="530352"/>
          </a:xfrm>
          <a:prstGeom prst="rect">
            <a:avLst/>
          </a:prstGeom>
          <a:noFill/>
        </p:spPr>
        <p:txBody>
          <a:bodyPr wrap="square" lIns="0" tIns="0" rIns="0" bIns="0" anchor="t">
            <a:spAutoFit/>
          </a:bodyPr>
          <a:lstStyle/>
          <a:p>
            <a:pPr algn="l">
              <a:lnSpc>
                <a:spcPct val="100000"/>
              </a:lnSpc>
              <a:spcBef>
                <a:spcPts val="0"/>
              </a:spcBef>
              <a:spcAft>
                <a:spcPts val="0"/>
              </a:spcAft>
            </a:pPr>
            <a:r>
              <a:rPr sz="1060" b="0" i="0">
                <a:solidFill>
                  <a:srgbClr val="303845"/>
                </a:solidFill>
                <a:latin typeface="Calibri"/>
              </a:rPr>
              <a:t>Checks declarations and supported type/operand consistency before code generation. Invalid programs are reported rather than lowered.</a:t>
            </a:r>
          </a:p>
        </p:txBody>
      </p:sp>
      <p:sp>
        <p:nvSpPr>
          <p:cNvPr id="20" name="TextBox 19"/>
          <p:cNvSpPr txBox="1"/>
          <p:nvPr/>
        </p:nvSpPr>
        <p:spPr>
          <a:xfrm>
            <a:off x="731520" y="3767328"/>
            <a:ext cx="5129784" cy="164592"/>
          </a:xfrm>
          <a:prstGeom prst="rect">
            <a:avLst/>
          </a:prstGeom>
          <a:noFill/>
        </p:spPr>
        <p:txBody>
          <a:bodyPr wrap="square" lIns="0" tIns="0" rIns="0" bIns="0" anchor="t">
            <a:spAutoFit/>
          </a:bodyPr>
          <a:lstStyle/>
          <a:p>
            <a:pPr algn="l">
              <a:lnSpc>
                <a:spcPct val="100000"/>
              </a:lnSpc>
              <a:spcBef>
                <a:spcPts val="0"/>
              </a:spcBef>
              <a:spcAft>
                <a:spcPts val="0"/>
              </a:spcAft>
            </a:pPr>
            <a:r>
              <a:rPr sz="940" b="1" i="0">
                <a:solidFill>
                  <a:srgbClr val="2E6E7E"/>
                </a:solidFill>
                <a:latin typeface="Calibri"/>
              </a:rPr>
              <a:t>Input: AST  →  Output: validated AST / diagnostics</a:t>
            </a:r>
          </a:p>
        </p:txBody>
      </p:sp>
      <p:sp>
        <p:nvSpPr>
          <p:cNvPr id="21" name="Rectangle 20"/>
          <p:cNvSpPr/>
          <p:nvPr/>
        </p:nvSpPr>
        <p:spPr>
          <a:xfrm>
            <a:off x="6263640" y="2807208"/>
            <a:ext cx="5440680" cy="1207008"/>
          </a:xfrm>
          <a:prstGeom prst="rect">
            <a:avLst/>
          </a:prstGeom>
          <a:solidFill>
            <a:srgbClr val="FFFFFF"/>
          </a:solidFill>
          <a:ln w="1016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63640" y="2807208"/>
            <a:ext cx="64008" cy="1207008"/>
          </a:xfrm>
          <a:prstGeom prst="rect">
            <a:avLst/>
          </a:prstGeom>
          <a:solidFill>
            <a:srgbClr val="2E6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46520" y="2898648"/>
            <a:ext cx="5129784" cy="246888"/>
          </a:xfrm>
          <a:prstGeom prst="rect">
            <a:avLst/>
          </a:prstGeom>
          <a:noFill/>
        </p:spPr>
        <p:txBody>
          <a:bodyPr wrap="square" lIns="0" tIns="0" rIns="0" bIns="0" anchor="t">
            <a:spAutoFit/>
          </a:bodyPr>
          <a:lstStyle/>
          <a:p>
            <a:pPr algn="l">
              <a:lnSpc>
                <a:spcPct val="100000"/>
              </a:lnSpc>
              <a:spcBef>
                <a:spcPts val="0"/>
              </a:spcBef>
              <a:spcAft>
                <a:spcPts val="0"/>
              </a:spcAft>
            </a:pPr>
            <a:r>
              <a:rPr sz="1340" b="1" i="0">
                <a:solidFill>
                  <a:srgbClr val="1F2A3C"/>
                </a:solidFill>
                <a:latin typeface="Calibri"/>
              </a:rPr>
              <a:t>4. TAC Generation</a:t>
            </a:r>
          </a:p>
        </p:txBody>
      </p:sp>
      <p:sp>
        <p:nvSpPr>
          <p:cNvPr id="24" name="TextBox 23"/>
          <p:cNvSpPr txBox="1"/>
          <p:nvPr/>
        </p:nvSpPr>
        <p:spPr>
          <a:xfrm>
            <a:off x="6446520" y="3191256"/>
            <a:ext cx="5129784" cy="530352"/>
          </a:xfrm>
          <a:prstGeom prst="rect">
            <a:avLst/>
          </a:prstGeom>
          <a:noFill/>
        </p:spPr>
        <p:txBody>
          <a:bodyPr wrap="square" lIns="0" tIns="0" rIns="0" bIns="0" anchor="t">
            <a:spAutoFit/>
          </a:bodyPr>
          <a:lstStyle/>
          <a:p>
            <a:pPr algn="l">
              <a:lnSpc>
                <a:spcPct val="100000"/>
              </a:lnSpc>
              <a:spcBef>
                <a:spcPts val="0"/>
              </a:spcBef>
              <a:spcAft>
                <a:spcPts val="0"/>
              </a:spcAft>
            </a:pPr>
            <a:r>
              <a:rPr sz="1060" b="0" i="0">
                <a:solidFill>
                  <a:srgbClr val="303845"/>
                </a:solidFill>
                <a:latin typeface="Calibri"/>
              </a:rPr>
              <a:t>Lowers expressions and control flow into Three Address Code with temporaries, labels and conditional/unconditional branches.</a:t>
            </a:r>
          </a:p>
        </p:txBody>
      </p:sp>
      <p:sp>
        <p:nvSpPr>
          <p:cNvPr id="25" name="TextBox 24"/>
          <p:cNvSpPr txBox="1"/>
          <p:nvPr/>
        </p:nvSpPr>
        <p:spPr>
          <a:xfrm>
            <a:off x="6446520" y="3767328"/>
            <a:ext cx="5129784" cy="164592"/>
          </a:xfrm>
          <a:prstGeom prst="rect">
            <a:avLst/>
          </a:prstGeom>
          <a:noFill/>
        </p:spPr>
        <p:txBody>
          <a:bodyPr wrap="square" lIns="0" tIns="0" rIns="0" bIns="0" anchor="t">
            <a:spAutoFit/>
          </a:bodyPr>
          <a:lstStyle/>
          <a:p>
            <a:pPr algn="l">
              <a:lnSpc>
                <a:spcPct val="100000"/>
              </a:lnSpc>
              <a:spcBef>
                <a:spcPts val="0"/>
              </a:spcBef>
              <a:spcAft>
                <a:spcPts val="0"/>
              </a:spcAft>
            </a:pPr>
            <a:r>
              <a:rPr sz="940" b="1" i="0">
                <a:solidFill>
                  <a:srgbClr val="2E6E7E"/>
                </a:solidFill>
                <a:latin typeface="Calibri"/>
              </a:rPr>
              <a:t>Input: validated AST  →  Output: TAC</a:t>
            </a:r>
          </a:p>
        </p:txBody>
      </p:sp>
      <p:sp>
        <p:nvSpPr>
          <p:cNvPr id="26" name="Rectangle 25"/>
          <p:cNvSpPr/>
          <p:nvPr/>
        </p:nvSpPr>
        <p:spPr>
          <a:xfrm>
            <a:off x="548640" y="4197096"/>
            <a:ext cx="5440680" cy="1207008"/>
          </a:xfrm>
          <a:prstGeom prst="rect">
            <a:avLst/>
          </a:prstGeom>
          <a:solidFill>
            <a:srgbClr val="FFFFFF"/>
          </a:solidFill>
          <a:ln w="1016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48640" y="4197096"/>
            <a:ext cx="64008" cy="1207008"/>
          </a:xfrm>
          <a:prstGeom prst="rect">
            <a:avLst/>
          </a:prstGeom>
          <a:solidFill>
            <a:srgbClr val="2E6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 y="4288536"/>
            <a:ext cx="5129784" cy="246888"/>
          </a:xfrm>
          <a:prstGeom prst="rect">
            <a:avLst/>
          </a:prstGeom>
          <a:noFill/>
        </p:spPr>
        <p:txBody>
          <a:bodyPr wrap="square" lIns="0" tIns="0" rIns="0" bIns="0" anchor="t">
            <a:spAutoFit/>
          </a:bodyPr>
          <a:lstStyle/>
          <a:p>
            <a:pPr algn="l">
              <a:lnSpc>
                <a:spcPct val="100000"/>
              </a:lnSpc>
              <a:spcBef>
                <a:spcPts val="0"/>
              </a:spcBef>
              <a:spcAft>
                <a:spcPts val="0"/>
              </a:spcAft>
            </a:pPr>
            <a:r>
              <a:rPr sz="1340" b="1" i="0">
                <a:solidFill>
                  <a:srgbClr val="1F2A3C"/>
                </a:solidFill>
                <a:latin typeface="Calibri"/>
              </a:rPr>
              <a:t>5. Basic Blocks &amp; CFG</a:t>
            </a:r>
          </a:p>
        </p:txBody>
      </p:sp>
      <p:sp>
        <p:nvSpPr>
          <p:cNvPr id="29" name="TextBox 28"/>
          <p:cNvSpPr txBox="1"/>
          <p:nvPr/>
        </p:nvSpPr>
        <p:spPr>
          <a:xfrm>
            <a:off x="731520" y="4581144"/>
            <a:ext cx="5129784" cy="530352"/>
          </a:xfrm>
          <a:prstGeom prst="rect">
            <a:avLst/>
          </a:prstGeom>
          <a:noFill/>
        </p:spPr>
        <p:txBody>
          <a:bodyPr wrap="square" lIns="0" tIns="0" rIns="0" bIns="0" anchor="t">
            <a:spAutoFit/>
          </a:bodyPr>
          <a:lstStyle/>
          <a:p>
            <a:pPr algn="l">
              <a:lnSpc>
                <a:spcPct val="100000"/>
              </a:lnSpc>
              <a:spcBef>
                <a:spcPts val="0"/>
              </a:spcBef>
              <a:spcAft>
                <a:spcPts val="0"/>
              </a:spcAft>
            </a:pPr>
            <a:r>
              <a:rPr sz="1060" b="0" i="0">
                <a:solidFill>
                  <a:srgbClr val="303845"/>
                </a:solidFill>
                <a:latin typeface="Calibri"/>
              </a:rPr>
              <a:t>Partitions TAC into basic blocks and connects them with control-flow edges, including branches and loop back-edges.</a:t>
            </a:r>
          </a:p>
        </p:txBody>
      </p:sp>
      <p:sp>
        <p:nvSpPr>
          <p:cNvPr id="30" name="TextBox 29"/>
          <p:cNvSpPr txBox="1"/>
          <p:nvPr/>
        </p:nvSpPr>
        <p:spPr>
          <a:xfrm>
            <a:off x="731520" y="5157216"/>
            <a:ext cx="5129784" cy="164592"/>
          </a:xfrm>
          <a:prstGeom prst="rect">
            <a:avLst/>
          </a:prstGeom>
          <a:noFill/>
        </p:spPr>
        <p:txBody>
          <a:bodyPr wrap="square" lIns="0" tIns="0" rIns="0" bIns="0" anchor="t">
            <a:spAutoFit/>
          </a:bodyPr>
          <a:lstStyle/>
          <a:p>
            <a:pPr algn="l">
              <a:lnSpc>
                <a:spcPct val="100000"/>
              </a:lnSpc>
              <a:spcBef>
                <a:spcPts val="0"/>
              </a:spcBef>
              <a:spcAft>
                <a:spcPts val="0"/>
              </a:spcAft>
            </a:pPr>
            <a:r>
              <a:rPr sz="940" b="1" i="0">
                <a:solidFill>
                  <a:srgbClr val="2E6E7E"/>
                </a:solidFill>
                <a:latin typeface="Calibri"/>
              </a:rPr>
              <a:t>Input: TAC  →  Output: CFG</a:t>
            </a:r>
          </a:p>
        </p:txBody>
      </p:sp>
      <p:sp>
        <p:nvSpPr>
          <p:cNvPr id="31" name="Rectangle 30"/>
          <p:cNvSpPr/>
          <p:nvPr/>
        </p:nvSpPr>
        <p:spPr>
          <a:xfrm>
            <a:off x="6263640" y="4197096"/>
            <a:ext cx="5440680" cy="1207008"/>
          </a:xfrm>
          <a:prstGeom prst="rect">
            <a:avLst/>
          </a:prstGeom>
          <a:solidFill>
            <a:srgbClr val="FFFFFF"/>
          </a:solidFill>
          <a:ln w="1016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263640" y="4197096"/>
            <a:ext cx="64008" cy="1207008"/>
          </a:xfrm>
          <a:prstGeom prst="rect">
            <a:avLst/>
          </a:prstGeom>
          <a:solidFill>
            <a:srgbClr val="2E6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46520" y="4288536"/>
            <a:ext cx="5129784" cy="246888"/>
          </a:xfrm>
          <a:prstGeom prst="rect">
            <a:avLst/>
          </a:prstGeom>
          <a:noFill/>
        </p:spPr>
        <p:txBody>
          <a:bodyPr wrap="square" lIns="0" tIns="0" rIns="0" bIns="0" anchor="t">
            <a:spAutoFit/>
          </a:bodyPr>
          <a:lstStyle/>
          <a:p>
            <a:pPr algn="l">
              <a:lnSpc>
                <a:spcPct val="100000"/>
              </a:lnSpc>
              <a:spcBef>
                <a:spcPts val="0"/>
              </a:spcBef>
              <a:spcAft>
                <a:spcPts val="0"/>
              </a:spcAft>
            </a:pPr>
            <a:r>
              <a:rPr sz="1340" b="1" i="0">
                <a:solidFill>
                  <a:srgbClr val="1F2A3C"/>
                </a:solidFill>
                <a:latin typeface="Calibri"/>
              </a:rPr>
              <a:t>6. SSA Construction</a:t>
            </a:r>
          </a:p>
        </p:txBody>
      </p:sp>
      <p:sp>
        <p:nvSpPr>
          <p:cNvPr id="34" name="TextBox 33"/>
          <p:cNvSpPr txBox="1"/>
          <p:nvPr/>
        </p:nvSpPr>
        <p:spPr>
          <a:xfrm>
            <a:off x="6446520" y="4581144"/>
            <a:ext cx="5129784" cy="530352"/>
          </a:xfrm>
          <a:prstGeom prst="rect">
            <a:avLst/>
          </a:prstGeom>
          <a:noFill/>
        </p:spPr>
        <p:txBody>
          <a:bodyPr wrap="square" lIns="0" tIns="0" rIns="0" bIns="0" anchor="t">
            <a:spAutoFit/>
          </a:bodyPr>
          <a:lstStyle/>
          <a:p>
            <a:pPr algn="l">
              <a:lnSpc>
                <a:spcPct val="100000"/>
              </a:lnSpc>
              <a:spcBef>
                <a:spcPts val="0"/>
              </a:spcBef>
              <a:spcAft>
                <a:spcPts val="0"/>
              </a:spcAft>
            </a:pPr>
            <a:r>
              <a:rPr sz="1060" b="0" i="0">
                <a:solidFill>
                  <a:srgbClr val="303845"/>
                </a:solidFill>
                <a:latin typeface="Calibri"/>
              </a:rPr>
              <a:t>Versions variable definitions and inserts φ-nodes at control-flow joins/loop headers so every SSA value has one definition.</a:t>
            </a:r>
          </a:p>
        </p:txBody>
      </p:sp>
      <p:sp>
        <p:nvSpPr>
          <p:cNvPr id="35" name="TextBox 34"/>
          <p:cNvSpPr txBox="1"/>
          <p:nvPr/>
        </p:nvSpPr>
        <p:spPr>
          <a:xfrm>
            <a:off x="6446520" y="5157216"/>
            <a:ext cx="5129784" cy="164592"/>
          </a:xfrm>
          <a:prstGeom prst="rect">
            <a:avLst/>
          </a:prstGeom>
          <a:noFill/>
        </p:spPr>
        <p:txBody>
          <a:bodyPr wrap="square" lIns="0" tIns="0" rIns="0" bIns="0" anchor="t">
            <a:spAutoFit/>
          </a:bodyPr>
          <a:lstStyle/>
          <a:p>
            <a:pPr algn="l">
              <a:lnSpc>
                <a:spcPct val="100000"/>
              </a:lnSpc>
              <a:spcBef>
                <a:spcPts val="0"/>
              </a:spcBef>
              <a:spcAft>
                <a:spcPts val="0"/>
              </a:spcAft>
            </a:pPr>
            <a:r>
              <a:rPr sz="940" b="1" i="0">
                <a:solidFill>
                  <a:srgbClr val="2E6E7E"/>
                </a:solidFill>
                <a:latin typeface="Calibri"/>
              </a:rPr>
              <a:t>Input: CFG  →  Output: SSA IR</a:t>
            </a:r>
          </a:p>
        </p:txBody>
      </p:sp>
      <p:sp>
        <p:nvSpPr>
          <p:cNvPr id="36" name="TextBox 35"/>
          <p:cNvSpPr txBox="1"/>
          <p:nvPr/>
        </p:nvSpPr>
        <p:spPr>
          <a:xfrm>
            <a:off x="640080" y="5715000"/>
            <a:ext cx="10881360" cy="256032"/>
          </a:xfrm>
          <a:prstGeom prst="rect">
            <a:avLst/>
          </a:prstGeom>
          <a:noFill/>
        </p:spPr>
        <p:txBody>
          <a:bodyPr wrap="square" lIns="0" tIns="0" rIns="0" bIns="0" anchor="t">
            <a:spAutoFit/>
          </a:bodyPr>
          <a:lstStyle/>
          <a:p>
            <a:pPr algn="ctr">
              <a:lnSpc>
                <a:spcPct val="100000"/>
              </a:lnSpc>
              <a:spcBef>
                <a:spcPts val="0"/>
              </a:spcBef>
              <a:spcAft>
                <a:spcPts val="0"/>
              </a:spcAft>
            </a:pPr>
            <a:r>
              <a:rPr sz="1050" b="0" i="1">
                <a:solidFill>
                  <a:srgbClr val="7B8490"/>
                </a:solidFill>
                <a:latin typeface="Calibri"/>
              </a:rPr>
              <a:t>These stages establish the program structure and control-flow facts consumed by the analysis passes.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347472"/>
            <a:ext cx="10607040" cy="256032"/>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2E6E7E"/>
                </a:solidFill>
                <a:latin typeface="Calibri"/>
              </a:rPr>
              <a:t>REVIEW 2 · MODULE DESCRIPTIONS</a:t>
            </a:r>
          </a:p>
        </p:txBody>
      </p:sp>
      <p:sp>
        <p:nvSpPr>
          <p:cNvPr id="3" name="TextBox 2"/>
          <p:cNvSpPr txBox="1"/>
          <p:nvPr/>
        </p:nvSpPr>
        <p:spPr>
          <a:xfrm>
            <a:off x="502920" y="621792"/>
            <a:ext cx="11155680" cy="566928"/>
          </a:xfrm>
          <a:prstGeom prst="rect">
            <a:avLst/>
          </a:prstGeom>
          <a:noFill/>
        </p:spPr>
        <p:txBody>
          <a:bodyPr wrap="square" lIns="0" tIns="0" rIns="0" bIns="0" anchor="t">
            <a:spAutoFit/>
          </a:bodyPr>
          <a:lstStyle/>
          <a:p>
            <a:pPr algn="l">
              <a:lnSpc>
                <a:spcPct val="100000"/>
              </a:lnSpc>
              <a:spcBef>
                <a:spcPts val="0"/>
              </a:spcBef>
              <a:spcAft>
                <a:spcPts val="0"/>
              </a:spcAft>
            </a:pPr>
            <a:r>
              <a:rPr sz="2800" b="1" i="0">
                <a:solidFill>
                  <a:srgbClr val="1F2A3C"/>
                </a:solidFill>
                <a:latin typeface="Cambria"/>
              </a:rPr>
              <a:t>Module Description II — Analysis, Transformation &amp; Evaluation</a:t>
            </a:r>
          </a:p>
        </p:txBody>
      </p:sp>
      <p:sp>
        <p:nvSpPr>
          <p:cNvPr id="4" name="TextBox 3"/>
          <p:cNvSpPr txBox="1"/>
          <p:nvPr/>
        </p:nvSpPr>
        <p:spPr>
          <a:xfrm>
            <a:off x="502920" y="6492240"/>
            <a:ext cx="9875520" cy="201168"/>
          </a:xfrm>
          <a:prstGeom prst="rect">
            <a:avLst/>
          </a:prstGeom>
          <a:noFill/>
        </p:spPr>
        <p:txBody>
          <a:bodyPr wrap="square" lIns="0" tIns="0" rIns="0" bIns="0" anchor="t">
            <a:spAutoFit/>
          </a:bodyPr>
          <a:lstStyle/>
          <a:p>
            <a:pPr algn="l">
              <a:lnSpc>
                <a:spcPct val="100000"/>
              </a:lnSpc>
              <a:spcBef>
                <a:spcPts val="0"/>
              </a:spcBef>
              <a:spcAft>
                <a:spcPts val="0"/>
              </a:spcAft>
            </a:pPr>
            <a:r>
              <a:rPr sz="850" b="0" i="0">
                <a:solidFill>
                  <a:srgbClr val="8A919A"/>
                </a:solidFill>
                <a:latin typeface="Calibri"/>
              </a:rPr>
              <a:t>BCSE307L — Compiler Design   |   Range-Aware Edge AI Quantization Compiler</a:t>
            </a:r>
          </a:p>
        </p:txBody>
      </p:sp>
      <p:sp>
        <p:nvSpPr>
          <p:cNvPr id="5" name="TextBox 4"/>
          <p:cNvSpPr txBox="1"/>
          <p:nvPr/>
        </p:nvSpPr>
        <p:spPr>
          <a:xfrm>
            <a:off x="11228832" y="6492240"/>
            <a:ext cx="457200" cy="201168"/>
          </a:xfrm>
          <a:prstGeom prst="rect">
            <a:avLst/>
          </a:prstGeom>
          <a:noFill/>
        </p:spPr>
        <p:txBody>
          <a:bodyPr wrap="square" lIns="0" tIns="0" rIns="0" bIns="0" anchor="t">
            <a:spAutoFit/>
          </a:bodyPr>
          <a:lstStyle/>
          <a:p>
            <a:pPr algn="r"/>
            <a:r>
              <a:rPr sz="850">
                <a:solidFill>
                  <a:srgbClr val="8A919A"/>
                </a:solidFill>
                <a:latin typeface="Calibri"/>
              </a:rPr>
              <a:t>13</a:t>
            </a:r>
          </a:p>
        </p:txBody>
      </p:sp>
      <p:sp>
        <p:nvSpPr>
          <p:cNvPr id="6" name="Rectangle 5"/>
          <p:cNvSpPr/>
          <p:nvPr/>
        </p:nvSpPr>
        <p:spPr>
          <a:xfrm>
            <a:off x="548640" y="1417320"/>
            <a:ext cx="5440680" cy="1298448"/>
          </a:xfrm>
          <a:prstGeom prst="rect">
            <a:avLst/>
          </a:prstGeom>
          <a:solidFill>
            <a:srgbClr val="FFFFFF"/>
          </a:solidFill>
          <a:ln w="1016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 y="1417320"/>
            <a:ext cx="64008" cy="1298448"/>
          </a:xfrm>
          <a:prstGeom prst="rect">
            <a:avLst/>
          </a:prstGeom>
          <a:solidFill>
            <a:srgbClr val="2E6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508760"/>
            <a:ext cx="5129784" cy="246888"/>
          </a:xfrm>
          <a:prstGeom prst="rect">
            <a:avLst/>
          </a:prstGeom>
          <a:noFill/>
        </p:spPr>
        <p:txBody>
          <a:bodyPr wrap="square" lIns="0" tIns="0" rIns="0" bIns="0" anchor="t">
            <a:spAutoFit/>
          </a:bodyPr>
          <a:lstStyle/>
          <a:p>
            <a:pPr algn="l">
              <a:lnSpc>
                <a:spcPct val="100000"/>
              </a:lnSpc>
              <a:spcBef>
                <a:spcPts val="0"/>
              </a:spcBef>
              <a:spcAft>
                <a:spcPts val="0"/>
              </a:spcAft>
            </a:pPr>
            <a:r>
              <a:rPr sz="1340" b="1" i="0">
                <a:solidFill>
                  <a:srgbClr val="1F2A3C"/>
                </a:solidFill>
                <a:latin typeface="Calibri"/>
              </a:rPr>
              <a:t>7. Range &amp; Integrality Analysis</a:t>
            </a:r>
          </a:p>
        </p:txBody>
      </p:sp>
      <p:sp>
        <p:nvSpPr>
          <p:cNvPr id="9" name="TextBox 8"/>
          <p:cNvSpPr txBox="1"/>
          <p:nvPr/>
        </p:nvSpPr>
        <p:spPr>
          <a:xfrm>
            <a:off x="731520" y="1801368"/>
            <a:ext cx="5129784" cy="621792"/>
          </a:xfrm>
          <a:prstGeom prst="rect">
            <a:avLst/>
          </a:prstGeom>
          <a:noFill/>
        </p:spPr>
        <p:txBody>
          <a:bodyPr wrap="square" lIns="0" tIns="0" rIns="0" bIns="0" anchor="t">
            <a:spAutoFit/>
          </a:bodyPr>
          <a:lstStyle/>
          <a:p>
            <a:pPr algn="l">
              <a:lnSpc>
                <a:spcPct val="100000"/>
              </a:lnSpc>
              <a:spcBef>
                <a:spcPts val="0"/>
              </a:spcBef>
              <a:spcAft>
                <a:spcPts val="0"/>
              </a:spcAft>
            </a:pPr>
            <a:r>
              <a:rPr sz="1080" b="0" i="0">
                <a:solidFill>
                  <a:srgbClr val="303845"/>
                </a:solidFill>
                <a:latin typeface="Calibri"/>
              </a:rPr>
              <a:t>Propagates interval bounds and whether values are guaranteed integral through supported SSA operations and φ-node merges. Loop widening is conservative and may yield UNKNOWN.</a:t>
            </a:r>
          </a:p>
        </p:txBody>
      </p:sp>
      <p:sp>
        <p:nvSpPr>
          <p:cNvPr id="10" name="TextBox 9"/>
          <p:cNvSpPr txBox="1"/>
          <p:nvPr/>
        </p:nvSpPr>
        <p:spPr>
          <a:xfrm>
            <a:off x="731520" y="2468879"/>
            <a:ext cx="5129784" cy="164592"/>
          </a:xfrm>
          <a:prstGeom prst="rect">
            <a:avLst/>
          </a:prstGeom>
          <a:noFill/>
        </p:spPr>
        <p:txBody>
          <a:bodyPr wrap="square" lIns="0" tIns="0" rIns="0" bIns="0" anchor="t">
            <a:spAutoFit/>
          </a:bodyPr>
          <a:lstStyle/>
          <a:p>
            <a:pPr algn="l">
              <a:lnSpc>
                <a:spcPct val="100000"/>
              </a:lnSpc>
              <a:spcBef>
                <a:spcPts val="0"/>
              </a:spcBef>
              <a:spcAft>
                <a:spcPts val="0"/>
              </a:spcAft>
            </a:pPr>
            <a:r>
              <a:rPr sz="940" b="1" i="0">
                <a:solidFill>
                  <a:srgbClr val="2E6E7E"/>
                </a:solidFill>
                <a:latin typeface="Calibri"/>
              </a:rPr>
              <a:t>Input: SSA  →  Output: range + integrality facts</a:t>
            </a:r>
          </a:p>
        </p:txBody>
      </p:sp>
      <p:sp>
        <p:nvSpPr>
          <p:cNvPr id="11" name="Rectangle 10"/>
          <p:cNvSpPr/>
          <p:nvPr/>
        </p:nvSpPr>
        <p:spPr>
          <a:xfrm>
            <a:off x="6172200" y="1417320"/>
            <a:ext cx="5440680" cy="1298448"/>
          </a:xfrm>
          <a:prstGeom prst="rect">
            <a:avLst/>
          </a:prstGeom>
          <a:solidFill>
            <a:srgbClr val="FFFFFF"/>
          </a:solidFill>
          <a:ln w="1016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72200" y="1417320"/>
            <a:ext cx="64008" cy="1298448"/>
          </a:xfrm>
          <a:prstGeom prst="rect">
            <a:avLst/>
          </a:prstGeom>
          <a:solidFill>
            <a:srgbClr val="2E6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1508760"/>
            <a:ext cx="5129784" cy="246888"/>
          </a:xfrm>
          <a:prstGeom prst="rect">
            <a:avLst/>
          </a:prstGeom>
          <a:noFill/>
        </p:spPr>
        <p:txBody>
          <a:bodyPr wrap="square" lIns="0" tIns="0" rIns="0" bIns="0" anchor="t">
            <a:spAutoFit/>
          </a:bodyPr>
          <a:lstStyle/>
          <a:p>
            <a:pPr algn="l">
              <a:lnSpc>
                <a:spcPct val="100000"/>
              </a:lnSpc>
              <a:spcBef>
                <a:spcPts val="0"/>
              </a:spcBef>
              <a:spcAft>
                <a:spcPts val="0"/>
              </a:spcAft>
            </a:pPr>
            <a:r>
              <a:rPr sz="1340" b="1" i="0">
                <a:solidFill>
                  <a:srgbClr val="1F2A3C"/>
                </a:solidFill>
                <a:latin typeface="Calibri"/>
              </a:rPr>
              <a:t>8. INT8 Safety Analysis</a:t>
            </a:r>
          </a:p>
        </p:txBody>
      </p:sp>
      <p:sp>
        <p:nvSpPr>
          <p:cNvPr id="14" name="TextBox 13"/>
          <p:cNvSpPr txBox="1"/>
          <p:nvPr/>
        </p:nvSpPr>
        <p:spPr>
          <a:xfrm>
            <a:off x="6355080" y="1801368"/>
            <a:ext cx="5129784" cy="621792"/>
          </a:xfrm>
          <a:prstGeom prst="rect">
            <a:avLst/>
          </a:prstGeom>
          <a:noFill/>
        </p:spPr>
        <p:txBody>
          <a:bodyPr wrap="square" lIns="0" tIns="0" rIns="0" bIns="0" anchor="t">
            <a:spAutoFit/>
          </a:bodyPr>
          <a:lstStyle/>
          <a:p>
            <a:pPr algn="l">
              <a:lnSpc>
                <a:spcPct val="100000"/>
              </a:lnSpc>
              <a:spcBef>
                <a:spcPts val="0"/>
              </a:spcBef>
              <a:spcAft>
                <a:spcPts val="0"/>
              </a:spcAft>
            </a:pPr>
            <a:r>
              <a:rPr sz="1080" b="0" i="0">
                <a:solidFill>
                  <a:srgbClr val="303845"/>
                </a:solidFill>
                <a:latin typeface="Calibri"/>
              </a:rPr>
              <a:t>Checks whether the inferred interval lies within [−128,127], integrality is proven, and the operation is supported. If proof fails, it rejects quantization.</a:t>
            </a:r>
          </a:p>
        </p:txBody>
      </p:sp>
      <p:sp>
        <p:nvSpPr>
          <p:cNvPr id="15" name="TextBox 14"/>
          <p:cNvSpPr txBox="1"/>
          <p:nvPr/>
        </p:nvSpPr>
        <p:spPr>
          <a:xfrm>
            <a:off x="6355080" y="2468879"/>
            <a:ext cx="5129784" cy="164592"/>
          </a:xfrm>
          <a:prstGeom prst="rect">
            <a:avLst/>
          </a:prstGeom>
          <a:noFill/>
        </p:spPr>
        <p:txBody>
          <a:bodyPr wrap="square" lIns="0" tIns="0" rIns="0" bIns="0" anchor="t">
            <a:spAutoFit/>
          </a:bodyPr>
          <a:lstStyle/>
          <a:p>
            <a:pPr algn="l">
              <a:lnSpc>
                <a:spcPct val="100000"/>
              </a:lnSpc>
              <a:spcBef>
                <a:spcPts val="0"/>
              </a:spcBef>
              <a:spcAft>
                <a:spcPts val="0"/>
              </a:spcAft>
            </a:pPr>
            <a:r>
              <a:rPr sz="940" b="1" i="0">
                <a:solidFill>
                  <a:srgbClr val="2E6E7E"/>
                </a:solidFill>
                <a:latin typeface="Calibri"/>
              </a:rPr>
              <a:t>Input: analysis facts  →  Output: SAFE / REJECT + reason</a:t>
            </a:r>
          </a:p>
        </p:txBody>
      </p:sp>
      <p:sp>
        <p:nvSpPr>
          <p:cNvPr id="16" name="Rectangle 15"/>
          <p:cNvSpPr/>
          <p:nvPr/>
        </p:nvSpPr>
        <p:spPr>
          <a:xfrm>
            <a:off x="548640" y="2907792"/>
            <a:ext cx="5440680" cy="1298448"/>
          </a:xfrm>
          <a:prstGeom prst="rect">
            <a:avLst/>
          </a:prstGeom>
          <a:solidFill>
            <a:srgbClr val="FFFFFF"/>
          </a:solidFill>
          <a:ln w="1016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48640" y="2907792"/>
            <a:ext cx="64008" cy="1298448"/>
          </a:xfrm>
          <a:prstGeom prst="rect">
            <a:avLst/>
          </a:prstGeom>
          <a:solidFill>
            <a:srgbClr val="2E6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2999232"/>
            <a:ext cx="5129784" cy="246888"/>
          </a:xfrm>
          <a:prstGeom prst="rect">
            <a:avLst/>
          </a:prstGeom>
          <a:noFill/>
        </p:spPr>
        <p:txBody>
          <a:bodyPr wrap="square" lIns="0" tIns="0" rIns="0" bIns="0" anchor="t">
            <a:spAutoFit/>
          </a:bodyPr>
          <a:lstStyle/>
          <a:p>
            <a:pPr algn="l">
              <a:lnSpc>
                <a:spcPct val="100000"/>
              </a:lnSpc>
              <a:spcBef>
                <a:spcPts val="0"/>
              </a:spcBef>
              <a:spcAft>
                <a:spcPts val="0"/>
              </a:spcAft>
            </a:pPr>
            <a:r>
              <a:rPr sz="1340" b="1" i="0">
                <a:solidFill>
                  <a:srgbClr val="1F2A3C"/>
                </a:solidFill>
                <a:latin typeface="Calibri"/>
              </a:rPr>
              <a:t>9. Selective Quantization</a:t>
            </a:r>
          </a:p>
        </p:txBody>
      </p:sp>
      <p:sp>
        <p:nvSpPr>
          <p:cNvPr id="19" name="TextBox 18"/>
          <p:cNvSpPr txBox="1"/>
          <p:nvPr/>
        </p:nvSpPr>
        <p:spPr>
          <a:xfrm>
            <a:off x="731520" y="3291840"/>
            <a:ext cx="5129784" cy="621792"/>
          </a:xfrm>
          <a:prstGeom prst="rect">
            <a:avLst/>
          </a:prstGeom>
          <a:noFill/>
        </p:spPr>
        <p:txBody>
          <a:bodyPr wrap="square" lIns="0" tIns="0" rIns="0" bIns="0" anchor="t">
            <a:spAutoFit/>
          </a:bodyPr>
          <a:lstStyle/>
          <a:p>
            <a:pPr algn="l">
              <a:lnSpc>
                <a:spcPct val="100000"/>
              </a:lnSpc>
              <a:spcBef>
                <a:spcPts val="0"/>
              </a:spcBef>
              <a:spcAft>
                <a:spcPts val="0"/>
              </a:spcAft>
            </a:pPr>
            <a:r>
              <a:rPr sz="1080" b="0" i="0">
                <a:solidFill>
                  <a:srgbClr val="303845"/>
                </a:solidFill>
                <a:latin typeface="Calibri"/>
              </a:rPr>
              <a:t>Rewrites only operations certified safe by the preceding pass. Unsupported or unproven operations remain in their original representation.</a:t>
            </a:r>
          </a:p>
        </p:txBody>
      </p:sp>
      <p:sp>
        <p:nvSpPr>
          <p:cNvPr id="20" name="TextBox 19"/>
          <p:cNvSpPr txBox="1"/>
          <p:nvPr/>
        </p:nvSpPr>
        <p:spPr>
          <a:xfrm>
            <a:off x="731520" y="3959352"/>
            <a:ext cx="5129784" cy="164592"/>
          </a:xfrm>
          <a:prstGeom prst="rect">
            <a:avLst/>
          </a:prstGeom>
          <a:noFill/>
        </p:spPr>
        <p:txBody>
          <a:bodyPr wrap="square" lIns="0" tIns="0" rIns="0" bIns="0" anchor="t">
            <a:spAutoFit/>
          </a:bodyPr>
          <a:lstStyle/>
          <a:p>
            <a:pPr algn="l">
              <a:lnSpc>
                <a:spcPct val="100000"/>
              </a:lnSpc>
              <a:spcBef>
                <a:spcPts val="0"/>
              </a:spcBef>
              <a:spcAft>
                <a:spcPts val="0"/>
              </a:spcAft>
            </a:pPr>
            <a:r>
              <a:rPr sz="940" b="1" i="0">
                <a:solidFill>
                  <a:srgbClr val="2E6E7E"/>
                </a:solidFill>
                <a:latin typeface="Calibri"/>
              </a:rPr>
              <a:t>Input: SSA + safety decisions  →  Output: quantized SSA/IR</a:t>
            </a:r>
          </a:p>
        </p:txBody>
      </p:sp>
      <p:sp>
        <p:nvSpPr>
          <p:cNvPr id="21" name="Rectangle 20"/>
          <p:cNvSpPr/>
          <p:nvPr/>
        </p:nvSpPr>
        <p:spPr>
          <a:xfrm>
            <a:off x="6172200" y="2907792"/>
            <a:ext cx="5440680" cy="1298448"/>
          </a:xfrm>
          <a:prstGeom prst="rect">
            <a:avLst/>
          </a:prstGeom>
          <a:solidFill>
            <a:srgbClr val="FFFFFF"/>
          </a:solidFill>
          <a:ln w="1016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72200" y="2907792"/>
            <a:ext cx="64008" cy="1298448"/>
          </a:xfrm>
          <a:prstGeom prst="rect">
            <a:avLst/>
          </a:prstGeom>
          <a:solidFill>
            <a:srgbClr val="2E6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55080" y="2999232"/>
            <a:ext cx="5129784" cy="246888"/>
          </a:xfrm>
          <a:prstGeom prst="rect">
            <a:avLst/>
          </a:prstGeom>
          <a:noFill/>
        </p:spPr>
        <p:txBody>
          <a:bodyPr wrap="square" lIns="0" tIns="0" rIns="0" bIns="0" anchor="t">
            <a:spAutoFit/>
          </a:bodyPr>
          <a:lstStyle/>
          <a:p>
            <a:pPr algn="l">
              <a:lnSpc>
                <a:spcPct val="100000"/>
              </a:lnSpc>
              <a:spcBef>
                <a:spcPts val="0"/>
              </a:spcBef>
              <a:spcAft>
                <a:spcPts val="0"/>
              </a:spcAft>
            </a:pPr>
            <a:r>
              <a:rPr sz="1340" b="1" i="0">
                <a:solidFill>
                  <a:srgbClr val="1F2A3C"/>
                </a:solidFill>
                <a:latin typeface="Calibri"/>
              </a:rPr>
              <a:t>10. Lightweight Simulator / Backend</a:t>
            </a:r>
          </a:p>
        </p:txBody>
      </p:sp>
      <p:sp>
        <p:nvSpPr>
          <p:cNvPr id="24" name="TextBox 23"/>
          <p:cNvSpPr txBox="1"/>
          <p:nvPr/>
        </p:nvSpPr>
        <p:spPr>
          <a:xfrm>
            <a:off x="6355080" y="3291840"/>
            <a:ext cx="5129784" cy="621792"/>
          </a:xfrm>
          <a:prstGeom prst="rect">
            <a:avLst/>
          </a:prstGeom>
          <a:noFill/>
        </p:spPr>
        <p:txBody>
          <a:bodyPr wrap="square" lIns="0" tIns="0" rIns="0" bIns="0" anchor="t">
            <a:spAutoFit/>
          </a:bodyPr>
          <a:lstStyle/>
          <a:p>
            <a:pPr algn="l">
              <a:lnSpc>
                <a:spcPct val="100000"/>
              </a:lnSpc>
              <a:spcBef>
                <a:spcPts val="0"/>
              </a:spcBef>
              <a:spcAft>
                <a:spcPts val="0"/>
              </a:spcAft>
            </a:pPr>
            <a:r>
              <a:rPr sz="1080" b="0" i="0">
                <a:solidFill>
                  <a:srgbClr val="303845"/>
                </a:solidFill>
                <a:latin typeface="Calibri"/>
              </a:rPr>
              <a:t>Walks the original and transformed IR for functional comparison within the defined language. It is not an LLVM or hardware backend.</a:t>
            </a:r>
          </a:p>
        </p:txBody>
      </p:sp>
      <p:sp>
        <p:nvSpPr>
          <p:cNvPr id="25" name="TextBox 24"/>
          <p:cNvSpPr txBox="1"/>
          <p:nvPr/>
        </p:nvSpPr>
        <p:spPr>
          <a:xfrm>
            <a:off x="6355080" y="3959352"/>
            <a:ext cx="5129784" cy="164592"/>
          </a:xfrm>
          <a:prstGeom prst="rect">
            <a:avLst/>
          </a:prstGeom>
          <a:noFill/>
        </p:spPr>
        <p:txBody>
          <a:bodyPr wrap="square" lIns="0" tIns="0" rIns="0" bIns="0" anchor="t">
            <a:spAutoFit/>
          </a:bodyPr>
          <a:lstStyle/>
          <a:p>
            <a:pPr algn="l">
              <a:lnSpc>
                <a:spcPct val="100000"/>
              </a:lnSpc>
              <a:spcBef>
                <a:spcPts val="0"/>
              </a:spcBef>
              <a:spcAft>
                <a:spcPts val="0"/>
              </a:spcAft>
            </a:pPr>
            <a:r>
              <a:rPr sz="940" b="1" i="0">
                <a:solidFill>
                  <a:srgbClr val="2E6E7E"/>
                </a:solidFill>
                <a:latin typeface="Calibri"/>
              </a:rPr>
              <a:t>Input: original / quantized IR  →  Output: execution result</a:t>
            </a:r>
          </a:p>
        </p:txBody>
      </p:sp>
      <p:sp>
        <p:nvSpPr>
          <p:cNvPr id="26" name="Rectangle 25"/>
          <p:cNvSpPr/>
          <p:nvPr/>
        </p:nvSpPr>
        <p:spPr>
          <a:xfrm>
            <a:off x="548640" y="4407408"/>
            <a:ext cx="11064240" cy="1234440"/>
          </a:xfrm>
          <a:prstGeom prst="rect">
            <a:avLst/>
          </a:prstGeom>
          <a:solidFill>
            <a:srgbClr val="FFFFFF"/>
          </a:solidFill>
          <a:ln w="1016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48640" y="4407408"/>
            <a:ext cx="64008" cy="1234440"/>
          </a:xfrm>
          <a:prstGeom prst="rect">
            <a:avLst/>
          </a:prstGeom>
          <a:solidFill>
            <a:srgbClr val="2E6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 y="4498848"/>
            <a:ext cx="10753344" cy="246888"/>
          </a:xfrm>
          <a:prstGeom prst="rect">
            <a:avLst/>
          </a:prstGeom>
          <a:noFill/>
        </p:spPr>
        <p:txBody>
          <a:bodyPr wrap="square" lIns="0" tIns="0" rIns="0" bIns="0" anchor="t">
            <a:spAutoFit/>
          </a:bodyPr>
          <a:lstStyle/>
          <a:p>
            <a:pPr algn="l">
              <a:lnSpc>
                <a:spcPct val="100000"/>
              </a:lnSpc>
              <a:spcBef>
                <a:spcPts val="0"/>
              </a:spcBef>
              <a:spcAft>
                <a:spcPts val="0"/>
              </a:spcAft>
            </a:pPr>
            <a:r>
              <a:rPr sz="1340" b="1" i="0">
                <a:solidFill>
                  <a:srgbClr val="1F2A3C"/>
                </a:solidFill>
                <a:latin typeface="Calibri"/>
              </a:rPr>
              <a:t>11. Diagnostics &amp; Evaluation</a:t>
            </a:r>
          </a:p>
        </p:txBody>
      </p:sp>
      <p:sp>
        <p:nvSpPr>
          <p:cNvPr id="29" name="TextBox 28"/>
          <p:cNvSpPr txBox="1"/>
          <p:nvPr/>
        </p:nvSpPr>
        <p:spPr>
          <a:xfrm>
            <a:off x="731520" y="4791456"/>
            <a:ext cx="10753344" cy="557784"/>
          </a:xfrm>
          <a:prstGeom prst="rect">
            <a:avLst/>
          </a:prstGeom>
          <a:noFill/>
        </p:spPr>
        <p:txBody>
          <a:bodyPr wrap="square" lIns="0" tIns="0" rIns="0" bIns="0" anchor="t">
            <a:spAutoFit/>
          </a:bodyPr>
          <a:lstStyle/>
          <a:p>
            <a:pPr algn="l">
              <a:lnSpc>
                <a:spcPct val="100000"/>
              </a:lnSpc>
              <a:spcBef>
                <a:spcPts val="0"/>
              </a:spcBef>
              <a:spcAft>
                <a:spcPts val="0"/>
              </a:spcAft>
            </a:pPr>
            <a:r>
              <a:rPr sz="1080" b="0" i="0">
                <a:solidFill>
                  <a:srgbClr val="303845"/>
                </a:solidFill>
                <a:latin typeface="Calibri"/>
              </a:rPr>
              <a:t>Reports source line/column, inferred range, integrality, decision and rejection reason; tests correctness on supported programs. Hardware speed/energy are not measured.</a:t>
            </a:r>
          </a:p>
        </p:txBody>
      </p:sp>
      <p:sp>
        <p:nvSpPr>
          <p:cNvPr id="30" name="TextBox 29"/>
          <p:cNvSpPr txBox="1"/>
          <p:nvPr/>
        </p:nvSpPr>
        <p:spPr>
          <a:xfrm>
            <a:off x="731520" y="5394960"/>
            <a:ext cx="10753344" cy="164592"/>
          </a:xfrm>
          <a:prstGeom prst="rect">
            <a:avLst/>
          </a:prstGeom>
          <a:noFill/>
        </p:spPr>
        <p:txBody>
          <a:bodyPr wrap="square" lIns="0" tIns="0" rIns="0" bIns="0" anchor="t">
            <a:spAutoFit/>
          </a:bodyPr>
          <a:lstStyle/>
          <a:p>
            <a:pPr algn="l">
              <a:lnSpc>
                <a:spcPct val="100000"/>
              </a:lnSpc>
              <a:spcBef>
                <a:spcPts val="0"/>
              </a:spcBef>
              <a:spcAft>
                <a:spcPts val="0"/>
              </a:spcAft>
            </a:pPr>
            <a:r>
              <a:rPr sz="940" b="1" i="0">
                <a:solidFill>
                  <a:srgbClr val="2E6E7E"/>
                </a:solidFill>
                <a:latin typeface="Calibri"/>
              </a:rPr>
              <a:t>Input: analysis + execution  →  Output: diagnostics / test evidence</a:t>
            </a:r>
          </a:p>
        </p:txBody>
      </p:sp>
      <p:sp>
        <p:nvSpPr>
          <p:cNvPr id="31" name="TextBox 30"/>
          <p:cNvSpPr txBox="1"/>
          <p:nvPr/>
        </p:nvSpPr>
        <p:spPr>
          <a:xfrm>
            <a:off x="685800" y="5833872"/>
            <a:ext cx="10835640" cy="228600"/>
          </a:xfrm>
          <a:prstGeom prst="rect">
            <a:avLst/>
          </a:prstGeom>
          <a:noFill/>
        </p:spPr>
        <p:txBody>
          <a:bodyPr wrap="square" lIns="0" tIns="0" rIns="0" bIns="0" anchor="t">
            <a:spAutoFit/>
          </a:bodyPr>
          <a:lstStyle/>
          <a:p>
            <a:pPr algn="ctr">
              <a:lnSpc>
                <a:spcPct val="100000"/>
              </a:lnSpc>
              <a:spcBef>
                <a:spcPts val="0"/>
              </a:spcBef>
              <a:spcAft>
                <a:spcPts val="0"/>
              </a:spcAft>
            </a:pPr>
            <a:r>
              <a:rPr sz="1050" b="0" i="1">
                <a:solidFill>
                  <a:srgbClr val="7B8490"/>
                </a:solidFill>
                <a:latin typeface="Calibri"/>
              </a:rPr>
              <a:t>Analysis decides; the transformation pass rewrites; the simulator checks functional behaviour. These are separate responsibilities.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marL="0" indent="0">
              <a:buNone/>
            </a:pPr>
            <a:r>
              <a:rPr lang="en-US" sz="1100" b="1" kern="0" spc="200" dirty="0">
                <a:solidFill>
                  <a:srgbClr val="2E6E7E"/>
                </a:solidFill>
                <a:latin typeface="Calibri" pitchFamily="34" charset="0"/>
                <a:ea typeface="Calibri" pitchFamily="34" charset="-122"/>
                <a:cs typeface="Calibri" pitchFamily="34" charset="-120"/>
              </a:rPr>
              <a:t>COURSE ALIGNMENT</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marL="0" indent="0">
              <a:buNone/>
            </a:pPr>
            <a:r>
              <a:rPr lang="en-US" sz="2900" b="1" dirty="0">
                <a:solidFill>
                  <a:srgbClr val="1F2A3C"/>
                </a:solidFill>
                <a:latin typeface="Cambria" pitchFamily="34" charset="0"/>
                <a:ea typeface="Cambria" pitchFamily="34" charset="-122"/>
                <a:cs typeface="Cambria" pitchFamily="34" charset="-120"/>
              </a:rPr>
              <a:t>Mapping to BCSE307L Concepts</a:t>
            </a:r>
            <a:endParaRPr lang="en-US" sz="2900" dirty="0"/>
          </a:p>
        </p:txBody>
      </p:sp>
      <p:sp>
        <p:nvSpPr>
          <p:cNvPr id="4" name="Text 2"/>
          <p:cNvSpPr txBox="1"/>
          <p:nvPr/>
        </p:nvSpPr>
        <p:spPr>
          <a:xfrm>
            <a:off x="548640" y="1691640"/>
            <a:ext cx="10515600" cy="365760"/>
          </a:xfrm>
          <a:prstGeom prst="rect">
            <a:avLst/>
          </a:prstGeom>
          <a:noFill/>
          <a:ln/>
        </p:spPr>
        <p:txBody>
          <a:bodyPr wrap="square" rtlCol="0" anchor="t"/>
          <a:lstStyle/>
          <a:p>
            <a:pPr marL="0" indent="0" algn="l">
              <a:buNone/>
            </a:pPr>
            <a:r>
              <a:rPr lang="en-US" sz="1300" dirty="0">
                <a:solidFill>
                  <a:srgbClr val="23262B"/>
                </a:solidFill>
                <a:latin typeface="Calibri" pitchFamily="34" charset="0"/>
                <a:ea typeface="Calibri" pitchFamily="34" charset="-122"/>
                <a:cs typeface="Calibri" pitchFamily="34" charset="-120"/>
              </a:rPr>
              <a:t>The pipeline directly exercises core compiler-design concepts from the course syllabus:</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14400" y="2194560"/>
          <a:ext cx="10378440" cy="3364992"/>
        </p:xfrm>
        <a:graphic>
          <a:graphicData uri="http://schemas.openxmlformats.org/drawingml/2006/table">
            <a:tbl>
              <a:tblPr/>
              <a:tblGrid>
                <a:gridCol w="5943600">
                  <a:extLst>
                    <a:ext uri="{9D8B030D-6E8A-4147-A177-3AD203B41FA5}">
                      <a16:colId xmlns:a16="http://schemas.microsoft.com/office/drawing/2014/main" val="20000"/>
                    </a:ext>
                  </a:extLst>
                </a:gridCol>
                <a:gridCol w="4434840">
                  <a:extLst>
                    <a:ext uri="{9D8B030D-6E8A-4147-A177-3AD203B41FA5}">
                      <a16:colId xmlns:a16="http://schemas.microsoft.com/office/drawing/2014/main" val="20001"/>
                    </a:ext>
                  </a:extLst>
                </a:gridCol>
              </a:tblGrid>
              <a:tr h="420624">
                <a:tc>
                  <a:txBody>
                    <a:bodyPr/>
                    <a:lstStyle/>
                    <a:p>
                      <a:pPr marL="0" indent="0">
                        <a:buNone/>
                      </a:pPr>
                      <a:r>
                        <a:rPr lang="en-US" sz="1300" b="1" dirty="0">
                          <a:solidFill>
                            <a:srgbClr val="FFFFFF"/>
                          </a:solidFill>
                        </a:rPr>
                        <a:t>BCSE307L Topic</a:t>
                      </a:r>
                      <a:endParaRPr lang="en-US" sz="1300" dirty="0"/>
                    </a:p>
                  </a:txBody>
                  <a:tcPr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1F2A3C"/>
                    </a:solidFill>
                  </a:tcPr>
                </a:tc>
                <a:tc>
                  <a:txBody>
                    <a:bodyPr/>
                    <a:lstStyle/>
                    <a:p>
                      <a:pPr marL="0" indent="0">
                        <a:buNone/>
                      </a:pPr>
                      <a:r>
                        <a:rPr lang="en-US" sz="1300" b="1" dirty="0">
                          <a:solidFill>
                            <a:srgbClr val="FFFFFF"/>
                          </a:solidFill>
                        </a:rPr>
                        <a:t>Project Component</a:t>
                      </a:r>
                      <a:endParaRPr lang="en-US" sz="1300" dirty="0"/>
                    </a:p>
                  </a:txBody>
                  <a:tcPr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1F2A3C"/>
                    </a:solidFill>
                  </a:tcPr>
                </a:tc>
                <a:extLst>
                  <a:ext uri="{0D108BD9-81ED-4DB2-BD59-A6C34878D82A}">
                    <a16:rowId xmlns:a16="http://schemas.microsoft.com/office/drawing/2014/main" val="10000"/>
                  </a:ext>
                </a:extLst>
              </a:tr>
              <a:tr h="420624">
                <a:tc>
                  <a:txBody>
                    <a:bodyPr/>
                    <a:lstStyle/>
                    <a:p>
                      <a:pPr marL="0" indent="0">
                        <a:buNone/>
                      </a:pPr>
                      <a:r>
                        <a:rPr lang="en-US" sz="1250" dirty="0">
                          <a:solidFill>
                            <a:srgbClr val="23262B"/>
                          </a:solidFill>
                        </a:rPr>
                        <a:t>Intermediate Code Generation</a:t>
                      </a:r>
                      <a:endParaRPr lang="en-US" sz="1250" dirty="0"/>
                    </a:p>
                  </a:txBody>
                  <a:tcPr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marL="0" indent="0">
                        <a:buNone/>
                      </a:pPr>
                      <a:r>
                        <a:rPr lang="en-US" sz="1250" dirty="0">
                          <a:solidFill>
                            <a:srgbClr val="23262B"/>
                          </a:solidFill>
                        </a:rPr>
                        <a:t>Three Address Code (TAC)</a:t>
                      </a:r>
                      <a:endParaRPr lang="en-US" sz="1250" dirty="0"/>
                    </a:p>
                  </a:txBody>
                  <a:tcPr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250" dirty="0">
                          <a:solidFill>
                            <a:srgbClr val="23262B"/>
                          </a:solidFill>
                        </a:rPr>
                        <a:t>Control Flow / Backpatching</a:t>
                      </a:r>
                      <a:endParaRPr lang="en-US" sz="1250" dirty="0"/>
                    </a:p>
                  </a:txBody>
                  <a:tcPr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c>
                  <a:txBody>
                    <a:bodyPr/>
                    <a:lstStyle/>
                    <a:p>
                      <a:pPr marL="0" indent="0">
                        <a:buNone/>
                      </a:pPr>
                      <a:r>
                        <a:rPr lang="en-US" sz="1250" dirty="0">
                          <a:solidFill>
                            <a:srgbClr val="23262B"/>
                          </a:solidFill>
                        </a:rPr>
                        <a:t>Control Flow Graph (CFG) construction</a:t>
                      </a:r>
                      <a:endParaRPr lang="en-US" sz="1250" dirty="0"/>
                    </a:p>
                  </a:txBody>
                  <a:tcPr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420624">
                <a:tc>
                  <a:txBody>
                    <a:bodyPr/>
                    <a:lstStyle/>
                    <a:p>
                      <a:pPr marL="0" indent="0">
                        <a:buNone/>
                      </a:pPr>
                      <a:r>
                        <a:rPr lang="en-US" sz="1250" dirty="0">
                          <a:solidFill>
                            <a:srgbClr val="23262B"/>
                          </a:solidFill>
                        </a:rPr>
                        <a:t>Data-Flow Analysis</a:t>
                      </a:r>
                      <a:endParaRPr lang="en-US" sz="1250" dirty="0"/>
                    </a:p>
                  </a:txBody>
                  <a:tcPr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marL="0" indent="0">
                        <a:buNone/>
                      </a:pPr>
                      <a:r>
                        <a:rPr lang="en-US" sz="1250" dirty="0">
                          <a:solidFill>
                            <a:srgbClr val="23262B"/>
                          </a:solidFill>
                        </a:rPr>
                        <a:t>Static range &amp; integrality analysis</a:t>
                      </a:r>
                      <a:endParaRPr lang="en-US" sz="1250" dirty="0"/>
                    </a:p>
                  </a:txBody>
                  <a:tcPr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250" dirty="0">
                          <a:solidFill>
                            <a:srgbClr val="23262B"/>
                          </a:solidFill>
                        </a:rPr>
                        <a:t>Basic Blocks</a:t>
                      </a:r>
                      <a:endParaRPr lang="en-US" sz="1250" dirty="0"/>
                    </a:p>
                  </a:txBody>
                  <a:tcPr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c>
                  <a:txBody>
                    <a:bodyPr/>
                    <a:lstStyle/>
                    <a:p>
                      <a:pPr marL="0" indent="0">
                        <a:buNone/>
                      </a:pPr>
                      <a:r>
                        <a:rPr lang="en-US" sz="1250" dirty="0">
                          <a:solidFill>
                            <a:srgbClr val="23262B"/>
                          </a:solidFill>
                        </a:rPr>
                        <a:t>CFG partitioning for analysis</a:t>
                      </a:r>
                      <a:endParaRPr lang="en-US" sz="1250" dirty="0"/>
                    </a:p>
                  </a:txBody>
                  <a:tcPr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r h="420624">
                <a:tc>
                  <a:txBody>
                    <a:bodyPr/>
                    <a:lstStyle/>
                    <a:p>
                      <a:pPr marL="0" indent="0">
                        <a:buNone/>
                      </a:pPr>
                      <a:r>
                        <a:rPr lang="en-US" sz="1250" dirty="0">
                          <a:solidFill>
                            <a:srgbClr val="23262B"/>
                          </a:solidFill>
                        </a:rPr>
                        <a:t>Machine-Independent Optimization</a:t>
                      </a:r>
                      <a:endParaRPr lang="en-US" sz="1250" dirty="0"/>
                    </a:p>
                  </a:txBody>
                  <a:tcPr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marL="0" indent="0">
                        <a:buNone/>
                      </a:pPr>
                      <a:r>
                        <a:rPr lang="en-US" sz="1250" dirty="0">
                          <a:solidFill>
                            <a:srgbClr val="23262B"/>
                          </a:solidFill>
                        </a:rPr>
                        <a:t>Quantization transformation pass</a:t>
                      </a:r>
                      <a:endParaRPr lang="en-US" sz="1250" dirty="0"/>
                    </a:p>
                  </a:txBody>
                  <a:tcPr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r>
                        <a:rPr lang="en-US" sz="1250" dirty="0">
                          <a:solidFill>
                            <a:srgbClr val="23262B"/>
                          </a:solidFill>
                        </a:rPr>
                        <a:t>Static Single Assignment (SSA)</a:t>
                      </a:r>
                      <a:endParaRPr lang="en-US" sz="1250" dirty="0"/>
                    </a:p>
                  </a:txBody>
                  <a:tcPr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c>
                  <a:txBody>
                    <a:bodyPr/>
                    <a:lstStyle/>
                    <a:p>
                      <a:pPr marL="0" indent="0">
                        <a:buNone/>
                      </a:pPr>
                      <a:r>
                        <a:rPr lang="en-US" sz="1250" dirty="0">
                          <a:solidFill>
                            <a:srgbClr val="23262B"/>
                          </a:solidFill>
                        </a:rPr>
                        <a:t>SSA intermediate representation</a:t>
                      </a:r>
                      <a:endParaRPr lang="en-US" sz="1250" dirty="0"/>
                    </a:p>
                  </a:txBody>
                  <a:tcPr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extLst>
                  <a:ext uri="{0D108BD9-81ED-4DB2-BD59-A6C34878D82A}">
                    <a16:rowId xmlns:a16="http://schemas.microsoft.com/office/drawing/2014/main" val="10006"/>
                  </a:ext>
                </a:extLst>
              </a:tr>
              <a:tr h="420624">
                <a:tc>
                  <a:txBody>
                    <a:bodyPr/>
                    <a:lstStyle/>
                    <a:p>
                      <a:pPr marL="0" indent="0">
                        <a:buNone/>
                      </a:pPr>
                      <a:r>
                        <a:rPr lang="en-US" sz="1250" dirty="0">
                          <a:solidFill>
                            <a:srgbClr val="23262B"/>
                          </a:solidFill>
                        </a:rPr>
                        <a:t>Code Generation</a:t>
                      </a:r>
                      <a:endParaRPr lang="en-US" sz="1250" dirty="0"/>
                    </a:p>
                  </a:txBody>
                  <a:tcPr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marL="0" indent="0">
                        <a:buNone/>
                      </a:pPr>
                      <a:r>
                        <a:rPr lang="en-US" sz="1250" dirty="0">
                          <a:solidFill>
                            <a:srgbClr val="23262B"/>
                          </a:solidFill>
                        </a:rPr>
                        <a:t>Backend / lightweight simulator</a:t>
                      </a:r>
                      <a:endParaRPr lang="en-US" sz="1250" dirty="0"/>
                    </a:p>
                  </a:txBody>
                  <a:tcPr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Text 3"/>
          <p:cNvSpPr txBox="1"/>
          <p:nvPr/>
        </p:nvSpPr>
        <p:spPr>
          <a:xfrm>
            <a:off x="914400" y="5989320"/>
            <a:ext cx="10378440" cy="365760"/>
          </a:xfrm>
          <a:prstGeom prst="rect">
            <a:avLst/>
          </a:prstGeom>
          <a:noFill/>
          <a:ln/>
        </p:spPr>
        <p:txBody>
          <a:bodyPr wrap="square" rtlCol="0" anchor="t"/>
          <a:lstStyle/>
          <a:p>
            <a:pPr marL="0" indent="0" algn="ctr">
              <a:buNone/>
            </a:pPr>
            <a:r>
              <a:rPr lang="en-US" sz="1050" i="1" dirty="0">
                <a:solidFill>
                  <a:srgbClr val="6B7480"/>
                </a:solidFill>
                <a:latin typeface="Calibri" pitchFamily="34" charset="0"/>
                <a:ea typeface="Calibri" pitchFamily="34" charset="-122"/>
                <a:cs typeface="Calibri" pitchFamily="34" charset="-120"/>
              </a:rPr>
              <a:t>Only concepts that genuinely contribute to the design are shown.</a:t>
            </a:r>
            <a:endParaRPr lang="en-US" sz="1050" dirty="0"/>
          </a:p>
        </p:txBody>
      </p:sp>
      <p:sp>
        <p:nvSpPr>
          <p:cNvPr id="7" name="Text 4"/>
          <p:cNvSpPr txBox="1"/>
          <p:nvPr/>
        </p:nvSpPr>
        <p:spPr>
          <a:xfrm>
            <a:off x="502920" y="6492240"/>
            <a:ext cx="9601200" cy="237744"/>
          </a:xfrm>
          <a:prstGeom prst="rect">
            <a:avLst/>
          </a:prstGeom>
          <a:noFill/>
          <a:ln/>
        </p:spPr>
        <p:txBody>
          <a:bodyPr wrap="square" rtlCol="0" anchor="ctr"/>
          <a:lstStyle/>
          <a:p>
            <a:pPr marL="0" indent="0">
              <a:buNone/>
            </a:pPr>
            <a:r>
              <a:rPr lang="en-US" sz="800" dirty="0">
                <a:solidFill>
                  <a:srgbClr val="9AA3AF"/>
                </a:solidFill>
                <a:latin typeface="Calibri" pitchFamily="34" charset="0"/>
                <a:ea typeface="Calibri" pitchFamily="34" charset="-122"/>
                <a:cs typeface="Calibri" pitchFamily="34" charset="-120"/>
              </a:rPr>
              <a:t>BCSE307L — Compiler Design   |   Range-Aware Edge AI Quantization Compiler</a:t>
            </a:r>
            <a:endParaRPr lang="en-US" sz="800" dirty="0"/>
          </a:p>
        </p:txBody>
      </p:sp>
      <p:sp>
        <p:nvSpPr>
          <p:cNvPr id="8" name="Text 5"/>
          <p:cNvSpPr txBox="1"/>
          <p:nvPr/>
        </p:nvSpPr>
        <p:spPr>
          <a:xfrm>
            <a:off x="11247120" y="6492240"/>
            <a:ext cx="457200" cy="237744"/>
          </a:xfrm>
          <a:prstGeom prst="rect">
            <a:avLst/>
          </a:prstGeom>
          <a:noFill/>
          <a:ln/>
        </p:spPr>
        <p:txBody>
          <a:bodyPr wrap="square" rtlCol="0" anchor="ctr"/>
          <a:lstStyle/>
          <a:p>
            <a:pPr algn="r"/>
            <a:r>
              <a:rPr sz="850">
                <a:solidFill>
                  <a:srgbClr val="8A919A"/>
                </a:solidFill>
                <a:latin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marL="0" indent="0">
              <a:buNone/>
            </a:pPr>
            <a:r>
              <a:rPr lang="en-US" sz="1100" b="1" kern="0" spc="200" dirty="0">
                <a:solidFill>
                  <a:srgbClr val="2E6E7E"/>
                </a:solidFill>
                <a:latin typeface="Calibri" pitchFamily="34" charset="0"/>
                <a:ea typeface="Calibri" pitchFamily="34" charset="-122"/>
                <a:cs typeface="Calibri" pitchFamily="34" charset="-120"/>
              </a:rPr>
              <a:t>TECHNICAL MECHANISM</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marL="0" indent="0">
              <a:buNone/>
            </a:pPr>
            <a:r>
              <a:rPr lang="en-US" sz="2900" b="1" dirty="0">
                <a:solidFill>
                  <a:srgbClr val="1F2A3C"/>
                </a:solidFill>
                <a:latin typeface="Cambria" pitchFamily="34" charset="0"/>
                <a:ea typeface="Cambria" pitchFamily="34" charset="-122"/>
                <a:cs typeface="Cambria" pitchFamily="34" charset="-120"/>
              </a:rPr>
              <a:t>SSA Construction &amp; Range Propagation</a:t>
            </a:r>
            <a:endParaRPr lang="en-US" sz="2900" dirty="0"/>
          </a:p>
        </p:txBody>
      </p:sp>
      <p:sp>
        <p:nvSpPr>
          <p:cNvPr id="4" name="Text 2"/>
          <p:cNvSpPr txBox="1"/>
          <p:nvPr/>
        </p:nvSpPr>
        <p:spPr>
          <a:xfrm>
            <a:off x="548640" y="1783080"/>
            <a:ext cx="3200400" cy="274320"/>
          </a:xfrm>
          <a:prstGeom prst="rect">
            <a:avLst/>
          </a:prstGeom>
          <a:noFill/>
          <a:ln/>
        </p:spPr>
        <p:txBody>
          <a:bodyPr wrap="square" rtlCol="0" anchor="t"/>
          <a:lstStyle/>
          <a:p>
            <a:pPr marL="0" indent="0" algn="l">
              <a:buNone/>
            </a:pPr>
            <a:r>
              <a:rPr lang="en-US" sz="1200" b="1" dirty="0">
                <a:solidFill>
                  <a:srgbClr val="1F2A3C"/>
                </a:solidFill>
                <a:latin typeface="Calibri" pitchFamily="34" charset="0"/>
                <a:ea typeface="Calibri" pitchFamily="34" charset="-122"/>
                <a:cs typeface="Calibri" pitchFamily="34" charset="-120"/>
              </a:rPr>
              <a:t>Source</a:t>
            </a:r>
            <a:endParaRPr lang="en-US" sz="1200" dirty="0"/>
          </a:p>
        </p:txBody>
      </p:sp>
      <p:sp>
        <p:nvSpPr>
          <p:cNvPr id="5" name="Shape 3"/>
          <p:cNvSpPr/>
          <p:nvPr/>
        </p:nvSpPr>
        <p:spPr>
          <a:xfrm>
            <a:off x="548640" y="2103120"/>
            <a:ext cx="3200400" cy="1600200"/>
          </a:xfrm>
          <a:prstGeom prst="rect">
            <a:avLst/>
          </a:prstGeom>
          <a:solidFill>
            <a:srgbClr val="1F2A3C"/>
          </a:solidFill>
          <a:ln w="12700">
            <a:solidFill>
              <a:srgbClr val="1F2A3C"/>
            </a:solidFill>
            <a:prstDash val="solid"/>
          </a:ln>
        </p:spPr>
        <p:txBody>
          <a:bodyPr/>
          <a:lstStyle/>
          <a:p>
            <a:endParaRPr/>
          </a:p>
        </p:txBody>
      </p:sp>
      <p:sp>
        <p:nvSpPr>
          <p:cNvPr id="6" name="Text 4"/>
          <p:cNvSpPr txBox="1"/>
          <p:nvPr/>
        </p:nvSpPr>
        <p:spPr>
          <a:xfrm>
            <a:off x="731520" y="2103120"/>
            <a:ext cx="2834640" cy="1600200"/>
          </a:xfrm>
          <a:prstGeom prst="rect">
            <a:avLst/>
          </a:prstGeom>
          <a:noFill/>
          <a:ln/>
        </p:spPr>
        <p:txBody>
          <a:bodyPr wrap="square" rtlCol="0" anchor="ctr"/>
          <a:lstStyle/>
          <a:p>
            <a:pPr marL="0" indent="0">
              <a:lnSpc>
                <a:spcPct val="130000"/>
              </a:lnSpc>
              <a:buNone/>
            </a:pPr>
            <a:r>
              <a:rPr lang="en-US" sz="1250" dirty="0">
                <a:solidFill>
                  <a:srgbClr val="D8E6EA"/>
                </a:solidFill>
                <a:latin typeface="Courier New" pitchFamily="34" charset="0"/>
                <a:ea typeface="Courier New" pitchFamily="34" charset="-122"/>
                <a:cs typeface="Courier New" pitchFamily="34" charset="-120"/>
              </a:rPr>
              <a:t>x = 10</a:t>
            </a:r>
            <a:endParaRPr lang="en-US" sz="1250" dirty="0"/>
          </a:p>
          <a:p>
            <a:pPr marL="0" indent="0">
              <a:lnSpc>
                <a:spcPct val="130000"/>
              </a:lnSpc>
              <a:buNone/>
            </a:pPr>
            <a:r>
              <a:rPr lang="en-US" sz="1250" dirty="0">
                <a:solidFill>
                  <a:srgbClr val="D8E6EA"/>
                </a:solidFill>
                <a:latin typeface="Courier New" pitchFamily="34" charset="0"/>
                <a:ea typeface="Courier New" pitchFamily="34" charset="-122"/>
                <a:cs typeface="Courier New" pitchFamily="34" charset="-120"/>
              </a:rPr>
              <a:t>if (c)</a:t>
            </a:r>
            <a:endParaRPr lang="en-US" sz="1250" dirty="0"/>
          </a:p>
          <a:p>
            <a:pPr marL="0" indent="0">
              <a:lnSpc>
                <a:spcPct val="130000"/>
              </a:lnSpc>
              <a:buNone/>
            </a:pPr>
            <a:r>
              <a:rPr lang="en-US" sz="1250" dirty="0">
                <a:solidFill>
                  <a:srgbClr val="D8E6EA"/>
                </a:solidFill>
                <a:latin typeface="Courier New" pitchFamily="34" charset="0"/>
                <a:ea typeface="Courier New" pitchFamily="34" charset="-122"/>
                <a:cs typeface="Courier New" pitchFamily="34" charset="-120"/>
              </a:rPr>
              <a:t>  x = 20</a:t>
            </a:r>
            <a:endParaRPr lang="en-US" sz="1250" dirty="0"/>
          </a:p>
          <a:p>
            <a:pPr marL="0" indent="0">
              <a:lnSpc>
                <a:spcPct val="130000"/>
              </a:lnSpc>
              <a:buNone/>
            </a:pPr>
            <a:r>
              <a:rPr lang="en-US" sz="1250" dirty="0">
                <a:solidFill>
                  <a:srgbClr val="D8E6EA"/>
                </a:solidFill>
                <a:latin typeface="Courier New" pitchFamily="34" charset="0"/>
                <a:ea typeface="Courier New" pitchFamily="34" charset="-122"/>
                <a:cs typeface="Courier New" pitchFamily="34" charset="-120"/>
              </a:rPr>
              <a:t>y = x + 5</a:t>
            </a:r>
            <a:endParaRPr lang="en-US" sz="1250" dirty="0"/>
          </a:p>
        </p:txBody>
      </p:sp>
      <p:sp>
        <p:nvSpPr>
          <p:cNvPr id="7" name="Shape 5"/>
          <p:cNvSpPr/>
          <p:nvPr/>
        </p:nvSpPr>
        <p:spPr>
          <a:xfrm>
            <a:off x="3886200" y="2898648"/>
            <a:ext cx="365760" cy="0"/>
          </a:xfrm>
          <a:prstGeom prst="line">
            <a:avLst/>
          </a:prstGeom>
          <a:noFill/>
          <a:ln w="19050">
            <a:solidFill>
              <a:srgbClr val="6B7480"/>
            </a:solidFill>
            <a:prstDash val="solid"/>
            <a:tailEnd type="triangle"/>
          </a:ln>
        </p:spPr>
        <p:txBody>
          <a:bodyPr/>
          <a:lstStyle/>
          <a:p>
            <a:endParaRPr/>
          </a:p>
        </p:txBody>
      </p:sp>
      <p:sp>
        <p:nvSpPr>
          <p:cNvPr id="8" name="Text 6"/>
          <p:cNvSpPr txBox="1"/>
          <p:nvPr/>
        </p:nvSpPr>
        <p:spPr>
          <a:xfrm>
            <a:off x="4343400" y="1783080"/>
            <a:ext cx="3200400" cy="274320"/>
          </a:xfrm>
          <a:prstGeom prst="rect">
            <a:avLst/>
          </a:prstGeom>
          <a:noFill/>
          <a:ln/>
        </p:spPr>
        <p:txBody>
          <a:bodyPr wrap="square" rtlCol="0" anchor="t"/>
          <a:lstStyle/>
          <a:p>
            <a:pPr marL="0" indent="0" algn="l">
              <a:buNone/>
            </a:pPr>
            <a:r>
              <a:rPr lang="en-US" sz="1200" b="1" dirty="0">
                <a:solidFill>
                  <a:srgbClr val="1F2A3C"/>
                </a:solidFill>
                <a:latin typeface="Calibri" pitchFamily="34" charset="0"/>
                <a:ea typeface="Calibri" pitchFamily="34" charset="-122"/>
                <a:cs typeface="Calibri" pitchFamily="34" charset="-120"/>
              </a:rPr>
              <a:t>SSA Form</a:t>
            </a:r>
            <a:endParaRPr lang="en-US" sz="1200" dirty="0"/>
          </a:p>
        </p:txBody>
      </p:sp>
      <p:sp>
        <p:nvSpPr>
          <p:cNvPr id="9" name="Shape 7"/>
          <p:cNvSpPr/>
          <p:nvPr/>
        </p:nvSpPr>
        <p:spPr>
          <a:xfrm>
            <a:off x="4343400" y="2103120"/>
            <a:ext cx="3200400" cy="1600200"/>
          </a:xfrm>
          <a:prstGeom prst="rect">
            <a:avLst/>
          </a:prstGeom>
          <a:solidFill>
            <a:srgbClr val="1F2A3C"/>
          </a:solidFill>
          <a:ln w="12700">
            <a:solidFill>
              <a:srgbClr val="1F2A3C"/>
            </a:solidFill>
            <a:prstDash val="solid"/>
          </a:ln>
        </p:spPr>
        <p:txBody>
          <a:bodyPr/>
          <a:lstStyle/>
          <a:p>
            <a:endParaRPr/>
          </a:p>
        </p:txBody>
      </p:sp>
      <p:sp>
        <p:nvSpPr>
          <p:cNvPr id="10" name="Text 8"/>
          <p:cNvSpPr txBox="1"/>
          <p:nvPr/>
        </p:nvSpPr>
        <p:spPr>
          <a:xfrm>
            <a:off x="4526280" y="2103120"/>
            <a:ext cx="2834640" cy="1600200"/>
          </a:xfrm>
          <a:prstGeom prst="rect">
            <a:avLst/>
          </a:prstGeom>
          <a:noFill/>
          <a:ln/>
        </p:spPr>
        <p:txBody>
          <a:bodyPr wrap="square" rtlCol="0" anchor="ctr"/>
          <a:lstStyle/>
          <a:p>
            <a:pPr marL="0" indent="0">
              <a:lnSpc>
                <a:spcPct val="130000"/>
              </a:lnSpc>
              <a:buNone/>
            </a:pPr>
            <a:r>
              <a:rPr lang="en-US" sz="1250" dirty="0">
                <a:solidFill>
                  <a:srgbClr val="D8E6EA"/>
                </a:solidFill>
                <a:latin typeface="Courier New" pitchFamily="34" charset="0"/>
                <a:ea typeface="Courier New" pitchFamily="34" charset="-122"/>
                <a:cs typeface="Courier New" pitchFamily="34" charset="-120"/>
              </a:rPr>
              <a:t>x1 = 10</a:t>
            </a:r>
            <a:endParaRPr lang="en-US" sz="1250" dirty="0"/>
          </a:p>
          <a:p>
            <a:pPr marL="0" indent="0">
              <a:lnSpc>
                <a:spcPct val="130000"/>
              </a:lnSpc>
              <a:buNone/>
            </a:pPr>
            <a:r>
              <a:rPr lang="en-US" sz="1250" dirty="0">
                <a:solidFill>
                  <a:srgbClr val="D8E6EA"/>
                </a:solidFill>
                <a:latin typeface="Courier New" pitchFamily="34" charset="0"/>
                <a:ea typeface="Courier New" pitchFamily="34" charset="-122"/>
                <a:cs typeface="Courier New" pitchFamily="34" charset="-120"/>
              </a:rPr>
              <a:t>x2 = 20</a:t>
            </a:r>
            <a:endParaRPr lang="en-US" sz="1250" dirty="0"/>
          </a:p>
          <a:p>
            <a:pPr marL="0" indent="0">
              <a:lnSpc>
                <a:spcPct val="130000"/>
              </a:lnSpc>
              <a:buNone/>
            </a:pPr>
            <a:r>
              <a:rPr lang="en-US" sz="1250" dirty="0">
                <a:solidFill>
                  <a:srgbClr val="D8E6EA"/>
                </a:solidFill>
                <a:latin typeface="Courier New" pitchFamily="34" charset="0"/>
                <a:ea typeface="Courier New" pitchFamily="34" charset="-122"/>
                <a:cs typeface="Courier New" pitchFamily="34" charset="-120"/>
              </a:rPr>
              <a:t>x3 = φ(x1, x2)</a:t>
            </a:r>
            <a:endParaRPr lang="en-US" sz="1250" dirty="0"/>
          </a:p>
          <a:p>
            <a:pPr marL="0" indent="0">
              <a:lnSpc>
                <a:spcPct val="130000"/>
              </a:lnSpc>
              <a:buNone/>
            </a:pPr>
            <a:r>
              <a:rPr lang="en-US" sz="1250" dirty="0">
                <a:solidFill>
                  <a:srgbClr val="D8E6EA"/>
                </a:solidFill>
                <a:latin typeface="Courier New" pitchFamily="34" charset="0"/>
                <a:ea typeface="Courier New" pitchFamily="34" charset="-122"/>
                <a:cs typeface="Courier New" pitchFamily="34" charset="-120"/>
              </a:rPr>
              <a:t>y1 = x3 + 5</a:t>
            </a:r>
            <a:endParaRPr lang="en-US" sz="1250" dirty="0"/>
          </a:p>
        </p:txBody>
      </p:sp>
      <p:sp>
        <p:nvSpPr>
          <p:cNvPr id="11" name="Text 9"/>
          <p:cNvSpPr txBox="1"/>
          <p:nvPr/>
        </p:nvSpPr>
        <p:spPr>
          <a:xfrm>
            <a:off x="7909560" y="1783080"/>
            <a:ext cx="3749040" cy="274320"/>
          </a:xfrm>
          <a:prstGeom prst="rect">
            <a:avLst/>
          </a:prstGeom>
          <a:noFill/>
          <a:ln/>
        </p:spPr>
        <p:txBody>
          <a:bodyPr wrap="square" rtlCol="0" anchor="t"/>
          <a:lstStyle/>
          <a:p>
            <a:pPr marL="0" indent="0" algn="l">
              <a:buNone/>
            </a:pPr>
            <a:r>
              <a:rPr lang="en-US" sz="1200" b="1" dirty="0">
                <a:solidFill>
                  <a:srgbClr val="1F2A3C"/>
                </a:solidFill>
                <a:latin typeface="Calibri" pitchFamily="34" charset="0"/>
                <a:ea typeface="Calibri" pitchFamily="34" charset="-122"/>
                <a:cs typeface="Calibri" pitchFamily="34" charset="-120"/>
              </a:rPr>
              <a:t>Inferred Ranges</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909560" y="2103120"/>
          <a:ext cx="3749040" cy="1600200"/>
        </p:xfrm>
        <a:graphic>
          <a:graphicData uri="http://schemas.openxmlformats.org/drawingml/2006/table">
            <a:tbl>
              <a:tblPr/>
              <a:tblGrid>
                <a:gridCol w="14630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320040">
                <a:tc>
                  <a:txBody>
                    <a:bodyPr/>
                    <a:lstStyle/>
                    <a:p>
                      <a:pPr marL="0" indent="0">
                        <a:buNone/>
                      </a:pPr>
                      <a:r>
                        <a:rPr lang="en-US" sz="1100" b="1" dirty="0">
                          <a:solidFill>
                            <a:srgbClr val="FFFFFF"/>
                          </a:solidFill>
                        </a:rPr>
                        <a:t>Variable</a:t>
                      </a:r>
                      <a:endParaRPr lang="en-US" sz="1100" dirty="0"/>
                    </a:p>
                  </a:txBody>
                  <a:tcPr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1F2A3C"/>
                    </a:solidFill>
                  </a:tcPr>
                </a:tc>
                <a:tc>
                  <a:txBody>
                    <a:bodyPr/>
                    <a:lstStyle/>
                    <a:p>
                      <a:pPr marL="0" indent="0">
                        <a:buNone/>
                      </a:pPr>
                      <a:r>
                        <a:rPr lang="en-US" sz="1100" b="1" dirty="0">
                          <a:solidFill>
                            <a:srgbClr val="FFFFFF"/>
                          </a:solidFill>
                        </a:rPr>
                        <a:t>Inferred Range</a:t>
                      </a:r>
                      <a:endParaRPr lang="en-US" sz="1100" dirty="0"/>
                    </a:p>
                  </a:txBody>
                  <a:tcPr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1F2A3C"/>
                    </a:solidFill>
                  </a:tcPr>
                </a:tc>
                <a:extLst>
                  <a:ext uri="{0D108BD9-81ED-4DB2-BD59-A6C34878D82A}">
                    <a16:rowId xmlns:a16="http://schemas.microsoft.com/office/drawing/2014/main" val="10000"/>
                  </a:ext>
                </a:extLst>
              </a:tr>
              <a:tr h="320040">
                <a:tc>
                  <a:txBody>
                    <a:bodyPr/>
                    <a:lstStyle/>
                    <a:p>
                      <a:pPr marL="0" indent="0" algn="l">
                        <a:buNone/>
                      </a:pPr>
                      <a:r>
                        <a:rPr lang="en-US" sz="1150" dirty="0">
                          <a:solidFill>
                            <a:srgbClr val="23262B"/>
                          </a:solidFill>
                        </a:rPr>
                        <a:t>x1</a:t>
                      </a:r>
                      <a:endParaRPr lang="en-US" sz="1150" dirty="0"/>
                    </a:p>
                  </a:txBody>
                  <a:tcPr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3262B"/>
                          </a:solidFill>
                        </a:rPr>
                        <a:t>[10, 10]</a:t>
                      </a:r>
                      <a:endParaRPr lang="en-US" sz="1150" dirty="0"/>
                    </a:p>
                  </a:txBody>
                  <a:tcPr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l">
                        <a:buNone/>
                      </a:pPr>
                      <a:r>
                        <a:rPr lang="en-US" sz="1150" dirty="0">
                          <a:solidFill>
                            <a:srgbClr val="23262B"/>
                          </a:solidFill>
                        </a:rPr>
                        <a:t>x2</a:t>
                      </a:r>
                      <a:endParaRPr lang="en-US" sz="1150" dirty="0"/>
                    </a:p>
                  </a:txBody>
                  <a:tcPr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c>
                  <a:txBody>
                    <a:bodyPr/>
                    <a:lstStyle/>
                    <a:p>
                      <a:pPr marL="0" indent="0" algn="ctr">
                        <a:buNone/>
                      </a:pPr>
                      <a:r>
                        <a:rPr lang="en-US" sz="1150" dirty="0">
                          <a:solidFill>
                            <a:srgbClr val="23262B"/>
                          </a:solidFill>
                        </a:rPr>
                        <a:t>[20, 20]</a:t>
                      </a:r>
                      <a:endParaRPr lang="en-US" sz="1150" dirty="0"/>
                    </a:p>
                  </a:txBody>
                  <a:tcPr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extLst>
                  <a:ext uri="{0D108BD9-81ED-4DB2-BD59-A6C34878D82A}">
                    <a16:rowId xmlns:a16="http://schemas.microsoft.com/office/drawing/2014/main" val="10002"/>
                  </a:ext>
                </a:extLst>
              </a:tr>
              <a:tr h="320040">
                <a:tc>
                  <a:txBody>
                    <a:bodyPr/>
                    <a:lstStyle/>
                    <a:p>
                      <a:pPr marL="0" indent="0" algn="l">
                        <a:buNone/>
                      </a:pPr>
                      <a:r>
                        <a:rPr lang="en-US" sz="1150" dirty="0">
                          <a:solidFill>
                            <a:srgbClr val="23262B"/>
                          </a:solidFill>
                        </a:rPr>
                        <a:t>x3</a:t>
                      </a:r>
                      <a:endParaRPr lang="en-US" sz="1150" dirty="0"/>
                    </a:p>
                  </a:txBody>
                  <a:tcPr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3262B"/>
                          </a:solidFill>
                        </a:rPr>
                        <a:t>[10, 20]</a:t>
                      </a:r>
                      <a:endParaRPr lang="en-US" sz="1150" dirty="0"/>
                    </a:p>
                  </a:txBody>
                  <a:tcPr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l">
                        <a:buNone/>
                      </a:pPr>
                      <a:r>
                        <a:rPr lang="en-US" sz="1150" dirty="0">
                          <a:solidFill>
                            <a:srgbClr val="23262B"/>
                          </a:solidFill>
                        </a:rPr>
                        <a:t>y1</a:t>
                      </a:r>
                      <a:endParaRPr lang="en-US" sz="1150" dirty="0"/>
                    </a:p>
                  </a:txBody>
                  <a:tcPr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tc>
                  <a:txBody>
                    <a:bodyPr/>
                    <a:lstStyle/>
                    <a:p>
                      <a:pPr marL="0" indent="0" algn="ctr">
                        <a:buNone/>
                      </a:pPr>
                      <a:r>
                        <a:rPr lang="en-US" sz="1150" dirty="0">
                          <a:solidFill>
                            <a:srgbClr val="23262B"/>
                          </a:solidFill>
                        </a:rPr>
                        <a:t>[15, 25]</a:t>
                      </a:r>
                      <a:endParaRPr lang="en-US" sz="1150" dirty="0"/>
                    </a:p>
                  </a:txBody>
                  <a:tcPr anchor="ctr">
                    <a:lnL w="6350" cap="flat" cmpd="sng" algn="ctr">
                      <a:solidFill>
                        <a:srgbClr val="D6DCE2"/>
                      </a:solidFill>
                      <a:prstDash val="solid"/>
                      <a:round/>
                      <a:headEnd type="none" w="med" len="med"/>
                      <a:tailEnd type="none" w="med" len="med"/>
                    </a:lnL>
                    <a:lnR w="6350" cap="flat" cmpd="sng" algn="ctr">
                      <a:solidFill>
                        <a:srgbClr val="D6DCE2"/>
                      </a:solidFill>
                      <a:prstDash val="solid"/>
                      <a:round/>
                      <a:headEnd type="none" w="med" len="med"/>
                      <a:tailEnd type="none" w="med" len="med"/>
                    </a:lnR>
                    <a:lnT w="6350" cap="flat" cmpd="sng" algn="ctr">
                      <a:solidFill>
                        <a:srgbClr val="D6DCE2"/>
                      </a:solidFill>
                      <a:prstDash val="solid"/>
                      <a:round/>
                      <a:headEnd type="none" w="med" len="med"/>
                      <a:tailEnd type="none" w="med" len="med"/>
                    </a:lnT>
                    <a:lnB w="6350" cap="flat" cmpd="sng" algn="ctr">
                      <a:solidFill>
                        <a:srgbClr val="D6DCE2"/>
                      </a:solidFill>
                      <a:prstDash val="solid"/>
                      <a:round/>
                      <a:headEnd type="none" w="med" len="med"/>
                      <a:tailEnd type="none" w="med" len="med"/>
                    </a:lnB>
                    <a:solidFill>
                      <a:srgbClr val="F4F6F8"/>
                    </a:solidFill>
                  </a:tcPr>
                </a:tc>
                <a:extLst>
                  <a:ext uri="{0D108BD9-81ED-4DB2-BD59-A6C34878D82A}">
                    <a16:rowId xmlns:a16="http://schemas.microsoft.com/office/drawing/2014/main" val="10004"/>
                  </a:ext>
                </a:extLst>
              </a:tr>
            </a:tbl>
          </a:graphicData>
        </a:graphic>
      </p:graphicFrame>
      <p:sp>
        <p:nvSpPr>
          <p:cNvPr id="13" name="Shape 10"/>
          <p:cNvSpPr/>
          <p:nvPr/>
        </p:nvSpPr>
        <p:spPr>
          <a:xfrm>
            <a:off x="3566160" y="4114800"/>
            <a:ext cx="2377440" cy="685800"/>
          </a:xfrm>
          <a:prstGeom prst="rect">
            <a:avLst/>
          </a:prstGeom>
          <a:solidFill>
            <a:srgbClr val="F4F6F8"/>
          </a:solidFill>
          <a:ln w="12700">
            <a:solidFill>
              <a:srgbClr val="1F2A3C"/>
            </a:solidFill>
            <a:prstDash val="solid"/>
          </a:ln>
        </p:spPr>
        <p:txBody>
          <a:bodyPr/>
          <a:lstStyle/>
          <a:p>
            <a:endParaRPr/>
          </a:p>
        </p:txBody>
      </p:sp>
      <p:sp>
        <p:nvSpPr>
          <p:cNvPr id="14" name="Text 11"/>
          <p:cNvSpPr txBox="1"/>
          <p:nvPr/>
        </p:nvSpPr>
        <p:spPr>
          <a:xfrm>
            <a:off x="3593592" y="4114800"/>
            <a:ext cx="2322576" cy="685800"/>
          </a:xfrm>
          <a:prstGeom prst="rect">
            <a:avLst/>
          </a:prstGeom>
          <a:noFill/>
          <a:ln/>
        </p:spPr>
        <p:txBody>
          <a:bodyPr wrap="square" lIns="0" tIns="0" rIns="0" bIns="0" rtlCol="0" anchor="ctr"/>
          <a:lstStyle/>
          <a:p>
            <a:pPr marL="0" indent="0" algn="ctr">
              <a:buNone/>
            </a:pPr>
            <a:r>
              <a:rPr lang="en-US" sz="1200" b="1" dirty="0">
                <a:solidFill>
                  <a:srgbClr val="1F2A3C"/>
                </a:solidFill>
                <a:latin typeface="Calibri" pitchFamily="34" charset="0"/>
                <a:ea typeface="Calibri" pitchFamily="34" charset="-122"/>
                <a:cs typeface="Calibri" pitchFamily="34" charset="-120"/>
              </a:rPr>
              <a:t>Range + Integrality</a:t>
            </a:r>
            <a:endParaRPr lang="en-US" sz="1200" dirty="0"/>
          </a:p>
        </p:txBody>
      </p:sp>
      <p:sp>
        <p:nvSpPr>
          <p:cNvPr id="15" name="Shape 12"/>
          <p:cNvSpPr/>
          <p:nvPr/>
        </p:nvSpPr>
        <p:spPr>
          <a:xfrm>
            <a:off x="5943600" y="4457700"/>
            <a:ext cx="457200" cy="0"/>
          </a:xfrm>
          <a:prstGeom prst="line">
            <a:avLst/>
          </a:prstGeom>
          <a:noFill/>
          <a:ln w="19050">
            <a:solidFill>
              <a:srgbClr val="6B7480"/>
            </a:solidFill>
            <a:prstDash val="solid"/>
            <a:tailEnd type="triangle"/>
          </a:ln>
        </p:spPr>
        <p:txBody>
          <a:bodyPr/>
          <a:lstStyle/>
          <a:p>
            <a:endParaRPr/>
          </a:p>
        </p:txBody>
      </p:sp>
      <p:sp>
        <p:nvSpPr>
          <p:cNvPr id="16" name="Shape 13"/>
          <p:cNvSpPr/>
          <p:nvPr/>
        </p:nvSpPr>
        <p:spPr>
          <a:xfrm>
            <a:off x="6492240" y="4114800"/>
            <a:ext cx="2377440" cy="685800"/>
          </a:xfrm>
          <a:prstGeom prst="rect">
            <a:avLst/>
          </a:prstGeom>
          <a:solidFill>
            <a:srgbClr val="2E6E7E"/>
          </a:solidFill>
          <a:ln w="12700">
            <a:solidFill>
              <a:srgbClr val="2E6E7E"/>
            </a:solidFill>
            <a:prstDash val="solid"/>
          </a:ln>
        </p:spPr>
        <p:txBody>
          <a:bodyPr/>
          <a:lstStyle/>
          <a:p>
            <a:endParaRPr/>
          </a:p>
        </p:txBody>
      </p:sp>
      <p:sp>
        <p:nvSpPr>
          <p:cNvPr id="17" name="Text 14"/>
          <p:cNvSpPr txBox="1"/>
          <p:nvPr/>
        </p:nvSpPr>
        <p:spPr>
          <a:xfrm>
            <a:off x="6519672" y="4114800"/>
            <a:ext cx="2322576" cy="6858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Quantization Decision</a:t>
            </a:r>
            <a:endParaRPr lang="en-US" sz="1200" dirty="0"/>
          </a:p>
        </p:txBody>
      </p:sp>
      <p:sp>
        <p:nvSpPr>
          <p:cNvPr id="18" name="Text 15"/>
          <p:cNvSpPr txBox="1"/>
          <p:nvPr/>
        </p:nvSpPr>
        <p:spPr>
          <a:xfrm>
            <a:off x="548640" y="5074920"/>
            <a:ext cx="11064240" cy="731520"/>
          </a:xfrm>
          <a:prstGeom prst="rect">
            <a:avLst/>
          </a:prstGeom>
          <a:noFill/>
          <a:ln/>
        </p:spPr>
        <p:txBody>
          <a:bodyPr wrap="square" rtlCol="0" anchor="t"/>
          <a:lstStyle/>
          <a:p>
            <a:pPr marL="0" indent="0" algn="l">
              <a:buNone/>
            </a:pPr>
            <a:r>
              <a:rPr lang="en-US" sz="1150" i="1" dirty="0">
                <a:solidFill>
                  <a:srgbClr val="6B7480"/>
                </a:solidFill>
                <a:latin typeface="Calibri" pitchFamily="34" charset="0"/>
                <a:ea typeface="Calibri" pitchFamily="34" charset="-122"/>
                <a:cs typeface="Calibri" pitchFamily="34" charset="-120"/>
              </a:rPr>
              <a:t>Range analysis propagates interval bounds through SSA operations; φ-nodes conservatively merge the ranges of incoming branches (union of bounds), so a value's range after a branch always covers every path that reaches it.</a:t>
            </a:r>
            <a:endParaRPr lang="en-US" sz="1150" dirty="0"/>
          </a:p>
        </p:txBody>
      </p:sp>
      <p:sp>
        <p:nvSpPr>
          <p:cNvPr id="19" name="Text 16"/>
          <p:cNvSpPr txBox="1"/>
          <p:nvPr/>
        </p:nvSpPr>
        <p:spPr>
          <a:xfrm>
            <a:off x="502920" y="6492240"/>
            <a:ext cx="9601200" cy="237744"/>
          </a:xfrm>
          <a:prstGeom prst="rect">
            <a:avLst/>
          </a:prstGeom>
          <a:noFill/>
          <a:ln/>
        </p:spPr>
        <p:txBody>
          <a:bodyPr wrap="square" rtlCol="0" anchor="ctr"/>
          <a:lstStyle/>
          <a:p>
            <a:pPr marL="0" indent="0">
              <a:buNone/>
            </a:pPr>
            <a:r>
              <a:rPr lang="en-US" sz="800" dirty="0">
                <a:solidFill>
                  <a:srgbClr val="9AA3AF"/>
                </a:solidFill>
                <a:latin typeface="Calibri" pitchFamily="34" charset="0"/>
                <a:ea typeface="Calibri" pitchFamily="34" charset="-122"/>
                <a:cs typeface="Calibri" pitchFamily="34" charset="-120"/>
              </a:rPr>
              <a:t>BCSE307L — Compiler Design   |   Range-Aware Edge AI Quantization Compiler</a:t>
            </a:r>
            <a:endParaRPr lang="en-US" sz="800" dirty="0"/>
          </a:p>
        </p:txBody>
      </p:sp>
      <p:sp>
        <p:nvSpPr>
          <p:cNvPr id="20" name="Text 17"/>
          <p:cNvSpPr txBox="1"/>
          <p:nvPr/>
        </p:nvSpPr>
        <p:spPr>
          <a:xfrm>
            <a:off x="11247120" y="6492240"/>
            <a:ext cx="457200" cy="237744"/>
          </a:xfrm>
          <a:prstGeom prst="rect">
            <a:avLst/>
          </a:prstGeom>
          <a:noFill/>
          <a:ln/>
        </p:spPr>
        <p:txBody>
          <a:bodyPr wrap="square" rtlCol="0" anchor="ctr"/>
          <a:lstStyle/>
          <a:p>
            <a:pPr algn="r"/>
            <a:r>
              <a:rPr sz="850">
                <a:solidFill>
                  <a:srgbClr val="8A919A"/>
                </a:solidFill>
                <a:latin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marL="0" indent="0">
              <a:buNone/>
            </a:pPr>
            <a:r>
              <a:rPr lang="en-US" sz="1100" b="1" kern="0" spc="200" dirty="0">
                <a:solidFill>
                  <a:srgbClr val="2E6E7E"/>
                </a:solidFill>
                <a:latin typeface="Calibri" pitchFamily="34" charset="0"/>
                <a:ea typeface="Calibri" pitchFamily="34" charset="-122"/>
                <a:cs typeface="Calibri" pitchFamily="34" charset="-120"/>
              </a:rPr>
              <a:t>DECISION LOGIC</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marL="0" indent="0">
              <a:buNone/>
            </a:pPr>
            <a:r>
              <a:rPr lang="en-US" sz="2900" b="1" dirty="0">
                <a:solidFill>
                  <a:srgbClr val="1F2A3C"/>
                </a:solidFill>
                <a:latin typeface="Cambria" pitchFamily="34" charset="0"/>
                <a:ea typeface="Cambria" pitchFamily="34" charset="-122"/>
                <a:cs typeface="Cambria" pitchFamily="34" charset="-120"/>
              </a:rPr>
              <a:t>Safe vs. Unsafe Quantization</a:t>
            </a:r>
            <a:endParaRPr lang="en-US" sz="2900" dirty="0"/>
          </a:p>
        </p:txBody>
      </p:sp>
      <p:sp>
        <p:nvSpPr>
          <p:cNvPr id="4" name="Shape 2"/>
          <p:cNvSpPr/>
          <p:nvPr/>
        </p:nvSpPr>
        <p:spPr>
          <a:xfrm>
            <a:off x="548640" y="1783080"/>
            <a:ext cx="5349240" cy="2880360"/>
          </a:xfrm>
          <a:prstGeom prst="rect">
            <a:avLst/>
          </a:prstGeom>
          <a:solidFill>
            <a:srgbClr val="FFFFFF"/>
          </a:solidFill>
          <a:ln w="19050">
            <a:solidFill>
              <a:srgbClr val="2E6E7E"/>
            </a:solidFill>
            <a:prstDash val="solid"/>
          </a:ln>
        </p:spPr>
        <p:txBody>
          <a:bodyPr/>
          <a:lstStyle/>
          <a:p>
            <a:endParaRPr/>
          </a:p>
        </p:txBody>
      </p:sp>
      <p:sp>
        <p:nvSpPr>
          <p:cNvPr id="5" name="Text 3"/>
          <p:cNvSpPr txBox="1"/>
          <p:nvPr/>
        </p:nvSpPr>
        <p:spPr>
          <a:xfrm>
            <a:off x="822960" y="1920240"/>
            <a:ext cx="4846320" cy="320040"/>
          </a:xfrm>
          <a:prstGeom prst="rect">
            <a:avLst/>
          </a:prstGeom>
          <a:noFill/>
          <a:ln/>
        </p:spPr>
        <p:txBody>
          <a:bodyPr wrap="square" rtlCol="0" anchor="t"/>
          <a:lstStyle/>
          <a:p>
            <a:pPr marL="0" indent="0" algn="l">
              <a:buNone/>
            </a:pPr>
            <a:r>
              <a:rPr lang="en-US" sz="1500" b="1" dirty="0">
                <a:solidFill>
                  <a:srgbClr val="2E6E7E"/>
                </a:solidFill>
                <a:latin typeface="Calibri" pitchFamily="34" charset="0"/>
                <a:ea typeface="Calibri" pitchFamily="34" charset="-122"/>
                <a:cs typeface="Calibri" pitchFamily="34" charset="-120"/>
              </a:rPr>
              <a:t>CASE A — SAFE</a:t>
            </a:r>
            <a:endParaRPr lang="en-US" sz="1500" dirty="0"/>
          </a:p>
        </p:txBody>
      </p:sp>
      <p:sp>
        <p:nvSpPr>
          <p:cNvPr id="6" name="Text 4"/>
          <p:cNvSpPr txBox="1"/>
          <p:nvPr/>
        </p:nvSpPr>
        <p:spPr>
          <a:xfrm>
            <a:off x="822960" y="2377440"/>
            <a:ext cx="4846320" cy="1371600"/>
          </a:xfrm>
          <a:prstGeom prst="rect">
            <a:avLst/>
          </a:prstGeom>
          <a:noFill/>
          <a:ln/>
        </p:spPr>
        <p:txBody>
          <a:bodyPr wrap="square" rtlCol="0" anchor="ctr"/>
          <a:lstStyle/>
          <a:p>
            <a:pPr marL="342900" indent="-342900">
              <a:lnSpc>
                <a:spcPct val="150000"/>
              </a:lnSpc>
              <a:buSzPct val="100000"/>
              <a:buChar char="▪"/>
            </a:pPr>
            <a:r>
              <a:rPr lang="en-US" sz="1300" dirty="0">
                <a:solidFill>
                  <a:srgbClr val="23262B"/>
                </a:solidFill>
                <a:latin typeface="Calibri" pitchFamily="34" charset="0"/>
                <a:ea typeface="Calibri" pitchFamily="34" charset="-122"/>
                <a:cs typeface="Calibri" pitchFamily="34" charset="-120"/>
              </a:rPr>
              <a:t>x ∈ [10, 20],  integral = true</a:t>
            </a:r>
            <a:endParaRPr lang="en-US" sz="1300" dirty="0"/>
          </a:p>
          <a:p>
            <a:pPr marL="342900" indent="-342900">
              <a:lnSpc>
                <a:spcPct val="150000"/>
              </a:lnSpc>
              <a:buSzPct val="100000"/>
              <a:buChar char="▪"/>
            </a:pPr>
            <a:r>
              <a:rPr lang="en-US" sz="1300" dirty="0">
                <a:solidFill>
                  <a:srgbClr val="23262B"/>
                </a:solidFill>
                <a:latin typeface="Calibri" pitchFamily="34" charset="0"/>
                <a:ea typeface="Calibri" pitchFamily="34" charset="-122"/>
                <a:cs typeface="Calibri" pitchFamily="34" charset="-120"/>
              </a:rPr>
              <a:t>10 ≥ −128   ✓</a:t>
            </a:r>
            <a:endParaRPr lang="en-US" sz="1300" dirty="0"/>
          </a:p>
          <a:p>
            <a:pPr marL="342900" indent="-342900">
              <a:lnSpc>
                <a:spcPct val="150000"/>
              </a:lnSpc>
              <a:buSzPct val="100000"/>
              <a:buChar char="▪"/>
            </a:pPr>
            <a:r>
              <a:rPr lang="en-US" sz="1300" dirty="0">
                <a:solidFill>
                  <a:srgbClr val="23262B"/>
                </a:solidFill>
                <a:latin typeface="Calibri" pitchFamily="34" charset="0"/>
                <a:ea typeface="Calibri" pitchFamily="34" charset="-122"/>
                <a:cs typeface="Calibri" pitchFamily="34" charset="-120"/>
              </a:rPr>
              <a:t>20 ≤ 127   ✓</a:t>
            </a:r>
            <a:endParaRPr lang="en-US" sz="1300" dirty="0"/>
          </a:p>
        </p:txBody>
      </p:sp>
      <p:sp>
        <p:nvSpPr>
          <p:cNvPr id="7" name="Shape 5"/>
          <p:cNvSpPr/>
          <p:nvPr/>
        </p:nvSpPr>
        <p:spPr>
          <a:xfrm>
            <a:off x="822960" y="4023360"/>
            <a:ext cx="4800600" cy="502920"/>
          </a:xfrm>
          <a:prstGeom prst="rect">
            <a:avLst/>
          </a:prstGeom>
          <a:solidFill>
            <a:srgbClr val="2E6E7E"/>
          </a:solidFill>
          <a:ln w="12700">
            <a:solidFill>
              <a:srgbClr val="2E6E7E"/>
            </a:solidFill>
            <a:prstDash val="solid"/>
          </a:ln>
        </p:spPr>
        <p:txBody>
          <a:bodyPr/>
          <a:lstStyle/>
          <a:p>
            <a:endParaRPr/>
          </a:p>
        </p:txBody>
      </p:sp>
      <p:sp>
        <p:nvSpPr>
          <p:cNvPr id="8" name="Text 6"/>
          <p:cNvSpPr txBox="1"/>
          <p:nvPr/>
        </p:nvSpPr>
        <p:spPr>
          <a:xfrm>
            <a:off x="822960" y="4023360"/>
            <a:ext cx="480060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SAFE: FP32 → INT8</a:t>
            </a:r>
            <a:endParaRPr lang="en-US" sz="1300" dirty="0"/>
          </a:p>
        </p:txBody>
      </p:sp>
      <p:sp>
        <p:nvSpPr>
          <p:cNvPr id="9" name="Shape 7"/>
          <p:cNvSpPr/>
          <p:nvPr/>
        </p:nvSpPr>
        <p:spPr>
          <a:xfrm>
            <a:off x="6263640" y="1783080"/>
            <a:ext cx="5349240" cy="2880360"/>
          </a:xfrm>
          <a:prstGeom prst="rect">
            <a:avLst/>
          </a:prstGeom>
          <a:solidFill>
            <a:srgbClr val="FFFFFF"/>
          </a:solidFill>
          <a:ln w="19050">
            <a:solidFill>
              <a:srgbClr val="9C4A3E"/>
            </a:solidFill>
            <a:prstDash val="solid"/>
          </a:ln>
        </p:spPr>
        <p:txBody>
          <a:bodyPr/>
          <a:lstStyle/>
          <a:p>
            <a:endParaRPr/>
          </a:p>
        </p:txBody>
      </p:sp>
      <p:sp>
        <p:nvSpPr>
          <p:cNvPr id="10" name="Text 8"/>
          <p:cNvSpPr txBox="1"/>
          <p:nvPr/>
        </p:nvSpPr>
        <p:spPr>
          <a:xfrm>
            <a:off x="6537960" y="1920240"/>
            <a:ext cx="4846320" cy="320040"/>
          </a:xfrm>
          <a:prstGeom prst="rect">
            <a:avLst/>
          </a:prstGeom>
          <a:noFill/>
          <a:ln/>
        </p:spPr>
        <p:txBody>
          <a:bodyPr wrap="square" rtlCol="0" anchor="t"/>
          <a:lstStyle/>
          <a:p>
            <a:pPr marL="0" indent="0" algn="l">
              <a:buNone/>
            </a:pPr>
            <a:r>
              <a:rPr lang="en-US" sz="1500" b="1" dirty="0">
                <a:solidFill>
                  <a:srgbClr val="9C4A3E"/>
                </a:solidFill>
                <a:latin typeface="Calibri" pitchFamily="34" charset="0"/>
                <a:ea typeface="Calibri" pitchFamily="34" charset="-122"/>
                <a:cs typeface="Calibri" pitchFamily="34" charset="-120"/>
              </a:rPr>
              <a:t>CASE B — UNSAFE (Overflow)</a:t>
            </a:r>
            <a:endParaRPr lang="en-US" sz="1500" dirty="0"/>
          </a:p>
        </p:txBody>
      </p:sp>
      <p:sp>
        <p:nvSpPr>
          <p:cNvPr id="11" name="Text 9"/>
          <p:cNvSpPr txBox="1"/>
          <p:nvPr/>
        </p:nvSpPr>
        <p:spPr>
          <a:xfrm>
            <a:off x="6537960" y="2377440"/>
            <a:ext cx="4846320" cy="1371600"/>
          </a:xfrm>
          <a:prstGeom prst="rect">
            <a:avLst/>
          </a:prstGeom>
          <a:noFill/>
          <a:ln/>
        </p:spPr>
        <p:txBody>
          <a:bodyPr wrap="square" rtlCol="0" anchor="ctr"/>
          <a:lstStyle/>
          <a:p>
            <a:pPr marL="342900" indent="-342900">
              <a:lnSpc>
                <a:spcPct val="150000"/>
              </a:lnSpc>
              <a:buSzPct val="100000"/>
              <a:buChar char="▪"/>
            </a:pPr>
            <a:r>
              <a:rPr lang="en-US" sz="1300" dirty="0">
                <a:solidFill>
                  <a:srgbClr val="23262B"/>
                </a:solidFill>
                <a:latin typeface="Calibri" pitchFamily="34" charset="0"/>
                <a:ea typeface="Calibri" pitchFamily="34" charset="-122"/>
                <a:cs typeface="Calibri" pitchFamily="34" charset="-120"/>
              </a:rPr>
              <a:t>x ∈ [120, 200],  integral = true</a:t>
            </a:r>
            <a:endParaRPr lang="en-US" sz="1300" dirty="0"/>
          </a:p>
          <a:p>
            <a:pPr marL="342900" indent="-342900">
              <a:lnSpc>
                <a:spcPct val="150000"/>
              </a:lnSpc>
              <a:buSzPct val="100000"/>
              <a:buChar char="▪"/>
            </a:pPr>
            <a:r>
              <a:rPr lang="en-US" sz="1300" dirty="0">
                <a:solidFill>
                  <a:srgbClr val="23262B"/>
                </a:solidFill>
                <a:latin typeface="Calibri" pitchFamily="34" charset="0"/>
                <a:ea typeface="Calibri" pitchFamily="34" charset="-122"/>
                <a:cs typeface="Calibri" pitchFamily="34" charset="-120"/>
              </a:rPr>
              <a:t>200 &gt; 127   ✗  (out of INT8 range)</a:t>
            </a:r>
            <a:endParaRPr lang="en-US" sz="1300" dirty="0"/>
          </a:p>
        </p:txBody>
      </p:sp>
      <p:sp>
        <p:nvSpPr>
          <p:cNvPr id="12" name="Shape 10"/>
          <p:cNvSpPr/>
          <p:nvPr/>
        </p:nvSpPr>
        <p:spPr>
          <a:xfrm>
            <a:off x="6537960" y="4023360"/>
            <a:ext cx="4800600" cy="502920"/>
          </a:xfrm>
          <a:prstGeom prst="rect">
            <a:avLst/>
          </a:prstGeom>
          <a:solidFill>
            <a:srgbClr val="F3E7E5"/>
          </a:solidFill>
          <a:ln w="15240">
            <a:solidFill>
              <a:srgbClr val="9C4A3E"/>
            </a:solidFill>
            <a:prstDash val="solid"/>
          </a:ln>
        </p:spPr>
        <p:txBody>
          <a:bodyPr/>
          <a:lstStyle/>
          <a:p>
            <a:endParaRPr/>
          </a:p>
        </p:txBody>
      </p:sp>
      <p:sp>
        <p:nvSpPr>
          <p:cNvPr id="13" name="Text 11"/>
          <p:cNvSpPr txBox="1"/>
          <p:nvPr/>
        </p:nvSpPr>
        <p:spPr>
          <a:xfrm>
            <a:off x="6537960" y="4023360"/>
            <a:ext cx="4800600" cy="502920"/>
          </a:xfrm>
          <a:prstGeom prst="rect">
            <a:avLst/>
          </a:prstGeom>
          <a:noFill/>
          <a:ln/>
        </p:spPr>
        <p:txBody>
          <a:bodyPr wrap="square" rtlCol="0" anchor="ctr"/>
          <a:lstStyle/>
          <a:p>
            <a:pPr marL="0" indent="0" algn="ctr">
              <a:buNone/>
            </a:pPr>
            <a:r>
              <a:rPr lang="en-US" sz="1300" b="1" dirty="0">
                <a:solidFill>
                  <a:srgbClr val="9C4A3E"/>
                </a:solidFill>
                <a:latin typeface="Calibri" pitchFamily="34" charset="0"/>
                <a:ea typeface="Calibri" pitchFamily="34" charset="-122"/>
                <a:cs typeface="Calibri" pitchFamily="34" charset="-120"/>
              </a:rPr>
              <a:t>→ REJECT: retain FP32</a:t>
            </a:r>
            <a:endParaRPr lang="en-US" sz="1300" dirty="0"/>
          </a:p>
        </p:txBody>
      </p:sp>
      <p:sp>
        <p:nvSpPr>
          <p:cNvPr id="14" name="Shape 12"/>
          <p:cNvSpPr/>
          <p:nvPr/>
        </p:nvSpPr>
        <p:spPr>
          <a:xfrm>
            <a:off x="548640" y="4983480"/>
            <a:ext cx="11064240" cy="1051560"/>
          </a:xfrm>
          <a:prstGeom prst="rect">
            <a:avLst/>
          </a:prstGeom>
          <a:solidFill>
            <a:srgbClr val="F4F6F8"/>
          </a:solidFill>
          <a:ln w="12700">
            <a:solidFill>
              <a:srgbClr val="D6DCE2"/>
            </a:solidFill>
            <a:prstDash val="solid"/>
          </a:ln>
        </p:spPr>
        <p:txBody>
          <a:bodyPr/>
          <a:lstStyle/>
          <a:p>
            <a:endParaRPr/>
          </a:p>
        </p:txBody>
      </p:sp>
      <p:sp>
        <p:nvSpPr>
          <p:cNvPr id="15" name="Text 13"/>
          <p:cNvSpPr txBox="1"/>
          <p:nvPr/>
        </p:nvSpPr>
        <p:spPr>
          <a:xfrm>
            <a:off x="822960" y="5074920"/>
            <a:ext cx="2743200" cy="822960"/>
          </a:xfrm>
          <a:prstGeom prst="rect">
            <a:avLst/>
          </a:prstGeom>
          <a:noFill/>
          <a:ln/>
        </p:spPr>
        <p:txBody>
          <a:bodyPr wrap="square" rtlCol="0" anchor="ctr"/>
          <a:lstStyle/>
          <a:p>
            <a:pPr marL="0" indent="0" algn="l">
              <a:buNone/>
            </a:pPr>
            <a:r>
              <a:rPr lang="en-US" sz="1250" b="1" dirty="0">
                <a:solidFill>
                  <a:srgbClr val="1F2A3C"/>
                </a:solidFill>
                <a:latin typeface="Calibri" pitchFamily="34" charset="0"/>
                <a:ea typeface="Calibri" pitchFamily="34" charset="-122"/>
                <a:cs typeface="Calibri" pitchFamily="34" charset="-120"/>
              </a:rPr>
              <a:t>Edge Case —</a:t>
            </a:r>
            <a:endParaRPr lang="en-US" sz="1250" dirty="0"/>
          </a:p>
          <a:p>
            <a:pPr marL="0" indent="0" algn="l">
              <a:buNone/>
            </a:pPr>
            <a:r>
              <a:rPr lang="en-US" sz="1250" b="1" dirty="0">
                <a:solidFill>
                  <a:srgbClr val="1F2A3C"/>
                </a:solidFill>
                <a:latin typeface="Calibri" pitchFamily="34" charset="0"/>
                <a:ea typeface="Calibri" pitchFamily="34" charset="-122"/>
                <a:cs typeface="Calibri" pitchFamily="34" charset="-120"/>
              </a:rPr>
              <a:t>Integrality Matters</a:t>
            </a:r>
            <a:endParaRPr lang="en-US" sz="1250" dirty="0"/>
          </a:p>
        </p:txBody>
      </p:sp>
      <p:sp>
        <p:nvSpPr>
          <p:cNvPr id="16" name="Text 14"/>
          <p:cNvSpPr txBox="1"/>
          <p:nvPr/>
        </p:nvSpPr>
        <p:spPr>
          <a:xfrm>
            <a:off x="3657600" y="5074920"/>
            <a:ext cx="7680960" cy="822960"/>
          </a:xfrm>
          <a:prstGeom prst="rect">
            <a:avLst/>
          </a:prstGeom>
          <a:noFill/>
          <a:ln/>
        </p:spPr>
        <p:txBody>
          <a:bodyPr wrap="square" rtlCol="0" anchor="ctr"/>
          <a:lstStyle/>
          <a:p>
            <a:pPr marL="0" indent="0" algn="l">
              <a:buNone/>
            </a:pPr>
            <a:r>
              <a:rPr lang="en-US" sz="1350" b="1" dirty="0">
                <a:solidFill>
                  <a:srgbClr val="9C4A3E"/>
                </a:solidFill>
                <a:latin typeface="Calibri" pitchFamily="34" charset="0"/>
                <a:ea typeface="Calibri" pitchFamily="34" charset="-122"/>
                <a:cs typeface="Calibri" pitchFamily="34" charset="-120"/>
              </a:rPr>
              <a:t>x = 1.5   →   range fits numerically, BUT integral = false   →   ✗ REJECT</a:t>
            </a:r>
            <a:endParaRPr lang="en-US" sz="1350" dirty="0"/>
          </a:p>
        </p:txBody>
      </p:sp>
      <p:sp>
        <p:nvSpPr>
          <p:cNvPr id="17" name="Text 15"/>
          <p:cNvSpPr txBox="1"/>
          <p:nvPr/>
        </p:nvSpPr>
        <p:spPr>
          <a:xfrm>
            <a:off x="502920" y="6492240"/>
            <a:ext cx="9601200" cy="237744"/>
          </a:xfrm>
          <a:prstGeom prst="rect">
            <a:avLst/>
          </a:prstGeom>
          <a:noFill/>
          <a:ln/>
        </p:spPr>
        <p:txBody>
          <a:bodyPr wrap="square" rtlCol="0" anchor="ctr"/>
          <a:lstStyle/>
          <a:p>
            <a:pPr marL="0" indent="0">
              <a:buNone/>
            </a:pPr>
            <a:r>
              <a:rPr lang="en-US" sz="800" dirty="0">
                <a:solidFill>
                  <a:srgbClr val="9AA3AF"/>
                </a:solidFill>
                <a:latin typeface="Calibri" pitchFamily="34" charset="0"/>
                <a:ea typeface="Calibri" pitchFamily="34" charset="-122"/>
                <a:cs typeface="Calibri" pitchFamily="34" charset="-120"/>
              </a:rPr>
              <a:t>BCSE307L — Compiler Design   |   Range-Aware Edge AI Quantization Compiler</a:t>
            </a:r>
            <a:endParaRPr lang="en-US" sz="800" dirty="0"/>
          </a:p>
        </p:txBody>
      </p:sp>
      <p:sp>
        <p:nvSpPr>
          <p:cNvPr id="18" name="Text 16"/>
          <p:cNvSpPr txBox="1"/>
          <p:nvPr/>
        </p:nvSpPr>
        <p:spPr>
          <a:xfrm>
            <a:off x="11247120" y="6492240"/>
            <a:ext cx="457200" cy="237744"/>
          </a:xfrm>
          <a:prstGeom prst="rect">
            <a:avLst/>
          </a:prstGeom>
          <a:noFill/>
          <a:ln/>
        </p:spPr>
        <p:txBody>
          <a:bodyPr wrap="square" rtlCol="0" anchor="ctr"/>
          <a:lstStyle/>
          <a:p>
            <a:pPr algn="r"/>
            <a:r>
              <a:rPr sz="850">
                <a:solidFill>
                  <a:srgbClr val="8A919A"/>
                </a:solidFill>
                <a:latin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marL="0" indent="0">
              <a:buNone/>
            </a:pPr>
            <a:r>
              <a:rPr lang="en-US" sz="1100" b="1" kern="0" spc="200" dirty="0">
                <a:solidFill>
                  <a:srgbClr val="2E6E7E"/>
                </a:solidFill>
                <a:latin typeface="Calibri" pitchFamily="34" charset="0"/>
                <a:ea typeface="Calibri" pitchFamily="34" charset="-122"/>
                <a:cs typeface="Calibri" pitchFamily="34" charset="-120"/>
              </a:rPr>
              <a:t>CONTROL FLOW</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marL="0" indent="0">
              <a:buNone/>
            </a:pPr>
            <a:r>
              <a:rPr lang="en-US" sz="2900" b="1" dirty="0">
                <a:solidFill>
                  <a:srgbClr val="1F2A3C"/>
                </a:solidFill>
                <a:latin typeface="Cambria" pitchFamily="34" charset="0"/>
                <a:ea typeface="Cambria" pitchFamily="34" charset="-122"/>
                <a:cs typeface="Cambria" pitchFamily="34" charset="-120"/>
              </a:rPr>
              <a:t>Handling Loops Safely</a:t>
            </a:r>
            <a:endParaRPr lang="en-US" sz="2900" dirty="0"/>
          </a:p>
        </p:txBody>
      </p:sp>
      <p:sp>
        <p:nvSpPr>
          <p:cNvPr id="4" name="Text 2"/>
          <p:cNvSpPr txBox="1"/>
          <p:nvPr/>
        </p:nvSpPr>
        <p:spPr>
          <a:xfrm>
            <a:off x="548640" y="1783080"/>
            <a:ext cx="4846320" cy="274320"/>
          </a:xfrm>
          <a:prstGeom prst="rect">
            <a:avLst/>
          </a:prstGeom>
          <a:noFill/>
          <a:ln/>
        </p:spPr>
        <p:txBody>
          <a:bodyPr wrap="square" rtlCol="0" anchor="t"/>
          <a:lstStyle/>
          <a:p>
            <a:pPr marL="0" indent="0" algn="l">
              <a:buNone/>
            </a:pPr>
            <a:r>
              <a:rPr lang="en-US" sz="1200" b="1" dirty="0">
                <a:solidFill>
                  <a:srgbClr val="1F2A3C"/>
                </a:solidFill>
                <a:latin typeface="Calibri" pitchFamily="34" charset="0"/>
                <a:ea typeface="Calibri" pitchFamily="34" charset="-122"/>
                <a:cs typeface="Calibri" pitchFamily="34" charset="-120"/>
              </a:rPr>
              <a:t>Example</a:t>
            </a:r>
            <a:endParaRPr lang="en-US" sz="1200" dirty="0"/>
          </a:p>
        </p:txBody>
      </p:sp>
      <p:sp>
        <p:nvSpPr>
          <p:cNvPr id="5" name="Shape 3"/>
          <p:cNvSpPr/>
          <p:nvPr/>
        </p:nvSpPr>
        <p:spPr>
          <a:xfrm>
            <a:off x="548640" y="2103120"/>
            <a:ext cx="4846320" cy="1234440"/>
          </a:xfrm>
          <a:prstGeom prst="rect">
            <a:avLst/>
          </a:prstGeom>
          <a:solidFill>
            <a:srgbClr val="1F2A3C"/>
          </a:solidFill>
          <a:ln w="12700">
            <a:solidFill>
              <a:srgbClr val="1F2A3C"/>
            </a:solidFill>
            <a:prstDash val="solid"/>
          </a:ln>
        </p:spPr>
        <p:txBody>
          <a:bodyPr/>
          <a:lstStyle/>
          <a:p>
            <a:endParaRPr/>
          </a:p>
        </p:txBody>
      </p:sp>
      <p:sp>
        <p:nvSpPr>
          <p:cNvPr id="6" name="Text 4"/>
          <p:cNvSpPr txBox="1"/>
          <p:nvPr/>
        </p:nvSpPr>
        <p:spPr>
          <a:xfrm>
            <a:off x="777240" y="2103120"/>
            <a:ext cx="4389120" cy="1234440"/>
          </a:xfrm>
          <a:prstGeom prst="rect">
            <a:avLst/>
          </a:prstGeom>
          <a:noFill/>
          <a:ln/>
        </p:spPr>
        <p:txBody>
          <a:bodyPr wrap="square" rtlCol="0" anchor="ctr"/>
          <a:lstStyle/>
          <a:p>
            <a:pPr marL="0" indent="0">
              <a:lnSpc>
                <a:spcPct val="130000"/>
              </a:lnSpc>
              <a:buNone/>
            </a:pPr>
            <a:r>
              <a:rPr lang="en-US" sz="1350" dirty="0">
                <a:solidFill>
                  <a:srgbClr val="D8E6EA"/>
                </a:solidFill>
                <a:latin typeface="Courier New" pitchFamily="34" charset="0"/>
                <a:ea typeface="Courier New" pitchFamily="34" charset="-122"/>
                <a:cs typeface="Courier New" pitchFamily="34" charset="-120"/>
              </a:rPr>
              <a:t>i = 0</a:t>
            </a:r>
            <a:endParaRPr lang="en-US" sz="1350" dirty="0"/>
          </a:p>
          <a:p>
            <a:pPr marL="0" indent="0">
              <a:lnSpc>
                <a:spcPct val="130000"/>
              </a:lnSpc>
              <a:buNone/>
            </a:pPr>
            <a:r>
              <a:rPr lang="en-US" sz="1350" dirty="0">
                <a:solidFill>
                  <a:srgbClr val="D8E6EA"/>
                </a:solidFill>
                <a:latin typeface="Courier New" pitchFamily="34" charset="0"/>
                <a:ea typeface="Courier New" pitchFamily="34" charset="-122"/>
                <a:cs typeface="Courier New" pitchFamily="34" charset="-120"/>
              </a:rPr>
              <a:t>while (i &lt; 100)</a:t>
            </a:r>
            <a:endParaRPr lang="en-US" sz="1350" dirty="0"/>
          </a:p>
          <a:p>
            <a:pPr marL="0" indent="0">
              <a:lnSpc>
                <a:spcPct val="130000"/>
              </a:lnSpc>
              <a:buNone/>
            </a:pPr>
            <a:r>
              <a:rPr lang="en-US" sz="1350" dirty="0">
                <a:solidFill>
                  <a:srgbClr val="D8E6EA"/>
                </a:solidFill>
                <a:latin typeface="Courier New" pitchFamily="34" charset="0"/>
                <a:ea typeface="Courier New" pitchFamily="34" charset="-122"/>
                <a:cs typeface="Courier New" pitchFamily="34" charset="-120"/>
              </a:rPr>
              <a:t>  i = i + 1</a:t>
            </a:r>
            <a:endParaRPr lang="en-US" sz="1350" dirty="0"/>
          </a:p>
        </p:txBody>
      </p:sp>
      <p:sp>
        <p:nvSpPr>
          <p:cNvPr id="7" name="Text 5"/>
          <p:cNvSpPr txBox="1"/>
          <p:nvPr/>
        </p:nvSpPr>
        <p:spPr>
          <a:xfrm>
            <a:off x="548640" y="3611880"/>
            <a:ext cx="4846320" cy="1737360"/>
          </a:xfrm>
          <a:prstGeom prst="rect">
            <a:avLst/>
          </a:prstGeom>
          <a:noFill/>
          <a:ln/>
        </p:spPr>
        <p:txBody>
          <a:bodyPr wrap="square" rtlCol="0" anchor="t"/>
          <a:lstStyle/>
          <a:p>
            <a:pPr marL="0" indent="0" algn="l">
              <a:lnSpc>
                <a:spcPct val="130000"/>
              </a:lnSpc>
              <a:buNone/>
            </a:pPr>
            <a:r>
              <a:rPr lang="en-US" sz="1250" i="1" dirty="0">
                <a:solidFill>
                  <a:srgbClr val="6B7480"/>
                </a:solidFill>
                <a:latin typeface="Calibri" pitchFamily="34" charset="0"/>
                <a:ea typeface="Calibri" pitchFamily="34" charset="-122"/>
                <a:cs typeface="Calibri" pitchFamily="34" charset="-120"/>
              </a:rPr>
              <a:t>Loop ranges must be computed via fixed-point iteration; naive propagation may not terminate.</a:t>
            </a:r>
            <a:endParaRPr lang="en-US" sz="1250" dirty="0"/>
          </a:p>
          <a:p>
            <a:pPr marL="0" indent="0" algn="l">
              <a:lnSpc>
                <a:spcPct val="130000"/>
              </a:lnSpc>
              <a:buNone/>
            </a:pPr>
            <a:endParaRPr lang="en-US" sz="1250" dirty="0"/>
          </a:p>
          <a:p>
            <a:pPr marL="0" indent="0" algn="l">
              <a:lnSpc>
                <a:spcPct val="130000"/>
              </a:lnSpc>
              <a:buNone/>
            </a:pPr>
            <a:r>
              <a:rPr lang="en-US" sz="1250" i="1" dirty="0">
                <a:solidFill>
                  <a:srgbClr val="6B7480"/>
                </a:solidFill>
                <a:latin typeface="Calibri" pitchFamily="34" charset="0"/>
                <a:ea typeface="Calibri" pitchFamily="34" charset="-122"/>
                <a:cs typeface="Calibri" pitchFamily="34" charset="-120"/>
              </a:rPr>
              <a:t>A bounded / widening strategy guarantees the analysis converges to a conservative range in finite time.</a:t>
            </a:r>
            <a:endParaRPr lang="en-US" sz="1250" dirty="0"/>
          </a:p>
        </p:txBody>
      </p:sp>
      <p:sp>
        <p:nvSpPr>
          <p:cNvPr id="8" name="Shape 6"/>
          <p:cNvSpPr/>
          <p:nvPr/>
        </p:nvSpPr>
        <p:spPr>
          <a:xfrm>
            <a:off x="6035040" y="1874520"/>
            <a:ext cx="5669280" cy="658368"/>
          </a:xfrm>
          <a:prstGeom prst="rect">
            <a:avLst/>
          </a:prstGeom>
          <a:solidFill>
            <a:srgbClr val="F4F6F8"/>
          </a:solidFill>
          <a:ln w="12700">
            <a:solidFill>
              <a:srgbClr val="1F2A3C"/>
            </a:solidFill>
            <a:prstDash val="solid"/>
          </a:ln>
        </p:spPr>
        <p:txBody>
          <a:bodyPr/>
          <a:lstStyle/>
          <a:p>
            <a:endParaRPr/>
          </a:p>
        </p:txBody>
      </p:sp>
      <p:sp>
        <p:nvSpPr>
          <p:cNvPr id="9" name="Text 7"/>
          <p:cNvSpPr txBox="1"/>
          <p:nvPr/>
        </p:nvSpPr>
        <p:spPr>
          <a:xfrm>
            <a:off x="6062472" y="1874520"/>
            <a:ext cx="5614416" cy="658368"/>
          </a:xfrm>
          <a:prstGeom prst="rect">
            <a:avLst/>
          </a:prstGeom>
          <a:noFill/>
          <a:ln/>
        </p:spPr>
        <p:txBody>
          <a:bodyPr wrap="square" lIns="0" tIns="0" rIns="0" bIns="0" rtlCol="0" anchor="ctr"/>
          <a:lstStyle/>
          <a:p>
            <a:pPr marL="0" indent="0" algn="ctr">
              <a:buNone/>
            </a:pPr>
            <a:r>
              <a:rPr lang="en-US" sz="1200" b="1" dirty="0">
                <a:solidFill>
                  <a:srgbClr val="1F2A3C"/>
                </a:solidFill>
                <a:latin typeface="Calibri" pitchFamily="34" charset="0"/>
                <a:ea typeface="Calibri" pitchFamily="34" charset="-122"/>
                <a:cs typeface="Calibri" pitchFamily="34" charset="-120"/>
              </a:rPr>
              <a:t>CFG Construction</a:t>
            </a:r>
            <a:endParaRPr lang="en-US" sz="1200" dirty="0"/>
          </a:p>
        </p:txBody>
      </p:sp>
      <p:sp>
        <p:nvSpPr>
          <p:cNvPr id="10" name="Shape 8"/>
          <p:cNvSpPr/>
          <p:nvPr/>
        </p:nvSpPr>
        <p:spPr>
          <a:xfrm>
            <a:off x="8869680" y="2532888"/>
            <a:ext cx="0" cy="201168"/>
          </a:xfrm>
          <a:prstGeom prst="line">
            <a:avLst/>
          </a:prstGeom>
          <a:noFill/>
          <a:ln w="15875">
            <a:solidFill>
              <a:srgbClr val="6B7480"/>
            </a:solidFill>
            <a:prstDash val="solid"/>
            <a:tailEnd type="triangle"/>
          </a:ln>
        </p:spPr>
        <p:txBody>
          <a:bodyPr/>
          <a:lstStyle/>
          <a:p>
            <a:endParaRPr/>
          </a:p>
        </p:txBody>
      </p:sp>
      <p:sp>
        <p:nvSpPr>
          <p:cNvPr id="11" name="Shape 9"/>
          <p:cNvSpPr/>
          <p:nvPr/>
        </p:nvSpPr>
        <p:spPr>
          <a:xfrm>
            <a:off x="6035040" y="2734056"/>
            <a:ext cx="5669280" cy="658368"/>
          </a:xfrm>
          <a:prstGeom prst="rect">
            <a:avLst/>
          </a:prstGeom>
          <a:solidFill>
            <a:srgbClr val="F4F6F8"/>
          </a:solidFill>
          <a:ln w="12700">
            <a:solidFill>
              <a:srgbClr val="1F2A3C"/>
            </a:solidFill>
            <a:prstDash val="solid"/>
          </a:ln>
        </p:spPr>
        <p:txBody>
          <a:bodyPr/>
          <a:lstStyle/>
          <a:p>
            <a:endParaRPr/>
          </a:p>
        </p:txBody>
      </p:sp>
      <p:sp>
        <p:nvSpPr>
          <p:cNvPr id="12" name="Text 10"/>
          <p:cNvSpPr txBox="1"/>
          <p:nvPr/>
        </p:nvSpPr>
        <p:spPr>
          <a:xfrm>
            <a:off x="6062472" y="2734056"/>
            <a:ext cx="5614416" cy="658368"/>
          </a:xfrm>
          <a:prstGeom prst="rect">
            <a:avLst/>
          </a:prstGeom>
          <a:noFill/>
          <a:ln/>
        </p:spPr>
        <p:txBody>
          <a:bodyPr wrap="square" lIns="0" tIns="0" rIns="0" bIns="0" rtlCol="0" anchor="ctr"/>
          <a:lstStyle/>
          <a:p>
            <a:pPr marL="0" indent="0" algn="ctr">
              <a:buNone/>
            </a:pPr>
            <a:r>
              <a:rPr lang="en-US" sz="1200" b="1" dirty="0">
                <a:solidFill>
                  <a:srgbClr val="1F2A3C"/>
                </a:solidFill>
                <a:latin typeface="Calibri" pitchFamily="34" charset="0"/>
                <a:ea typeface="Calibri" pitchFamily="34" charset="-122"/>
                <a:cs typeface="Calibri" pitchFamily="34" charset="-120"/>
              </a:rPr>
              <a:t>SSA φ-node at Loop Header</a:t>
            </a:r>
            <a:endParaRPr lang="en-US" sz="1200" dirty="0"/>
          </a:p>
        </p:txBody>
      </p:sp>
      <p:sp>
        <p:nvSpPr>
          <p:cNvPr id="13" name="Shape 11"/>
          <p:cNvSpPr/>
          <p:nvPr/>
        </p:nvSpPr>
        <p:spPr>
          <a:xfrm>
            <a:off x="8869680" y="3392424"/>
            <a:ext cx="0" cy="201168"/>
          </a:xfrm>
          <a:prstGeom prst="line">
            <a:avLst/>
          </a:prstGeom>
          <a:noFill/>
          <a:ln w="15875">
            <a:solidFill>
              <a:srgbClr val="6B7480"/>
            </a:solidFill>
            <a:prstDash val="solid"/>
            <a:tailEnd type="triangle"/>
          </a:ln>
        </p:spPr>
        <p:txBody>
          <a:bodyPr/>
          <a:lstStyle/>
          <a:p>
            <a:endParaRPr/>
          </a:p>
        </p:txBody>
      </p:sp>
      <p:sp>
        <p:nvSpPr>
          <p:cNvPr id="14" name="Shape 12"/>
          <p:cNvSpPr/>
          <p:nvPr/>
        </p:nvSpPr>
        <p:spPr>
          <a:xfrm>
            <a:off x="6035040" y="3593592"/>
            <a:ext cx="5669280" cy="658368"/>
          </a:xfrm>
          <a:prstGeom prst="rect">
            <a:avLst/>
          </a:prstGeom>
          <a:solidFill>
            <a:srgbClr val="F4F6F8"/>
          </a:solidFill>
          <a:ln w="12700">
            <a:solidFill>
              <a:srgbClr val="1F2A3C"/>
            </a:solidFill>
            <a:prstDash val="solid"/>
          </a:ln>
        </p:spPr>
        <p:txBody>
          <a:bodyPr/>
          <a:lstStyle/>
          <a:p>
            <a:endParaRPr/>
          </a:p>
        </p:txBody>
      </p:sp>
      <p:sp>
        <p:nvSpPr>
          <p:cNvPr id="15" name="Text 13"/>
          <p:cNvSpPr txBox="1"/>
          <p:nvPr/>
        </p:nvSpPr>
        <p:spPr>
          <a:xfrm>
            <a:off x="6062472" y="3593592"/>
            <a:ext cx="5614416" cy="658368"/>
          </a:xfrm>
          <a:prstGeom prst="rect">
            <a:avLst/>
          </a:prstGeom>
          <a:noFill/>
          <a:ln/>
        </p:spPr>
        <p:txBody>
          <a:bodyPr wrap="square" lIns="0" tIns="0" rIns="0" bIns="0" rtlCol="0" anchor="ctr"/>
          <a:lstStyle/>
          <a:p>
            <a:pPr marL="0" indent="0" algn="ctr">
              <a:buNone/>
            </a:pPr>
            <a:r>
              <a:rPr lang="en-US" sz="1200" b="1" dirty="0">
                <a:solidFill>
                  <a:srgbClr val="1F2A3C"/>
                </a:solidFill>
                <a:latin typeface="Calibri" pitchFamily="34" charset="0"/>
                <a:ea typeface="Calibri" pitchFamily="34" charset="-122"/>
                <a:cs typeface="Calibri" pitchFamily="34" charset="-120"/>
              </a:rPr>
              <a:t>Range Propagation</a:t>
            </a:r>
            <a:endParaRPr lang="en-US" sz="1200" dirty="0"/>
          </a:p>
        </p:txBody>
      </p:sp>
      <p:sp>
        <p:nvSpPr>
          <p:cNvPr id="16" name="Shape 14"/>
          <p:cNvSpPr/>
          <p:nvPr/>
        </p:nvSpPr>
        <p:spPr>
          <a:xfrm>
            <a:off x="8869680" y="4251960"/>
            <a:ext cx="0" cy="201168"/>
          </a:xfrm>
          <a:prstGeom prst="line">
            <a:avLst/>
          </a:prstGeom>
          <a:noFill/>
          <a:ln w="15875">
            <a:solidFill>
              <a:srgbClr val="6B7480"/>
            </a:solidFill>
            <a:prstDash val="solid"/>
            <a:tailEnd type="triangle"/>
          </a:ln>
        </p:spPr>
        <p:txBody>
          <a:bodyPr/>
          <a:lstStyle/>
          <a:p>
            <a:endParaRPr/>
          </a:p>
        </p:txBody>
      </p:sp>
      <p:sp>
        <p:nvSpPr>
          <p:cNvPr id="17" name="Shape 15"/>
          <p:cNvSpPr/>
          <p:nvPr/>
        </p:nvSpPr>
        <p:spPr>
          <a:xfrm>
            <a:off x="6035040" y="4453128"/>
            <a:ext cx="5669280" cy="658368"/>
          </a:xfrm>
          <a:prstGeom prst="rect">
            <a:avLst/>
          </a:prstGeom>
          <a:solidFill>
            <a:srgbClr val="F4F6F8"/>
          </a:solidFill>
          <a:ln w="12700">
            <a:solidFill>
              <a:srgbClr val="1F2A3C"/>
            </a:solidFill>
            <a:prstDash val="solid"/>
          </a:ln>
        </p:spPr>
        <p:txBody>
          <a:bodyPr/>
          <a:lstStyle/>
          <a:p>
            <a:endParaRPr/>
          </a:p>
        </p:txBody>
      </p:sp>
      <p:sp>
        <p:nvSpPr>
          <p:cNvPr id="18" name="Text 16"/>
          <p:cNvSpPr txBox="1"/>
          <p:nvPr/>
        </p:nvSpPr>
        <p:spPr>
          <a:xfrm>
            <a:off x="6062472" y="4453128"/>
            <a:ext cx="5614416" cy="658368"/>
          </a:xfrm>
          <a:prstGeom prst="rect">
            <a:avLst/>
          </a:prstGeom>
          <a:noFill/>
          <a:ln/>
        </p:spPr>
        <p:txBody>
          <a:bodyPr wrap="square" lIns="0" tIns="0" rIns="0" bIns="0" rtlCol="0" anchor="ctr"/>
          <a:lstStyle/>
          <a:p>
            <a:pPr marL="0" indent="0" algn="ctr">
              <a:buNone/>
            </a:pPr>
            <a:r>
              <a:rPr lang="en-US" sz="1200" b="1" dirty="0">
                <a:solidFill>
                  <a:srgbClr val="1F2A3C"/>
                </a:solidFill>
                <a:latin typeface="Calibri" pitchFamily="34" charset="0"/>
                <a:ea typeface="Calibri" pitchFamily="34" charset="-122"/>
                <a:cs typeface="Calibri" pitchFamily="34" charset="-120"/>
              </a:rPr>
              <a:t>Fixed-Point Convergence</a:t>
            </a:r>
            <a:endParaRPr lang="en-US" sz="1200" dirty="0"/>
          </a:p>
        </p:txBody>
      </p:sp>
      <p:sp>
        <p:nvSpPr>
          <p:cNvPr id="19" name="Shape 17"/>
          <p:cNvSpPr/>
          <p:nvPr/>
        </p:nvSpPr>
        <p:spPr>
          <a:xfrm>
            <a:off x="8869680" y="5111496"/>
            <a:ext cx="0" cy="201168"/>
          </a:xfrm>
          <a:prstGeom prst="line">
            <a:avLst/>
          </a:prstGeom>
          <a:noFill/>
          <a:ln w="15875">
            <a:solidFill>
              <a:srgbClr val="6B7480"/>
            </a:solidFill>
            <a:prstDash val="solid"/>
            <a:tailEnd type="triangle"/>
          </a:ln>
        </p:spPr>
        <p:txBody>
          <a:bodyPr/>
          <a:lstStyle/>
          <a:p>
            <a:endParaRPr/>
          </a:p>
        </p:txBody>
      </p:sp>
      <p:sp>
        <p:nvSpPr>
          <p:cNvPr id="20" name="Shape 18"/>
          <p:cNvSpPr/>
          <p:nvPr/>
        </p:nvSpPr>
        <p:spPr>
          <a:xfrm>
            <a:off x="6035040" y="5312664"/>
            <a:ext cx="5669280" cy="658368"/>
          </a:xfrm>
          <a:prstGeom prst="rect">
            <a:avLst/>
          </a:prstGeom>
          <a:solidFill>
            <a:srgbClr val="2E6E7E"/>
          </a:solidFill>
          <a:ln w="12700">
            <a:solidFill>
              <a:srgbClr val="2E6E7E"/>
            </a:solidFill>
            <a:prstDash val="solid"/>
          </a:ln>
        </p:spPr>
        <p:txBody>
          <a:bodyPr/>
          <a:lstStyle/>
          <a:p>
            <a:endParaRPr/>
          </a:p>
        </p:txBody>
      </p:sp>
      <p:sp>
        <p:nvSpPr>
          <p:cNvPr id="21" name="Text 19"/>
          <p:cNvSpPr txBox="1"/>
          <p:nvPr/>
        </p:nvSpPr>
        <p:spPr>
          <a:xfrm>
            <a:off x="6062472" y="5312664"/>
            <a:ext cx="5614416" cy="65836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Safe Termination</a:t>
            </a:r>
            <a:endParaRPr lang="en-US" sz="1200" dirty="0"/>
          </a:p>
        </p:txBody>
      </p:sp>
      <p:sp>
        <p:nvSpPr>
          <p:cNvPr id="22" name="Text 20"/>
          <p:cNvSpPr txBox="1"/>
          <p:nvPr/>
        </p:nvSpPr>
        <p:spPr>
          <a:xfrm>
            <a:off x="502920" y="6492240"/>
            <a:ext cx="9601200" cy="237744"/>
          </a:xfrm>
          <a:prstGeom prst="rect">
            <a:avLst/>
          </a:prstGeom>
          <a:noFill/>
          <a:ln/>
        </p:spPr>
        <p:txBody>
          <a:bodyPr wrap="square" rtlCol="0" anchor="ctr"/>
          <a:lstStyle/>
          <a:p>
            <a:pPr marL="0" indent="0">
              <a:buNone/>
            </a:pPr>
            <a:r>
              <a:rPr lang="en-US" sz="800" dirty="0">
                <a:solidFill>
                  <a:srgbClr val="9AA3AF"/>
                </a:solidFill>
                <a:latin typeface="Calibri" pitchFamily="34" charset="0"/>
                <a:ea typeface="Calibri" pitchFamily="34" charset="-122"/>
                <a:cs typeface="Calibri" pitchFamily="34" charset="-120"/>
              </a:rPr>
              <a:t>BCSE307L — Compiler Design   |   Range-Aware Edge AI Quantization Compiler</a:t>
            </a:r>
            <a:endParaRPr lang="en-US" sz="800" dirty="0"/>
          </a:p>
        </p:txBody>
      </p:sp>
      <p:sp>
        <p:nvSpPr>
          <p:cNvPr id="23" name="Text 21"/>
          <p:cNvSpPr txBox="1"/>
          <p:nvPr/>
        </p:nvSpPr>
        <p:spPr>
          <a:xfrm>
            <a:off x="11247120" y="6492240"/>
            <a:ext cx="457200" cy="237744"/>
          </a:xfrm>
          <a:prstGeom prst="rect">
            <a:avLst/>
          </a:prstGeom>
          <a:noFill/>
          <a:ln/>
        </p:spPr>
        <p:txBody>
          <a:bodyPr wrap="square" rtlCol="0" anchor="ctr"/>
          <a:lstStyle/>
          <a:p>
            <a:pPr algn="r"/>
            <a:r>
              <a:rPr sz="850">
                <a:solidFill>
                  <a:srgbClr val="8A919A"/>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marL="0" indent="0">
              <a:buNone/>
            </a:pPr>
            <a:r>
              <a:rPr lang="en-US" sz="1100" b="1" kern="0" spc="200" dirty="0">
                <a:solidFill>
                  <a:srgbClr val="2E6E7E"/>
                </a:solidFill>
                <a:latin typeface="Calibri" pitchFamily="34" charset="0"/>
                <a:ea typeface="Calibri" pitchFamily="34" charset="-122"/>
                <a:cs typeface="Calibri" pitchFamily="34" charset="-120"/>
              </a:rPr>
              <a:t>DEMONSTRATION</a:t>
            </a:r>
            <a:endParaRPr lang="en-US" sz="1100" dirty="0"/>
          </a:p>
        </p:txBody>
      </p:sp>
      <p:sp>
        <p:nvSpPr>
          <p:cNvPr id="3" name="Text 1"/>
          <p:cNvSpPr txBox="1"/>
          <p:nvPr/>
        </p:nvSpPr>
        <p:spPr>
          <a:xfrm>
            <a:off x="502920" y="621792"/>
            <a:ext cx="11155680" cy="594360"/>
          </a:xfrm>
          <a:prstGeom prst="rect">
            <a:avLst/>
          </a:prstGeom>
          <a:noFill/>
          <a:ln/>
        </p:spPr>
        <p:txBody>
          <a:bodyPr wrap="square" rtlCol="0" anchor="ctr"/>
          <a:lstStyle/>
          <a:p>
            <a:pPr marL="0" indent="0">
              <a:buNone/>
            </a:pPr>
            <a:r>
              <a:rPr lang="en-US" sz="2900" b="1" dirty="0">
                <a:solidFill>
                  <a:srgbClr val="1F2A3C"/>
                </a:solidFill>
                <a:latin typeface="Cambria" pitchFamily="34" charset="0"/>
                <a:ea typeface="Cambria" pitchFamily="34" charset="-122"/>
                <a:cs typeface="Cambria" pitchFamily="34" charset="-120"/>
              </a:rPr>
              <a:t>Sample Compiler Diagnostics</a:t>
            </a:r>
            <a:endParaRPr lang="en-US" sz="2900" dirty="0"/>
          </a:p>
        </p:txBody>
      </p:sp>
      <p:sp>
        <p:nvSpPr>
          <p:cNvPr id="4" name="Shape 2"/>
          <p:cNvSpPr/>
          <p:nvPr/>
        </p:nvSpPr>
        <p:spPr>
          <a:xfrm>
            <a:off x="457200" y="1783080"/>
            <a:ext cx="2112264" cy="731520"/>
          </a:xfrm>
          <a:prstGeom prst="rect">
            <a:avLst/>
          </a:prstGeom>
          <a:solidFill>
            <a:srgbClr val="F4F6F8"/>
          </a:solidFill>
          <a:ln w="12700">
            <a:solidFill>
              <a:srgbClr val="1F2A3C"/>
            </a:solidFill>
            <a:prstDash val="solid"/>
          </a:ln>
        </p:spPr>
        <p:txBody>
          <a:bodyPr/>
          <a:lstStyle/>
          <a:p>
            <a:endParaRPr lang="en-IN"/>
          </a:p>
        </p:txBody>
      </p:sp>
      <p:sp>
        <p:nvSpPr>
          <p:cNvPr id="5" name="Text 3"/>
          <p:cNvSpPr txBox="1"/>
          <p:nvPr/>
        </p:nvSpPr>
        <p:spPr>
          <a:xfrm>
            <a:off x="484632" y="1783080"/>
            <a:ext cx="2057400" cy="731520"/>
          </a:xfrm>
          <a:prstGeom prst="rect">
            <a:avLst/>
          </a:prstGeom>
          <a:noFill/>
          <a:ln/>
        </p:spPr>
        <p:txBody>
          <a:bodyPr wrap="square" lIns="0" tIns="0" rIns="0" bIns="0" rtlCol="0" anchor="ctr"/>
          <a:lstStyle/>
          <a:p>
            <a:pPr marL="0" indent="0" algn="ctr">
              <a:buNone/>
            </a:pPr>
            <a:r>
              <a:rPr lang="en-US" sz="1100" b="1" dirty="0">
                <a:solidFill>
                  <a:srgbClr val="1F2A3C"/>
                </a:solidFill>
                <a:latin typeface="Calibri" pitchFamily="34" charset="0"/>
                <a:ea typeface="Calibri" pitchFamily="34" charset="-122"/>
                <a:cs typeface="Calibri" pitchFamily="34" charset="-120"/>
              </a:rPr>
              <a:t>Source</a:t>
            </a:r>
            <a:endParaRPr lang="en-US" sz="1100" dirty="0"/>
          </a:p>
        </p:txBody>
      </p:sp>
      <p:sp>
        <p:nvSpPr>
          <p:cNvPr id="6" name="Shape 4"/>
          <p:cNvSpPr/>
          <p:nvPr/>
        </p:nvSpPr>
        <p:spPr>
          <a:xfrm>
            <a:off x="2569464" y="2148840"/>
            <a:ext cx="182880" cy="0"/>
          </a:xfrm>
          <a:prstGeom prst="line">
            <a:avLst/>
          </a:prstGeom>
          <a:noFill/>
          <a:ln w="15875">
            <a:solidFill>
              <a:srgbClr val="6B7480"/>
            </a:solidFill>
            <a:prstDash val="solid"/>
            <a:tailEnd type="triangle"/>
          </a:ln>
        </p:spPr>
        <p:txBody>
          <a:bodyPr/>
          <a:lstStyle/>
          <a:p>
            <a:endParaRPr lang="en-IN"/>
          </a:p>
        </p:txBody>
      </p:sp>
      <p:sp>
        <p:nvSpPr>
          <p:cNvPr id="7" name="Shape 5"/>
          <p:cNvSpPr/>
          <p:nvPr/>
        </p:nvSpPr>
        <p:spPr>
          <a:xfrm>
            <a:off x="2752344" y="1783080"/>
            <a:ext cx="2112264" cy="731520"/>
          </a:xfrm>
          <a:prstGeom prst="rect">
            <a:avLst/>
          </a:prstGeom>
          <a:solidFill>
            <a:srgbClr val="F4F6F8"/>
          </a:solidFill>
          <a:ln w="12700">
            <a:solidFill>
              <a:srgbClr val="1F2A3C"/>
            </a:solidFill>
            <a:prstDash val="solid"/>
          </a:ln>
        </p:spPr>
        <p:txBody>
          <a:bodyPr/>
          <a:lstStyle/>
          <a:p>
            <a:endParaRPr lang="en-IN"/>
          </a:p>
        </p:txBody>
      </p:sp>
      <p:sp>
        <p:nvSpPr>
          <p:cNvPr id="8" name="Text 6"/>
          <p:cNvSpPr txBox="1"/>
          <p:nvPr/>
        </p:nvSpPr>
        <p:spPr>
          <a:xfrm>
            <a:off x="2779776" y="1783080"/>
            <a:ext cx="2057400" cy="731520"/>
          </a:xfrm>
          <a:prstGeom prst="rect">
            <a:avLst/>
          </a:prstGeom>
          <a:noFill/>
          <a:ln/>
        </p:spPr>
        <p:txBody>
          <a:bodyPr wrap="square" lIns="0" tIns="0" rIns="0" bIns="0" rtlCol="0" anchor="ctr"/>
          <a:lstStyle/>
          <a:p>
            <a:pPr marL="0" indent="0" algn="ctr">
              <a:buNone/>
            </a:pPr>
            <a:r>
              <a:rPr lang="en-US" sz="1100" b="1" dirty="0">
                <a:solidFill>
                  <a:srgbClr val="1F2A3C"/>
                </a:solidFill>
                <a:latin typeface="Calibri" pitchFamily="34" charset="0"/>
                <a:ea typeface="Calibri" pitchFamily="34" charset="-122"/>
                <a:cs typeface="Calibri" pitchFamily="34" charset="-120"/>
              </a:rPr>
              <a:t>SSA Analysis</a:t>
            </a:r>
            <a:endParaRPr lang="en-US" sz="1100" dirty="0"/>
          </a:p>
        </p:txBody>
      </p:sp>
      <p:sp>
        <p:nvSpPr>
          <p:cNvPr id="9" name="Shape 7"/>
          <p:cNvSpPr/>
          <p:nvPr/>
        </p:nvSpPr>
        <p:spPr>
          <a:xfrm>
            <a:off x="4864608" y="2148840"/>
            <a:ext cx="182880" cy="0"/>
          </a:xfrm>
          <a:prstGeom prst="line">
            <a:avLst/>
          </a:prstGeom>
          <a:noFill/>
          <a:ln w="15875">
            <a:solidFill>
              <a:srgbClr val="6B7480"/>
            </a:solidFill>
            <a:prstDash val="solid"/>
            <a:tailEnd type="triangle"/>
          </a:ln>
        </p:spPr>
        <p:txBody>
          <a:bodyPr/>
          <a:lstStyle/>
          <a:p>
            <a:endParaRPr lang="en-IN"/>
          </a:p>
        </p:txBody>
      </p:sp>
      <p:sp>
        <p:nvSpPr>
          <p:cNvPr id="10" name="Shape 8"/>
          <p:cNvSpPr/>
          <p:nvPr/>
        </p:nvSpPr>
        <p:spPr>
          <a:xfrm>
            <a:off x="5047488" y="1783080"/>
            <a:ext cx="2112264" cy="731520"/>
          </a:xfrm>
          <a:prstGeom prst="rect">
            <a:avLst/>
          </a:prstGeom>
          <a:solidFill>
            <a:srgbClr val="F4F6F8"/>
          </a:solidFill>
          <a:ln w="12700">
            <a:solidFill>
              <a:srgbClr val="1F2A3C"/>
            </a:solidFill>
            <a:prstDash val="solid"/>
          </a:ln>
        </p:spPr>
        <p:txBody>
          <a:bodyPr/>
          <a:lstStyle/>
          <a:p>
            <a:endParaRPr lang="en-IN"/>
          </a:p>
        </p:txBody>
      </p:sp>
      <p:sp>
        <p:nvSpPr>
          <p:cNvPr id="11" name="Text 9"/>
          <p:cNvSpPr txBox="1"/>
          <p:nvPr/>
        </p:nvSpPr>
        <p:spPr>
          <a:xfrm>
            <a:off x="5074920" y="1783080"/>
            <a:ext cx="2057400" cy="731520"/>
          </a:xfrm>
          <a:prstGeom prst="rect">
            <a:avLst/>
          </a:prstGeom>
          <a:noFill/>
          <a:ln/>
        </p:spPr>
        <p:txBody>
          <a:bodyPr wrap="square" lIns="0" tIns="0" rIns="0" bIns="0" rtlCol="0" anchor="ctr"/>
          <a:lstStyle/>
          <a:p>
            <a:pPr marL="0" indent="0" algn="ctr">
              <a:buNone/>
            </a:pPr>
            <a:r>
              <a:rPr lang="en-US" sz="1100" b="1" dirty="0">
                <a:solidFill>
                  <a:srgbClr val="1F2A3C"/>
                </a:solidFill>
                <a:latin typeface="Calibri" pitchFamily="34" charset="0"/>
                <a:ea typeface="Calibri" pitchFamily="34" charset="-122"/>
                <a:cs typeface="Calibri" pitchFamily="34" charset="-120"/>
              </a:rPr>
              <a:t>Range Report</a:t>
            </a:r>
            <a:endParaRPr lang="en-US" sz="1100" dirty="0"/>
          </a:p>
        </p:txBody>
      </p:sp>
      <p:sp>
        <p:nvSpPr>
          <p:cNvPr id="12" name="Shape 10"/>
          <p:cNvSpPr/>
          <p:nvPr/>
        </p:nvSpPr>
        <p:spPr>
          <a:xfrm>
            <a:off x="7159752" y="2148840"/>
            <a:ext cx="182880" cy="0"/>
          </a:xfrm>
          <a:prstGeom prst="line">
            <a:avLst/>
          </a:prstGeom>
          <a:noFill/>
          <a:ln w="15875">
            <a:solidFill>
              <a:srgbClr val="6B7480"/>
            </a:solidFill>
            <a:prstDash val="solid"/>
            <a:tailEnd type="triangle"/>
          </a:ln>
        </p:spPr>
        <p:txBody>
          <a:bodyPr/>
          <a:lstStyle/>
          <a:p>
            <a:endParaRPr lang="en-IN"/>
          </a:p>
        </p:txBody>
      </p:sp>
      <p:sp>
        <p:nvSpPr>
          <p:cNvPr id="13" name="Shape 11"/>
          <p:cNvSpPr/>
          <p:nvPr/>
        </p:nvSpPr>
        <p:spPr>
          <a:xfrm>
            <a:off x="7342632" y="1783080"/>
            <a:ext cx="2112264" cy="731520"/>
          </a:xfrm>
          <a:prstGeom prst="rect">
            <a:avLst/>
          </a:prstGeom>
          <a:solidFill>
            <a:srgbClr val="F4F6F8"/>
          </a:solidFill>
          <a:ln w="12700">
            <a:solidFill>
              <a:srgbClr val="1F2A3C"/>
            </a:solidFill>
            <a:prstDash val="solid"/>
          </a:ln>
        </p:spPr>
        <p:txBody>
          <a:bodyPr/>
          <a:lstStyle/>
          <a:p>
            <a:endParaRPr lang="en-IN"/>
          </a:p>
        </p:txBody>
      </p:sp>
      <p:sp>
        <p:nvSpPr>
          <p:cNvPr id="14" name="Text 12"/>
          <p:cNvSpPr txBox="1"/>
          <p:nvPr/>
        </p:nvSpPr>
        <p:spPr>
          <a:xfrm>
            <a:off x="7370064" y="1783080"/>
            <a:ext cx="2057400" cy="731520"/>
          </a:xfrm>
          <a:prstGeom prst="rect">
            <a:avLst/>
          </a:prstGeom>
          <a:noFill/>
          <a:ln/>
        </p:spPr>
        <p:txBody>
          <a:bodyPr wrap="square" lIns="0" tIns="0" rIns="0" bIns="0" rtlCol="0" anchor="ctr"/>
          <a:lstStyle/>
          <a:p>
            <a:pPr marL="0" indent="0" algn="ctr">
              <a:buNone/>
            </a:pPr>
            <a:r>
              <a:rPr lang="en-US" sz="1100" b="1" dirty="0">
                <a:solidFill>
                  <a:srgbClr val="1F2A3C"/>
                </a:solidFill>
                <a:latin typeface="Calibri" pitchFamily="34" charset="0"/>
                <a:ea typeface="Calibri" pitchFamily="34" charset="-122"/>
                <a:cs typeface="Calibri" pitchFamily="34" charset="-120"/>
              </a:rPr>
              <a:t>Quantization</a:t>
            </a:r>
            <a:endParaRPr lang="en-US" sz="1100" dirty="0"/>
          </a:p>
          <a:p>
            <a:pPr marL="0" indent="0" algn="ctr">
              <a:buNone/>
            </a:pPr>
            <a:r>
              <a:rPr lang="en-US" sz="1100" b="1" dirty="0">
                <a:solidFill>
                  <a:srgbClr val="1F2A3C"/>
                </a:solidFill>
                <a:latin typeface="Calibri" pitchFamily="34" charset="0"/>
                <a:ea typeface="Calibri" pitchFamily="34" charset="-122"/>
                <a:cs typeface="Calibri" pitchFamily="34" charset="-120"/>
              </a:rPr>
              <a:t>Decision</a:t>
            </a:r>
            <a:endParaRPr lang="en-US" sz="1100" dirty="0"/>
          </a:p>
        </p:txBody>
      </p:sp>
      <p:sp>
        <p:nvSpPr>
          <p:cNvPr id="15" name="Shape 13"/>
          <p:cNvSpPr/>
          <p:nvPr/>
        </p:nvSpPr>
        <p:spPr>
          <a:xfrm>
            <a:off x="9454896" y="2148840"/>
            <a:ext cx="182880" cy="0"/>
          </a:xfrm>
          <a:prstGeom prst="line">
            <a:avLst/>
          </a:prstGeom>
          <a:noFill/>
          <a:ln w="15875">
            <a:solidFill>
              <a:srgbClr val="6B7480"/>
            </a:solidFill>
            <a:prstDash val="solid"/>
            <a:tailEnd type="triangle"/>
          </a:ln>
        </p:spPr>
        <p:txBody>
          <a:bodyPr/>
          <a:lstStyle/>
          <a:p>
            <a:endParaRPr lang="en-IN"/>
          </a:p>
        </p:txBody>
      </p:sp>
      <p:sp>
        <p:nvSpPr>
          <p:cNvPr id="16" name="Shape 14"/>
          <p:cNvSpPr/>
          <p:nvPr/>
        </p:nvSpPr>
        <p:spPr>
          <a:xfrm>
            <a:off x="9637776" y="1783080"/>
            <a:ext cx="2112264" cy="731520"/>
          </a:xfrm>
          <a:prstGeom prst="rect">
            <a:avLst/>
          </a:prstGeom>
          <a:solidFill>
            <a:srgbClr val="F4F6F8"/>
          </a:solidFill>
          <a:ln w="12700">
            <a:solidFill>
              <a:srgbClr val="1F2A3C"/>
            </a:solidFill>
            <a:prstDash val="solid"/>
          </a:ln>
        </p:spPr>
        <p:txBody>
          <a:bodyPr/>
          <a:lstStyle/>
          <a:p>
            <a:endParaRPr lang="en-IN"/>
          </a:p>
        </p:txBody>
      </p:sp>
      <p:sp>
        <p:nvSpPr>
          <p:cNvPr id="17" name="Text 15"/>
          <p:cNvSpPr txBox="1"/>
          <p:nvPr/>
        </p:nvSpPr>
        <p:spPr>
          <a:xfrm>
            <a:off x="9665208" y="1783080"/>
            <a:ext cx="2057400" cy="731520"/>
          </a:xfrm>
          <a:prstGeom prst="rect">
            <a:avLst/>
          </a:prstGeom>
          <a:noFill/>
          <a:ln/>
        </p:spPr>
        <p:txBody>
          <a:bodyPr wrap="square" lIns="0" tIns="0" rIns="0" bIns="0" rtlCol="0" anchor="ctr"/>
          <a:lstStyle/>
          <a:p>
            <a:pPr marL="0" indent="0" algn="ctr">
              <a:buNone/>
            </a:pPr>
            <a:r>
              <a:rPr lang="en-US" sz="1100" b="1" dirty="0">
                <a:solidFill>
                  <a:srgbClr val="1F2A3C"/>
                </a:solidFill>
                <a:latin typeface="Calibri" pitchFamily="34" charset="0"/>
                <a:ea typeface="Calibri" pitchFamily="34" charset="-122"/>
                <a:cs typeface="Calibri" pitchFamily="34" charset="-120"/>
              </a:rPr>
              <a:t>Quantized IR</a:t>
            </a:r>
            <a:endParaRPr lang="en-US" sz="1100" dirty="0"/>
          </a:p>
        </p:txBody>
      </p:sp>
      <p:sp>
        <p:nvSpPr>
          <p:cNvPr id="18" name="Shape 16"/>
          <p:cNvSpPr/>
          <p:nvPr/>
        </p:nvSpPr>
        <p:spPr>
          <a:xfrm>
            <a:off x="548640" y="2880360"/>
            <a:ext cx="5349240" cy="2606040"/>
          </a:xfrm>
          <a:prstGeom prst="rect">
            <a:avLst/>
          </a:prstGeom>
          <a:solidFill>
            <a:srgbClr val="1F2A3C"/>
          </a:solidFill>
          <a:ln w="19050">
            <a:solidFill>
              <a:srgbClr val="2E6E7E"/>
            </a:solidFill>
            <a:prstDash val="solid"/>
          </a:ln>
        </p:spPr>
        <p:txBody>
          <a:bodyPr/>
          <a:lstStyle/>
          <a:p>
            <a:endParaRPr lang="en-IN"/>
          </a:p>
        </p:txBody>
      </p:sp>
      <p:sp>
        <p:nvSpPr>
          <p:cNvPr id="19" name="Text 17"/>
          <p:cNvSpPr txBox="1"/>
          <p:nvPr/>
        </p:nvSpPr>
        <p:spPr>
          <a:xfrm>
            <a:off x="822960" y="3063240"/>
            <a:ext cx="4800600" cy="2286000"/>
          </a:xfrm>
          <a:prstGeom prst="rect">
            <a:avLst/>
          </a:prstGeom>
          <a:noFill/>
          <a:ln/>
        </p:spPr>
        <p:txBody>
          <a:bodyPr wrap="square" rtlCol="0" anchor="t"/>
          <a:lstStyle/>
          <a:p>
            <a:pPr marL="0" indent="0">
              <a:lnSpc>
                <a:spcPct val="135000"/>
              </a:lnSpc>
              <a:buNone/>
            </a:pPr>
            <a:r>
              <a:rPr lang="en-US" sz="1250" dirty="0">
                <a:solidFill>
                  <a:srgbClr val="9FE3C8"/>
                </a:solidFill>
                <a:latin typeface="Courier New" pitchFamily="34" charset="0"/>
                <a:ea typeface="Courier New" pitchFamily="34" charset="-122"/>
                <a:cs typeface="Courier New" pitchFamily="34" charset="-120"/>
              </a:rPr>
              <a:t>Variable: z</a:t>
            </a:r>
            <a:endParaRPr lang="en-US" sz="1250" dirty="0"/>
          </a:p>
          <a:p>
            <a:pPr marL="0" indent="0">
              <a:lnSpc>
                <a:spcPct val="135000"/>
              </a:lnSpc>
              <a:buNone/>
            </a:pPr>
            <a:r>
              <a:rPr lang="en-US" sz="1250" dirty="0">
                <a:solidFill>
                  <a:srgbClr val="9FE3C8"/>
                </a:solidFill>
                <a:latin typeface="Courier New" pitchFamily="34" charset="0"/>
                <a:ea typeface="Courier New" pitchFamily="34" charset="-122"/>
                <a:cs typeface="Courier New" pitchFamily="34" charset="-120"/>
              </a:rPr>
              <a:t>Source: line 18, column 9</a:t>
            </a:r>
            <a:endParaRPr lang="en-US" sz="1250" dirty="0"/>
          </a:p>
          <a:p>
            <a:pPr marL="0" indent="0">
              <a:lnSpc>
                <a:spcPct val="135000"/>
              </a:lnSpc>
              <a:buNone/>
            </a:pPr>
            <a:r>
              <a:rPr lang="en-US" sz="1250" dirty="0">
                <a:solidFill>
                  <a:srgbClr val="9FE3C8"/>
                </a:solidFill>
                <a:latin typeface="Courier New" pitchFamily="34" charset="0"/>
                <a:ea typeface="Courier New" pitchFamily="34" charset="-122"/>
                <a:cs typeface="Courier New" pitchFamily="34" charset="-120"/>
              </a:rPr>
              <a:t>Range: [30, 60]</a:t>
            </a:r>
            <a:endParaRPr lang="en-US" sz="1250" dirty="0"/>
          </a:p>
          <a:p>
            <a:pPr marL="0" indent="0">
              <a:lnSpc>
                <a:spcPct val="135000"/>
              </a:lnSpc>
              <a:buNone/>
            </a:pPr>
            <a:r>
              <a:rPr lang="en-US" sz="1250" dirty="0">
                <a:solidFill>
                  <a:srgbClr val="9FE3C8"/>
                </a:solidFill>
                <a:latin typeface="Courier New" pitchFamily="34" charset="0"/>
                <a:ea typeface="Courier New" pitchFamily="34" charset="-122"/>
                <a:cs typeface="Courier New" pitchFamily="34" charset="-120"/>
              </a:rPr>
              <a:t>Integral: YES</a:t>
            </a:r>
            <a:endParaRPr lang="en-US" sz="1250" dirty="0"/>
          </a:p>
          <a:p>
            <a:pPr marL="0" indent="0">
              <a:lnSpc>
                <a:spcPct val="135000"/>
              </a:lnSpc>
              <a:buNone/>
            </a:pPr>
            <a:r>
              <a:rPr lang="en-US" sz="1250" dirty="0">
                <a:solidFill>
                  <a:srgbClr val="9FE3C8"/>
                </a:solidFill>
                <a:latin typeface="Courier New" pitchFamily="34" charset="0"/>
                <a:ea typeface="Courier New" pitchFamily="34" charset="-122"/>
                <a:cs typeface="Courier New" pitchFamily="34" charset="-120"/>
              </a:rPr>
              <a:t>INT8 Safety: PASS</a:t>
            </a:r>
            <a:endParaRPr lang="en-US" sz="1250" dirty="0"/>
          </a:p>
          <a:p>
            <a:pPr marL="0" indent="0">
              <a:lnSpc>
                <a:spcPct val="135000"/>
              </a:lnSpc>
              <a:buNone/>
            </a:pPr>
            <a:r>
              <a:rPr lang="en-US" sz="1250" dirty="0">
                <a:solidFill>
                  <a:srgbClr val="9FE3C8"/>
                </a:solidFill>
                <a:latin typeface="Courier New" pitchFamily="34" charset="0"/>
                <a:ea typeface="Courier New" pitchFamily="34" charset="-122"/>
                <a:cs typeface="Courier New" pitchFamily="34" charset="-120"/>
              </a:rPr>
              <a:t>Transformation: FP32 → INT8</a:t>
            </a:r>
            <a:endParaRPr lang="en-US" sz="1250" dirty="0"/>
          </a:p>
        </p:txBody>
      </p:sp>
      <p:sp>
        <p:nvSpPr>
          <p:cNvPr id="20" name="Shape 18"/>
          <p:cNvSpPr/>
          <p:nvPr/>
        </p:nvSpPr>
        <p:spPr>
          <a:xfrm>
            <a:off x="6263640" y="2880360"/>
            <a:ext cx="5349240" cy="2606040"/>
          </a:xfrm>
          <a:prstGeom prst="rect">
            <a:avLst/>
          </a:prstGeom>
          <a:solidFill>
            <a:srgbClr val="1F2A3C"/>
          </a:solidFill>
          <a:ln w="19050">
            <a:solidFill>
              <a:srgbClr val="9C4A3E"/>
            </a:solidFill>
            <a:prstDash val="solid"/>
          </a:ln>
        </p:spPr>
        <p:txBody>
          <a:bodyPr/>
          <a:lstStyle/>
          <a:p>
            <a:endParaRPr lang="en-IN"/>
          </a:p>
        </p:txBody>
      </p:sp>
      <p:sp>
        <p:nvSpPr>
          <p:cNvPr id="21" name="Text 19"/>
          <p:cNvSpPr txBox="1"/>
          <p:nvPr/>
        </p:nvSpPr>
        <p:spPr>
          <a:xfrm>
            <a:off x="6537960" y="3063240"/>
            <a:ext cx="4800600" cy="2286000"/>
          </a:xfrm>
          <a:prstGeom prst="rect">
            <a:avLst/>
          </a:prstGeom>
          <a:noFill/>
          <a:ln/>
        </p:spPr>
        <p:txBody>
          <a:bodyPr wrap="square" rtlCol="0" anchor="t"/>
          <a:lstStyle/>
          <a:p>
            <a:pPr marL="0" indent="0">
              <a:lnSpc>
                <a:spcPct val="135000"/>
              </a:lnSpc>
              <a:buNone/>
            </a:pPr>
            <a:r>
              <a:rPr lang="en-US" sz="1250" dirty="0">
                <a:solidFill>
                  <a:srgbClr val="F0AFA4"/>
                </a:solidFill>
                <a:latin typeface="Courier New" pitchFamily="34" charset="0"/>
                <a:ea typeface="Courier New" pitchFamily="34" charset="-122"/>
                <a:cs typeface="Courier New" pitchFamily="34" charset="-120"/>
              </a:rPr>
              <a:t>Variable: x</a:t>
            </a:r>
            <a:endParaRPr lang="en-US" sz="1250" dirty="0"/>
          </a:p>
          <a:p>
            <a:pPr marL="0" indent="0">
              <a:lnSpc>
                <a:spcPct val="135000"/>
              </a:lnSpc>
              <a:buNone/>
            </a:pPr>
            <a:r>
              <a:rPr lang="en-US" sz="1250" dirty="0">
                <a:solidFill>
                  <a:srgbClr val="F0AFA4"/>
                </a:solidFill>
                <a:latin typeface="Courier New" pitchFamily="34" charset="0"/>
                <a:ea typeface="Courier New" pitchFamily="34" charset="-122"/>
                <a:cs typeface="Courier New" pitchFamily="34" charset="-120"/>
              </a:rPr>
              <a:t>Source: line 14, column 7</a:t>
            </a:r>
            <a:endParaRPr lang="en-US" sz="1250" dirty="0"/>
          </a:p>
          <a:p>
            <a:pPr marL="0" indent="0">
              <a:lnSpc>
                <a:spcPct val="135000"/>
              </a:lnSpc>
              <a:buNone/>
            </a:pPr>
            <a:r>
              <a:rPr lang="en-US" sz="1250" dirty="0">
                <a:solidFill>
                  <a:srgbClr val="F0AFA4"/>
                </a:solidFill>
                <a:latin typeface="Courier New" pitchFamily="34" charset="0"/>
                <a:ea typeface="Courier New" pitchFamily="34" charset="-122"/>
                <a:cs typeface="Courier New" pitchFamily="34" charset="-120"/>
              </a:rPr>
              <a:t>Range: [120, 200]</a:t>
            </a:r>
            <a:endParaRPr lang="en-US" sz="1250" dirty="0"/>
          </a:p>
          <a:p>
            <a:pPr marL="0" indent="0">
              <a:lnSpc>
                <a:spcPct val="135000"/>
              </a:lnSpc>
              <a:buNone/>
            </a:pPr>
            <a:r>
              <a:rPr lang="en-US" sz="1250" dirty="0">
                <a:solidFill>
                  <a:srgbClr val="F0AFA4"/>
                </a:solidFill>
                <a:latin typeface="Courier New" pitchFamily="34" charset="0"/>
                <a:ea typeface="Courier New" pitchFamily="34" charset="-122"/>
                <a:cs typeface="Courier New" pitchFamily="34" charset="-120"/>
              </a:rPr>
              <a:t>Integral: YES</a:t>
            </a:r>
            <a:endParaRPr lang="en-US" sz="1250" dirty="0"/>
          </a:p>
          <a:p>
            <a:pPr marL="0" indent="0">
              <a:lnSpc>
                <a:spcPct val="135000"/>
              </a:lnSpc>
              <a:buNone/>
            </a:pPr>
            <a:r>
              <a:rPr lang="en-US" sz="1250" dirty="0">
                <a:solidFill>
                  <a:srgbClr val="F0AFA4"/>
                </a:solidFill>
                <a:latin typeface="Courier New" pitchFamily="34" charset="0"/>
                <a:ea typeface="Courier New" pitchFamily="34" charset="-122"/>
                <a:cs typeface="Courier New" pitchFamily="34" charset="-120"/>
              </a:rPr>
              <a:t>INT8 Safety: FAIL</a:t>
            </a:r>
            <a:endParaRPr lang="en-US" sz="1250" dirty="0"/>
          </a:p>
          <a:p>
            <a:pPr marL="0" indent="0">
              <a:lnSpc>
                <a:spcPct val="135000"/>
              </a:lnSpc>
              <a:buNone/>
            </a:pPr>
            <a:r>
              <a:rPr lang="en-US" sz="1250" dirty="0">
                <a:solidFill>
                  <a:srgbClr val="F0AFA4"/>
                </a:solidFill>
                <a:latin typeface="Courier New" pitchFamily="34" charset="0"/>
                <a:ea typeface="Courier New" pitchFamily="34" charset="-122"/>
                <a:cs typeface="Courier New" pitchFamily="34" charset="-120"/>
              </a:rPr>
              <a:t>Reason: possible overflow</a:t>
            </a:r>
            <a:endParaRPr lang="en-US" sz="1250" dirty="0"/>
          </a:p>
        </p:txBody>
      </p:sp>
      <p:sp>
        <p:nvSpPr>
          <p:cNvPr id="22" name="Text 20"/>
          <p:cNvSpPr txBox="1"/>
          <p:nvPr/>
        </p:nvSpPr>
        <p:spPr>
          <a:xfrm>
            <a:off x="502920" y="6492240"/>
            <a:ext cx="9601200" cy="237744"/>
          </a:xfrm>
          <a:prstGeom prst="rect">
            <a:avLst/>
          </a:prstGeom>
          <a:noFill/>
          <a:ln/>
        </p:spPr>
        <p:txBody>
          <a:bodyPr wrap="square" rtlCol="0" anchor="ctr"/>
          <a:lstStyle/>
          <a:p>
            <a:pPr marL="0" indent="0">
              <a:buNone/>
            </a:pPr>
            <a:r>
              <a:rPr lang="en-US" sz="800" dirty="0">
                <a:solidFill>
                  <a:srgbClr val="9AA3AF"/>
                </a:solidFill>
                <a:latin typeface="Calibri" pitchFamily="34" charset="0"/>
                <a:ea typeface="Calibri" pitchFamily="34" charset="-122"/>
                <a:cs typeface="Calibri" pitchFamily="34" charset="-120"/>
              </a:rPr>
              <a:t>BCSE307L — Compiler Design   |   Range-Aware Edge AI Quantization Compiler</a:t>
            </a:r>
            <a:endParaRPr lang="en-US" sz="800" dirty="0"/>
          </a:p>
        </p:txBody>
      </p:sp>
      <p:sp>
        <p:nvSpPr>
          <p:cNvPr id="23" name="Text 21"/>
          <p:cNvSpPr txBox="1"/>
          <p:nvPr/>
        </p:nvSpPr>
        <p:spPr>
          <a:xfrm>
            <a:off x="11247120" y="6492240"/>
            <a:ext cx="457200" cy="237744"/>
          </a:xfrm>
          <a:prstGeom prst="rect">
            <a:avLst/>
          </a:prstGeom>
          <a:noFill/>
          <a:ln/>
        </p:spPr>
        <p:txBody>
          <a:bodyPr wrap="square" rtlCol="0" anchor="ctr"/>
          <a:lstStyle/>
          <a:p>
            <a:pPr marL="0" indent="0" algn="r">
              <a:buNone/>
            </a:pPr>
            <a:r>
              <a:rPr lang="en-US" sz="800" dirty="0">
                <a:solidFill>
                  <a:srgbClr val="9AA3AF"/>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347472"/>
            <a:ext cx="10607040" cy="256032"/>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2E6E7E"/>
                </a:solidFill>
                <a:latin typeface="Calibri"/>
              </a:rPr>
              <a:t>LIVE DEMONSTRATION · ORIGINAL TERMINAL CAPTURE</a:t>
            </a:r>
          </a:p>
        </p:txBody>
      </p:sp>
      <p:sp>
        <p:nvSpPr>
          <p:cNvPr id="3" name="TextBox 2"/>
          <p:cNvSpPr txBox="1"/>
          <p:nvPr/>
        </p:nvSpPr>
        <p:spPr>
          <a:xfrm>
            <a:off x="502920" y="621792"/>
            <a:ext cx="11155680" cy="566928"/>
          </a:xfrm>
          <a:prstGeom prst="rect">
            <a:avLst/>
          </a:prstGeom>
          <a:noFill/>
        </p:spPr>
        <p:txBody>
          <a:bodyPr wrap="square" lIns="0" tIns="0" rIns="0" bIns="0" anchor="t">
            <a:spAutoFit/>
          </a:bodyPr>
          <a:lstStyle/>
          <a:p>
            <a:pPr algn="l">
              <a:lnSpc>
                <a:spcPct val="100000"/>
              </a:lnSpc>
              <a:spcBef>
                <a:spcPts val="0"/>
              </a:spcBef>
              <a:spcAft>
                <a:spcPts val="0"/>
              </a:spcAft>
            </a:pPr>
            <a:r>
              <a:rPr sz="2800" b="1" i="0">
                <a:solidFill>
                  <a:srgbClr val="1F2A3C"/>
                </a:solidFill>
                <a:latin typeface="Cambria"/>
              </a:rPr>
              <a:t>Demo A — Safe Arithmetic Is Accepted</a:t>
            </a:r>
          </a:p>
        </p:txBody>
      </p:sp>
      <p:sp>
        <p:nvSpPr>
          <p:cNvPr id="4" name="TextBox 3"/>
          <p:cNvSpPr txBox="1"/>
          <p:nvPr/>
        </p:nvSpPr>
        <p:spPr>
          <a:xfrm>
            <a:off x="502920" y="6492240"/>
            <a:ext cx="9875520" cy="201168"/>
          </a:xfrm>
          <a:prstGeom prst="rect">
            <a:avLst/>
          </a:prstGeom>
          <a:noFill/>
        </p:spPr>
        <p:txBody>
          <a:bodyPr wrap="square" lIns="0" tIns="0" rIns="0" bIns="0" anchor="t">
            <a:spAutoFit/>
          </a:bodyPr>
          <a:lstStyle/>
          <a:p>
            <a:pPr algn="l">
              <a:lnSpc>
                <a:spcPct val="100000"/>
              </a:lnSpc>
              <a:spcBef>
                <a:spcPts val="0"/>
              </a:spcBef>
              <a:spcAft>
                <a:spcPts val="0"/>
              </a:spcAft>
            </a:pPr>
            <a:r>
              <a:rPr sz="850" b="0" i="0">
                <a:solidFill>
                  <a:srgbClr val="8A919A"/>
                </a:solidFill>
                <a:latin typeface="Calibri"/>
              </a:rPr>
              <a:t>BCSE307L — Compiler Design   |   Range-Aware Edge AI Quantization Compiler</a:t>
            </a:r>
          </a:p>
        </p:txBody>
      </p:sp>
      <p:sp>
        <p:nvSpPr>
          <p:cNvPr id="5" name="TextBox 4"/>
          <p:cNvSpPr txBox="1"/>
          <p:nvPr/>
        </p:nvSpPr>
        <p:spPr>
          <a:xfrm>
            <a:off x="11228832" y="6492240"/>
            <a:ext cx="457200" cy="201168"/>
          </a:xfrm>
          <a:prstGeom prst="rect">
            <a:avLst/>
          </a:prstGeom>
          <a:noFill/>
        </p:spPr>
        <p:txBody>
          <a:bodyPr wrap="square" lIns="0" tIns="0" rIns="0" bIns="0" anchor="t">
            <a:spAutoFit/>
          </a:bodyPr>
          <a:lstStyle/>
          <a:p>
            <a:pPr algn="r"/>
            <a:r>
              <a:rPr sz="850">
                <a:solidFill>
                  <a:srgbClr val="8A919A"/>
                </a:solidFill>
                <a:latin typeface="Calibri"/>
              </a:rPr>
              <a:t>19</a:t>
            </a:r>
          </a:p>
        </p:txBody>
      </p:sp>
      <p:sp>
        <p:nvSpPr>
          <p:cNvPr id="6" name="Rectangle 5"/>
          <p:cNvSpPr/>
          <p:nvPr/>
        </p:nvSpPr>
        <p:spPr>
          <a:xfrm>
            <a:off x="466344" y="1362456"/>
            <a:ext cx="7817704" cy="4443984"/>
          </a:xfrm>
          <a:prstGeom prst="rect">
            <a:avLst/>
          </a:prstGeom>
          <a:solidFill>
            <a:srgbClr val="FFFFFF"/>
          </a:solidFill>
          <a:ln w="889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2.png"/>
          <p:cNvPicPr>
            <a:picLocks noChangeAspect="1"/>
          </p:cNvPicPr>
          <p:nvPr/>
        </p:nvPicPr>
        <p:blipFill>
          <a:blip r:embed="rId2"/>
          <a:stretch>
            <a:fillRect/>
          </a:stretch>
        </p:blipFill>
        <p:spPr>
          <a:xfrm>
            <a:off x="502920" y="1399032"/>
            <a:ext cx="7744552" cy="4370832"/>
          </a:xfrm>
          <a:prstGeom prst="rect">
            <a:avLst/>
          </a:prstGeom>
        </p:spPr>
      </p:pic>
      <p:sp>
        <p:nvSpPr>
          <p:cNvPr id="8" name="Rectangle 7"/>
          <p:cNvSpPr/>
          <p:nvPr/>
        </p:nvSpPr>
        <p:spPr>
          <a:xfrm>
            <a:off x="8503504" y="1399032"/>
            <a:ext cx="3182527" cy="4370832"/>
          </a:xfrm>
          <a:prstGeom prst="rect">
            <a:avLst/>
          </a:prstGeom>
          <a:solidFill>
            <a:srgbClr val="F3F5F7"/>
          </a:solidFill>
          <a:ln w="1016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68096" y="1572768"/>
            <a:ext cx="2853343" cy="219456"/>
          </a:xfrm>
          <a:prstGeom prst="rect">
            <a:avLst/>
          </a:prstGeom>
          <a:noFill/>
        </p:spPr>
        <p:txBody>
          <a:bodyPr wrap="square" lIns="0" tIns="0" rIns="0" bIns="0" anchor="t">
            <a:spAutoFit/>
          </a:bodyPr>
          <a:lstStyle/>
          <a:p>
            <a:pPr algn="l">
              <a:lnSpc>
                <a:spcPct val="100000"/>
              </a:lnSpc>
              <a:spcBef>
                <a:spcPts val="0"/>
              </a:spcBef>
              <a:spcAft>
                <a:spcPts val="0"/>
              </a:spcAft>
            </a:pPr>
            <a:r>
              <a:rPr sz="1050" b="1" i="0">
                <a:solidFill>
                  <a:srgbClr val="2E6E7E"/>
                </a:solidFill>
                <a:latin typeface="Calibri"/>
              </a:rPr>
              <a:t>OBSERVED IN CAPTURE</a:t>
            </a:r>
          </a:p>
        </p:txBody>
      </p:sp>
      <p:sp>
        <p:nvSpPr>
          <p:cNvPr id="10" name="TextBox 9"/>
          <p:cNvSpPr txBox="1"/>
          <p:nvPr/>
        </p:nvSpPr>
        <p:spPr>
          <a:xfrm>
            <a:off x="8668096" y="1938528"/>
            <a:ext cx="146304" cy="274320"/>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2E6E7E"/>
                </a:solidFill>
                <a:latin typeface="Calibri"/>
              </a:rPr>
              <a:t>•</a:t>
            </a:r>
          </a:p>
        </p:txBody>
      </p:sp>
      <p:sp>
        <p:nvSpPr>
          <p:cNvPr id="11" name="TextBox 10"/>
          <p:cNvSpPr txBox="1"/>
          <p:nvPr/>
        </p:nvSpPr>
        <p:spPr>
          <a:xfrm>
            <a:off x="8869264" y="1938528"/>
            <a:ext cx="2652175" cy="685800"/>
          </a:xfrm>
          <a:prstGeom prst="rect">
            <a:avLst/>
          </a:prstGeom>
          <a:noFill/>
        </p:spPr>
        <p:txBody>
          <a:bodyPr wrap="square" lIns="0" tIns="0" rIns="0" bIns="0" anchor="t">
            <a:spAutoFit/>
          </a:bodyPr>
          <a:lstStyle/>
          <a:p>
            <a:pPr algn="l">
              <a:lnSpc>
                <a:spcPct val="100000"/>
              </a:lnSpc>
              <a:spcBef>
                <a:spcPts val="0"/>
              </a:spcBef>
              <a:spcAft>
                <a:spcPts val="0"/>
              </a:spcAft>
            </a:pPr>
            <a:r>
              <a:rPr sz="1025" b="0" i="0">
                <a:solidFill>
                  <a:srgbClr val="303845"/>
                </a:solidFill>
                <a:latin typeface="Calibri"/>
              </a:rPr>
              <a:t>Command in the capture: examples/safe_arithmetic.qc with range, quantized IR and diagnostics output.</a:t>
            </a:r>
          </a:p>
        </p:txBody>
      </p:sp>
      <p:sp>
        <p:nvSpPr>
          <p:cNvPr id="12" name="TextBox 11"/>
          <p:cNvSpPr txBox="1"/>
          <p:nvPr/>
        </p:nvSpPr>
        <p:spPr>
          <a:xfrm>
            <a:off x="8668096" y="2761488"/>
            <a:ext cx="146304" cy="274320"/>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2E6E7E"/>
                </a:solidFill>
                <a:latin typeface="Calibri"/>
              </a:rPr>
              <a:t>•</a:t>
            </a:r>
          </a:p>
        </p:txBody>
      </p:sp>
      <p:sp>
        <p:nvSpPr>
          <p:cNvPr id="13" name="TextBox 12"/>
          <p:cNvSpPr txBox="1"/>
          <p:nvPr/>
        </p:nvSpPr>
        <p:spPr>
          <a:xfrm>
            <a:off x="8869264" y="2761488"/>
            <a:ext cx="2652175" cy="685800"/>
          </a:xfrm>
          <a:prstGeom prst="rect">
            <a:avLst/>
          </a:prstGeom>
          <a:noFill/>
        </p:spPr>
        <p:txBody>
          <a:bodyPr wrap="square" lIns="0" tIns="0" rIns="0" bIns="0" anchor="t">
            <a:spAutoFit/>
          </a:bodyPr>
          <a:lstStyle/>
          <a:p>
            <a:pPr algn="l">
              <a:lnSpc>
                <a:spcPct val="100000"/>
              </a:lnSpc>
              <a:spcBef>
                <a:spcPts val="0"/>
              </a:spcBef>
              <a:spcAft>
                <a:spcPts val="0"/>
              </a:spcAft>
            </a:pPr>
            <a:r>
              <a:rPr sz="1025" b="0" i="0">
                <a:solidFill>
                  <a:srgbClr val="303845"/>
                </a:solidFill>
                <a:latin typeface="Calibri"/>
              </a:rPr>
              <a:t>z.1 is inferred as [30,30] and is integral; the safety analysis accepts it.</a:t>
            </a:r>
          </a:p>
        </p:txBody>
      </p:sp>
      <p:sp>
        <p:nvSpPr>
          <p:cNvPr id="14" name="TextBox 13"/>
          <p:cNvSpPr txBox="1"/>
          <p:nvPr/>
        </p:nvSpPr>
        <p:spPr>
          <a:xfrm>
            <a:off x="8668096" y="3584448"/>
            <a:ext cx="146304" cy="274320"/>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2E6E7E"/>
                </a:solidFill>
                <a:latin typeface="Calibri"/>
              </a:rPr>
              <a:t>•</a:t>
            </a:r>
          </a:p>
        </p:txBody>
      </p:sp>
      <p:sp>
        <p:nvSpPr>
          <p:cNvPr id="15" name="TextBox 14"/>
          <p:cNvSpPr txBox="1"/>
          <p:nvPr/>
        </p:nvSpPr>
        <p:spPr>
          <a:xfrm>
            <a:off x="8869264" y="3584448"/>
            <a:ext cx="2652175" cy="685800"/>
          </a:xfrm>
          <a:prstGeom prst="rect">
            <a:avLst/>
          </a:prstGeom>
          <a:noFill/>
        </p:spPr>
        <p:txBody>
          <a:bodyPr wrap="square" lIns="0" tIns="0" rIns="0" bIns="0" anchor="t">
            <a:spAutoFit/>
          </a:bodyPr>
          <a:lstStyle/>
          <a:p>
            <a:pPr algn="l">
              <a:lnSpc>
                <a:spcPct val="100000"/>
              </a:lnSpc>
              <a:spcBef>
                <a:spcPts val="0"/>
              </a:spcBef>
              <a:spcAft>
                <a:spcPts val="0"/>
              </a:spcAft>
            </a:pPr>
            <a:r>
              <a:rPr sz="1025" b="0" i="0">
                <a:solidFill>
                  <a:srgbClr val="303845"/>
                </a:solidFill>
                <a:latin typeface="Calibri"/>
              </a:rPr>
              <a:t>The emitted IR rewrites x.1, y.1 and z.1 to int8; 3 analysed, 3 safe, 3 rewritten.</a:t>
            </a:r>
          </a:p>
        </p:txBody>
      </p:sp>
      <p:sp>
        <p:nvSpPr>
          <p:cNvPr id="16" name="TextBox 15"/>
          <p:cNvSpPr txBox="1"/>
          <p:nvPr/>
        </p:nvSpPr>
        <p:spPr>
          <a:xfrm>
            <a:off x="8668096" y="4407408"/>
            <a:ext cx="146304" cy="274320"/>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2E6E7E"/>
                </a:solidFill>
                <a:latin typeface="Calibri"/>
              </a:rPr>
              <a:t>•</a:t>
            </a:r>
          </a:p>
        </p:txBody>
      </p:sp>
      <p:sp>
        <p:nvSpPr>
          <p:cNvPr id="17" name="TextBox 16"/>
          <p:cNvSpPr txBox="1"/>
          <p:nvPr/>
        </p:nvSpPr>
        <p:spPr>
          <a:xfrm>
            <a:off x="8869264" y="4407408"/>
            <a:ext cx="2652175" cy="685800"/>
          </a:xfrm>
          <a:prstGeom prst="rect">
            <a:avLst/>
          </a:prstGeom>
          <a:noFill/>
        </p:spPr>
        <p:txBody>
          <a:bodyPr wrap="square" lIns="0" tIns="0" rIns="0" bIns="0" anchor="t">
            <a:spAutoFit/>
          </a:bodyPr>
          <a:lstStyle/>
          <a:p>
            <a:pPr algn="l">
              <a:lnSpc>
                <a:spcPct val="100000"/>
              </a:lnSpc>
              <a:spcBef>
                <a:spcPts val="0"/>
              </a:spcBef>
              <a:spcAft>
                <a:spcPts val="0"/>
              </a:spcAft>
            </a:pPr>
            <a:r>
              <a:rPr sz="1025" b="0" i="0">
                <a:solidFill>
                  <a:srgbClr val="303845"/>
                </a:solidFill>
                <a:latin typeface="Calibri"/>
              </a:rPr>
              <a:t>The supplied capture does not display a simulator run; simulator comparison is recorded separately in the verification summary.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347472"/>
            <a:ext cx="10607040" cy="256032"/>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2E6E7E"/>
                </a:solidFill>
                <a:latin typeface="Calibri"/>
              </a:rPr>
              <a:t>LIVE DEMONSTRATION · ORIGINAL TERMINAL CAPTURE</a:t>
            </a:r>
          </a:p>
        </p:txBody>
      </p:sp>
      <p:sp>
        <p:nvSpPr>
          <p:cNvPr id="3" name="TextBox 2"/>
          <p:cNvSpPr txBox="1"/>
          <p:nvPr/>
        </p:nvSpPr>
        <p:spPr>
          <a:xfrm>
            <a:off x="502920" y="621792"/>
            <a:ext cx="11155680" cy="566928"/>
          </a:xfrm>
          <a:prstGeom prst="rect">
            <a:avLst/>
          </a:prstGeom>
          <a:noFill/>
        </p:spPr>
        <p:txBody>
          <a:bodyPr wrap="square" lIns="0" tIns="0" rIns="0" bIns="0" anchor="t">
            <a:spAutoFit/>
          </a:bodyPr>
          <a:lstStyle/>
          <a:p>
            <a:pPr algn="l">
              <a:lnSpc>
                <a:spcPct val="100000"/>
              </a:lnSpc>
              <a:spcBef>
                <a:spcPts val="0"/>
              </a:spcBef>
              <a:spcAft>
                <a:spcPts val="0"/>
              </a:spcAft>
            </a:pPr>
            <a:r>
              <a:rPr sz="2800" b="1" i="0">
                <a:solidFill>
                  <a:srgbClr val="1F2A3C"/>
                </a:solidFill>
                <a:latin typeface="Cambria"/>
              </a:rPr>
              <a:t>Demo B — Overflow Is Rejected</a:t>
            </a:r>
          </a:p>
        </p:txBody>
      </p:sp>
      <p:sp>
        <p:nvSpPr>
          <p:cNvPr id="4" name="TextBox 3"/>
          <p:cNvSpPr txBox="1"/>
          <p:nvPr/>
        </p:nvSpPr>
        <p:spPr>
          <a:xfrm>
            <a:off x="502920" y="6492240"/>
            <a:ext cx="9875520" cy="201168"/>
          </a:xfrm>
          <a:prstGeom prst="rect">
            <a:avLst/>
          </a:prstGeom>
          <a:noFill/>
        </p:spPr>
        <p:txBody>
          <a:bodyPr wrap="square" lIns="0" tIns="0" rIns="0" bIns="0" anchor="t">
            <a:spAutoFit/>
          </a:bodyPr>
          <a:lstStyle/>
          <a:p>
            <a:pPr algn="l">
              <a:lnSpc>
                <a:spcPct val="100000"/>
              </a:lnSpc>
              <a:spcBef>
                <a:spcPts val="0"/>
              </a:spcBef>
              <a:spcAft>
                <a:spcPts val="0"/>
              </a:spcAft>
            </a:pPr>
            <a:r>
              <a:rPr sz="850" b="0" i="0">
                <a:solidFill>
                  <a:srgbClr val="8A919A"/>
                </a:solidFill>
                <a:latin typeface="Calibri"/>
              </a:rPr>
              <a:t>BCSE307L — Compiler Design   |   Range-Aware Edge AI Quantization Compiler</a:t>
            </a:r>
          </a:p>
        </p:txBody>
      </p:sp>
      <p:sp>
        <p:nvSpPr>
          <p:cNvPr id="5" name="TextBox 4"/>
          <p:cNvSpPr txBox="1"/>
          <p:nvPr/>
        </p:nvSpPr>
        <p:spPr>
          <a:xfrm>
            <a:off x="11228832" y="6492240"/>
            <a:ext cx="457200" cy="201168"/>
          </a:xfrm>
          <a:prstGeom prst="rect">
            <a:avLst/>
          </a:prstGeom>
          <a:noFill/>
        </p:spPr>
        <p:txBody>
          <a:bodyPr wrap="square" lIns="0" tIns="0" rIns="0" bIns="0" anchor="t">
            <a:spAutoFit/>
          </a:bodyPr>
          <a:lstStyle/>
          <a:p>
            <a:pPr algn="r"/>
            <a:r>
              <a:rPr sz="850">
                <a:solidFill>
                  <a:srgbClr val="8A919A"/>
                </a:solidFill>
                <a:latin typeface="Calibri"/>
              </a:rPr>
              <a:t>20</a:t>
            </a:r>
          </a:p>
        </p:txBody>
      </p:sp>
      <p:sp>
        <p:nvSpPr>
          <p:cNvPr id="6" name="Rectangle 5"/>
          <p:cNvSpPr/>
          <p:nvPr/>
        </p:nvSpPr>
        <p:spPr>
          <a:xfrm>
            <a:off x="466344" y="1362456"/>
            <a:ext cx="7766585" cy="4443984"/>
          </a:xfrm>
          <a:prstGeom prst="rect">
            <a:avLst/>
          </a:prstGeom>
          <a:solidFill>
            <a:srgbClr val="FFFFFF"/>
          </a:solidFill>
          <a:ln w="889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3.png"/>
          <p:cNvPicPr>
            <a:picLocks noChangeAspect="1"/>
          </p:cNvPicPr>
          <p:nvPr/>
        </p:nvPicPr>
        <p:blipFill>
          <a:blip r:embed="rId2"/>
          <a:stretch>
            <a:fillRect/>
          </a:stretch>
        </p:blipFill>
        <p:spPr>
          <a:xfrm>
            <a:off x="502920" y="1399032"/>
            <a:ext cx="7693433" cy="4370832"/>
          </a:xfrm>
          <a:prstGeom prst="rect">
            <a:avLst/>
          </a:prstGeom>
        </p:spPr>
      </p:pic>
      <p:sp>
        <p:nvSpPr>
          <p:cNvPr id="8" name="Rectangle 7"/>
          <p:cNvSpPr/>
          <p:nvPr/>
        </p:nvSpPr>
        <p:spPr>
          <a:xfrm>
            <a:off x="8452385" y="1399032"/>
            <a:ext cx="3233646" cy="4370832"/>
          </a:xfrm>
          <a:prstGeom prst="rect">
            <a:avLst/>
          </a:prstGeom>
          <a:solidFill>
            <a:srgbClr val="F3F5F7"/>
          </a:solidFill>
          <a:ln w="1016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16977" y="1572768"/>
            <a:ext cx="2904462" cy="219456"/>
          </a:xfrm>
          <a:prstGeom prst="rect">
            <a:avLst/>
          </a:prstGeom>
          <a:noFill/>
        </p:spPr>
        <p:txBody>
          <a:bodyPr wrap="square" lIns="0" tIns="0" rIns="0" bIns="0" anchor="t">
            <a:spAutoFit/>
          </a:bodyPr>
          <a:lstStyle/>
          <a:p>
            <a:pPr algn="l">
              <a:lnSpc>
                <a:spcPct val="100000"/>
              </a:lnSpc>
              <a:spcBef>
                <a:spcPts val="0"/>
              </a:spcBef>
              <a:spcAft>
                <a:spcPts val="0"/>
              </a:spcAft>
            </a:pPr>
            <a:r>
              <a:rPr sz="1050" b="1" i="0">
                <a:solidFill>
                  <a:srgbClr val="2E6E7E"/>
                </a:solidFill>
                <a:latin typeface="Calibri"/>
              </a:rPr>
              <a:t>OBSERVED IN CAPTURE</a:t>
            </a:r>
          </a:p>
        </p:txBody>
      </p:sp>
      <p:sp>
        <p:nvSpPr>
          <p:cNvPr id="10" name="TextBox 9"/>
          <p:cNvSpPr txBox="1"/>
          <p:nvPr/>
        </p:nvSpPr>
        <p:spPr>
          <a:xfrm>
            <a:off x="8616977" y="1938528"/>
            <a:ext cx="146304" cy="274320"/>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2E6E7E"/>
                </a:solidFill>
                <a:latin typeface="Calibri"/>
              </a:rPr>
              <a:t>•</a:t>
            </a:r>
          </a:p>
        </p:txBody>
      </p:sp>
      <p:sp>
        <p:nvSpPr>
          <p:cNvPr id="11" name="TextBox 10"/>
          <p:cNvSpPr txBox="1"/>
          <p:nvPr/>
        </p:nvSpPr>
        <p:spPr>
          <a:xfrm>
            <a:off x="8818145" y="1938528"/>
            <a:ext cx="2703294" cy="685800"/>
          </a:xfrm>
          <a:prstGeom prst="rect">
            <a:avLst/>
          </a:prstGeom>
          <a:noFill/>
        </p:spPr>
        <p:txBody>
          <a:bodyPr wrap="square" lIns="0" tIns="0" rIns="0" bIns="0" anchor="t">
            <a:spAutoFit/>
          </a:bodyPr>
          <a:lstStyle/>
          <a:p>
            <a:pPr algn="l">
              <a:lnSpc>
                <a:spcPct val="100000"/>
              </a:lnSpc>
              <a:spcBef>
                <a:spcPts val="0"/>
              </a:spcBef>
              <a:spcAft>
                <a:spcPts val="0"/>
              </a:spcAft>
            </a:pPr>
            <a:r>
              <a:rPr sz="1025" b="0" i="0">
                <a:solidFill>
                  <a:srgbClr val="303845"/>
                </a:solidFill>
                <a:latin typeface="Calibri"/>
              </a:rPr>
              <a:t>Source example computes 100 + 30.</a:t>
            </a:r>
          </a:p>
        </p:txBody>
      </p:sp>
      <p:sp>
        <p:nvSpPr>
          <p:cNvPr id="12" name="TextBox 11"/>
          <p:cNvSpPr txBox="1"/>
          <p:nvPr/>
        </p:nvSpPr>
        <p:spPr>
          <a:xfrm>
            <a:off x="8616977" y="2761488"/>
            <a:ext cx="146304" cy="274320"/>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2E6E7E"/>
                </a:solidFill>
                <a:latin typeface="Calibri"/>
              </a:rPr>
              <a:t>•</a:t>
            </a:r>
          </a:p>
        </p:txBody>
      </p:sp>
      <p:sp>
        <p:nvSpPr>
          <p:cNvPr id="13" name="TextBox 12"/>
          <p:cNvSpPr txBox="1"/>
          <p:nvPr/>
        </p:nvSpPr>
        <p:spPr>
          <a:xfrm>
            <a:off x="8818145" y="2761488"/>
            <a:ext cx="2703294" cy="685800"/>
          </a:xfrm>
          <a:prstGeom prst="rect">
            <a:avLst/>
          </a:prstGeom>
          <a:noFill/>
        </p:spPr>
        <p:txBody>
          <a:bodyPr wrap="square" lIns="0" tIns="0" rIns="0" bIns="0" anchor="t">
            <a:spAutoFit/>
          </a:bodyPr>
          <a:lstStyle/>
          <a:p>
            <a:pPr algn="l">
              <a:lnSpc>
                <a:spcPct val="100000"/>
              </a:lnSpc>
              <a:spcBef>
                <a:spcPts val="0"/>
              </a:spcBef>
              <a:spcAft>
                <a:spcPts val="0"/>
              </a:spcAft>
            </a:pPr>
            <a:r>
              <a:rPr sz="1025" b="0" i="0">
                <a:solidFill>
                  <a:srgbClr val="303845"/>
                </a:solidFill>
                <a:latin typeface="Calibri"/>
              </a:rPr>
              <a:t>The result z.1 has inferred range [130,130], outside the INT8 upper bound 127.</a:t>
            </a:r>
          </a:p>
        </p:txBody>
      </p:sp>
      <p:sp>
        <p:nvSpPr>
          <p:cNvPr id="14" name="TextBox 13"/>
          <p:cNvSpPr txBox="1"/>
          <p:nvPr/>
        </p:nvSpPr>
        <p:spPr>
          <a:xfrm>
            <a:off x="8616977" y="3584448"/>
            <a:ext cx="146304" cy="274320"/>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2E6E7E"/>
                </a:solidFill>
                <a:latin typeface="Calibri"/>
              </a:rPr>
              <a:t>•</a:t>
            </a:r>
          </a:p>
        </p:txBody>
      </p:sp>
      <p:sp>
        <p:nvSpPr>
          <p:cNvPr id="15" name="TextBox 14"/>
          <p:cNvSpPr txBox="1"/>
          <p:nvPr/>
        </p:nvSpPr>
        <p:spPr>
          <a:xfrm>
            <a:off x="8818145" y="3584448"/>
            <a:ext cx="2703294" cy="685800"/>
          </a:xfrm>
          <a:prstGeom prst="rect">
            <a:avLst/>
          </a:prstGeom>
          <a:noFill/>
        </p:spPr>
        <p:txBody>
          <a:bodyPr wrap="square" lIns="0" tIns="0" rIns="0" bIns="0" anchor="t">
            <a:spAutoFit/>
          </a:bodyPr>
          <a:lstStyle/>
          <a:p>
            <a:pPr algn="l">
              <a:lnSpc>
                <a:spcPct val="100000"/>
              </a:lnSpc>
              <a:spcBef>
                <a:spcPts val="0"/>
              </a:spcBef>
              <a:spcAft>
                <a:spcPts val="0"/>
              </a:spcAft>
            </a:pPr>
            <a:r>
              <a:rPr sz="1025" b="0" i="0">
                <a:solidFill>
                  <a:srgbClr val="303845"/>
                </a:solidFill>
                <a:latin typeface="Calibri"/>
              </a:rPr>
              <a:t>The safety pass rejects z.1 for possible overflow; the unsafe result remains unquantized.</a:t>
            </a:r>
          </a:p>
        </p:txBody>
      </p:sp>
      <p:sp>
        <p:nvSpPr>
          <p:cNvPr id="16" name="TextBox 15"/>
          <p:cNvSpPr txBox="1"/>
          <p:nvPr/>
        </p:nvSpPr>
        <p:spPr>
          <a:xfrm>
            <a:off x="8616977" y="4407408"/>
            <a:ext cx="146304" cy="274320"/>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2E6E7E"/>
                </a:solidFill>
                <a:latin typeface="Calibri"/>
              </a:rPr>
              <a:t>•</a:t>
            </a:r>
          </a:p>
        </p:txBody>
      </p:sp>
      <p:sp>
        <p:nvSpPr>
          <p:cNvPr id="17" name="TextBox 16"/>
          <p:cNvSpPr txBox="1"/>
          <p:nvPr/>
        </p:nvSpPr>
        <p:spPr>
          <a:xfrm>
            <a:off x="8818145" y="4407408"/>
            <a:ext cx="2703294" cy="685800"/>
          </a:xfrm>
          <a:prstGeom prst="rect">
            <a:avLst/>
          </a:prstGeom>
          <a:noFill/>
        </p:spPr>
        <p:txBody>
          <a:bodyPr wrap="square" lIns="0" tIns="0" rIns="0" bIns="0" anchor="t">
            <a:spAutoFit/>
          </a:bodyPr>
          <a:lstStyle/>
          <a:p>
            <a:pPr algn="l">
              <a:lnSpc>
                <a:spcPct val="100000"/>
              </a:lnSpc>
              <a:spcBef>
                <a:spcPts val="0"/>
              </a:spcBef>
              <a:spcAft>
                <a:spcPts val="0"/>
              </a:spcAft>
            </a:pPr>
            <a:r>
              <a:rPr sz="1025" b="0" i="0">
                <a:solidFill>
                  <a:srgbClr val="303845"/>
                </a:solidFill>
                <a:latin typeface="Calibri"/>
              </a:rPr>
              <a:t>The safe operands x.1 and y.1 can still be rewritten independently.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347472"/>
            <a:ext cx="10607040" cy="256032"/>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2E6E7E"/>
                </a:solidFill>
                <a:latin typeface="Calibri"/>
              </a:rPr>
              <a:t>LIVE DEMONSTRATION · ORIGINAL TERMINAL CAPTURE</a:t>
            </a:r>
          </a:p>
        </p:txBody>
      </p:sp>
      <p:sp>
        <p:nvSpPr>
          <p:cNvPr id="3" name="TextBox 2"/>
          <p:cNvSpPr txBox="1"/>
          <p:nvPr/>
        </p:nvSpPr>
        <p:spPr>
          <a:xfrm>
            <a:off x="502920" y="621792"/>
            <a:ext cx="11155680" cy="566928"/>
          </a:xfrm>
          <a:prstGeom prst="rect">
            <a:avLst/>
          </a:prstGeom>
          <a:noFill/>
        </p:spPr>
        <p:txBody>
          <a:bodyPr wrap="square" lIns="0" tIns="0" rIns="0" bIns="0" anchor="t">
            <a:spAutoFit/>
          </a:bodyPr>
          <a:lstStyle/>
          <a:p>
            <a:pPr algn="l">
              <a:lnSpc>
                <a:spcPct val="100000"/>
              </a:lnSpc>
              <a:spcBef>
                <a:spcPts val="0"/>
              </a:spcBef>
              <a:spcAft>
                <a:spcPts val="0"/>
              </a:spcAft>
            </a:pPr>
            <a:r>
              <a:rPr sz="2800" b="1" i="0">
                <a:solidFill>
                  <a:srgbClr val="1F2A3C"/>
                </a:solidFill>
                <a:latin typeface="Cambria"/>
              </a:rPr>
              <a:t>Demo C — If/Else SSA φ-Node and Range Merge</a:t>
            </a:r>
          </a:p>
        </p:txBody>
      </p:sp>
      <p:sp>
        <p:nvSpPr>
          <p:cNvPr id="4" name="TextBox 3"/>
          <p:cNvSpPr txBox="1"/>
          <p:nvPr/>
        </p:nvSpPr>
        <p:spPr>
          <a:xfrm>
            <a:off x="502920" y="6492240"/>
            <a:ext cx="9875520" cy="201168"/>
          </a:xfrm>
          <a:prstGeom prst="rect">
            <a:avLst/>
          </a:prstGeom>
          <a:noFill/>
        </p:spPr>
        <p:txBody>
          <a:bodyPr wrap="square" lIns="0" tIns="0" rIns="0" bIns="0" anchor="t">
            <a:spAutoFit/>
          </a:bodyPr>
          <a:lstStyle/>
          <a:p>
            <a:pPr algn="l">
              <a:lnSpc>
                <a:spcPct val="100000"/>
              </a:lnSpc>
              <a:spcBef>
                <a:spcPts val="0"/>
              </a:spcBef>
              <a:spcAft>
                <a:spcPts val="0"/>
              </a:spcAft>
            </a:pPr>
            <a:r>
              <a:rPr sz="850" b="0" i="0">
                <a:solidFill>
                  <a:srgbClr val="8A919A"/>
                </a:solidFill>
                <a:latin typeface="Calibri"/>
              </a:rPr>
              <a:t>BCSE307L — Compiler Design   |   Range-Aware Edge AI Quantization Compiler</a:t>
            </a:r>
          </a:p>
        </p:txBody>
      </p:sp>
      <p:sp>
        <p:nvSpPr>
          <p:cNvPr id="5" name="TextBox 4"/>
          <p:cNvSpPr txBox="1"/>
          <p:nvPr/>
        </p:nvSpPr>
        <p:spPr>
          <a:xfrm>
            <a:off x="11228832" y="6492240"/>
            <a:ext cx="457200" cy="201168"/>
          </a:xfrm>
          <a:prstGeom prst="rect">
            <a:avLst/>
          </a:prstGeom>
          <a:noFill/>
        </p:spPr>
        <p:txBody>
          <a:bodyPr wrap="square" lIns="0" tIns="0" rIns="0" bIns="0" anchor="t">
            <a:spAutoFit/>
          </a:bodyPr>
          <a:lstStyle/>
          <a:p>
            <a:pPr algn="r"/>
            <a:r>
              <a:rPr sz="850">
                <a:solidFill>
                  <a:srgbClr val="8A919A"/>
                </a:solidFill>
                <a:latin typeface="Calibri"/>
              </a:rPr>
              <a:t>21</a:t>
            </a:r>
          </a:p>
        </p:txBody>
      </p:sp>
      <p:sp>
        <p:nvSpPr>
          <p:cNvPr id="6" name="Rectangle 5"/>
          <p:cNvSpPr/>
          <p:nvPr/>
        </p:nvSpPr>
        <p:spPr>
          <a:xfrm>
            <a:off x="466344" y="1362456"/>
            <a:ext cx="7260542" cy="4443984"/>
          </a:xfrm>
          <a:prstGeom prst="rect">
            <a:avLst/>
          </a:prstGeom>
          <a:solidFill>
            <a:srgbClr val="FFFFFF"/>
          </a:solidFill>
          <a:ln w="889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4.png"/>
          <p:cNvPicPr>
            <a:picLocks noChangeAspect="1"/>
          </p:cNvPicPr>
          <p:nvPr/>
        </p:nvPicPr>
        <p:blipFill>
          <a:blip r:embed="rId2"/>
          <a:stretch>
            <a:fillRect/>
          </a:stretch>
        </p:blipFill>
        <p:spPr>
          <a:xfrm>
            <a:off x="502920" y="1399032"/>
            <a:ext cx="7187390" cy="4370832"/>
          </a:xfrm>
          <a:prstGeom prst="rect">
            <a:avLst/>
          </a:prstGeom>
        </p:spPr>
      </p:pic>
      <p:sp>
        <p:nvSpPr>
          <p:cNvPr id="8" name="Rectangle 7"/>
          <p:cNvSpPr/>
          <p:nvPr/>
        </p:nvSpPr>
        <p:spPr>
          <a:xfrm>
            <a:off x="7946342" y="1399032"/>
            <a:ext cx="3739689" cy="4370832"/>
          </a:xfrm>
          <a:prstGeom prst="rect">
            <a:avLst/>
          </a:prstGeom>
          <a:solidFill>
            <a:srgbClr val="F3F5F7"/>
          </a:solidFill>
          <a:ln w="1016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934" y="1572768"/>
            <a:ext cx="3410505" cy="219456"/>
          </a:xfrm>
          <a:prstGeom prst="rect">
            <a:avLst/>
          </a:prstGeom>
          <a:noFill/>
        </p:spPr>
        <p:txBody>
          <a:bodyPr wrap="square" lIns="0" tIns="0" rIns="0" bIns="0" anchor="t">
            <a:spAutoFit/>
          </a:bodyPr>
          <a:lstStyle/>
          <a:p>
            <a:pPr algn="l">
              <a:lnSpc>
                <a:spcPct val="100000"/>
              </a:lnSpc>
              <a:spcBef>
                <a:spcPts val="0"/>
              </a:spcBef>
              <a:spcAft>
                <a:spcPts val="0"/>
              </a:spcAft>
            </a:pPr>
            <a:r>
              <a:rPr sz="1050" b="1" i="0">
                <a:solidFill>
                  <a:srgbClr val="2E6E7E"/>
                </a:solidFill>
                <a:latin typeface="Calibri"/>
              </a:rPr>
              <a:t>OBSERVED IN CAPTURE</a:t>
            </a:r>
          </a:p>
        </p:txBody>
      </p:sp>
      <p:sp>
        <p:nvSpPr>
          <p:cNvPr id="10" name="TextBox 9"/>
          <p:cNvSpPr txBox="1"/>
          <p:nvPr/>
        </p:nvSpPr>
        <p:spPr>
          <a:xfrm>
            <a:off x="8110934" y="1938528"/>
            <a:ext cx="146304" cy="274320"/>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2E6E7E"/>
                </a:solidFill>
                <a:latin typeface="Calibri"/>
              </a:rPr>
              <a:t>•</a:t>
            </a:r>
          </a:p>
        </p:txBody>
      </p:sp>
      <p:sp>
        <p:nvSpPr>
          <p:cNvPr id="11" name="TextBox 10"/>
          <p:cNvSpPr txBox="1"/>
          <p:nvPr/>
        </p:nvSpPr>
        <p:spPr>
          <a:xfrm>
            <a:off x="8312102" y="1938528"/>
            <a:ext cx="3209337" cy="685800"/>
          </a:xfrm>
          <a:prstGeom prst="rect">
            <a:avLst/>
          </a:prstGeom>
          <a:noFill/>
        </p:spPr>
        <p:txBody>
          <a:bodyPr wrap="square" lIns="0" tIns="0" rIns="0" bIns="0" anchor="t">
            <a:spAutoFit/>
          </a:bodyPr>
          <a:lstStyle/>
          <a:p>
            <a:pPr algn="l">
              <a:lnSpc>
                <a:spcPct val="100000"/>
              </a:lnSpc>
              <a:spcBef>
                <a:spcPts val="0"/>
              </a:spcBef>
              <a:spcAft>
                <a:spcPts val="0"/>
              </a:spcAft>
            </a:pPr>
            <a:r>
              <a:rPr sz="1025" b="0" i="0">
                <a:solidFill>
                  <a:srgbClr val="303845"/>
                </a:solidFill>
                <a:latin typeface="Calibri"/>
              </a:rPr>
              <a:t>The capture shows SSA and the φ-node for the if/else join.</a:t>
            </a:r>
          </a:p>
        </p:txBody>
      </p:sp>
      <p:sp>
        <p:nvSpPr>
          <p:cNvPr id="12" name="TextBox 11"/>
          <p:cNvSpPr txBox="1"/>
          <p:nvPr/>
        </p:nvSpPr>
        <p:spPr>
          <a:xfrm>
            <a:off x="8110934" y="2761488"/>
            <a:ext cx="146304" cy="274320"/>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2E6E7E"/>
                </a:solidFill>
                <a:latin typeface="Calibri"/>
              </a:rPr>
              <a:t>•</a:t>
            </a:r>
          </a:p>
        </p:txBody>
      </p:sp>
      <p:sp>
        <p:nvSpPr>
          <p:cNvPr id="13" name="TextBox 12"/>
          <p:cNvSpPr txBox="1"/>
          <p:nvPr/>
        </p:nvSpPr>
        <p:spPr>
          <a:xfrm>
            <a:off x="8312102" y="2761488"/>
            <a:ext cx="3209337" cy="685800"/>
          </a:xfrm>
          <a:prstGeom prst="rect">
            <a:avLst/>
          </a:prstGeom>
          <a:noFill/>
        </p:spPr>
        <p:txBody>
          <a:bodyPr wrap="square" lIns="0" tIns="0" rIns="0" bIns="0" anchor="t">
            <a:spAutoFit/>
          </a:bodyPr>
          <a:lstStyle/>
          <a:p>
            <a:pPr algn="l">
              <a:lnSpc>
                <a:spcPct val="100000"/>
              </a:lnSpc>
              <a:spcBef>
                <a:spcPts val="0"/>
              </a:spcBef>
              <a:spcAft>
                <a:spcPts val="0"/>
              </a:spcAft>
            </a:pPr>
            <a:r>
              <a:rPr sz="1025" b="0" i="0">
                <a:solidFill>
                  <a:srgbClr val="303845"/>
                </a:solidFill>
                <a:latin typeface="Calibri"/>
              </a:rPr>
              <a:t>The merged value max.4 has the inferred range [10,20] and is integral.</a:t>
            </a:r>
          </a:p>
        </p:txBody>
      </p:sp>
      <p:sp>
        <p:nvSpPr>
          <p:cNvPr id="14" name="TextBox 13"/>
          <p:cNvSpPr txBox="1"/>
          <p:nvPr/>
        </p:nvSpPr>
        <p:spPr>
          <a:xfrm>
            <a:off x="8110934" y="3584448"/>
            <a:ext cx="146304" cy="274320"/>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2E6E7E"/>
                </a:solidFill>
                <a:latin typeface="Calibri"/>
              </a:rPr>
              <a:t>•</a:t>
            </a:r>
          </a:p>
        </p:txBody>
      </p:sp>
      <p:sp>
        <p:nvSpPr>
          <p:cNvPr id="15" name="TextBox 14"/>
          <p:cNvSpPr txBox="1"/>
          <p:nvPr/>
        </p:nvSpPr>
        <p:spPr>
          <a:xfrm>
            <a:off x="8312102" y="3584448"/>
            <a:ext cx="3209337" cy="685800"/>
          </a:xfrm>
          <a:prstGeom prst="rect">
            <a:avLst/>
          </a:prstGeom>
          <a:noFill/>
        </p:spPr>
        <p:txBody>
          <a:bodyPr wrap="square" lIns="0" tIns="0" rIns="0" bIns="0" anchor="t">
            <a:spAutoFit/>
          </a:bodyPr>
          <a:lstStyle/>
          <a:p>
            <a:pPr algn="l">
              <a:lnSpc>
                <a:spcPct val="100000"/>
              </a:lnSpc>
              <a:spcBef>
                <a:spcPts val="0"/>
              </a:spcBef>
              <a:spcAft>
                <a:spcPts val="0"/>
              </a:spcAft>
            </a:pPr>
            <a:r>
              <a:rPr sz="1025" b="0" i="0">
                <a:solidFill>
                  <a:srgbClr val="303845"/>
                </a:solidFill>
                <a:latin typeface="Calibri"/>
              </a:rPr>
              <a:t>The unsupported relational comparison is left unquantized, consistent with the documented limits.</a:t>
            </a:r>
          </a:p>
        </p:txBody>
      </p:sp>
      <p:sp>
        <p:nvSpPr>
          <p:cNvPr id="16" name="TextBox 15"/>
          <p:cNvSpPr txBox="1"/>
          <p:nvPr/>
        </p:nvSpPr>
        <p:spPr>
          <a:xfrm>
            <a:off x="8110934" y="4407408"/>
            <a:ext cx="146304" cy="274320"/>
          </a:xfrm>
          <a:prstGeom prst="rect">
            <a:avLst/>
          </a:prstGeom>
          <a:noFill/>
        </p:spPr>
        <p:txBody>
          <a:bodyPr wrap="square" lIns="0" tIns="0" rIns="0" bIns="0" anchor="t">
            <a:spAutoFit/>
          </a:bodyPr>
          <a:lstStyle/>
          <a:p>
            <a:pPr algn="l">
              <a:lnSpc>
                <a:spcPct val="100000"/>
              </a:lnSpc>
              <a:spcBef>
                <a:spcPts val="0"/>
              </a:spcBef>
              <a:spcAft>
                <a:spcPts val="0"/>
              </a:spcAft>
            </a:pPr>
            <a:r>
              <a:rPr sz="1300" b="1" i="0">
                <a:solidFill>
                  <a:srgbClr val="2E6E7E"/>
                </a:solidFill>
                <a:latin typeface="Calibri"/>
              </a:rPr>
              <a:t>•</a:t>
            </a:r>
          </a:p>
        </p:txBody>
      </p:sp>
      <p:sp>
        <p:nvSpPr>
          <p:cNvPr id="17" name="TextBox 16"/>
          <p:cNvSpPr txBox="1"/>
          <p:nvPr/>
        </p:nvSpPr>
        <p:spPr>
          <a:xfrm>
            <a:off x="8312102" y="4407408"/>
            <a:ext cx="3209337" cy="685800"/>
          </a:xfrm>
          <a:prstGeom prst="rect">
            <a:avLst/>
          </a:prstGeom>
          <a:noFill/>
        </p:spPr>
        <p:txBody>
          <a:bodyPr wrap="square" lIns="0" tIns="0" rIns="0" bIns="0" anchor="t">
            <a:spAutoFit/>
          </a:bodyPr>
          <a:lstStyle/>
          <a:p>
            <a:pPr algn="l">
              <a:lnSpc>
                <a:spcPct val="100000"/>
              </a:lnSpc>
              <a:spcBef>
                <a:spcPts val="0"/>
              </a:spcBef>
              <a:spcAft>
                <a:spcPts val="0"/>
              </a:spcAft>
            </a:pPr>
            <a:r>
              <a:rPr sz="1025" b="0" i="0">
                <a:solidFill>
                  <a:srgbClr val="303845"/>
                </a:solidFill>
                <a:latin typeface="Calibri"/>
              </a:rPr>
              <a:t>The report records matching original/quantized simulator output [20] = [20]; this capture shows analysis/IR, not that simulator run.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3"/>
          <p:cNvSpPr txBox="1"/>
          <p:nvPr/>
        </p:nvSpPr>
        <p:spPr>
          <a:xfrm>
            <a:off x="502920" y="365760"/>
            <a:ext cx="10058400" cy="274320"/>
          </a:xfrm>
          <a:prstGeom prst="rect">
            <a:avLst/>
          </a:prstGeom>
          <a:noFill/>
          <a:ln/>
        </p:spPr>
        <p:txBody>
          <a:bodyPr wrap="square" rtlCol="0" anchor="ctr"/>
          <a:lstStyle/>
          <a:p>
            <a:pPr marL="0" indent="0" algn="l">
              <a:buNone/>
            </a:pPr>
            <a:r>
              <a:rPr lang="en-US" sz="1100" b="1" spc="200" dirty="0">
                <a:solidFill>
                  <a:srgbClr val="2E6E7E"/>
                </a:solidFill>
                <a:latin typeface="Calibri"/>
                <a:ea typeface="Calibri"/>
                <a:cs typeface="Calibri"/>
              </a:rPr>
              <a:t>REVIEW 2 · IMPLEMENTATION STATUS</a:t>
            </a:r>
          </a:p>
        </p:txBody>
      </p:sp>
      <p:sp>
        <p:nvSpPr>
          <p:cNvPr id="4" name="Text 4"/>
          <p:cNvSpPr txBox="1"/>
          <p:nvPr/>
        </p:nvSpPr>
        <p:spPr>
          <a:xfrm>
            <a:off x="502920" y="621792"/>
            <a:ext cx="11155680" cy="594360"/>
          </a:xfrm>
          <a:prstGeom prst="rect">
            <a:avLst/>
          </a:prstGeom>
          <a:noFill/>
          <a:ln/>
        </p:spPr>
        <p:txBody>
          <a:bodyPr wrap="square" rtlCol="0" anchor="ctr"/>
          <a:lstStyle/>
          <a:p>
            <a:pPr marL="0" indent="0" algn="l">
              <a:buNone/>
            </a:pPr>
            <a:r>
              <a:rPr lang="en-US" sz="2900" b="1" dirty="0">
                <a:solidFill>
                  <a:srgbClr val="1F2A3C"/>
                </a:solidFill>
                <a:latin typeface="Cambria"/>
                <a:ea typeface="Cambria"/>
                <a:cs typeface="Cambria"/>
              </a:rPr>
              <a:t>From Proposed Architecture to Implemented Compiler Core</a:t>
            </a:r>
          </a:p>
        </p:txBody>
      </p:sp>
      <p:sp>
        <p:nvSpPr>
          <p:cNvPr id="5" name="Shape 5"/>
          <p:cNvSpPr/>
          <p:nvPr/>
        </p:nvSpPr>
        <p:spPr>
          <a:xfrm>
            <a:off x="457200" y="1783080"/>
            <a:ext cx="1472184" cy="868680"/>
          </a:xfrm>
          <a:prstGeom prst="rect">
            <a:avLst/>
          </a:prstGeom>
          <a:solidFill>
            <a:srgbClr val="FFFFFF"/>
          </a:solidFill>
          <a:ln w="12700">
            <a:solidFill>
              <a:srgbClr val="1F2A3C"/>
            </a:solidFill>
            <a:prstDash val="solid"/>
          </a:ln>
        </p:spPr>
        <p:txBody>
          <a:bodyPr/>
          <a:lstStyle/>
          <a:p>
            <a:endParaRPr/>
          </a:p>
        </p:txBody>
      </p:sp>
      <p:sp>
        <p:nvSpPr>
          <p:cNvPr id="6" name="Text 6"/>
          <p:cNvSpPr txBox="1"/>
          <p:nvPr/>
        </p:nvSpPr>
        <p:spPr>
          <a:xfrm>
            <a:off x="484632" y="1783080"/>
            <a:ext cx="1417320" cy="868680"/>
          </a:xfrm>
          <a:prstGeom prst="rect">
            <a:avLst/>
          </a:prstGeom>
          <a:noFill/>
          <a:ln/>
        </p:spPr>
        <p:txBody>
          <a:bodyPr wrap="square" lIns="0" tIns="0" rIns="0" bIns="0" rtlCol="0" anchor="ctr"/>
          <a:lstStyle/>
          <a:p>
            <a:pPr marL="0" indent="0" algn="ctr">
              <a:buNone/>
            </a:pPr>
            <a:r>
              <a:rPr lang="en-US" sz="950" b="1" dirty="0">
                <a:solidFill>
                  <a:srgbClr val="1F2A3C"/>
                </a:solidFill>
                <a:latin typeface="Calibri"/>
                <a:ea typeface="Calibri"/>
                <a:cs typeface="Calibri"/>
              </a:rPr>
              <a:t>Source</a:t>
            </a:r>
          </a:p>
          <a:p>
            <a:pPr marL="0" indent="0" algn="ctr">
              <a:buNone/>
            </a:pPr>
            <a:r>
              <a:rPr lang="en-US" sz="950" b="1" dirty="0">
                <a:solidFill>
                  <a:srgbClr val="1F2A3C"/>
                </a:solidFill>
                <a:latin typeface="Calibri"/>
                <a:ea typeface="Calibri"/>
                <a:cs typeface="Calibri"/>
              </a:rPr>
              <a:t>Program</a:t>
            </a:r>
          </a:p>
        </p:txBody>
      </p:sp>
      <p:sp>
        <p:nvSpPr>
          <p:cNvPr id="7" name="Shape 7"/>
          <p:cNvSpPr/>
          <p:nvPr/>
        </p:nvSpPr>
        <p:spPr>
          <a:xfrm>
            <a:off x="1700784" y="1673352"/>
            <a:ext cx="228600" cy="228600"/>
          </a:xfrm>
          <a:prstGeom prst="ellipse">
            <a:avLst/>
          </a:prstGeom>
          <a:solidFill>
            <a:srgbClr val="FFFFFF"/>
          </a:solidFill>
          <a:ln w="12700">
            <a:solidFill>
              <a:srgbClr val="2E6E7E"/>
            </a:solidFill>
            <a:prstDash val="solid"/>
          </a:ln>
        </p:spPr>
        <p:txBody>
          <a:bodyPr/>
          <a:lstStyle/>
          <a:p>
            <a:endParaRPr/>
          </a:p>
        </p:txBody>
      </p:sp>
      <p:sp>
        <p:nvSpPr>
          <p:cNvPr id="8" name="Shape 8"/>
          <p:cNvSpPr/>
          <p:nvPr/>
        </p:nvSpPr>
        <p:spPr>
          <a:xfrm>
            <a:off x="1728216" y="1700784"/>
            <a:ext cx="173736" cy="173736"/>
          </a:xfrm>
          <a:prstGeom prst="ellipse">
            <a:avLst/>
          </a:prstGeom>
          <a:solidFill>
            <a:srgbClr val="2E6E7E"/>
          </a:solidFill>
          <a:ln/>
        </p:spPr>
        <p:txBody>
          <a:bodyPr/>
          <a:lstStyle/>
          <a:p>
            <a:endParaRPr/>
          </a:p>
        </p:txBody>
      </p:sp>
      <p:sp>
        <p:nvSpPr>
          <p:cNvPr id="9" name="Text 9"/>
          <p:cNvSpPr txBox="1"/>
          <p:nvPr/>
        </p:nvSpPr>
        <p:spPr>
          <a:xfrm>
            <a:off x="1728216" y="1700784"/>
            <a:ext cx="173736" cy="17373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a:ea typeface="Calibri"/>
                <a:cs typeface="Calibri"/>
              </a:rPr>
              <a:t>✓</a:t>
            </a:r>
          </a:p>
        </p:txBody>
      </p:sp>
      <p:cxnSp>
        <p:nvCxnSpPr>
          <p:cNvPr id="10" name="Connector 10"/>
          <p:cNvCxnSpPr/>
          <p:nvPr/>
        </p:nvCxnSpPr>
        <p:spPr>
          <a:xfrm>
            <a:off x="1929384" y="2217420"/>
            <a:ext cx="164592" cy="0"/>
          </a:xfrm>
          <a:prstGeom prst="line">
            <a:avLst/>
          </a:prstGeom>
          <a:noFill/>
          <a:ln w="15875">
            <a:solidFill>
              <a:srgbClr val="6B7480"/>
            </a:solidFill>
            <a:prstDash val="solid"/>
            <a:tailEnd type="triangle"/>
          </a:ln>
        </p:spPr>
      </p:cxnSp>
      <p:sp>
        <p:nvSpPr>
          <p:cNvPr id="11" name="Shape 11"/>
          <p:cNvSpPr/>
          <p:nvPr/>
        </p:nvSpPr>
        <p:spPr>
          <a:xfrm>
            <a:off x="2093976" y="1783080"/>
            <a:ext cx="1472184" cy="868680"/>
          </a:xfrm>
          <a:prstGeom prst="rect">
            <a:avLst/>
          </a:prstGeom>
          <a:solidFill>
            <a:srgbClr val="FFFFFF"/>
          </a:solidFill>
          <a:ln w="12700">
            <a:solidFill>
              <a:srgbClr val="1F2A3C"/>
            </a:solidFill>
            <a:prstDash val="solid"/>
          </a:ln>
        </p:spPr>
        <p:txBody>
          <a:bodyPr/>
          <a:lstStyle/>
          <a:p>
            <a:endParaRPr/>
          </a:p>
        </p:txBody>
      </p:sp>
      <p:sp>
        <p:nvSpPr>
          <p:cNvPr id="12" name="Text 12"/>
          <p:cNvSpPr txBox="1"/>
          <p:nvPr/>
        </p:nvSpPr>
        <p:spPr>
          <a:xfrm>
            <a:off x="2121408" y="1783080"/>
            <a:ext cx="1417320" cy="868680"/>
          </a:xfrm>
          <a:prstGeom prst="rect">
            <a:avLst/>
          </a:prstGeom>
          <a:noFill/>
          <a:ln/>
        </p:spPr>
        <p:txBody>
          <a:bodyPr wrap="square" lIns="0" tIns="0" rIns="0" bIns="0" rtlCol="0" anchor="ctr"/>
          <a:lstStyle/>
          <a:p>
            <a:pPr marL="0" indent="0" algn="ctr">
              <a:buNone/>
            </a:pPr>
            <a:r>
              <a:rPr lang="en-US" sz="950" b="1" dirty="0">
                <a:solidFill>
                  <a:srgbClr val="1F2A3C"/>
                </a:solidFill>
                <a:latin typeface="Calibri"/>
                <a:ea typeface="Calibri"/>
                <a:cs typeface="Calibri"/>
              </a:rPr>
              <a:t>Lexer</a:t>
            </a:r>
          </a:p>
        </p:txBody>
      </p:sp>
      <p:sp>
        <p:nvSpPr>
          <p:cNvPr id="13" name="Shape 13"/>
          <p:cNvSpPr/>
          <p:nvPr/>
        </p:nvSpPr>
        <p:spPr>
          <a:xfrm>
            <a:off x="3337560" y="1673352"/>
            <a:ext cx="228600" cy="228600"/>
          </a:xfrm>
          <a:prstGeom prst="ellipse">
            <a:avLst/>
          </a:prstGeom>
          <a:solidFill>
            <a:srgbClr val="FFFFFF"/>
          </a:solidFill>
          <a:ln w="12700">
            <a:solidFill>
              <a:srgbClr val="2E6E7E"/>
            </a:solidFill>
            <a:prstDash val="solid"/>
          </a:ln>
        </p:spPr>
        <p:txBody>
          <a:bodyPr/>
          <a:lstStyle/>
          <a:p>
            <a:endParaRPr/>
          </a:p>
        </p:txBody>
      </p:sp>
      <p:sp>
        <p:nvSpPr>
          <p:cNvPr id="14" name="Shape 14"/>
          <p:cNvSpPr/>
          <p:nvPr/>
        </p:nvSpPr>
        <p:spPr>
          <a:xfrm>
            <a:off x="3364992" y="1700784"/>
            <a:ext cx="173736" cy="173736"/>
          </a:xfrm>
          <a:prstGeom prst="ellipse">
            <a:avLst/>
          </a:prstGeom>
          <a:solidFill>
            <a:srgbClr val="2E6E7E"/>
          </a:solidFill>
          <a:ln/>
        </p:spPr>
        <p:txBody>
          <a:bodyPr/>
          <a:lstStyle/>
          <a:p>
            <a:endParaRPr/>
          </a:p>
        </p:txBody>
      </p:sp>
      <p:sp>
        <p:nvSpPr>
          <p:cNvPr id="15" name="Text 15"/>
          <p:cNvSpPr txBox="1"/>
          <p:nvPr/>
        </p:nvSpPr>
        <p:spPr>
          <a:xfrm>
            <a:off x="3364992" y="1700784"/>
            <a:ext cx="173736" cy="17373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a:ea typeface="Calibri"/>
                <a:cs typeface="Calibri"/>
              </a:rPr>
              <a:t>✓</a:t>
            </a:r>
          </a:p>
        </p:txBody>
      </p:sp>
      <p:cxnSp>
        <p:nvCxnSpPr>
          <p:cNvPr id="16" name="Connector 16"/>
          <p:cNvCxnSpPr/>
          <p:nvPr/>
        </p:nvCxnSpPr>
        <p:spPr>
          <a:xfrm>
            <a:off x="3566160" y="2217420"/>
            <a:ext cx="164592" cy="0"/>
          </a:xfrm>
          <a:prstGeom prst="line">
            <a:avLst/>
          </a:prstGeom>
          <a:noFill/>
          <a:ln w="15875">
            <a:solidFill>
              <a:srgbClr val="6B7480"/>
            </a:solidFill>
            <a:prstDash val="solid"/>
            <a:tailEnd type="triangle"/>
          </a:ln>
        </p:spPr>
      </p:cxnSp>
      <p:sp>
        <p:nvSpPr>
          <p:cNvPr id="17" name="Shape 17"/>
          <p:cNvSpPr/>
          <p:nvPr/>
        </p:nvSpPr>
        <p:spPr>
          <a:xfrm>
            <a:off x="3730752" y="1783080"/>
            <a:ext cx="1472184" cy="868680"/>
          </a:xfrm>
          <a:prstGeom prst="rect">
            <a:avLst/>
          </a:prstGeom>
          <a:solidFill>
            <a:srgbClr val="FFFFFF"/>
          </a:solidFill>
          <a:ln w="12700">
            <a:solidFill>
              <a:srgbClr val="1F2A3C"/>
            </a:solidFill>
            <a:prstDash val="solid"/>
          </a:ln>
        </p:spPr>
        <p:txBody>
          <a:bodyPr/>
          <a:lstStyle/>
          <a:p>
            <a:endParaRPr/>
          </a:p>
        </p:txBody>
      </p:sp>
      <p:sp>
        <p:nvSpPr>
          <p:cNvPr id="18" name="Text 18"/>
          <p:cNvSpPr txBox="1"/>
          <p:nvPr/>
        </p:nvSpPr>
        <p:spPr>
          <a:xfrm>
            <a:off x="3758184" y="1783080"/>
            <a:ext cx="1417320" cy="868680"/>
          </a:xfrm>
          <a:prstGeom prst="rect">
            <a:avLst/>
          </a:prstGeom>
          <a:noFill/>
          <a:ln/>
        </p:spPr>
        <p:txBody>
          <a:bodyPr wrap="square" lIns="0" tIns="0" rIns="0" bIns="0" rtlCol="0" anchor="ctr"/>
          <a:lstStyle/>
          <a:p>
            <a:pPr marL="0" indent="0" algn="ctr">
              <a:buNone/>
            </a:pPr>
            <a:r>
              <a:rPr lang="en-US" sz="950" b="1" dirty="0">
                <a:solidFill>
                  <a:srgbClr val="1F2A3C"/>
                </a:solidFill>
                <a:latin typeface="Calibri"/>
                <a:ea typeface="Calibri"/>
                <a:cs typeface="Calibri"/>
              </a:rPr>
              <a:t>Parser</a:t>
            </a:r>
          </a:p>
        </p:txBody>
      </p:sp>
      <p:sp>
        <p:nvSpPr>
          <p:cNvPr id="19" name="Shape 19"/>
          <p:cNvSpPr/>
          <p:nvPr/>
        </p:nvSpPr>
        <p:spPr>
          <a:xfrm>
            <a:off x="4974336" y="1673352"/>
            <a:ext cx="228600" cy="228600"/>
          </a:xfrm>
          <a:prstGeom prst="ellipse">
            <a:avLst/>
          </a:prstGeom>
          <a:solidFill>
            <a:srgbClr val="FFFFFF"/>
          </a:solidFill>
          <a:ln w="12700">
            <a:solidFill>
              <a:srgbClr val="2E6E7E"/>
            </a:solidFill>
            <a:prstDash val="solid"/>
          </a:ln>
        </p:spPr>
        <p:txBody>
          <a:bodyPr/>
          <a:lstStyle/>
          <a:p>
            <a:endParaRPr/>
          </a:p>
        </p:txBody>
      </p:sp>
      <p:sp>
        <p:nvSpPr>
          <p:cNvPr id="20" name="Shape 20"/>
          <p:cNvSpPr/>
          <p:nvPr/>
        </p:nvSpPr>
        <p:spPr>
          <a:xfrm>
            <a:off x="5001768" y="1700784"/>
            <a:ext cx="173736" cy="173736"/>
          </a:xfrm>
          <a:prstGeom prst="ellipse">
            <a:avLst/>
          </a:prstGeom>
          <a:solidFill>
            <a:srgbClr val="2E6E7E"/>
          </a:solidFill>
          <a:ln/>
        </p:spPr>
        <p:txBody>
          <a:bodyPr/>
          <a:lstStyle/>
          <a:p>
            <a:endParaRPr/>
          </a:p>
        </p:txBody>
      </p:sp>
      <p:sp>
        <p:nvSpPr>
          <p:cNvPr id="21" name="Text 21"/>
          <p:cNvSpPr txBox="1"/>
          <p:nvPr/>
        </p:nvSpPr>
        <p:spPr>
          <a:xfrm>
            <a:off x="5001768" y="1700784"/>
            <a:ext cx="173736" cy="17373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a:ea typeface="Calibri"/>
                <a:cs typeface="Calibri"/>
              </a:rPr>
              <a:t>✓</a:t>
            </a:r>
          </a:p>
        </p:txBody>
      </p:sp>
      <p:cxnSp>
        <p:nvCxnSpPr>
          <p:cNvPr id="22" name="Connector 22"/>
          <p:cNvCxnSpPr/>
          <p:nvPr/>
        </p:nvCxnSpPr>
        <p:spPr>
          <a:xfrm>
            <a:off x="5202936" y="2217420"/>
            <a:ext cx="164592" cy="0"/>
          </a:xfrm>
          <a:prstGeom prst="line">
            <a:avLst/>
          </a:prstGeom>
          <a:noFill/>
          <a:ln w="15875">
            <a:solidFill>
              <a:srgbClr val="6B7480"/>
            </a:solidFill>
            <a:prstDash val="solid"/>
            <a:tailEnd type="triangle"/>
          </a:ln>
        </p:spPr>
      </p:cxnSp>
      <p:sp>
        <p:nvSpPr>
          <p:cNvPr id="23" name="Shape 23"/>
          <p:cNvSpPr/>
          <p:nvPr/>
        </p:nvSpPr>
        <p:spPr>
          <a:xfrm>
            <a:off x="5367528" y="1783080"/>
            <a:ext cx="1472184" cy="868680"/>
          </a:xfrm>
          <a:prstGeom prst="rect">
            <a:avLst/>
          </a:prstGeom>
          <a:solidFill>
            <a:srgbClr val="FFFFFF"/>
          </a:solidFill>
          <a:ln w="12700">
            <a:solidFill>
              <a:srgbClr val="1F2A3C"/>
            </a:solidFill>
            <a:prstDash val="solid"/>
          </a:ln>
        </p:spPr>
        <p:txBody>
          <a:bodyPr/>
          <a:lstStyle/>
          <a:p>
            <a:endParaRPr/>
          </a:p>
        </p:txBody>
      </p:sp>
      <p:sp>
        <p:nvSpPr>
          <p:cNvPr id="24" name="Text 24"/>
          <p:cNvSpPr txBox="1"/>
          <p:nvPr/>
        </p:nvSpPr>
        <p:spPr>
          <a:xfrm>
            <a:off x="5394960" y="1783080"/>
            <a:ext cx="1417320" cy="868680"/>
          </a:xfrm>
          <a:prstGeom prst="rect">
            <a:avLst/>
          </a:prstGeom>
          <a:noFill/>
          <a:ln/>
        </p:spPr>
        <p:txBody>
          <a:bodyPr wrap="square" lIns="0" tIns="0" rIns="0" bIns="0" rtlCol="0" anchor="ctr"/>
          <a:lstStyle/>
          <a:p>
            <a:pPr marL="0" indent="0" algn="ctr">
              <a:buNone/>
            </a:pPr>
            <a:r>
              <a:rPr lang="en-US" sz="950" b="1" dirty="0">
                <a:solidFill>
                  <a:srgbClr val="1F2A3C"/>
                </a:solidFill>
                <a:latin typeface="Calibri"/>
                <a:ea typeface="Calibri"/>
                <a:cs typeface="Calibri"/>
              </a:rPr>
              <a:t>AST</a:t>
            </a:r>
          </a:p>
        </p:txBody>
      </p:sp>
      <p:sp>
        <p:nvSpPr>
          <p:cNvPr id="25" name="Shape 25"/>
          <p:cNvSpPr/>
          <p:nvPr/>
        </p:nvSpPr>
        <p:spPr>
          <a:xfrm>
            <a:off x="6611112" y="1673352"/>
            <a:ext cx="228600" cy="228600"/>
          </a:xfrm>
          <a:prstGeom prst="ellipse">
            <a:avLst/>
          </a:prstGeom>
          <a:solidFill>
            <a:srgbClr val="FFFFFF"/>
          </a:solidFill>
          <a:ln w="12700">
            <a:solidFill>
              <a:srgbClr val="2E6E7E"/>
            </a:solidFill>
            <a:prstDash val="solid"/>
          </a:ln>
        </p:spPr>
        <p:txBody>
          <a:bodyPr/>
          <a:lstStyle/>
          <a:p>
            <a:endParaRPr/>
          </a:p>
        </p:txBody>
      </p:sp>
      <p:sp>
        <p:nvSpPr>
          <p:cNvPr id="26" name="Shape 26"/>
          <p:cNvSpPr/>
          <p:nvPr/>
        </p:nvSpPr>
        <p:spPr>
          <a:xfrm>
            <a:off x="6638544" y="1700784"/>
            <a:ext cx="173736" cy="173736"/>
          </a:xfrm>
          <a:prstGeom prst="ellipse">
            <a:avLst/>
          </a:prstGeom>
          <a:solidFill>
            <a:srgbClr val="2E6E7E"/>
          </a:solidFill>
          <a:ln/>
        </p:spPr>
        <p:txBody>
          <a:bodyPr/>
          <a:lstStyle/>
          <a:p>
            <a:endParaRPr/>
          </a:p>
        </p:txBody>
      </p:sp>
      <p:sp>
        <p:nvSpPr>
          <p:cNvPr id="27" name="Text 27"/>
          <p:cNvSpPr txBox="1"/>
          <p:nvPr/>
        </p:nvSpPr>
        <p:spPr>
          <a:xfrm>
            <a:off x="6638544" y="1700784"/>
            <a:ext cx="173736" cy="17373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a:ea typeface="Calibri"/>
                <a:cs typeface="Calibri"/>
              </a:rPr>
              <a:t>✓</a:t>
            </a:r>
          </a:p>
        </p:txBody>
      </p:sp>
      <p:cxnSp>
        <p:nvCxnSpPr>
          <p:cNvPr id="28" name="Connector 28"/>
          <p:cNvCxnSpPr/>
          <p:nvPr/>
        </p:nvCxnSpPr>
        <p:spPr>
          <a:xfrm>
            <a:off x="6839712" y="2217420"/>
            <a:ext cx="164592" cy="0"/>
          </a:xfrm>
          <a:prstGeom prst="line">
            <a:avLst/>
          </a:prstGeom>
          <a:noFill/>
          <a:ln w="15875">
            <a:solidFill>
              <a:srgbClr val="6B7480"/>
            </a:solidFill>
            <a:prstDash val="solid"/>
            <a:tailEnd type="triangle"/>
          </a:ln>
        </p:spPr>
      </p:cxnSp>
      <p:sp>
        <p:nvSpPr>
          <p:cNvPr id="29" name="Shape 29"/>
          <p:cNvSpPr/>
          <p:nvPr/>
        </p:nvSpPr>
        <p:spPr>
          <a:xfrm>
            <a:off x="7004304" y="1783080"/>
            <a:ext cx="1472184" cy="868680"/>
          </a:xfrm>
          <a:prstGeom prst="rect">
            <a:avLst/>
          </a:prstGeom>
          <a:solidFill>
            <a:srgbClr val="FFFFFF"/>
          </a:solidFill>
          <a:ln w="12700">
            <a:solidFill>
              <a:srgbClr val="1F2A3C"/>
            </a:solidFill>
            <a:prstDash val="solid"/>
          </a:ln>
        </p:spPr>
        <p:txBody>
          <a:bodyPr/>
          <a:lstStyle/>
          <a:p>
            <a:endParaRPr/>
          </a:p>
        </p:txBody>
      </p:sp>
      <p:sp>
        <p:nvSpPr>
          <p:cNvPr id="30" name="Text 30"/>
          <p:cNvSpPr txBox="1"/>
          <p:nvPr/>
        </p:nvSpPr>
        <p:spPr>
          <a:xfrm>
            <a:off x="7031736" y="1783080"/>
            <a:ext cx="1417320" cy="868680"/>
          </a:xfrm>
          <a:prstGeom prst="rect">
            <a:avLst/>
          </a:prstGeom>
          <a:noFill/>
          <a:ln/>
        </p:spPr>
        <p:txBody>
          <a:bodyPr wrap="square" lIns="0" tIns="0" rIns="0" bIns="0" rtlCol="0" anchor="ctr"/>
          <a:lstStyle/>
          <a:p>
            <a:pPr marL="0" indent="0" algn="ctr">
              <a:buNone/>
            </a:pPr>
            <a:r>
              <a:rPr lang="en-US" sz="950" b="1" dirty="0">
                <a:solidFill>
                  <a:srgbClr val="1F2A3C"/>
                </a:solidFill>
                <a:latin typeface="Calibri"/>
                <a:ea typeface="Calibri"/>
                <a:cs typeface="Calibri"/>
              </a:rPr>
              <a:t>Semantic</a:t>
            </a:r>
          </a:p>
          <a:p>
            <a:pPr marL="0" indent="0" algn="ctr">
              <a:buNone/>
            </a:pPr>
            <a:r>
              <a:rPr lang="en-US" sz="950" b="1" dirty="0">
                <a:solidFill>
                  <a:srgbClr val="1F2A3C"/>
                </a:solidFill>
                <a:latin typeface="Calibri"/>
                <a:ea typeface="Calibri"/>
                <a:cs typeface="Calibri"/>
              </a:rPr>
              <a:t>Analysis</a:t>
            </a:r>
          </a:p>
        </p:txBody>
      </p:sp>
      <p:sp>
        <p:nvSpPr>
          <p:cNvPr id="31" name="Shape 31"/>
          <p:cNvSpPr/>
          <p:nvPr/>
        </p:nvSpPr>
        <p:spPr>
          <a:xfrm>
            <a:off x="8247888" y="1673352"/>
            <a:ext cx="228600" cy="228600"/>
          </a:xfrm>
          <a:prstGeom prst="ellipse">
            <a:avLst/>
          </a:prstGeom>
          <a:solidFill>
            <a:srgbClr val="FFFFFF"/>
          </a:solidFill>
          <a:ln w="12700">
            <a:solidFill>
              <a:srgbClr val="2E6E7E"/>
            </a:solidFill>
            <a:prstDash val="solid"/>
          </a:ln>
        </p:spPr>
        <p:txBody>
          <a:bodyPr/>
          <a:lstStyle/>
          <a:p>
            <a:endParaRPr/>
          </a:p>
        </p:txBody>
      </p:sp>
      <p:sp>
        <p:nvSpPr>
          <p:cNvPr id="32" name="Shape 32"/>
          <p:cNvSpPr/>
          <p:nvPr/>
        </p:nvSpPr>
        <p:spPr>
          <a:xfrm>
            <a:off x="8275320" y="1700784"/>
            <a:ext cx="173736" cy="173736"/>
          </a:xfrm>
          <a:prstGeom prst="ellipse">
            <a:avLst/>
          </a:prstGeom>
          <a:solidFill>
            <a:srgbClr val="2E6E7E"/>
          </a:solidFill>
          <a:ln/>
        </p:spPr>
        <p:txBody>
          <a:bodyPr/>
          <a:lstStyle/>
          <a:p>
            <a:endParaRPr/>
          </a:p>
        </p:txBody>
      </p:sp>
      <p:sp>
        <p:nvSpPr>
          <p:cNvPr id="33" name="Text 33"/>
          <p:cNvSpPr txBox="1"/>
          <p:nvPr/>
        </p:nvSpPr>
        <p:spPr>
          <a:xfrm>
            <a:off x="8275320" y="1700784"/>
            <a:ext cx="173736" cy="17373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a:ea typeface="Calibri"/>
                <a:cs typeface="Calibri"/>
              </a:rPr>
              <a:t>✓</a:t>
            </a:r>
          </a:p>
        </p:txBody>
      </p:sp>
      <p:cxnSp>
        <p:nvCxnSpPr>
          <p:cNvPr id="34" name="Connector 34"/>
          <p:cNvCxnSpPr/>
          <p:nvPr/>
        </p:nvCxnSpPr>
        <p:spPr>
          <a:xfrm>
            <a:off x="8476488" y="2217420"/>
            <a:ext cx="164592" cy="0"/>
          </a:xfrm>
          <a:prstGeom prst="line">
            <a:avLst/>
          </a:prstGeom>
          <a:noFill/>
          <a:ln w="15875">
            <a:solidFill>
              <a:srgbClr val="6B7480"/>
            </a:solidFill>
            <a:prstDash val="solid"/>
            <a:tailEnd type="triangle"/>
          </a:ln>
        </p:spPr>
      </p:cxnSp>
      <p:sp>
        <p:nvSpPr>
          <p:cNvPr id="35" name="Shape 35"/>
          <p:cNvSpPr/>
          <p:nvPr/>
        </p:nvSpPr>
        <p:spPr>
          <a:xfrm>
            <a:off x="8641080" y="1783080"/>
            <a:ext cx="1472184" cy="868680"/>
          </a:xfrm>
          <a:prstGeom prst="rect">
            <a:avLst/>
          </a:prstGeom>
          <a:solidFill>
            <a:srgbClr val="FFFFFF"/>
          </a:solidFill>
          <a:ln w="12700">
            <a:solidFill>
              <a:srgbClr val="1F2A3C"/>
            </a:solidFill>
            <a:prstDash val="solid"/>
          </a:ln>
        </p:spPr>
        <p:txBody>
          <a:bodyPr/>
          <a:lstStyle/>
          <a:p>
            <a:endParaRPr/>
          </a:p>
        </p:txBody>
      </p:sp>
      <p:sp>
        <p:nvSpPr>
          <p:cNvPr id="36" name="Text 36"/>
          <p:cNvSpPr txBox="1"/>
          <p:nvPr/>
        </p:nvSpPr>
        <p:spPr>
          <a:xfrm>
            <a:off x="8668512" y="1783080"/>
            <a:ext cx="1417320" cy="868680"/>
          </a:xfrm>
          <a:prstGeom prst="rect">
            <a:avLst/>
          </a:prstGeom>
          <a:noFill/>
          <a:ln/>
        </p:spPr>
        <p:txBody>
          <a:bodyPr wrap="square" lIns="0" tIns="0" rIns="0" bIns="0" rtlCol="0" anchor="ctr"/>
          <a:lstStyle/>
          <a:p>
            <a:pPr marL="0" indent="0" algn="ctr">
              <a:buNone/>
            </a:pPr>
            <a:r>
              <a:rPr lang="en-US" sz="950" b="1" dirty="0">
                <a:solidFill>
                  <a:srgbClr val="1F2A3C"/>
                </a:solidFill>
                <a:latin typeface="Calibri"/>
                <a:ea typeface="Calibri"/>
                <a:cs typeface="Calibri"/>
              </a:rPr>
              <a:t>TAC</a:t>
            </a:r>
          </a:p>
        </p:txBody>
      </p:sp>
      <p:sp>
        <p:nvSpPr>
          <p:cNvPr id="37" name="Shape 37"/>
          <p:cNvSpPr/>
          <p:nvPr/>
        </p:nvSpPr>
        <p:spPr>
          <a:xfrm>
            <a:off x="9884664" y="1673352"/>
            <a:ext cx="228600" cy="228600"/>
          </a:xfrm>
          <a:prstGeom prst="ellipse">
            <a:avLst/>
          </a:prstGeom>
          <a:solidFill>
            <a:srgbClr val="FFFFFF"/>
          </a:solidFill>
          <a:ln w="12700">
            <a:solidFill>
              <a:srgbClr val="2E6E7E"/>
            </a:solidFill>
            <a:prstDash val="solid"/>
          </a:ln>
        </p:spPr>
        <p:txBody>
          <a:bodyPr/>
          <a:lstStyle/>
          <a:p>
            <a:endParaRPr/>
          </a:p>
        </p:txBody>
      </p:sp>
      <p:sp>
        <p:nvSpPr>
          <p:cNvPr id="38" name="Shape 38"/>
          <p:cNvSpPr/>
          <p:nvPr/>
        </p:nvSpPr>
        <p:spPr>
          <a:xfrm>
            <a:off x="9912096" y="1700784"/>
            <a:ext cx="173736" cy="173736"/>
          </a:xfrm>
          <a:prstGeom prst="ellipse">
            <a:avLst/>
          </a:prstGeom>
          <a:solidFill>
            <a:srgbClr val="2E6E7E"/>
          </a:solidFill>
          <a:ln/>
        </p:spPr>
        <p:txBody>
          <a:bodyPr/>
          <a:lstStyle/>
          <a:p>
            <a:endParaRPr/>
          </a:p>
        </p:txBody>
      </p:sp>
      <p:sp>
        <p:nvSpPr>
          <p:cNvPr id="39" name="Text 39"/>
          <p:cNvSpPr txBox="1"/>
          <p:nvPr/>
        </p:nvSpPr>
        <p:spPr>
          <a:xfrm>
            <a:off x="9912096" y="1700784"/>
            <a:ext cx="173736" cy="17373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a:ea typeface="Calibri"/>
                <a:cs typeface="Calibri"/>
              </a:rPr>
              <a:t>✓</a:t>
            </a:r>
          </a:p>
        </p:txBody>
      </p:sp>
      <p:cxnSp>
        <p:nvCxnSpPr>
          <p:cNvPr id="40" name="Connector 40"/>
          <p:cNvCxnSpPr/>
          <p:nvPr/>
        </p:nvCxnSpPr>
        <p:spPr>
          <a:xfrm>
            <a:off x="10113264" y="2217420"/>
            <a:ext cx="164592" cy="0"/>
          </a:xfrm>
          <a:prstGeom prst="line">
            <a:avLst/>
          </a:prstGeom>
          <a:noFill/>
          <a:ln w="15875">
            <a:solidFill>
              <a:srgbClr val="6B7480"/>
            </a:solidFill>
            <a:prstDash val="solid"/>
            <a:tailEnd type="triangle"/>
          </a:ln>
        </p:spPr>
      </p:cxnSp>
      <p:sp>
        <p:nvSpPr>
          <p:cNvPr id="41" name="Shape 41"/>
          <p:cNvSpPr/>
          <p:nvPr/>
        </p:nvSpPr>
        <p:spPr>
          <a:xfrm>
            <a:off x="10277856" y="1783080"/>
            <a:ext cx="1472184" cy="868680"/>
          </a:xfrm>
          <a:prstGeom prst="rect">
            <a:avLst/>
          </a:prstGeom>
          <a:solidFill>
            <a:srgbClr val="FFFFFF"/>
          </a:solidFill>
          <a:ln w="12700">
            <a:solidFill>
              <a:srgbClr val="1F2A3C"/>
            </a:solidFill>
            <a:prstDash val="solid"/>
          </a:ln>
        </p:spPr>
        <p:txBody>
          <a:bodyPr/>
          <a:lstStyle/>
          <a:p>
            <a:endParaRPr/>
          </a:p>
        </p:txBody>
      </p:sp>
      <p:sp>
        <p:nvSpPr>
          <p:cNvPr id="42" name="Text 42"/>
          <p:cNvSpPr txBox="1"/>
          <p:nvPr/>
        </p:nvSpPr>
        <p:spPr>
          <a:xfrm>
            <a:off x="10305288" y="1783080"/>
            <a:ext cx="1417320" cy="868680"/>
          </a:xfrm>
          <a:prstGeom prst="rect">
            <a:avLst/>
          </a:prstGeom>
          <a:noFill/>
          <a:ln/>
        </p:spPr>
        <p:txBody>
          <a:bodyPr wrap="square" lIns="0" tIns="0" rIns="0" bIns="0" rtlCol="0" anchor="ctr"/>
          <a:lstStyle/>
          <a:p>
            <a:pPr marL="0" indent="0" algn="ctr">
              <a:buNone/>
            </a:pPr>
            <a:r>
              <a:rPr lang="en-US" sz="950" b="1" dirty="0">
                <a:solidFill>
                  <a:srgbClr val="1F2A3C"/>
                </a:solidFill>
                <a:latin typeface="Calibri"/>
                <a:ea typeface="Calibri"/>
                <a:cs typeface="Calibri"/>
              </a:rPr>
              <a:t>Basic Blocks</a:t>
            </a:r>
          </a:p>
          <a:p>
            <a:pPr marL="0" indent="0" algn="ctr">
              <a:buNone/>
            </a:pPr>
            <a:r>
              <a:rPr lang="en-US" sz="950" b="1" dirty="0">
                <a:solidFill>
                  <a:srgbClr val="1F2A3C"/>
                </a:solidFill>
                <a:latin typeface="Calibri"/>
                <a:ea typeface="Calibri"/>
                <a:cs typeface="Calibri"/>
              </a:rPr>
              <a:t>/ CFG</a:t>
            </a:r>
          </a:p>
        </p:txBody>
      </p:sp>
      <p:sp>
        <p:nvSpPr>
          <p:cNvPr id="43" name="Shape 43"/>
          <p:cNvSpPr/>
          <p:nvPr/>
        </p:nvSpPr>
        <p:spPr>
          <a:xfrm>
            <a:off x="11521440" y="1673352"/>
            <a:ext cx="228600" cy="228600"/>
          </a:xfrm>
          <a:prstGeom prst="ellipse">
            <a:avLst/>
          </a:prstGeom>
          <a:solidFill>
            <a:srgbClr val="FFFFFF"/>
          </a:solidFill>
          <a:ln w="12700">
            <a:solidFill>
              <a:srgbClr val="2E6E7E"/>
            </a:solidFill>
            <a:prstDash val="solid"/>
          </a:ln>
        </p:spPr>
        <p:txBody>
          <a:bodyPr/>
          <a:lstStyle/>
          <a:p>
            <a:endParaRPr/>
          </a:p>
        </p:txBody>
      </p:sp>
      <p:sp>
        <p:nvSpPr>
          <p:cNvPr id="44" name="Shape 44"/>
          <p:cNvSpPr/>
          <p:nvPr/>
        </p:nvSpPr>
        <p:spPr>
          <a:xfrm>
            <a:off x="11548872" y="1700784"/>
            <a:ext cx="173736" cy="173736"/>
          </a:xfrm>
          <a:prstGeom prst="ellipse">
            <a:avLst/>
          </a:prstGeom>
          <a:solidFill>
            <a:srgbClr val="2E6E7E"/>
          </a:solidFill>
          <a:ln/>
        </p:spPr>
        <p:txBody>
          <a:bodyPr/>
          <a:lstStyle/>
          <a:p>
            <a:endParaRPr/>
          </a:p>
        </p:txBody>
      </p:sp>
      <p:sp>
        <p:nvSpPr>
          <p:cNvPr id="45" name="Text 45"/>
          <p:cNvSpPr txBox="1"/>
          <p:nvPr/>
        </p:nvSpPr>
        <p:spPr>
          <a:xfrm>
            <a:off x="11548872" y="1700784"/>
            <a:ext cx="173736" cy="17373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a:ea typeface="Calibri"/>
                <a:cs typeface="Calibri"/>
              </a:rPr>
              <a:t>✓</a:t>
            </a:r>
          </a:p>
        </p:txBody>
      </p:sp>
      <p:sp>
        <p:nvSpPr>
          <p:cNvPr id="46" name="Shape 46"/>
          <p:cNvSpPr/>
          <p:nvPr/>
        </p:nvSpPr>
        <p:spPr>
          <a:xfrm>
            <a:off x="457200" y="3246120"/>
            <a:ext cx="1472184" cy="868680"/>
          </a:xfrm>
          <a:prstGeom prst="rect">
            <a:avLst/>
          </a:prstGeom>
          <a:solidFill>
            <a:srgbClr val="2E6E7E"/>
          </a:solidFill>
          <a:ln w="12700">
            <a:solidFill>
              <a:srgbClr val="2E6E7E"/>
            </a:solidFill>
            <a:prstDash val="solid"/>
          </a:ln>
        </p:spPr>
        <p:txBody>
          <a:bodyPr/>
          <a:lstStyle/>
          <a:p>
            <a:endParaRPr/>
          </a:p>
        </p:txBody>
      </p:sp>
      <p:sp>
        <p:nvSpPr>
          <p:cNvPr id="47" name="Text 47"/>
          <p:cNvSpPr txBox="1"/>
          <p:nvPr/>
        </p:nvSpPr>
        <p:spPr>
          <a:xfrm>
            <a:off x="484632" y="3246120"/>
            <a:ext cx="1417320" cy="86868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a:ea typeface="Calibri"/>
                <a:cs typeface="Calibri"/>
              </a:rPr>
              <a:t>SSA</a:t>
            </a:r>
          </a:p>
        </p:txBody>
      </p:sp>
      <p:sp>
        <p:nvSpPr>
          <p:cNvPr id="48" name="Shape 48"/>
          <p:cNvSpPr/>
          <p:nvPr/>
        </p:nvSpPr>
        <p:spPr>
          <a:xfrm>
            <a:off x="1700784" y="3136392"/>
            <a:ext cx="228600" cy="228600"/>
          </a:xfrm>
          <a:prstGeom prst="ellipse">
            <a:avLst/>
          </a:prstGeom>
          <a:solidFill>
            <a:srgbClr val="2E6E7E"/>
          </a:solidFill>
          <a:ln w="12700">
            <a:solidFill>
              <a:srgbClr val="2E6E7E"/>
            </a:solidFill>
            <a:prstDash val="solid"/>
          </a:ln>
        </p:spPr>
        <p:txBody>
          <a:bodyPr/>
          <a:lstStyle/>
          <a:p>
            <a:endParaRPr/>
          </a:p>
        </p:txBody>
      </p:sp>
      <p:sp>
        <p:nvSpPr>
          <p:cNvPr id="49" name="Shape 49"/>
          <p:cNvSpPr/>
          <p:nvPr/>
        </p:nvSpPr>
        <p:spPr>
          <a:xfrm>
            <a:off x="1728216" y="3163824"/>
            <a:ext cx="173736" cy="173736"/>
          </a:xfrm>
          <a:prstGeom prst="ellipse">
            <a:avLst/>
          </a:prstGeom>
          <a:solidFill>
            <a:srgbClr val="2E6E7E"/>
          </a:solidFill>
          <a:ln/>
        </p:spPr>
        <p:txBody>
          <a:bodyPr/>
          <a:lstStyle/>
          <a:p>
            <a:endParaRPr/>
          </a:p>
        </p:txBody>
      </p:sp>
      <p:sp>
        <p:nvSpPr>
          <p:cNvPr id="50" name="Text 50"/>
          <p:cNvSpPr txBox="1"/>
          <p:nvPr/>
        </p:nvSpPr>
        <p:spPr>
          <a:xfrm>
            <a:off x="1728216" y="3163824"/>
            <a:ext cx="173736" cy="17373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a:ea typeface="Calibri"/>
                <a:cs typeface="Calibri"/>
              </a:rPr>
              <a:t>✓</a:t>
            </a:r>
          </a:p>
        </p:txBody>
      </p:sp>
      <p:cxnSp>
        <p:nvCxnSpPr>
          <p:cNvPr id="51" name="Connector 51"/>
          <p:cNvCxnSpPr/>
          <p:nvPr/>
        </p:nvCxnSpPr>
        <p:spPr>
          <a:xfrm>
            <a:off x="1929384" y="3680460"/>
            <a:ext cx="164592" cy="0"/>
          </a:xfrm>
          <a:prstGeom prst="line">
            <a:avLst/>
          </a:prstGeom>
          <a:noFill/>
          <a:ln w="15875">
            <a:solidFill>
              <a:srgbClr val="6B7480"/>
            </a:solidFill>
            <a:prstDash val="solid"/>
            <a:tailEnd type="triangle"/>
          </a:ln>
        </p:spPr>
      </p:cxnSp>
      <p:sp>
        <p:nvSpPr>
          <p:cNvPr id="52" name="Shape 52"/>
          <p:cNvSpPr/>
          <p:nvPr/>
        </p:nvSpPr>
        <p:spPr>
          <a:xfrm>
            <a:off x="2093976" y="3246120"/>
            <a:ext cx="1472184" cy="868680"/>
          </a:xfrm>
          <a:prstGeom prst="rect">
            <a:avLst/>
          </a:prstGeom>
          <a:solidFill>
            <a:srgbClr val="2E6E7E"/>
          </a:solidFill>
          <a:ln w="12700">
            <a:solidFill>
              <a:srgbClr val="2E6E7E"/>
            </a:solidFill>
            <a:prstDash val="solid"/>
          </a:ln>
        </p:spPr>
        <p:txBody>
          <a:bodyPr/>
          <a:lstStyle/>
          <a:p>
            <a:endParaRPr/>
          </a:p>
        </p:txBody>
      </p:sp>
      <p:sp>
        <p:nvSpPr>
          <p:cNvPr id="53" name="Text 53"/>
          <p:cNvSpPr txBox="1"/>
          <p:nvPr/>
        </p:nvSpPr>
        <p:spPr>
          <a:xfrm>
            <a:off x="2121408" y="3246120"/>
            <a:ext cx="1417320" cy="86868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a:ea typeface="Calibri"/>
                <a:cs typeface="Calibri"/>
              </a:rPr>
              <a:t>Range +</a:t>
            </a:r>
          </a:p>
          <a:p>
            <a:pPr marL="0" indent="0" algn="ctr">
              <a:buNone/>
            </a:pPr>
            <a:r>
              <a:rPr lang="en-US" sz="950" b="1" dirty="0">
                <a:solidFill>
                  <a:srgbClr val="FFFFFF"/>
                </a:solidFill>
                <a:latin typeface="Calibri"/>
                <a:ea typeface="Calibri"/>
                <a:cs typeface="Calibri"/>
              </a:rPr>
              <a:t>Integrality Analysis</a:t>
            </a:r>
          </a:p>
        </p:txBody>
      </p:sp>
      <p:sp>
        <p:nvSpPr>
          <p:cNvPr id="54" name="Shape 54"/>
          <p:cNvSpPr/>
          <p:nvPr/>
        </p:nvSpPr>
        <p:spPr>
          <a:xfrm>
            <a:off x="3337560" y="3136392"/>
            <a:ext cx="228600" cy="228600"/>
          </a:xfrm>
          <a:prstGeom prst="ellipse">
            <a:avLst/>
          </a:prstGeom>
          <a:solidFill>
            <a:srgbClr val="2E6E7E"/>
          </a:solidFill>
          <a:ln w="12700">
            <a:solidFill>
              <a:srgbClr val="2E6E7E"/>
            </a:solidFill>
            <a:prstDash val="solid"/>
          </a:ln>
        </p:spPr>
        <p:txBody>
          <a:bodyPr/>
          <a:lstStyle/>
          <a:p>
            <a:endParaRPr/>
          </a:p>
        </p:txBody>
      </p:sp>
      <p:sp>
        <p:nvSpPr>
          <p:cNvPr id="55" name="Shape 55"/>
          <p:cNvSpPr/>
          <p:nvPr/>
        </p:nvSpPr>
        <p:spPr>
          <a:xfrm>
            <a:off x="3364992" y="3163824"/>
            <a:ext cx="173736" cy="173736"/>
          </a:xfrm>
          <a:prstGeom prst="ellipse">
            <a:avLst/>
          </a:prstGeom>
          <a:solidFill>
            <a:srgbClr val="2E6E7E"/>
          </a:solidFill>
          <a:ln/>
        </p:spPr>
        <p:txBody>
          <a:bodyPr/>
          <a:lstStyle/>
          <a:p>
            <a:endParaRPr/>
          </a:p>
        </p:txBody>
      </p:sp>
      <p:sp>
        <p:nvSpPr>
          <p:cNvPr id="56" name="Text 56"/>
          <p:cNvSpPr txBox="1"/>
          <p:nvPr/>
        </p:nvSpPr>
        <p:spPr>
          <a:xfrm>
            <a:off x="3364992" y="3163824"/>
            <a:ext cx="173736" cy="17373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a:ea typeface="Calibri"/>
                <a:cs typeface="Calibri"/>
              </a:rPr>
              <a:t>✓</a:t>
            </a:r>
          </a:p>
        </p:txBody>
      </p:sp>
      <p:cxnSp>
        <p:nvCxnSpPr>
          <p:cNvPr id="57" name="Connector 57"/>
          <p:cNvCxnSpPr/>
          <p:nvPr/>
        </p:nvCxnSpPr>
        <p:spPr>
          <a:xfrm>
            <a:off x="3566160" y="3680460"/>
            <a:ext cx="164592" cy="0"/>
          </a:xfrm>
          <a:prstGeom prst="line">
            <a:avLst/>
          </a:prstGeom>
          <a:noFill/>
          <a:ln w="15875">
            <a:solidFill>
              <a:srgbClr val="6B7480"/>
            </a:solidFill>
            <a:prstDash val="solid"/>
            <a:tailEnd type="triangle"/>
          </a:ln>
        </p:spPr>
      </p:cxnSp>
      <p:sp>
        <p:nvSpPr>
          <p:cNvPr id="58" name="Shape 58"/>
          <p:cNvSpPr/>
          <p:nvPr/>
        </p:nvSpPr>
        <p:spPr>
          <a:xfrm>
            <a:off x="3730752" y="3246120"/>
            <a:ext cx="1472184" cy="868680"/>
          </a:xfrm>
          <a:prstGeom prst="rect">
            <a:avLst/>
          </a:prstGeom>
          <a:solidFill>
            <a:srgbClr val="2E6E7E"/>
          </a:solidFill>
          <a:ln w="12700">
            <a:solidFill>
              <a:srgbClr val="2E6E7E"/>
            </a:solidFill>
            <a:prstDash val="solid"/>
          </a:ln>
        </p:spPr>
        <p:txBody>
          <a:bodyPr/>
          <a:lstStyle/>
          <a:p>
            <a:endParaRPr/>
          </a:p>
        </p:txBody>
      </p:sp>
      <p:sp>
        <p:nvSpPr>
          <p:cNvPr id="59" name="Text 59"/>
          <p:cNvSpPr txBox="1"/>
          <p:nvPr/>
        </p:nvSpPr>
        <p:spPr>
          <a:xfrm>
            <a:off x="3758184" y="3246120"/>
            <a:ext cx="1417320" cy="86868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a:ea typeface="Calibri"/>
                <a:cs typeface="Calibri"/>
              </a:rPr>
              <a:t>INT8 Safety</a:t>
            </a:r>
          </a:p>
          <a:p>
            <a:pPr marL="0" indent="0" algn="ctr">
              <a:buNone/>
            </a:pPr>
            <a:r>
              <a:rPr lang="en-US" sz="950" b="1" dirty="0">
                <a:solidFill>
                  <a:srgbClr val="FFFFFF"/>
                </a:solidFill>
                <a:latin typeface="Calibri"/>
                <a:ea typeface="Calibri"/>
                <a:cs typeface="Calibri"/>
              </a:rPr>
              <a:t>Analysis</a:t>
            </a:r>
          </a:p>
        </p:txBody>
      </p:sp>
      <p:sp>
        <p:nvSpPr>
          <p:cNvPr id="60" name="Shape 60"/>
          <p:cNvSpPr/>
          <p:nvPr/>
        </p:nvSpPr>
        <p:spPr>
          <a:xfrm>
            <a:off x="4974336" y="3136392"/>
            <a:ext cx="228600" cy="228600"/>
          </a:xfrm>
          <a:prstGeom prst="ellipse">
            <a:avLst/>
          </a:prstGeom>
          <a:solidFill>
            <a:srgbClr val="2E6E7E"/>
          </a:solidFill>
          <a:ln w="12700">
            <a:solidFill>
              <a:srgbClr val="2E6E7E"/>
            </a:solidFill>
            <a:prstDash val="solid"/>
          </a:ln>
        </p:spPr>
        <p:txBody>
          <a:bodyPr/>
          <a:lstStyle/>
          <a:p>
            <a:endParaRPr/>
          </a:p>
        </p:txBody>
      </p:sp>
      <p:sp>
        <p:nvSpPr>
          <p:cNvPr id="61" name="Shape 61"/>
          <p:cNvSpPr/>
          <p:nvPr/>
        </p:nvSpPr>
        <p:spPr>
          <a:xfrm>
            <a:off x="5001768" y="3163824"/>
            <a:ext cx="173736" cy="173736"/>
          </a:xfrm>
          <a:prstGeom prst="ellipse">
            <a:avLst/>
          </a:prstGeom>
          <a:solidFill>
            <a:srgbClr val="2E6E7E"/>
          </a:solidFill>
          <a:ln/>
        </p:spPr>
        <p:txBody>
          <a:bodyPr/>
          <a:lstStyle/>
          <a:p>
            <a:endParaRPr/>
          </a:p>
        </p:txBody>
      </p:sp>
      <p:sp>
        <p:nvSpPr>
          <p:cNvPr id="62" name="Text 62"/>
          <p:cNvSpPr txBox="1"/>
          <p:nvPr/>
        </p:nvSpPr>
        <p:spPr>
          <a:xfrm>
            <a:off x="5001768" y="3163824"/>
            <a:ext cx="173736" cy="17373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a:ea typeface="Calibri"/>
                <a:cs typeface="Calibri"/>
              </a:rPr>
              <a:t>✓</a:t>
            </a:r>
          </a:p>
        </p:txBody>
      </p:sp>
      <p:cxnSp>
        <p:nvCxnSpPr>
          <p:cNvPr id="63" name="Connector 63"/>
          <p:cNvCxnSpPr/>
          <p:nvPr/>
        </p:nvCxnSpPr>
        <p:spPr>
          <a:xfrm>
            <a:off x="5202936" y="3680460"/>
            <a:ext cx="164592" cy="0"/>
          </a:xfrm>
          <a:prstGeom prst="line">
            <a:avLst/>
          </a:prstGeom>
          <a:noFill/>
          <a:ln w="15875">
            <a:solidFill>
              <a:srgbClr val="6B7480"/>
            </a:solidFill>
            <a:prstDash val="solid"/>
            <a:tailEnd type="triangle"/>
          </a:ln>
        </p:spPr>
      </p:cxnSp>
      <p:sp>
        <p:nvSpPr>
          <p:cNvPr id="64" name="Shape 64"/>
          <p:cNvSpPr/>
          <p:nvPr/>
        </p:nvSpPr>
        <p:spPr>
          <a:xfrm>
            <a:off x="5367528" y="3246120"/>
            <a:ext cx="1472184" cy="868680"/>
          </a:xfrm>
          <a:prstGeom prst="rect">
            <a:avLst/>
          </a:prstGeom>
          <a:solidFill>
            <a:srgbClr val="2E6E7E"/>
          </a:solidFill>
          <a:ln w="12700">
            <a:solidFill>
              <a:srgbClr val="2E6E7E"/>
            </a:solidFill>
            <a:prstDash val="solid"/>
          </a:ln>
        </p:spPr>
        <p:txBody>
          <a:bodyPr/>
          <a:lstStyle/>
          <a:p>
            <a:endParaRPr/>
          </a:p>
        </p:txBody>
      </p:sp>
      <p:sp>
        <p:nvSpPr>
          <p:cNvPr id="65" name="Text 65"/>
          <p:cNvSpPr txBox="1"/>
          <p:nvPr/>
        </p:nvSpPr>
        <p:spPr>
          <a:xfrm>
            <a:off x="5394960" y="3246120"/>
            <a:ext cx="1417320" cy="86868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a:ea typeface="Calibri"/>
                <a:cs typeface="Calibri"/>
              </a:rPr>
              <a:t>Selective</a:t>
            </a:r>
          </a:p>
          <a:p>
            <a:pPr marL="0" indent="0" algn="ctr">
              <a:buNone/>
            </a:pPr>
            <a:r>
              <a:rPr lang="en-US" sz="950" b="1" dirty="0">
                <a:solidFill>
                  <a:srgbClr val="FFFFFF"/>
                </a:solidFill>
                <a:latin typeface="Calibri"/>
                <a:ea typeface="Calibri"/>
                <a:cs typeface="Calibri"/>
              </a:rPr>
              <a:t>Quantization</a:t>
            </a:r>
          </a:p>
        </p:txBody>
      </p:sp>
      <p:sp>
        <p:nvSpPr>
          <p:cNvPr id="66" name="Shape 66"/>
          <p:cNvSpPr/>
          <p:nvPr/>
        </p:nvSpPr>
        <p:spPr>
          <a:xfrm>
            <a:off x="6611112" y="3136392"/>
            <a:ext cx="228600" cy="228600"/>
          </a:xfrm>
          <a:prstGeom prst="ellipse">
            <a:avLst/>
          </a:prstGeom>
          <a:solidFill>
            <a:srgbClr val="2E6E7E"/>
          </a:solidFill>
          <a:ln w="12700">
            <a:solidFill>
              <a:srgbClr val="2E6E7E"/>
            </a:solidFill>
            <a:prstDash val="solid"/>
          </a:ln>
        </p:spPr>
        <p:txBody>
          <a:bodyPr/>
          <a:lstStyle/>
          <a:p>
            <a:endParaRPr/>
          </a:p>
        </p:txBody>
      </p:sp>
      <p:sp>
        <p:nvSpPr>
          <p:cNvPr id="67" name="Shape 67"/>
          <p:cNvSpPr/>
          <p:nvPr/>
        </p:nvSpPr>
        <p:spPr>
          <a:xfrm>
            <a:off x="6638544" y="3163824"/>
            <a:ext cx="173736" cy="173736"/>
          </a:xfrm>
          <a:prstGeom prst="ellipse">
            <a:avLst/>
          </a:prstGeom>
          <a:solidFill>
            <a:srgbClr val="2E6E7E"/>
          </a:solidFill>
          <a:ln/>
        </p:spPr>
        <p:txBody>
          <a:bodyPr/>
          <a:lstStyle/>
          <a:p>
            <a:endParaRPr/>
          </a:p>
        </p:txBody>
      </p:sp>
      <p:sp>
        <p:nvSpPr>
          <p:cNvPr id="68" name="Text 68"/>
          <p:cNvSpPr txBox="1"/>
          <p:nvPr/>
        </p:nvSpPr>
        <p:spPr>
          <a:xfrm>
            <a:off x="6638544" y="3163824"/>
            <a:ext cx="173736" cy="17373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a:ea typeface="Calibri"/>
                <a:cs typeface="Calibri"/>
              </a:rPr>
              <a:t>✓</a:t>
            </a:r>
          </a:p>
        </p:txBody>
      </p:sp>
      <p:cxnSp>
        <p:nvCxnSpPr>
          <p:cNvPr id="69" name="Connector 69"/>
          <p:cNvCxnSpPr/>
          <p:nvPr/>
        </p:nvCxnSpPr>
        <p:spPr>
          <a:xfrm>
            <a:off x="6839712" y="3680460"/>
            <a:ext cx="164592" cy="0"/>
          </a:xfrm>
          <a:prstGeom prst="line">
            <a:avLst/>
          </a:prstGeom>
          <a:noFill/>
          <a:ln w="15875">
            <a:solidFill>
              <a:srgbClr val="6B7480"/>
            </a:solidFill>
            <a:prstDash val="solid"/>
            <a:tailEnd type="triangle"/>
          </a:ln>
        </p:spPr>
      </p:cxnSp>
      <p:sp>
        <p:nvSpPr>
          <p:cNvPr id="70" name="Shape 70"/>
          <p:cNvSpPr/>
          <p:nvPr/>
        </p:nvSpPr>
        <p:spPr>
          <a:xfrm>
            <a:off x="7004304" y="3246120"/>
            <a:ext cx="1472184" cy="868680"/>
          </a:xfrm>
          <a:prstGeom prst="rect">
            <a:avLst/>
          </a:prstGeom>
          <a:solidFill>
            <a:srgbClr val="FFFFFF"/>
          </a:solidFill>
          <a:ln w="12700">
            <a:solidFill>
              <a:srgbClr val="1F2A3C"/>
            </a:solidFill>
            <a:prstDash val="solid"/>
          </a:ln>
        </p:spPr>
        <p:txBody>
          <a:bodyPr/>
          <a:lstStyle/>
          <a:p>
            <a:endParaRPr/>
          </a:p>
        </p:txBody>
      </p:sp>
      <p:sp>
        <p:nvSpPr>
          <p:cNvPr id="71" name="Text 71"/>
          <p:cNvSpPr txBox="1"/>
          <p:nvPr/>
        </p:nvSpPr>
        <p:spPr>
          <a:xfrm>
            <a:off x="7031736" y="3246120"/>
            <a:ext cx="1417320" cy="868680"/>
          </a:xfrm>
          <a:prstGeom prst="rect">
            <a:avLst/>
          </a:prstGeom>
          <a:noFill/>
          <a:ln/>
        </p:spPr>
        <p:txBody>
          <a:bodyPr wrap="square" lIns="0" tIns="0" rIns="0" bIns="0" rtlCol="0" anchor="ctr"/>
          <a:lstStyle/>
          <a:p>
            <a:pPr marL="0" indent="0" algn="ctr">
              <a:buNone/>
            </a:pPr>
            <a:r>
              <a:rPr lang="en-US" sz="950" b="1" dirty="0">
                <a:solidFill>
                  <a:srgbClr val="1F2A3C"/>
                </a:solidFill>
                <a:latin typeface="Calibri"/>
                <a:ea typeface="Calibri"/>
                <a:cs typeface="Calibri"/>
              </a:rPr>
              <a:t>Quantized</a:t>
            </a:r>
          </a:p>
          <a:p>
            <a:pPr marL="0" indent="0" algn="ctr">
              <a:buNone/>
            </a:pPr>
            <a:r>
              <a:rPr lang="en-US" sz="950" b="1" dirty="0">
                <a:solidFill>
                  <a:srgbClr val="1F2A3C"/>
                </a:solidFill>
                <a:latin typeface="Calibri"/>
                <a:ea typeface="Calibri"/>
                <a:cs typeface="Calibri"/>
              </a:rPr>
              <a:t>SSA IR</a:t>
            </a:r>
          </a:p>
        </p:txBody>
      </p:sp>
      <p:sp>
        <p:nvSpPr>
          <p:cNvPr id="72" name="Shape 72"/>
          <p:cNvSpPr/>
          <p:nvPr/>
        </p:nvSpPr>
        <p:spPr>
          <a:xfrm>
            <a:off x="8247888" y="3136392"/>
            <a:ext cx="228600" cy="228600"/>
          </a:xfrm>
          <a:prstGeom prst="ellipse">
            <a:avLst/>
          </a:prstGeom>
          <a:solidFill>
            <a:srgbClr val="FFFFFF"/>
          </a:solidFill>
          <a:ln w="12700">
            <a:solidFill>
              <a:srgbClr val="2E6E7E"/>
            </a:solidFill>
            <a:prstDash val="solid"/>
          </a:ln>
        </p:spPr>
        <p:txBody>
          <a:bodyPr/>
          <a:lstStyle/>
          <a:p>
            <a:endParaRPr/>
          </a:p>
        </p:txBody>
      </p:sp>
      <p:sp>
        <p:nvSpPr>
          <p:cNvPr id="73" name="Shape 73"/>
          <p:cNvSpPr/>
          <p:nvPr/>
        </p:nvSpPr>
        <p:spPr>
          <a:xfrm>
            <a:off x="8275320" y="3163824"/>
            <a:ext cx="173736" cy="173736"/>
          </a:xfrm>
          <a:prstGeom prst="ellipse">
            <a:avLst/>
          </a:prstGeom>
          <a:solidFill>
            <a:srgbClr val="2E6E7E"/>
          </a:solidFill>
          <a:ln/>
        </p:spPr>
        <p:txBody>
          <a:bodyPr/>
          <a:lstStyle/>
          <a:p>
            <a:endParaRPr/>
          </a:p>
        </p:txBody>
      </p:sp>
      <p:sp>
        <p:nvSpPr>
          <p:cNvPr id="74" name="Text 74"/>
          <p:cNvSpPr txBox="1"/>
          <p:nvPr/>
        </p:nvSpPr>
        <p:spPr>
          <a:xfrm>
            <a:off x="8275320" y="3163824"/>
            <a:ext cx="173736" cy="17373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a:ea typeface="Calibri"/>
                <a:cs typeface="Calibri"/>
              </a:rPr>
              <a:t>✓</a:t>
            </a:r>
          </a:p>
        </p:txBody>
      </p:sp>
      <p:cxnSp>
        <p:nvCxnSpPr>
          <p:cNvPr id="75" name="Connector 75"/>
          <p:cNvCxnSpPr/>
          <p:nvPr/>
        </p:nvCxnSpPr>
        <p:spPr>
          <a:xfrm>
            <a:off x="8476488" y="3680460"/>
            <a:ext cx="164592" cy="0"/>
          </a:xfrm>
          <a:prstGeom prst="line">
            <a:avLst/>
          </a:prstGeom>
          <a:noFill/>
          <a:ln w="15875">
            <a:solidFill>
              <a:srgbClr val="6B7480"/>
            </a:solidFill>
            <a:prstDash val="solid"/>
            <a:tailEnd type="triangle"/>
          </a:ln>
        </p:spPr>
      </p:cxnSp>
      <p:sp>
        <p:nvSpPr>
          <p:cNvPr id="76" name="Shape 76"/>
          <p:cNvSpPr/>
          <p:nvPr/>
        </p:nvSpPr>
        <p:spPr>
          <a:xfrm>
            <a:off x="8641080" y="3246120"/>
            <a:ext cx="1472184" cy="868680"/>
          </a:xfrm>
          <a:prstGeom prst="rect">
            <a:avLst/>
          </a:prstGeom>
          <a:solidFill>
            <a:srgbClr val="FFFFFF"/>
          </a:solidFill>
          <a:ln w="12700">
            <a:solidFill>
              <a:srgbClr val="1F2A3C"/>
            </a:solidFill>
            <a:prstDash val="solid"/>
          </a:ln>
        </p:spPr>
        <p:txBody>
          <a:bodyPr/>
          <a:lstStyle/>
          <a:p>
            <a:endParaRPr/>
          </a:p>
        </p:txBody>
      </p:sp>
      <p:sp>
        <p:nvSpPr>
          <p:cNvPr id="77" name="Text 77"/>
          <p:cNvSpPr txBox="1"/>
          <p:nvPr/>
        </p:nvSpPr>
        <p:spPr>
          <a:xfrm>
            <a:off x="8668512" y="3246120"/>
            <a:ext cx="1417320" cy="868680"/>
          </a:xfrm>
          <a:prstGeom prst="rect">
            <a:avLst/>
          </a:prstGeom>
          <a:noFill/>
          <a:ln/>
        </p:spPr>
        <p:txBody>
          <a:bodyPr wrap="square" lIns="0" tIns="0" rIns="0" bIns="0" rtlCol="0" anchor="ctr"/>
          <a:lstStyle/>
          <a:p>
            <a:pPr marL="0" indent="0" algn="ctr">
              <a:buNone/>
            </a:pPr>
            <a:r>
              <a:rPr lang="en-US" sz="950" b="1" dirty="0">
                <a:solidFill>
                  <a:srgbClr val="1F2A3C"/>
                </a:solidFill>
                <a:latin typeface="Calibri"/>
                <a:ea typeface="Calibri"/>
                <a:cs typeface="Calibri"/>
              </a:rPr>
              <a:t>Lightweight</a:t>
            </a:r>
          </a:p>
          <a:p>
            <a:pPr marL="0" indent="0" algn="ctr">
              <a:buNone/>
            </a:pPr>
            <a:r>
              <a:rPr lang="en-US" sz="950" b="1" dirty="0">
                <a:solidFill>
                  <a:srgbClr val="1F2A3C"/>
                </a:solidFill>
                <a:latin typeface="Calibri"/>
                <a:ea typeface="Calibri"/>
                <a:cs typeface="Calibri"/>
              </a:rPr>
              <a:t>Simulator / Backend</a:t>
            </a:r>
          </a:p>
        </p:txBody>
      </p:sp>
      <p:sp>
        <p:nvSpPr>
          <p:cNvPr id="78" name="Shape 78"/>
          <p:cNvSpPr/>
          <p:nvPr/>
        </p:nvSpPr>
        <p:spPr>
          <a:xfrm>
            <a:off x="9884664" y="3136392"/>
            <a:ext cx="228600" cy="228600"/>
          </a:xfrm>
          <a:prstGeom prst="ellipse">
            <a:avLst/>
          </a:prstGeom>
          <a:solidFill>
            <a:srgbClr val="FFFFFF"/>
          </a:solidFill>
          <a:ln w="12700">
            <a:solidFill>
              <a:srgbClr val="2E6E7E"/>
            </a:solidFill>
            <a:prstDash val="solid"/>
          </a:ln>
        </p:spPr>
        <p:txBody>
          <a:bodyPr/>
          <a:lstStyle/>
          <a:p>
            <a:endParaRPr/>
          </a:p>
        </p:txBody>
      </p:sp>
      <p:sp>
        <p:nvSpPr>
          <p:cNvPr id="79" name="Shape 79"/>
          <p:cNvSpPr/>
          <p:nvPr/>
        </p:nvSpPr>
        <p:spPr>
          <a:xfrm>
            <a:off x="9912096" y="3163824"/>
            <a:ext cx="173736" cy="173736"/>
          </a:xfrm>
          <a:prstGeom prst="ellipse">
            <a:avLst/>
          </a:prstGeom>
          <a:solidFill>
            <a:srgbClr val="2E6E7E"/>
          </a:solidFill>
          <a:ln/>
        </p:spPr>
        <p:txBody>
          <a:bodyPr/>
          <a:lstStyle/>
          <a:p>
            <a:endParaRPr/>
          </a:p>
        </p:txBody>
      </p:sp>
      <p:sp>
        <p:nvSpPr>
          <p:cNvPr id="80" name="Text 80"/>
          <p:cNvSpPr txBox="1"/>
          <p:nvPr/>
        </p:nvSpPr>
        <p:spPr>
          <a:xfrm>
            <a:off x="9912096" y="3163824"/>
            <a:ext cx="173736" cy="17373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a:ea typeface="Calibri"/>
                <a:cs typeface="Calibri"/>
              </a:rPr>
              <a:t>✓</a:t>
            </a:r>
          </a:p>
        </p:txBody>
      </p:sp>
      <p:cxnSp>
        <p:nvCxnSpPr>
          <p:cNvPr id="81" name="Connector 81"/>
          <p:cNvCxnSpPr/>
          <p:nvPr/>
        </p:nvCxnSpPr>
        <p:spPr>
          <a:xfrm>
            <a:off x="10113264" y="3680460"/>
            <a:ext cx="164592" cy="0"/>
          </a:xfrm>
          <a:prstGeom prst="line">
            <a:avLst/>
          </a:prstGeom>
          <a:noFill/>
          <a:ln w="15875">
            <a:solidFill>
              <a:srgbClr val="6B7480"/>
            </a:solidFill>
            <a:prstDash val="solid"/>
            <a:tailEnd type="triangle"/>
          </a:ln>
        </p:spPr>
      </p:cxnSp>
      <p:sp>
        <p:nvSpPr>
          <p:cNvPr id="82" name="Shape 82"/>
          <p:cNvSpPr/>
          <p:nvPr/>
        </p:nvSpPr>
        <p:spPr>
          <a:xfrm>
            <a:off x="10277856" y="3246120"/>
            <a:ext cx="1472184" cy="868680"/>
          </a:xfrm>
          <a:prstGeom prst="rect">
            <a:avLst/>
          </a:prstGeom>
          <a:solidFill>
            <a:srgbClr val="FFFFFF"/>
          </a:solidFill>
          <a:ln w="12700">
            <a:solidFill>
              <a:srgbClr val="1F2A3C"/>
            </a:solidFill>
            <a:prstDash val="solid"/>
          </a:ln>
        </p:spPr>
        <p:txBody>
          <a:bodyPr/>
          <a:lstStyle/>
          <a:p>
            <a:endParaRPr/>
          </a:p>
        </p:txBody>
      </p:sp>
      <p:sp>
        <p:nvSpPr>
          <p:cNvPr id="83" name="Text 83"/>
          <p:cNvSpPr txBox="1"/>
          <p:nvPr/>
        </p:nvSpPr>
        <p:spPr>
          <a:xfrm>
            <a:off x="10305288" y="3246120"/>
            <a:ext cx="1417320" cy="868680"/>
          </a:xfrm>
          <a:prstGeom prst="rect">
            <a:avLst/>
          </a:prstGeom>
          <a:noFill/>
          <a:ln/>
        </p:spPr>
        <p:txBody>
          <a:bodyPr wrap="square" lIns="0" tIns="0" rIns="0" bIns="0" rtlCol="0" anchor="ctr"/>
          <a:lstStyle/>
          <a:p>
            <a:pPr marL="0" indent="0" algn="ctr">
              <a:buNone/>
            </a:pPr>
            <a:r>
              <a:rPr lang="en-US" sz="950" b="1" dirty="0">
                <a:solidFill>
                  <a:srgbClr val="1F2A3C"/>
                </a:solidFill>
                <a:latin typeface="Calibri"/>
                <a:ea typeface="Calibri"/>
                <a:cs typeface="Calibri"/>
              </a:rPr>
              <a:t>Diagnostics /</a:t>
            </a:r>
          </a:p>
          <a:p>
            <a:pPr marL="0" indent="0" algn="ctr">
              <a:buNone/>
            </a:pPr>
            <a:r>
              <a:rPr lang="en-US" sz="950" b="1" dirty="0">
                <a:solidFill>
                  <a:srgbClr val="1F2A3C"/>
                </a:solidFill>
                <a:latin typeface="Calibri"/>
                <a:ea typeface="Calibri"/>
                <a:cs typeface="Calibri"/>
              </a:rPr>
              <a:t>Evaluation</a:t>
            </a:r>
          </a:p>
        </p:txBody>
      </p:sp>
      <p:sp>
        <p:nvSpPr>
          <p:cNvPr id="84" name="Shape 84"/>
          <p:cNvSpPr/>
          <p:nvPr/>
        </p:nvSpPr>
        <p:spPr>
          <a:xfrm>
            <a:off x="11521440" y="3136392"/>
            <a:ext cx="228600" cy="228600"/>
          </a:xfrm>
          <a:prstGeom prst="ellipse">
            <a:avLst/>
          </a:prstGeom>
          <a:solidFill>
            <a:srgbClr val="FFFFFF"/>
          </a:solidFill>
          <a:ln w="12700">
            <a:solidFill>
              <a:srgbClr val="2E6E7E"/>
            </a:solidFill>
            <a:prstDash val="solid"/>
          </a:ln>
        </p:spPr>
        <p:txBody>
          <a:bodyPr/>
          <a:lstStyle/>
          <a:p>
            <a:endParaRPr/>
          </a:p>
        </p:txBody>
      </p:sp>
      <p:sp>
        <p:nvSpPr>
          <p:cNvPr id="85" name="Shape 85"/>
          <p:cNvSpPr/>
          <p:nvPr/>
        </p:nvSpPr>
        <p:spPr>
          <a:xfrm>
            <a:off x="11548872" y="3163824"/>
            <a:ext cx="173736" cy="173736"/>
          </a:xfrm>
          <a:prstGeom prst="ellipse">
            <a:avLst/>
          </a:prstGeom>
          <a:solidFill>
            <a:srgbClr val="2E6E7E"/>
          </a:solidFill>
          <a:ln/>
        </p:spPr>
        <p:txBody>
          <a:bodyPr/>
          <a:lstStyle/>
          <a:p>
            <a:endParaRPr/>
          </a:p>
        </p:txBody>
      </p:sp>
      <p:sp>
        <p:nvSpPr>
          <p:cNvPr id="86" name="Text 86"/>
          <p:cNvSpPr txBox="1"/>
          <p:nvPr/>
        </p:nvSpPr>
        <p:spPr>
          <a:xfrm>
            <a:off x="11548872" y="3163824"/>
            <a:ext cx="173736" cy="17373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a:ea typeface="Calibri"/>
                <a:cs typeface="Calibri"/>
              </a:rPr>
              <a:t>✓</a:t>
            </a:r>
          </a:p>
        </p:txBody>
      </p:sp>
      <p:cxnSp>
        <p:nvCxnSpPr>
          <p:cNvPr id="87" name="Connector 87"/>
          <p:cNvCxnSpPr/>
          <p:nvPr/>
        </p:nvCxnSpPr>
        <p:spPr>
          <a:xfrm>
            <a:off x="11013948" y="2651760"/>
            <a:ext cx="0" cy="274320"/>
          </a:xfrm>
          <a:prstGeom prst="line">
            <a:avLst/>
          </a:prstGeom>
          <a:noFill/>
          <a:ln w="13970">
            <a:solidFill>
              <a:srgbClr val="6B7480"/>
            </a:solidFill>
            <a:prstDash val="solid"/>
          </a:ln>
        </p:spPr>
      </p:cxnSp>
      <p:cxnSp>
        <p:nvCxnSpPr>
          <p:cNvPr id="88" name="Connector 88"/>
          <p:cNvCxnSpPr/>
          <p:nvPr/>
        </p:nvCxnSpPr>
        <p:spPr>
          <a:xfrm flipH="1">
            <a:off x="1193292" y="2926080"/>
            <a:ext cx="9820656" cy="0"/>
          </a:xfrm>
          <a:prstGeom prst="line">
            <a:avLst/>
          </a:prstGeom>
          <a:noFill/>
          <a:ln w="13970">
            <a:solidFill>
              <a:srgbClr val="6B7480"/>
            </a:solidFill>
            <a:prstDash val="solid"/>
          </a:ln>
        </p:spPr>
      </p:cxnSp>
      <p:cxnSp>
        <p:nvCxnSpPr>
          <p:cNvPr id="89" name="Connector 89"/>
          <p:cNvCxnSpPr/>
          <p:nvPr/>
        </p:nvCxnSpPr>
        <p:spPr>
          <a:xfrm>
            <a:off x="1193292" y="2926080"/>
            <a:ext cx="0" cy="320040"/>
          </a:xfrm>
          <a:prstGeom prst="line">
            <a:avLst/>
          </a:prstGeom>
          <a:noFill/>
          <a:ln w="15875">
            <a:solidFill>
              <a:srgbClr val="6B7480"/>
            </a:solidFill>
            <a:prstDash val="solid"/>
            <a:tailEnd type="triangle"/>
          </a:ln>
        </p:spPr>
      </p:cxnSp>
      <p:sp>
        <p:nvSpPr>
          <p:cNvPr id="90" name="Text 90"/>
          <p:cNvSpPr txBox="1"/>
          <p:nvPr/>
        </p:nvSpPr>
        <p:spPr>
          <a:xfrm>
            <a:off x="457200" y="4206240"/>
            <a:ext cx="11247120" cy="390000"/>
          </a:xfrm>
          <a:prstGeom prst="rect">
            <a:avLst/>
          </a:prstGeom>
          <a:noFill/>
          <a:ln/>
        </p:spPr>
        <p:txBody>
          <a:bodyPr wrap="square" rtlCol="0" anchor="t"/>
          <a:lstStyle/>
          <a:p>
            <a:pPr marL="0" indent="0" algn="l">
              <a:buNone/>
            </a:pPr>
            <a:r>
              <a:rPr sz="900" b="0">
                <a:latin typeface="Calibri"/>
              </a:rPr>
              <a:t>✓ Implemented for the current teaching-scale scope. This is the 60% Review 2 milestone; remaining work focuses on coverage, backend maturity, and empirical evaluation.</a:t>
            </a:r>
          </a:p>
        </p:txBody>
      </p:sp>
      <p:sp>
        <p:nvSpPr>
          <p:cNvPr id="91" name="Shape 91"/>
          <p:cNvSpPr/>
          <p:nvPr/>
        </p:nvSpPr>
        <p:spPr>
          <a:xfrm>
            <a:off x="502920" y="4709160"/>
            <a:ext cx="3520440" cy="1417320"/>
          </a:xfrm>
          <a:prstGeom prst="rect">
            <a:avLst/>
          </a:prstGeom>
          <a:solidFill>
            <a:srgbClr val="F4F6F8"/>
          </a:solidFill>
          <a:ln w="12700">
            <a:solidFill>
              <a:srgbClr val="D6DCE2"/>
            </a:solidFill>
            <a:prstDash val="solid"/>
          </a:ln>
        </p:spPr>
        <p:txBody>
          <a:bodyPr/>
          <a:lstStyle/>
          <a:p>
            <a:endParaRPr/>
          </a:p>
        </p:txBody>
      </p:sp>
      <p:sp>
        <p:nvSpPr>
          <p:cNvPr id="92" name="Text 92"/>
          <p:cNvSpPr txBox="1"/>
          <p:nvPr/>
        </p:nvSpPr>
        <p:spPr>
          <a:xfrm>
            <a:off x="731520" y="4846320"/>
            <a:ext cx="3063240" cy="256032"/>
          </a:xfrm>
          <a:prstGeom prst="rect">
            <a:avLst/>
          </a:prstGeom>
          <a:noFill/>
          <a:ln/>
        </p:spPr>
        <p:txBody>
          <a:bodyPr wrap="square" rtlCol="0" anchor="t"/>
          <a:lstStyle/>
          <a:p>
            <a:pPr marL="0" indent="0" algn="l">
              <a:buNone/>
            </a:pPr>
            <a:r>
              <a:rPr lang="en-US" sz="950" b="1" spc="150" dirty="0">
                <a:solidFill>
                  <a:srgbClr val="6B7480"/>
                </a:solidFill>
                <a:latin typeface="Calibri"/>
                <a:ea typeface="Calibri"/>
                <a:cs typeface="Calibri"/>
              </a:rPr>
              <a:t>REVIEW 1</a:t>
            </a:r>
          </a:p>
        </p:txBody>
      </p:sp>
      <p:sp>
        <p:nvSpPr>
          <p:cNvPr id="93" name="Text 93"/>
          <p:cNvSpPr txBox="1"/>
          <p:nvPr/>
        </p:nvSpPr>
        <p:spPr>
          <a:xfrm>
            <a:off x="731520" y="5120640"/>
            <a:ext cx="3063240" cy="411480"/>
          </a:xfrm>
          <a:prstGeom prst="rect">
            <a:avLst/>
          </a:prstGeom>
          <a:noFill/>
          <a:ln/>
        </p:spPr>
        <p:txBody>
          <a:bodyPr wrap="square" rtlCol="0" anchor="t"/>
          <a:lstStyle/>
          <a:p>
            <a:pPr marL="0" indent="0" algn="l">
              <a:buNone/>
            </a:pPr>
            <a:r>
              <a:rPr lang="en-US" sz="1700" b="1" dirty="0">
                <a:solidFill>
                  <a:srgbClr val="1F2A3C"/>
                </a:solidFill>
                <a:latin typeface="Cambria"/>
                <a:ea typeface="Cambria"/>
                <a:cs typeface="Cambria"/>
              </a:rPr>
              <a:t>Proposed architecture</a:t>
            </a:r>
          </a:p>
        </p:txBody>
      </p:sp>
      <p:sp>
        <p:nvSpPr>
          <p:cNvPr id="94" name="Text 94"/>
          <p:cNvSpPr txBox="1"/>
          <p:nvPr/>
        </p:nvSpPr>
        <p:spPr>
          <a:xfrm>
            <a:off x="731520" y="5577840"/>
            <a:ext cx="3063240" cy="457200"/>
          </a:xfrm>
          <a:prstGeom prst="rect">
            <a:avLst/>
          </a:prstGeom>
          <a:noFill/>
          <a:ln/>
        </p:spPr>
        <p:txBody>
          <a:bodyPr wrap="square" rtlCol="0" anchor="t"/>
          <a:lstStyle/>
          <a:p>
            <a:pPr marL="0" indent="0" algn="l">
              <a:buNone/>
            </a:pPr>
            <a:r>
              <a:rPr lang="en-US" sz="1050" dirty="0">
                <a:solidFill>
                  <a:srgbClr val="6B7480"/>
                </a:solidFill>
                <a:latin typeface="Calibri"/>
                <a:ea typeface="Calibri"/>
                <a:cs typeface="Calibri"/>
              </a:rPr>
              <a:t>Pipeline, IR choices and safety rules defined on paper.</a:t>
            </a:r>
          </a:p>
        </p:txBody>
      </p:sp>
      <p:sp>
        <p:nvSpPr>
          <p:cNvPr id="95" name="Shape 95"/>
          <p:cNvSpPr/>
          <p:nvPr/>
        </p:nvSpPr>
        <p:spPr>
          <a:xfrm>
            <a:off x="4370832" y="4709160"/>
            <a:ext cx="3520440" cy="1417320"/>
          </a:xfrm>
          <a:prstGeom prst="rect">
            <a:avLst/>
          </a:prstGeom>
          <a:solidFill>
            <a:srgbClr val="1F2A3C"/>
          </a:solidFill>
          <a:ln w="15875">
            <a:solidFill>
              <a:srgbClr val="2E6E7E"/>
            </a:solidFill>
            <a:prstDash val="solid"/>
          </a:ln>
        </p:spPr>
        <p:txBody>
          <a:bodyPr/>
          <a:lstStyle/>
          <a:p>
            <a:endParaRPr/>
          </a:p>
        </p:txBody>
      </p:sp>
      <p:sp>
        <p:nvSpPr>
          <p:cNvPr id="96" name="Text 96"/>
          <p:cNvSpPr txBox="1"/>
          <p:nvPr/>
        </p:nvSpPr>
        <p:spPr>
          <a:xfrm>
            <a:off x="4599432" y="4846320"/>
            <a:ext cx="3063240" cy="256032"/>
          </a:xfrm>
          <a:prstGeom prst="rect">
            <a:avLst/>
          </a:prstGeom>
          <a:noFill/>
          <a:ln/>
        </p:spPr>
        <p:txBody>
          <a:bodyPr wrap="square" rtlCol="0" anchor="t"/>
          <a:lstStyle/>
          <a:p>
            <a:pPr marL="0" indent="0" algn="l">
              <a:buNone/>
            </a:pPr>
            <a:r>
              <a:rPr lang="en-US" sz="950" b="1" spc="150" dirty="0">
                <a:solidFill>
                  <a:srgbClr val="8FB6C2"/>
                </a:solidFill>
                <a:latin typeface="Calibri"/>
                <a:ea typeface="Calibri"/>
                <a:cs typeface="Calibri"/>
              </a:rPr>
              <a:t>REVIEW 2</a:t>
            </a:r>
          </a:p>
        </p:txBody>
      </p:sp>
      <p:sp>
        <p:nvSpPr>
          <p:cNvPr id="97" name="Text 97"/>
          <p:cNvSpPr txBox="1"/>
          <p:nvPr/>
        </p:nvSpPr>
        <p:spPr>
          <a:xfrm>
            <a:off x="4599432" y="5120640"/>
            <a:ext cx="3063240" cy="411480"/>
          </a:xfrm>
          <a:prstGeom prst="rect">
            <a:avLst/>
          </a:prstGeom>
          <a:noFill/>
          <a:ln/>
        </p:spPr>
        <p:txBody>
          <a:bodyPr wrap="square" rtlCol="0" anchor="t"/>
          <a:lstStyle/>
          <a:p>
            <a:pPr marL="0" indent="0" algn="l">
              <a:buNone/>
            </a:pPr>
            <a:r>
              <a:rPr lang="en-US" sz="1700" b="1" dirty="0">
                <a:solidFill>
                  <a:srgbClr val="FFFFFF"/>
                </a:solidFill>
                <a:latin typeface="Cambria"/>
                <a:ea typeface="Cambria"/>
                <a:cs typeface="Cambria"/>
              </a:rPr>
              <a:t>Working compiler core</a:t>
            </a:r>
          </a:p>
        </p:txBody>
      </p:sp>
      <p:sp>
        <p:nvSpPr>
          <p:cNvPr id="98" name="Text 98"/>
          <p:cNvSpPr txBox="1"/>
          <p:nvPr/>
        </p:nvSpPr>
        <p:spPr>
          <a:xfrm>
            <a:off x="4599432" y="5577840"/>
            <a:ext cx="3063240" cy="457200"/>
          </a:xfrm>
          <a:prstGeom prst="rect">
            <a:avLst/>
          </a:prstGeom>
          <a:noFill/>
          <a:ln/>
        </p:spPr>
        <p:txBody>
          <a:bodyPr wrap="square" rtlCol="0" anchor="t"/>
          <a:lstStyle/>
          <a:p>
            <a:pPr marL="0" indent="0" algn="l">
              <a:buNone/>
            </a:pPr>
            <a:r>
              <a:rPr lang="en-US" sz="1050" dirty="0">
                <a:solidFill>
                  <a:srgbClr val="C9D4DE"/>
                </a:solidFill>
                <a:latin typeface="Calibri"/>
                <a:ea typeface="Calibri"/>
                <a:cs typeface="Calibri"/>
              </a:rPr>
              <a:t>All stages run end-to-end for the current scope.</a:t>
            </a:r>
          </a:p>
        </p:txBody>
      </p:sp>
      <p:sp>
        <p:nvSpPr>
          <p:cNvPr id="99" name="Shape 99"/>
          <p:cNvSpPr/>
          <p:nvPr/>
        </p:nvSpPr>
        <p:spPr>
          <a:xfrm>
            <a:off x="8238744" y="4709160"/>
            <a:ext cx="3520440" cy="1417320"/>
          </a:xfrm>
          <a:prstGeom prst="rect">
            <a:avLst/>
          </a:prstGeom>
          <a:solidFill>
            <a:srgbClr val="1F2A3C"/>
          </a:solidFill>
          <a:ln w="15875">
            <a:solidFill>
              <a:srgbClr val="2E6E7E"/>
            </a:solidFill>
            <a:prstDash val="solid"/>
          </a:ln>
        </p:spPr>
        <p:txBody>
          <a:bodyPr/>
          <a:lstStyle/>
          <a:p>
            <a:endParaRPr/>
          </a:p>
        </p:txBody>
      </p:sp>
      <p:sp>
        <p:nvSpPr>
          <p:cNvPr id="100" name="Text 100"/>
          <p:cNvSpPr txBox="1"/>
          <p:nvPr/>
        </p:nvSpPr>
        <p:spPr>
          <a:xfrm>
            <a:off x="8467344" y="4846320"/>
            <a:ext cx="3063240" cy="256032"/>
          </a:xfrm>
          <a:prstGeom prst="rect">
            <a:avLst/>
          </a:prstGeom>
          <a:noFill/>
          <a:ln/>
        </p:spPr>
        <p:txBody>
          <a:bodyPr wrap="square" rtlCol="0" anchor="t"/>
          <a:lstStyle/>
          <a:p>
            <a:pPr marL="0" indent="0" algn="l">
              <a:buNone/>
            </a:pPr>
            <a:r>
              <a:rPr lang="en-US" sz="950" b="1" spc="150" dirty="0">
                <a:solidFill>
                  <a:srgbClr val="8FB6C2"/>
                </a:solidFill>
                <a:latin typeface="Calibri"/>
                <a:ea typeface="Calibri"/>
                <a:cs typeface="Calibri"/>
              </a:rPr>
              <a:t>VERIFIED</a:t>
            </a:r>
          </a:p>
        </p:txBody>
      </p:sp>
      <p:sp>
        <p:nvSpPr>
          <p:cNvPr id="101" name="Text 101"/>
          <p:cNvSpPr txBox="1"/>
          <p:nvPr/>
        </p:nvSpPr>
        <p:spPr>
          <a:xfrm>
            <a:off x="8467344" y="5120640"/>
            <a:ext cx="3063240" cy="411480"/>
          </a:xfrm>
          <a:prstGeom prst="rect">
            <a:avLst/>
          </a:prstGeom>
          <a:noFill/>
          <a:ln/>
        </p:spPr>
        <p:txBody>
          <a:bodyPr wrap="square" rtlCol="0" anchor="t"/>
          <a:lstStyle/>
          <a:p>
            <a:pPr marL="0" indent="0" algn="l">
              <a:buNone/>
            </a:pPr>
            <a:r>
              <a:rPr lang="en-US" sz="1700" b="1" dirty="0">
                <a:solidFill>
                  <a:srgbClr val="FFFFFF"/>
                </a:solidFill>
                <a:latin typeface="Cambria"/>
                <a:ea typeface="Cambria"/>
                <a:cs typeface="Cambria"/>
              </a:rPr>
              <a:t>20 / 20 tests passed</a:t>
            </a:r>
          </a:p>
        </p:txBody>
      </p:sp>
      <p:sp>
        <p:nvSpPr>
          <p:cNvPr id="102" name="Text 102"/>
          <p:cNvSpPr txBox="1"/>
          <p:nvPr/>
        </p:nvSpPr>
        <p:spPr>
          <a:xfrm>
            <a:off x="8467344" y="5577840"/>
            <a:ext cx="3063240" cy="457200"/>
          </a:xfrm>
          <a:prstGeom prst="rect">
            <a:avLst/>
          </a:prstGeom>
          <a:noFill/>
          <a:ln/>
        </p:spPr>
        <p:txBody>
          <a:bodyPr wrap="square" rtlCol="0" anchor="t"/>
          <a:lstStyle/>
          <a:p>
            <a:pPr marL="0" indent="0" algn="l">
              <a:buNone/>
            </a:pPr>
            <a:r>
              <a:rPr lang="en-US" sz="1050" dirty="0">
                <a:solidFill>
                  <a:srgbClr val="C9D4DE"/>
                </a:solidFill>
                <a:latin typeface="Calibri"/>
                <a:ea typeface="Calibri"/>
                <a:cs typeface="Calibri"/>
              </a:rPr>
              <a:t>Plus 5 representative example programs, end-to-end.</a:t>
            </a:r>
          </a:p>
        </p:txBody>
      </p:sp>
      <p:cxnSp>
        <p:nvCxnSpPr>
          <p:cNvPr id="103" name="Connector 103"/>
          <p:cNvCxnSpPr/>
          <p:nvPr/>
        </p:nvCxnSpPr>
        <p:spPr>
          <a:xfrm>
            <a:off x="4078224" y="5422392"/>
            <a:ext cx="237744" cy="0"/>
          </a:xfrm>
          <a:prstGeom prst="line">
            <a:avLst/>
          </a:prstGeom>
          <a:noFill/>
          <a:ln w="15875">
            <a:solidFill>
              <a:srgbClr val="6B7480"/>
            </a:solidFill>
            <a:prstDash val="solid"/>
            <a:tailEnd type="triangle"/>
          </a:ln>
        </p:spPr>
      </p:cxnSp>
      <p:cxnSp>
        <p:nvCxnSpPr>
          <p:cNvPr id="104" name="Connector 104"/>
          <p:cNvCxnSpPr/>
          <p:nvPr/>
        </p:nvCxnSpPr>
        <p:spPr>
          <a:xfrm>
            <a:off x="7946136" y="5422392"/>
            <a:ext cx="237744" cy="0"/>
          </a:xfrm>
          <a:prstGeom prst="line">
            <a:avLst/>
          </a:prstGeom>
          <a:noFill/>
          <a:ln w="15875">
            <a:solidFill>
              <a:srgbClr val="6B7480"/>
            </a:solidFill>
            <a:prstDash val="solid"/>
            <a:tailEnd type="triangle"/>
          </a:ln>
        </p:spPr>
      </p:cxnSp>
      <p:sp>
        <p:nvSpPr>
          <p:cNvPr id="105" name="Text 105"/>
          <p:cNvSpPr txBox="1"/>
          <p:nvPr/>
        </p:nvSpPr>
        <p:spPr>
          <a:xfrm>
            <a:off x="502920" y="6492240"/>
            <a:ext cx="9601200" cy="237744"/>
          </a:xfrm>
          <a:prstGeom prst="rect">
            <a:avLst/>
          </a:prstGeom>
          <a:noFill/>
          <a:ln/>
        </p:spPr>
        <p:txBody>
          <a:bodyPr wrap="square" rtlCol="0" anchor="ctr"/>
          <a:lstStyle/>
          <a:p>
            <a:pPr marL="0" indent="0" algn="l">
              <a:buNone/>
            </a:pPr>
            <a:r>
              <a:rPr lang="en-US" sz="800" dirty="0">
                <a:solidFill>
                  <a:srgbClr val="9AA3AF"/>
                </a:solidFill>
                <a:latin typeface="Calibri"/>
                <a:ea typeface="Calibri"/>
                <a:cs typeface="Calibri"/>
              </a:rPr>
              <a:t>BCSE307L — Compiler Design   |   Range-Aware Edge AI Quantization Compiler</a:t>
            </a:r>
          </a:p>
        </p:txBody>
      </p:sp>
      <p:sp>
        <p:nvSpPr>
          <p:cNvPr id="106" name="Text 106"/>
          <p:cNvSpPr txBox="1"/>
          <p:nvPr/>
        </p:nvSpPr>
        <p:spPr>
          <a:xfrm>
            <a:off x="11247120" y="6492240"/>
            <a:ext cx="457200" cy="237744"/>
          </a:xfrm>
          <a:prstGeom prst="rect">
            <a:avLst/>
          </a:prstGeom>
          <a:noFill/>
          <a:ln/>
        </p:spPr>
        <p:txBody>
          <a:bodyPr wrap="square" rtlCol="0" anchor="ctr"/>
          <a:lstStyle/>
          <a:p>
            <a:pPr algn="r"/>
            <a:r>
              <a:rPr sz="850">
                <a:solidFill>
                  <a:srgbClr val="8A919A"/>
                </a:solidFill>
                <a:latin typeface="Calibri"/>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3"/>
          <p:cNvSpPr txBox="1"/>
          <p:nvPr/>
        </p:nvSpPr>
        <p:spPr>
          <a:xfrm>
            <a:off x="502920" y="365760"/>
            <a:ext cx="10058400" cy="274320"/>
          </a:xfrm>
          <a:prstGeom prst="rect">
            <a:avLst/>
          </a:prstGeom>
          <a:noFill/>
          <a:ln/>
        </p:spPr>
        <p:txBody>
          <a:bodyPr wrap="square" rtlCol="0" anchor="ctr"/>
          <a:lstStyle/>
          <a:p>
            <a:pPr marL="0" indent="0" algn="l">
              <a:buNone/>
            </a:pPr>
            <a:r>
              <a:rPr lang="en-US" sz="1100" b="1" spc="200" dirty="0">
                <a:solidFill>
                  <a:srgbClr val="2E6E7E"/>
                </a:solidFill>
                <a:latin typeface="Calibri"/>
                <a:ea typeface="Calibri"/>
                <a:cs typeface="Calibri"/>
              </a:rPr>
              <a:t>REVIEW 2 · COMPONENTS</a:t>
            </a:r>
          </a:p>
        </p:txBody>
      </p:sp>
      <p:sp>
        <p:nvSpPr>
          <p:cNvPr id="4" name="Text 4"/>
          <p:cNvSpPr txBox="1"/>
          <p:nvPr/>
        </p:nvSpPr>
        <p:spPr>
          <a:xfrm>
            <a:off x="502920" y="621792"/>
            <a:ext cx="11155680" cy="594360"/>
          </a:xfrm>
          <a:prstGeom prst="rect">
            <a:avLst/>
          </a:prstGeom>
          <a:noFill/>
          <a:ln/>
        </p:spPr>
        <p:txBody>
          <a:bodyPr wrap="square" rtlCol="0" anchor="ctr"/>
          <a:lstStyle/>
          <a:p>
            <a:pPr marL="0" indent="0" algn="l">
              <a:buNone/>
            </a:pPr>
            <a:r>
              <a:rPr lang="en-US" sz="2900" b="1" dirty="0">
                <a:solidFill>
                  <a:srgbClr val="1F2A3C"/>
                </a:solidFill>
                <a:latin typeface="Cambria"/>
                <a:ea typeface="Cambria"/>
                <a:cs typeface="Cambria"/>
              </a:rPr>
              <a:t>Implemented Compiler Components</a:t>
            </a:r>
          </a:p>
        </p:txBody>
      </p:sp>
      <p:sp>
        <p:nvSpPr>
          <p:cNvPr id="5" name="Shape 5"/>
          <p:cNvSpPr/>
          <p:nvPr/>
        </p:nvSpPr>
        <p:spPr>
          <a:xfrm>
            <a:off x="457200" y="1463040"/>
            <a:ext cx="1600200" cy="384048"/>
          </a:xfrm>
          <a:prstGeom prst="rect">
            <a:avLst/>
          </a:prstGeom>
          <a:solidFill>
            <a:srgbClr val="1F2A3C"/>
          </a:solidFill>
          <a:ln w="6350">
            <a:solidFill>
              <a:srgbClr val="D6DCE2"/>
            </a:solidFill>
            <a:prstDash val="solid"/>
          </a:ln>
        </p:spPr>
        <p:txBody>
          <a:bodyPr/>
          <a:lstStyle/>
          <a:p>
            <a:endParaRPr/>
          </a:p>
        </p:txBody>
      </p:sp>
      <p:sp>
        <p:nvSpPr>
          <p:cNvPr id="6" name="Text 6"/>
          <p:cNvSpPr txBox="1"/>
          <p:nvPr/>
        </p:nvSpPr>
        <p:spPr>
          <a:xfrm>
            <a:off x="457200" y="1463040"/>
            <a:ext cx="1600200" cy="384048"/>
          </a:xfrm>
          <a:prstGeom prst="rect">
            <a:avLst/>
          </a:prstGeom>
          <a:noFill/>
          <a:ln/>
        </p:spPr>
        <p:txBody>
          <a:bodyPr wrap="square" rtlCol="0" anchor="ctr"/>
          <a:lstStyle/>
          <a:p>
            <a:pPr marL="0" indent="0" algn="l">
              <a:buNone/>
            </a:pPr>
            <a:r>
              <a:rPr lang="en-US" sz="1150" b="1" dirty="0">
                <a:solidFill>
                  <a:srgbClr val="FFFFFF"/>
                </a:solidFill>
                <a:latin typeface="Calibri"/>
                <a:ea typeface="Calibri"/>
                <a:cs typeface="Calibri"/>
              </a:rPr>
              <a:t>Component</a:t>
            </a:r>
          </a:p>
        </p:txBody>
      </p:sp>
      <p:sp>
        <p:nvSpPr>
          <p:cNvPr id="7" name="Shape 7"/>
          <p:cNvSpPr/>
          <p:nvPr/>
        </p:nvSpPr>
        <p:spPr>
          <a:xfrm>
            <a:off x="2057400" y="1463040"/>
            <a:ext cx="1417320" cy="384048"/>
          </a:xfrm>
          <a:prstGeom prst="rect">
            <a:avLst/>
          </a:prstGeom>
          <a:solidFill>
            <a:srgbClr val="1F2A3C"/>
          </a:solidFill>
          <a:ln w="6350">
            <a:solidFill>
              <a:srgbClr val="D6DCE2"/>
            </a:solidFill>
            <a:prstDash val="solid"/>
          </a:ln>
        </p:spPr>
        <p:txBody>
          <a:bodyPr/>
          <a:lstStyle/>
          <a:p>
            <a:endParaRPr/>
          </a:p>
        </p:txBody>
      </p:sp>
      <p:sp>
        <p:nvSpPr>
          <p:cNvPr id="8" name="Text 8"/>
          <p:cNvSpPr txBox="1"/>
          <p:nvPr/>
        </p:nvSpPr>
        <p:spPr>
          <a:xfrm>
            <a:off x="2057400" y="1463040"/>
            <a:ext cx="1417320" cy="384048"/>
          </a:xfrm>
          <a:prstGeom prst="rect">
            <a:avLst/>
          </a:prstGeom>
          <a:noFill/>
          <a:ln/>
        </p:spPr>
        <p:txBody>
          <a:bodyPr wrap="square" rtlCol="0" anchor="ctr"/>
          <a:lstStyle/>
          <a:p>
            <a:pPr marL="0" indent="0" algn="l">
              <a:buNone/>
            </a:pPr>
            <a:r>
              <a:rPr lang="en-US" sz="1150" b="1" dirty="0">
                <a:solidFill>
                  <a:srgbClr val="FFFFFF"/>
                </a:solidFill>
                <a:latin typeface="Calibri"/>
                <a:ea typeface="Calibri"/>
                <a:cs typeface="Calibri"/>
              </a:rPr>
              <a:t>Status</a:t>
            </a:r>
          </a:p>
        </p:txBody>
      </p:sp>
      <p:sp>
        <p:nvSpPr>
          <p:cNvPr id="9" name="Shape 9"/>
          <p:cNvSpPr/>
          <p:nvPr/>
        </p:nvSpPr>
        <p:spPr>
          <a:xfrm>
            <a:off x="3474720" y="1463040"/>
            <a:ext cx="2377440" cy="384048"/>
          </a:xfrm>
          <a:prstGeom prst="rect">
            <a:avLst/>
          </a:prstGeom>
          <a:solidFill>
            <a:srgbClr val="1F2A3C"/>
          </a:solidFill>
          <a:ln w="6350">
            <a:solidFill>
              <a:srgbClr val="D6DCE2"/>
            </a:solidFill>
            <a:prstDash val="solid"/>
          </a:ln>
        </p:spPr>
        <p:txBody>
          <a:bodyPr/>
          <a:lstStyle/>
          <a:p>
            <a:endParaRPr/>
          </a:p>
        </p:txBody>
      </p:sp>
      <p:sp>
        <p:nvSpPr>
          <p:cNvPr id="10" name="Text 10"/>
          <p:cNvSpPr txBox="1"/>
          <p:nvPr/>
        </p:nvSpPr>
        <p:spPr>
          <a:xfrm>
            <a:off x="3474720" y="1463040"/>
            <a:ext cx="2377440" cy="384048"/>
          </a:xfrm>
          <a:prstGeom prst="rect">
            <a:avLst/>
          </a:prstGeom>
          <a:noFill/>
          <a:ln/>
        </p:spPr>
        <p:txBody>
          <a:bodyPr wrap="square" rtlCol="0" anchor="ctr"/>
          <a:lstStyle/>
          <a:p>
            <a:pPr marL="0" indent="0" algn="l">
              <a:buNone/>
            </a:pPr>
            <a:r>
              <a:rPr lang="en-US" sz="1150" b="1" dirty="0">
                <a:solidFill>
                  <a:srgbClr val="FFFFFF"/>
                </a:solidFill>
                <a:latin typeface="Calibri"/>
                <a:ea typeface="Calibri"/>
                <a:cs typeface="Calibri"/>
              </a:rPr>
              <a:t>Evidence</a:t>
            </a:r>
          </a:p>
        </p:txBody>
      </p:sp>
      <p:sp>
        <p:nvSpPr>
          <p:cNvPr id="11" name="Shape 11"/>
          <p:cNvSpPr/>
          <p:nvPr/>
        </p:nvSpPr>
        <p:spPr>
          <a:xfrm>
            <a:off x="457200" y="1847088"/>
            <a:ext cx="1600200" cy="457200"/>
          </a:xfrm>
          <a:prstGeom prst="rect">
            <a:avLst/>
          </a:prstGeom>
          <a:solidFill>
            <a:srgbClr val="FFFFFF"/>
          </a:solidFill>
          <a:ln w="6350">
            <a:solidFill>
              <a:srgbClr val="D6DCE2"/>
            </a:solidFill>
            <a:prstDash val="solid"/>
          </a:ln>
        </p:spPr>
        <p:txBody>
          <a:bodyPr/>
          <a:lstStyle/>
          <a:p>
            <a:endParaRPr/>
          </a:p>
        </p:txBody>
      </p:sp>
      <p:sp>
        <p:nvSpPr>
          <p:cNvPr id="12" name="Text 12"/>
          <p:cNvSpPr txBox="1"/>
          <p:nvPr/>
        </p:nvSpPr>
        <p:spPr>
          <a:xfrm>
            <a:off x="457200" y="1847088"/>
            <a:ext cx="1600200" cy="457200"/>
          </a:xfrm>
          <a:prstGeom prst="rect">
            <a:avLst/>
          </a:prstGeom>
          <a:noFill/>
          <a:ln/>
        </p:spPr>
        <p:txBody>
          <a:bodyPr wrap="square" rtlCol="0" anchor="ctr"/>
          <a:lstStyle/>
          <a:p>
            <a:pPr marL="0" indent="0" algn="l">
              <a:buNone/>
            </a:pPr>
            <a:r>
              <a:rPr lang="en-US" sz="1100" b="1" dirty="0">
                <a:solidFill>
                  <a:srgbClr val="23262B"/>
                </a:solidFill>
                <a:latin typeface="Calibri"/>
                <a:ea typeface="Calibri"/>
                <a:cs typeface="Calibri"/>
              </a:rPr>
              <a:t>Lexer</a:t>
            </a:r>
          </a:p>
        </p:txBody>
      </p:sp>
      <p:sp>
        <p:nvSpPr>
          <p:cNvPr id="13" name="Shape 13"/>
          <p:cNvSpPr/>
          <p:nvPr/>
        </p:nvSpPr>
        <p:spPr>
          <a:xfrm>
            <a:off x="2057400" y="1847088"/>
            <a:ext cx="1417320" cy="457200"/>
          </a:xfrm>
          <a:prstGeom prst="rect">
            <a:avLst/>
          </a:prstGeom>
          <a:solidFill>
            <a:srgbClr val="D8E6EA"/>
          </a:solidFill>
          <a:ln w="6350">
            <a:solidFill>
              <a:srgbClr val="D6DCE2"/>
            </a:solidFill>
            <a:prstDash val="solid"/>
          </a:ln>
        </p:spPr>
        <p:txBody>
          <a:bodyPr/>
          <a:lstStyle/>
          <a:p>
            <a:endParaRPr/>
          </a:p>
        </p:txBody>
      </p:sp>
      <p:sp>
        <p:nvSpPr>
          <p:cNvPr id="14" name="Text 14"/>
          <p:cNvSpPr txBox="1"/>
          <p:nvPr/>
        </p:nvSpPr>
        <p:spPr>
          <a:xfrm>
            <a:off x="2057400" y="1847088"/>
            <a:ext cx="1417320" cy="457200"/>
          </a:xfrm>
          <a:prstGeom prst="rect">
            <a:avLst/>
          </a:prstGeom>
          <a:noFill/>
          <a:ln/>
        </p:spPr>
        <p:txBody>
          <a:bodyPr wrap="square" rtlCol="0" anchor="ctr"/>
          <a:lstStyle/>
          <a:p>
            <a:pPr marL="0" indent="0" algn="l">
              <a:buNone/>
            </a:pPr>
            <a:r>
              <a:rPr lang="en-US" sz="1000" b="1" dirty="0">
                <a:solidFill>
                  <a:srgbClr val="2E6E7E"/>
                </a:solidFill>
                <a:latin typeface="Calibri"/>
                <a:ea typeface="Calibri"/>
                <a:cs typeface="Calibri"/>
              </a:rPr>
              <a:t>✓ Implemented</a:t>
            </a:r>
          </a:p>
        </p:txBody>
      </p:sp>
      <p:sp>
        <p:nvSpPr>
          <p:cNvPr id="15" name="Shape 15"/>
          <p:cNvSpPr/>
          <p:nvPr/>
        </p:nvSpPr>
        <p:spPr>
          <a:xfrm>
            <a:off x="3474720" y="1847088"/>
            <a:ext cx="2377440" cy="457200"/>
          </a:xfrm>
          <a:prstGeom prst="rect">
            <a:avLst/>
          </a:prstGeom>
          <a:solidFill>
            <a:srgbClr val="FFFFFF"/>
          </a:solidFill>
          <a:ln w="6350">
            <a:solidFill>
              <a:srgbClr val="D6DCE2"/>
            </a:solidFill>
            <a:prstDash val="solid"/>
          </a:ln>
        </p:spPr>
        <p:txBody>
          <a:bodyPr/>
          <a:lstStyle/>
          <a:p>
            <a:endParaRPr/>
          </a:p>
        </p:txBody>
      </p:sp>
      <p:sp>
        <p:nvSpPr>
          <p:cNvPr id="16" name="Text 16"/>
          <p:cNvSpPr txBox="1"/>
          <p:nvPr/>
        </p:nvSpPr>
        <p:spPr>
          <a:xfrm>
            <a:off x="3474720" y="1847088"/>
            <a:ext cx="2377440" cy="457200"/>
          </a:xfrm>
          <a:prstGeom prst="rect">
            <a:avLst/>
          </a:prstGeom>
          <a:noFill/>
          <a:ln/>
        </p:spPr>
        <p:txBody>
          <a:bodyPr wrap="square" rtlCol="0" anchor="ctr"/>
          <a:lstStyle/>
          <a:p>
            <a:pPr marL="0" indent="0" algn="l">
              <a:buNone/>
            </a:pPr>
            <a:r>
              <a:rPr lang="en-US" sz="950" dirty="0">
                <a:solidFill>
                  <a:srgbClr val="6B7480"/>
                </a:solidFill>
                <a:latin typeface="Calibri"/>
                <a:ea typeface="Calibri"/>
                <a:cs typeface="Calibri"/>
              </a:rPr>
              <a:t>src/lexer/, lexer tests</a:t>
            </a:r>
          </a:p>
        </p:txBody>
      </p:sp>
      <p:sp>
        <p:nvSpPr>
          <p:cNvPr id="17" name="Shape 17"/>
          <p:cNvSpPr/>
          <p:nvPr/>
        </p:nvSpPr>
        <p:spPr>
          <a:xfrm>
            <a:off x="457200" y="2304288"/>
            <a:ext cx="1600200" cy="457200"/>
          </a:xfrm>
          <a:prstGeom prst="rect">
            <a:avLst/>
          </a:prstGeom>
          <a:solidFill>
            <a:srgbClr val="F4F6F8"/>
          </a:solidFill>
          <a:ln w="6350">
            <a:solidFill>
              <a:srgbClr val="D6DCE2"/>
            </a:solidFill>
            <a:prstDash val="solid"/>
          </a:ln>
        </p:spPr>
        <p:txBody>
          <a:bodyPr/>
          <a:lstStyle/>
          <a:p>
            <a:endParaRPr/>
          </a:p>
        </p:txBody>
      </p:sp>
      <p:sp>
        <p:nvSpPr>
          <p:cNvPr id="18" name="Text 18"/>
          <p:cNvSpPr txBox="1"/>
          <p:nvPr/>
        </p:nvSpPr>
        <p:spPr>
          <a:xfrm>
            <a:off x="457200" y="2304288"/>
            <a:ext cx="1600200" cy="457200"/>
          </a:xfrm>
          <a:prstGeom prst="rect">
            <a:avLst/>
          </a:prstGeom>
          <a:noFill/>
          <a:ln/>
        </p:spPr>
        <p:txBody>
          <a:bodyPr wrap="square" rtlCol="0" anchor="ctr"/>
          <a:lstStyle/>
          <a:p>
            <a:pPr marL="0" indent="0" algn="l">
              <a:buNone/>
            </a:pPr>
            <a:r>
              <a:rPr lang="en-US" sz="1100" b="1" dirty="0">
                <a:solidFill>
                  <a:srgbClr val="23262B"/>
                </a:solidFill>
                <a:latin typeface="Calibri"/>
                <a:ea typeface="Calibri"/>
                <a:cs typeface="Calibri"/>
              </a:rPr>
              <a:t>Parser</a:t>
            </a:r>
          </a:p>
        </p:txBody>
      </p:sp>
      <p:sp>
        <p:nvSpPr>
          <p:cNvPr id="19" name="Shape 19"/>
          <p:cNvSpPr/>
          <p:nvPr/>
        </p:nvSpPr>
        <p:spPr>
          <a:xfrm>
            <a:off x="2057400" y="2304288"/>
            <a:ext cx="1417320" cy="457200"/>
          </a:xfrm>
          <a:prstGeom prst="rect">
            <a:avLst/>
          </a:prstGeom>
          <a:solidFill>
            <a:srgbClr val="D8E6EA"/>
          </a:solidFill>
          <a:ln w="6350">
            <a:solidFill>
              <a:srgbClr val="D6DCE2"/>
            </a:solidFill>
            <a:prstDash val="solid"/>
          </a:ln>
        </p:spPr>
        <p:txBody>
          <a:bodyPr/>
          <a:lstStyle/>
          <a:p>
            <a:endParaRPr/>
          </a:p>
        </p:txBody>
      </p:sp>
      <p:sp>
        <p:nvSpPr>
          <p:cNvPr id="20" name="Text 20"/>
          <p:cNvSpPr txBox="1"/>
          <p:nvPr/>
        </p:nvSpPr>
        <p:spPr>
          <a:xfrm>
            <a:off x="2057400" y="2304288"/>
            <a:ext cx="1417320" cy="457200"/>
          </a:xfrm>
          <a:prstGeom prst="rect">
            <a:avLst/>
          </a:prstGeom>
          <a:noFill/>
          <a:ln/>
        </p:spPr>
        <p:txBody>
          <a:bodyPr wrap="square" rtlCol="0" anchor="ctr"/>
          <a:lstStyle/>
          <a:p>
            <a:pPr marL="0" indent="0" algn="l">
              <a:buNone/>
            </a:pPr>
            <a:r>
              <a:rPr lang="en-US" sz="1000" b="1" dirty="0">
                <a:solidFill>
                  <a:srgbClr val="2E6E7E"/>
                </a:solidFill>
                <a:latin typeface="Calibri"/>
                <a:ea typeface="Calibri"/>
                <a:cs typeface="Calibri"/>
              </a:rPr>
              <a:t>✓ Implemented</a:t>
            </a:r>
          </a:p>
        </p:txBody>
      </p:sp>
      <p:sp>
        <p:nvSpPr>
          <p:cNvPr id="21" name="Shape 21"/>
          <p:cNvSpPr/>
          <p:nvPr/>
        </p:nvSpPr>
        <p:spPr>
          <a:xfrm>
            <a:off x="3474720" y="2304288"/>
            <a:ext cx="2377440" cy="457200"/>
          </a:xfrm>
          <a:prstGeom prst="rect">
            <a:avLst/>
          </a:prstGeom>
          <a:solidFill>
            <a:srgbClr val="F4F6F8"/>
          </a:solidFill>
          <a:ln w="6350">
            <a:solidFill>
              <a:srgbClr val="D6DCE2"/>
            </a:solidFill>
            <a:prstDash val="solid"/>
          </a:ln>
        </p:spPr>
        <p:txBody>
          <a:bodyPr/>
          <a:lstStyle/>
          <a:p>
            <a:endParaRPr/>
          </a:p>
        </p:txBody>
      </p:sp>
      <p:sp>
        <p:nvSpPr>
          <p:cNvPr id="22" name="Text 22"/>
          <p:cNvSpPr txBox="1"/>
          <p:nvPr/>
        </p:nvSpPr>
        <p:spPr>
          <a:xfrm>
            <a:off x="3474720" y="2304288"/>
            <a:ext cx="2377440" cy="457200"/>
          </a:xfrm>
          <a:prstGeom prst="rect">
            <a:avLst/>
          </a:prstGeom>
          <a:noFill/>
          <a:ln/>
        </p:spPr>
        <p:txBody>
          <a:bodyPr wrap="square" rtlCol="0" anchor="ctr"/>
          <a:lstStyle/>
          <a:p>
            <a:pPr marL="0" indent="0" algn="l">
              <a:buNone/>
            </a:pPr>
            <a:r>
              <a:rPr lang="en-US" sz="950" dirty="0">
                <a:solidFill>
                  <a:srgbClr val="6B7480"/>
                </a:solidFill>
                <a:latin typeface="Calibri"/>
                <a:ea typeface="Calibri"/>
                <a:cs typeface="Calibri"/>
              </a:rPr>
              <a:t>src/parser/, parser tests</a:t>
            </a:r>
          </a:p>
        </p:txBody>
      </p:sp>
      <p:sp>
        <p:nvSpPr>
          <p:cNvPr id="23" name="Shape 23"/>
          <p:cNvSpPr/>
          <p:nvPr/>
        </p:nvSpPr>
        <p:spPr>
          <a:xfrm>
            <a:off x="457200" y="2761488"/>
            <a:ext cx="1600200" cy="457200"/>
          </a:xfrm>
          <a:prstGeom prst="rect">
            <a:avLst/>
          </a:prstGeom>
          <a:solidFill>
            <a:srgbClr val="FFFFFF"/>
          </a:solidFill>
          <a:ln w="6350">
            <a:solidFill>
              <a:srgbClr val="D6DCE2"/>
            </a:solidFill>
            <a:prstDash val="solid"/>
          </a:ln>
        </p:spPr>
        <p:txBody>
          <a:bodyPr/>
          <a:lstStyle/>
          <a:p>
            <a:endParaRPr/>
          </a:p>
        </p:txBody>
      </p:sp>
      <p:sp>
        <p:nvSpPr>
          <p:cNvPr id="24" name="Text 24"/>
          <p:cNvSpPr txBox="1"/>
          <p:nvPr/>
        </p:nvSpPr>
        <p:spPr>
          <a:xfrm>
            <a:off x="457200" y="2761488"/>
            <a:ext cx="1600200" cy="457200"/>
          </a:xfrm>
          <a:prstGeom prst="rect">
            <a:avLst/>
          </a:prstGeom>
          <a:noFill/>
          <a:ln/>
        </p:spPr>
        <p:txBody>
          <a:bodyPr wrap="square" rtlCol="0" anchor="ctr"/>
          <a:lstStyle/>
          <a:p>
            <a:pPr marL="0" indent="0" algn="l">
              <a:buNone/>
            </a:pPr>
            <a:r>
              <a:rPr lang="en-US" sz="1100" b="1" dirty="0">
                <a:solidFill>
                  <a:srgbClr val="23262B"/>
                </a:solidFill>
                <a:latin typeface="Calibri"/>
                <a:ea typeface="Calibri"/>
                <a:cs typeface="Calibri"/>
              </a:rPr>
              <a:t>AST</a:t>
            </a:r>
          </a:p>
        </p:txBody>
      </p:sp>
      <p:sp>
        <p:nvSpPr>
          <p:cNvPr id="25" name="Shape 25"/>
          <p:cNvSpPr/>
          <p:nvPr/>
        </p:nvSpPr>
        <p:spPr>
          <a:xfrm>
            <a:off x="2057400" y="2761488"/>
            <a:ext cx="1417320" cy="457200"/>
          </a:xfrm>
          <a:prstGeom prst="rect">
            <a:avLst/>
          </a:prstGeom>
          <a:solidFill>
            <a:srgbClr val="D8E6EA"/>
          </a:solidFill>
          <a:ln w="6350">
            <a:solidFill>
              <a:srgbClr val="D6DCE2"/>
            </a:solidFill>
            <a:prstDash val="solid"/>
          </a:ln>
        </p:spPr>
        <p:txBody>
          <a:bodyPr/>
          <a:lstStyle/>
          <a:p>
            <a:endParaRPr/>
          </a:p>
        </p:txBody>
      </p:sp>
      <p:sp>
        <p:nvSpPr>
          <p:cNvPr id="26" name="Text 26"/>
          <p:cNvSpPr txBox="1"/>
          <p:nvPr/>
        </p:nvSpPr>
        <p:spPr>
          <a:xfrm>
            <a:off x="2057400" y="2761488"/>
            <a:ext cx="1417320" cy="457200"/>
          </a:xfrm>
          <a:prstGeom prst="rect">
            <a:avLst/>
          </a:prstGeom>
          <a:noFill/>
          <a:ln/>
        </p:spPr>
        <p:txBody>
          <a:bodyPr wrap="square" rtlCol="0" anchor="ctr"/>
          <a:lstStyle/>
          <a:p>
            <a:pPr marL="0" indent="0" algn="l">
              <a:buNone/>
            </a:pPr>
            <a:r>
              <a:rPr lang="en-US" sz="1000" b="1" dirty="0">
                <a:solidFill>
                  <a:srgbClr val="2E6E7E"/>
                </a:solidFill>
                <a:latin typeface="Calibri"/>
                <a:ea typeface="Calibri"/>
                <a:cs typeface="Calibri"/>
              </a:rPr>
              <a:t>✓ Implemented</a:t>
            </a:r>
          </a:p>
        </p:txBody>
      </p:sp>
      <p:sp>
        <p:nvSpPr>
          <p:cNvPr id="27" name="Shape 27"/>
          <p:cNvSpPr/>
          <p:nvPr/>
        </p:nvSpPr>
        <p:spPr>
          <a:xfrm>
            <a:off x="3474720" y="2761488"/>
            <a:ext cx="2377440" cy="457200"/>
          </a:xfrm>
          <a:prstGeom prst="rect">
            <a:avLst/>
          </a:prstGeom>
          <a:solidFill>
            <a:srgbClr val="FFFFFF"/>
          </a:solidFill>
          <a:ln w="6350">
            <a:solidFill>
              <a:srgbClr val="D6DCE2"/>
            </a:solidFill>
            <a:prstDash val="solid"/>
          </a:ln>
        </p:spPr>
        <p:txBody>
          <a:bodyPr/>
          <a:lstStyle/>
          <a:p>
            <a:endParaRPr/>
          </a:p>
        </p:txBody>
      </p:sp>
      <p:sp>
        <p:nvSpPr>
          <p:cNvPr id="28" name="Text 28"/>
          <p:cNvSpPr txBox="1"/>
          <p:nvPr/>
        </p:nvSpPr>
        <p:spPr>
          <a:xfrm>
            <a:off x="3474720" y="2761488"/>
            <a:ext cx="2377440" cy="457200"/>
          </a:xfrm>
          <a:prstGeom prst="rect">
            <a:avLst/>
          </a:prstGeom>
          <a:noFill/>
          <a:ln/>
        </p:spPr>
        <p:txBody>
          <a:bodyPr wrap="square" rtlCol="0" anchor="ctr"/>
          <a:lstStyle/>
          <a:p>
            <a:pPr marL="0" indent="0" algn="l">
              <a:buNone/>
            </a:pPr>
            <a:r>
              <a:rPr lang="en-US" sz="950" dirty="0">
                <a:solidFill>
                  <a:srgbClr val="6B7480"/>
                </a:solidFill>
                <a:latin typeface="Calibri"/>
                <a:ea typeface="Calibri"/>
                <a:cs typeface="Calibri"/>
              </a:rPr>
              <a:t>src/ast/, AST tests</a:t>
            </a:r>
          </a:p>
        </p:txBody>
      </p:sp>
      <p:sp>
        <p:nvSpPr>
          <p:cNvPr id="29" name="Shape 29"/>
          <p:cNvSpPr/>
          <p:nvPr/>
        </p:nvSpPr>
        <p:spPr>
          <a:xfrm>
            <a:off x="457200" y="3218688"/>
            <a:ext cx="1600200" cy="457200"/>
          </a:xfrm>
          <a:prstGeom prst="rect">
            <a:avLst/>
          </a:prstGeom>
          <a:solidFill>
            <a:srgbClr val="F4F6F8"/>
          </a:solidFill>
          <a:ln w="6350">
            <a:solidFill>
              <a:srgbClr val="D6DCE2"/>
            </a:solidFill>
            <a:prstDash val="solid"/>
          </a:ln>
        </p:spPr>
        <p:txBody>
          <a:bodyPr/>
          <a:lstStyle/>
          <a:p>
            <a:endParaRPr/>
          </a:p>
        </p:txBody>
      </p:sp>
      <p:sp>
        <p:nvSpPr>
          <p:cNvPr id="30" name="Text 30"/>
          <p:cNvSpPr txBox="1"/>
          <p:nvPr/>
        </p:nvSpPr>
        <p:spPr>
          <a:xfrm>
            <a:off x="457200" y="3218688"/>
            <a:ext cx="1600200" cy="457200"/>
          </a:xfrm>
          <a:prstGeom prst="rect">
            <a:avLst/>
          </a:prstGeom>
          <a:noFill/>
          <a:ln/>
        </p:spPr>
        <p:txBody>
          <a:bodyPr wrap="square" rtlCol="0" anchor="ctr"/>
          <a:lstStyle/>
          <a:p>
            <a:pPr marL="0" indent="0" algn="l">
              <a:buNone/>
            </a:pPr>
            <a:r>
              <a:rPr lang="en-US" sz="1100" b="1" dirty="0">
                <a:solidFill>
                  <a:srgbClr val="23262B"/>
                </a:solidFill>
                <a:latin typeface="Calibri"/>
                <a:ea typeface="Calibri"/>
                <a:cs typeface="Calibri"/>
              </a:rPr>
              <a:t>Semantic Analysis</a:t>
            </a:r>
          </a:p>
        </p:txBody>
      </p:sp>
      <p:sp>
        <p:nvSpPr>
          <p:cNvPr id="31" name="Shape 31"/>
          <p:cNvSpPr/>
          <p:nvPr/>
        </p:nvSpPr>
        <p:spPr>
          <a:xfrm>
            <a:off x="2057400" y="3218688"/>
            <a:ext cx="1417320" cy="457200"/>
          </a:xfrm>
          <a:prstGeom prst="rect">
            <a:avLst/>
          </a:prstGeom>
          <a:solidFill>
            <a:srgbClr val="D8E6EA"/>
          </a:solidFill>
          <a:ln w="6350">
            <a:solidFill>
              <a:srgbClr val="D6DCE2"/>
            </a:solidFill>
            <a:prstDash val="solid"/>
          </a:ln>
        </p:spPr>
        <p:txBody>
          <a:bodyPr/>
          <a:lstStyle/>
          <a:p>
            <a:endParaRPr/>
          </a:p>
        </p:txBody>
      </p:sp>
      <p:sp>
        <p:nvSpPr>
          <p:cNvPr id="32" name="Text 32"/>
          <p:cNvSpPr txBox="1"/>
          <p:nvPr/>
        </p:nvSpPr>
        <p:spPr>
          <a:xfrm>
            <a:off x="2057400" y="3218688"/>
            <a:ext cx="1417320" cy="457200"/>
          </a:xfrm>
          <a:prstGeom prst="rect">
            <a:avLst/>
          </a:prstGeom>
          <a:noFill/>
          <a:ln/>
        </p:spPr>
        <p:txBody>
          <a:bodyPr wrap="square" rtlCol="0" anchor="ctr"/>
          <a:lstStyle/>
          <a:p>
            <a:pPr marL="0" indent="0" algn="l">
              <a:buNone/>
            </a:pPr>
            <a:r>
              <a:rPr lang="en-US" sz="1000" b="1" dirty="0">
                <a:solidFill>
                  <a:srgbClr val="2E6E7E"/>
                </a:solidFill>
                <a:latin typeface="Calibri"/>
                <a:ea typeface="Calibri"/>
                <a:cs typeface="Calibri"/>
              </a:rPr>
              <a:t>✓ Implemented</a:t>
            </a:r>
          </a:p>
        </p:txBody>
      </p:sp>
      <p:sp>
        <p:nvSpPr>
          <p:cNvPr id="33" name="Shape 33"/>
          <p:cNvSpPr/>
          <p:nvPr/>
        </p:nvSpPr>
        <p:spPr>
          <a:xfrm>
            <a:off x="3474720" y="3218688"/>
            <a:ext cx="2377440" cy="457200"/>
          </a:xfrm>
          <a:prstGeom prst="rect">
            <a:avLst/>
          </a:prstGeom>
          <a:solidFill>
            <a:srgbClr val="F4F6F8"/>
          </a:solidFill>
          <a:ln w="6350">
            <a:solidFill>
              <a:srgbClr val="D6DCE2"/>
            </a:solidFill>
            <a:prstDash val="solid"/>
          </a:ln>
        </p:spPr>
        <p:txBody>
          <a:bodyPr/>
          <a:lstStyle/>
          <a:p>
            <a:endParaRPr/>
          </a:p>
        </p:txBody>
      </p:sp>
      <p:sp>
        <p:nvSpPr>
          <p:cNvPr id="34" name="Text 34"/>
          <p:cNvSpPr txBox="1"/>
          <p:nvPr/>
        </p:nvSpPr>
        <p:spPr>
          <a:xfrm>
            <a:off x="3474720" y="3218688"/>
            <a:ext cx="2377440" cy="457200"/>
          </a:xfrm>
          <a:prstGeom prst="rect">
            <a:avLst/>
          </a:prstGeom>
          <a:noFill/>
          <a:ln/>
        </p:spPr>
        <p:txBody>
          <a:bodyPr wrap="square" rtlCol="0" anchor="ctr"/>
          <a:lstStyle/>
          <a:p>
            <a:pPr marL="0" indent="0" algn="l">
              <a:buNone/>
            </a:pPr>
            <a:r>
              <a:rPr lang="en-US" sz="950" dirty="0">
                <a:solidFill>
                  <a:srgbClr val="6B7480"/>
                </a:solidFill>
                <a:latin typeface="Calibri"/>
                <a:ea typeface="Calibri"/>
                <a:cs typeface="Calibri"/>
              </a:rPr>
              <a:t>src/semantic/, semantic tests</a:t>
            </a:r>
          </a:p>
        </p:txBody>
      </p:sp>
      <p:sp>
        <p:nvSpPr>
          <p:cNvPr id="35" name="Shape 35"/>
          <p:cNvSpPr/>
          <p:nvPr/>
        </p:nvSpPr>
        <p:spPr>
          <a:xfrm>
            <a:off x="457200" y="3675888"/>
            <a:ext cx="1600200" cy="457200"/>
          </a:xfrm>
          <a:prstGeom prst="rect">
            <a:avLst/>
          </a:prstGeom>
          <a:solidFill>
            <a:srgbClr val="FFFFFF"/>
          </a:solidFill>
          <a:ln w="6350">
            <a:solidFill>
              <a:srgbClr val="D6DCE2"/>
            </a:solidFill>
            <a:prstDash val="solid"/>
          </a:ln>
        </p:spPr>
        <p:txBody>
          <a:bodyPr/>
          <a:lstStyle/>
          <a:p>
            <a:endParaRPr/>
          </a:p>
        </p:txBody>
      </p:sp>
      <p:sp>
        <p:nvSpPr>
          <p:cNvPr id="36" name="Text 36"/>
          <p:cNvSpPr txBox="1"/>
          <p:nvPr/>
        </p:nvSpPr>
        <p:spPr>
          <a:xfrm>
            <a:off x="457200" y="3675888"/>
            <a:ext cx="1600200" cy="457200"/>
          </a:xfrm>
          <a:prstGeom prst="rect">
            <a:avLst/>
          </a:prstGeom>
          <a:noFill/>
          <a:ln/>
        </p:spPr>
        <p:txBody>
          <a:bodyPr wrap="square" rtlCol="0" anchor="ctr"/>
          <a:lstStyle/>
          <a:p>
            <a:pPr marL="0" indent="0" algn="l">
              <a:buNone/>
            </a:pPr>
            <a:r>
              <a:rPr lang="en-US" sz="1100" b="1" dirty="0">
                <a:solidFill>
                  <a:srgbClr val="23262B"/>
                </a:solidFill>
                <a:latin typeface="Calibri"/>
                <a:ea typeface="Calibri"/>
                <a:cs typeface="Calibri"/>
              </a:rPr>
              <a:t>TAC Generation</a:t>
            </a:r>
          </a:p>
        </p:txBody>
      </p:sp>
      <p:sp>
        <p:nvSpPr>
          <p:cNvPr id="37" name="Shape 37"/>
          <p:cNvSpPr/>
          <p:nvPr/>
        </p:nvSpPr>
        <p:spPr>
          <a:xfrm>
            <a:off x="2057400" y="3675888"/>
            <a:ext cx="1417320" cy="457200"/>
          </a:xfrm>
          <a:prstGeom prst="rect">
            <a:avLst/>
          </a:prstGeom>
          <a:solidFill>
            <a:srgbClr val="D8E6EA"/>
          </a:solidFill>
          <a:ln w="6350">
            <a:solidFill>
              <a:srgbClr val="D6DCE2"/>
            </a:solidFill>
            <a:prstDash val="solid"/>
          </a:ln>
        </p:spPr>
        <p:txBody>
          <a:bodyPr/>
          <a:lstStyle/>
          <a:p>
            <a:endParaRPr/>
          </a:p>
        </p:txBody>
      </p:sp>
      <p:sp>
        <p:nvSpPr>
          <p:cNvPr id="38" name="Text 38"/>
          <p:cNvSpPr txBox="1"/>
          <p:nvPr/>
        </p:nvSpPr>
        <p:spPr>
          <a:xfrm>
            <a:off x="2057400" y="3675888"/>
            <a:ext cx="1417320" cy="457200"/>
          </a:xfrm>
          <a:prstGeom prst="rect">
            <a:avLst/>
          </a:prstGeom>
          <a:noFill/>
          <a:ln/>
        </p:spPr>
        <p:txBody>
          <a:bodyPr wrap="square" rtlCol="0" anchor="ctr"/>
          <a:lstStyle/>
          <a:p>
            <a:pPr marL="0" indent="0" algn="l">
              <a:buNone/>
            </a:pPr>
            <a:r>
              <a:rPr lang="en-US" sz="1000" b="1" dirty="0">
                <a:solidFill>
                  <a:srgbClr val="2E6E7E"/>
                </a:solidFill>
                <a:latin typeface="Calibri"/>
                <a:ea typeface="Calibri"/>
                <a:cs typeface="Calibri"/>
              </a:rPr>
              <a:t>✓ Implemented</a:t>
            </a:r>
          </a:p>
        </p:txBody>
      </p:sp>
      <p:sp>
        <p:nvSpPr>
          <p:cNvPr id="39" name="Shape 39"/>
          <p:cNvSpPr/>
          <p:nvPr/>
        </p:nvSpPr>
        <p:spPr>
          <a:xfrm>
            <a:off x="3474720" y="3675888"/>
            <a:ext cx="2377440" cy="457200"/>
          </a:xfrm>
          <a:prstGeom prst="rect">
            <a:avLst/>
          </a:prstGeom>
          <a:solidFill>
            <a:srgbClr val="FFFFFF"/>
          </a:solidFill>
          <a:ln w="6350">
            <a:solidFill>
              <a:srgbClr val="D6DCE2"/>
            </a:solidFill>
            <a:prstDash val="solid"/>
          </a:ln>
        </p:spPr>
        <p:txBody>
          <a:bodyPr/>
          <a:lstStyle/>
          <a:p>
            <a:endParaRPr/>
          </a:p>
        </p:txBody>
      </p:sp>
      <p:sp>
        <p:nvSpPr>
          <p:cNvPr id="40" name="Text 40"/>
          <p:cNvSpPr txBox="1"/>
          <p:nvPr/>
        </p:nvSpPr>
        <p:spPr>
          <a:xfrm>
            <a:off x="3474720" y="3675888"/>
            <a:ext cx="2377440" cy="457200"/>
          </a:xfrm>
          <a:prstGeom prst="rect">
            <a:avLst/>
          </a:prstGeom>
          <a:noFill/>
          <a:ln/>
        </p:spPr>
        <p:txBody>
          <a:bodyPr wrap="square" rtlCol="0" anchor="ctr"/>
          <a:lstStyle/>
          <a:p>
            <a:pPr marL="0" indent="0" algn="l">
              <a:buNone/>
            </a:pPr>
            <a:r>
              <a:rPr lang="en-US" sz="950" dirty="0">
                <a:solidFill>
                  <a:srgbClr val="6B7480"/>
                </a:solidFill>
                <a:latin typeface="Calibri"/>
                <a:ea typeface="Calibri"/>
                <a:cs typeface="Calibri"/>
              </a:rPr>
              <a:t>src/ir/, TAC tests</a:t>
            </a:r>
          </a:p>
        </p:txBody>
      </p:sp>
      <p:sp>
        <p:nvSpPr>
          <p:cNvPr id="41" name="Shape 41"/>
          <p:cNvSpPr/>
          <p:nvPr/>
        </p:nvSpPr>
        <p:spPr>
          <a:xfrm>
            <a:off x="457200" y="4133088"/>
            <a:ext cx="1600200" cy="457200"/>
          </a:xfrm>
          <a:prstGeom prst="rect">
            <a:avLst/>
          </a:prstGeom>
          <a:solidFill>
            <a:srgbClr val="F4F6F8"/>
          </a:solidFill>
          <a:ln w="6350">
            <a:solidFill>
              <a:srgbClr val="D6DCE2"/>
            </a:solidFill>
            <a:prstDash val="solid"/>
          </a:ln>
        </p:spPr>
        <p:txBody>
          <a:bodyPr/>
          <a:lstStyle/>
          <a:p>
            <a:endParaRPr/>
          </a:p>
        </p:txBody>
      </p:sp>
      <p:sp>
        <p:nvSpPr>
          <p:cNvPr id="42" name="Text 42"/>
          <p:cNvSpPr txBox="1"/>
          <p:nvPr/>
        </p:nvSpPr>
        <p:spPr>
          <a:xfrm>
            <a:off x="457200" y="4133088"/>
            <a:ext cx="1600200" cy="457200"/>
          </a:xfrm>
          <a:prstGeom prst="rect">
            <a:avLst/>
          </a:prstGeom>
          <a:noFill/>
          <a:ln/>
        </p:spPr>
        <p:txBody>
          <a:bodyPr wrap="square" rtlCol="0" anchor="ctr"/>
          <a:lstStyle/>
          <a:p>
            <a:pPr marL="0" indent="0" algn="l">
              <a:buNone/>
            </a:pPr>
            <a:r>
              <a:rPr lang="en-US" sz="1100" b="1" dirty="0">
                <a:solidFill>
                  <a:srgbClr val="23262B"/>
                </a:solidFill>
                <a:latin typeface="Calibri"/>
                <a:ea typeface="Calibri"/>
                <a:cs typeface="Calibri"/>
              </a:rPr>
              <a:t>CFG / Basic Blocks</a:t>
            </a:r>
          </a:p>
        </p:txBody>
      </p:sp>
      <p:sp>
        <p:nvSpPr>
          <p:cNvPr id="43" name="Shape 43"/>
          <p:cNvSpPr/>
          <p:nvPr/>
        </p:nvSpPr>
        <p:spPr>
          <a:xfrm>
            <a:off x="2057400" y="4133088"/>
            <a:ext cx="1417320" cy="457200"/>
          </a:xfrm>
          <a:prstGeom prst="rect">
            <a:avLst/>
          </a:prstGeom>
          <a:solidFill>
            <a:srgbClr val="D8E6EA"/>
          </a:solidFill>
          <a:ln w="6350">
            <a:solidFill>
              <a:srgbClr val="D6DCE2"/>
            </a:solidFill>
            <a:prstDash val="solid"/>
          </a:ln>
        </p:spPr>
        <p:txBody>
          <a:bodyPr/>
          <a:lstStyle/>
          <a:p>
            <a:endParaRPr/>
          </a:p>
        </p:txBody>
      </p:sp>
      <p:sp>
        <p:nvSpPr>
          <p:cNvPr id="44" name="Text 44"/>
          <p:cNvSpPr txBox="1"/>
          <p:nvPr/>
        </p:nvSpPr>
        <p:spPr>
          <a:xfrm>
            <a:off x="2057400" y="4133088"/>
            <a:ext cx="1417320" cy="457200"/>
          </a:xfrm>
          <a:prstGeom prst="rect">
            <a:avLst/>
          </a:prstGeom>
          <a:noFill/>
          <a:ln/>
        </p:spPr>
        <p:txBody>
          <a:bodyPr wrap="square" rtlCol="0" anchor="ctr"/>
          <a:lstStyle/>
          <a:p>
            <a:pPr marL="0" indent="0" algn="l">
              <a:buNone/>
            </a:pPr>
            <a:r>
              <a:rPr lang="en-US" sz="1000" b="1" dirty="0">
                <a:solidFill>
                  <a:srgbClr val="2E6E7E"/>
                </a:solidFill>
                <a:latin typeface="Calibri"/>
                <a:ea typeface="Calibri"/>
                <a:cs typeface="Calibri"/>
              </a:rPr>
              <a:t>✓ Implemented</a:t>
            </a:r>
          </a:p>
        </p:txBody>
      </p:sp>
      <p:sp>
        <p:nvSpPr>
          <p:cNvPr id="45" name="Shape 45"/>
          <p:cNvSpPr/>
          <p:nvPr/>
        </p:nvSpPr>
        <p:spPr>
          <a:xfrm>
            <a:off x="3474720" y="4133088"/>
            <a:ext cx="2377440" cy="457200"/>
          </a:xfrm>
          <a:prstGeom prst="rect">
            <a:avLst/>
          </a:prstGeom>
          <a:solidFill>
            <a:srgbClr val="F4F6F8"/>
          </a:solidFill>
          <a:ln w="6350">
            <a:solidFill>
              <a:srgbClr val="D6DCE2"/>
            </a:solidFill>
            <a:prstDash val="solid"/>
          </a:ln>
        </p:spPr>
        <p:txBody>
          <a:bodyPr/>
          <a:lstStyle/>
          <a:p>
            <a:endParaRPr/>
          </a:p>
        </p:txBody>
      </p:sp>
      <p:sp>
        <p:nvSpPr>
          <p:cNvPr id="46" name="Text 46"/>
          <p:cNvSpPr txBox="1"/>
          <p:nvPr/>
        </p:nvSpPr>
        <p:spPr>
          <a:xfrm>
            <a:off x="3474720" y="4133088"/>
            <a:ext cx="2377440" cy="457200"/>
          </a:xfrm>
          <a:prstGeom prst="rect">
            <a:avLst/>
          </a:prstGeom>
          <a:noFill/>
          <a:ln/>
        </p:spPr>
        <p:txBody>
          <a:bodyPr wrap="square" rtlCol="0" anchor="ctr"/>
          <a:lstStyle/>
          <a:p>
            <a:pPr marL="0" indent="0" algn="l">
              <a:buNone/>
            </a:pPr>
            <a:r>
              <a:rPr lang="en-US" sz="950" dirty="0">
                <a:solidFill>
                  <a:srgbClr val="6B7480"/>
                </a:solidFill>
                <a:latin typeface="Calibri"/>
                <a:ea typeface="Calibri"/>
                <a:cs typeface="Calibri"/>
              </a:rPr>
              <a:t>src/cfg/, CFG tests</a:t>
            </a:r>
          </a:p>
        </p:txBody>
      </p:sp>
      <p:sp>
        <p:nvSpPr>
          <p:cNvPr id="47" name="Shape 47"/>
          <p:cNvSpPr/>
          <p:nvPr/>
        </p:nvSpPr>
        <p:spPr>
          <a:xfrm>
            <a:off x="457200" y="4590288"/>
            <a:ext cx="1600200" cy="457200"/>
          </a:xfrm>
          <a:prstGeom prst="rect">
            <a:avLst/>
          </a:prstGeom>
          <a:solidFill>
            <a:srgbClr val="FFFFFF"/>
          </a:solidFill>
          <a:ln w="6350">
            <a:solidFill>
              <a:srgbClr val="D6DCE2"/>
            </a:solidFill>
            <a:prstDash val="solid"/>
          </a:ln>
        </p:spPr>
        <p:txBody>
          <a:bodyPr/>
          <a:lstStyle/>
          <a:p>
            <a:endParaRPr/>
          </a:p>
        </p:txBody>
      </p:sp>
      <p:sp>
        <p:nvSpPr>
          <p:cNvPr id="48" name="Text 48"/>
          <p:cNvSpPr txBox="1"/>
          <p:nvPr/>
        </p:nvSpPr>
        <p:spPr>
          <a:xfrm>
            <a:off x="457200" y="4590288"/>
            <a:ext cx="1600200" cy="457200"/>
          </a:xfrm>
          <a:prstGeom prst="rect">
            <a:avLst/>
          </a:prstGeom>
          <a:noFill/>
          <a:ln/>
        </p:spPr>
        <p:txBody>
          <a:bodyPr wrap="square" rtlCol="0" anchor="ctr"/>
          <a:lstStyle/>
          <a:p>
            <a:pPr marL="0" indent="0" algn="l">
              <a:buNone/>
            </a:pPr>
            <a:r>
              <a:rPr lang="en-US" sz="1100" b="1" dirty="0">
                <a:solidFill>
                  <a:srgbClr val="23262B"/>
                </a:solidFill>
                <a:latin typeface="Calibri"/>
                <a:ea typeface="Calibri"/>
                <a:cs typeface="Calibri"/>
              </a:rPr>
              <a:t>SSA Construction</a:t>
            </a:r>
          </a:p>
        </p:txBody>
      </p:sp>
      <p:sp>
        <p:nvSpPr>
          <p:cNvPr id="49" name="Shape 49"/>
          <p:cNvSpPr/>
          <p:nvPr/>
        </p:nvSpPr>
        <p:spPr>
          <a:xfrm>
            <a:off x="2057400" y="4590288"/>
            <a:ext cx="1417320" cy="457200"/>
          </a:xfrm>
          <a:prstGeom prst="rect">
            <a:avLst/>
          </a:prstGeom>
          <a:solidFill>
            <a:srgbClr val="D8E6EA"/>
          </a:solidFill>
          <a:ln w="6350">
            <a:solidFill>
              <a:srgbClr val="D6DCE2"/>
            </a:solidFill>
            <a:prstDash val="solid"/>
          </a:ln>
        </p:spPr>
        <p:txBody>
          <a:bodyPr/>
          <a:lstStyle/>
          <a:p>
            <a:endParaRPr/>
          </a:p>
        </p:txBody>
      </p:sp>
      <p:sp>
        <p:nvSpPr>
          <p:cNvPr id="50" name="Text 50"/>
          <p:cNvSpPr txBox="1"/>
          <p:nvPr/>
        </p:nvSpPr>
        <p:spPr>
          <a:xfrm>
            <a:off x="2057400" y="4590288"/>
            <a:ext cx="1417320" cy="457200"/>
          </a:xfrm>
          <a:prstGeom prst="rect">
            <a:avLst/>
          </a:prstGeom>
          <a:noFill/>
          <a:ln/>
        </p:spPr>
        <p:txBody>
          <a:bodyPr wrap="square" rtlCol="0" anchor="ctr"/>
          <a:lstStyle/>
          <a:p>
            <a:pPr marL="0" indent="0" algn="l">
              <a:buNone/>
            </a:pPr>
            <a:r>
              <a:rPr lang="en-US" sz="1000" b="1" dirty="0">
                <a:solidFill>
                  <a:srgbClr val="2E6E7E"/>
                </a:solidFill>
                <a:latin typeface="Calibri"/>
                <a:ea typeface="Calibri"/>
                <a:cs typeface="Calibri"/>
              </a:rPr>
              <a:t>✓ Implemented</a:t>
            </a:r>
          </a:p>
        </p:txBody>
      </p:sp>
      <p:sp>
        <p:nvSpPr>
          <p:cNvPr id="51" name="Shape 51"/>
          <p:cNvSpPr/>
          <p:nvPr/>
        </p:nvSpPr>
        <p:spPr>
          <a:xfrm>
            <a:off x="3474720" y="4590288"/>
            <a:ext cx="2377440" cy="457200"/>
          </a:xfrm>
          <a:prstGeom prst="rect">
            <a:avLst/>
          </a:prstGeom>
          <a:solidFill>
            <a:srgbClr val="FFFFFF"/>
          </a:solidFill>
          <a:ln w="6350">
            <a:solidFill>
              <a:srgbClr val="D6DCE2"/>
            </a:solidFill>
            <a:prstDash val="solid"/>
          </a:ln>
        </p:spPr>
        <p:txBody>
          <a:bodyPr/>
          <a:lstStyle/>
          <a:p>
            <a:endParaRPr/>
          </a:p>
        </p:txBody>
      </p:sp>
      <p:sp>
        <p:nvSpPr>
          <p:cNvPr id="52" name="Text 52"/>
          <p:cNvSpPr txBox="1"/>
          <p:nvPr/>
        </p:nvSpPr>
        <p:spPr>
          <a:xfrm>
            <a:off x="3474720" y="4590288"/>
            <a:ext cx="2377440" cy="457200"/>
          </a:xfrm>
          <a:prstGeom prst="rect">
            <a:avLst/>
          </a:prstGeom>
          <a:noFill/>
          <a:ln/>
        </p:spPr>
        <p:txBody>
          <a:bodyPr wrap="square" rtlCol="0" anchor="ctr"/>
          <a:lstStyle/>
          <a:p>
            <a:pPr marL="0" indent="0" algn="l">
              <a:buNone/>
            </a:pPr>
            <a:r>
              <a:rPr lang="en-US" sz="950" dirty="0">
                <a:solidFill>
                  <a:srgbClr val="6B7480"/>
                </a:solidFill>
                <a:latin typeface="Calibri"/>
                <a:ea typeface="Calibri"/>
                <a:cs typeface="Calibri"/>
              </a:rPr>
              <a:t>src/ssa/, phi-node test and control-flow examples</a:t>
            </a:r>
          </a:p>
        </p:txBody>
      </p:sp>
      <p:sp>
        <p:nvSpPr>
          <p:cNvPr id="53" name="Shape 53"/>
          <p:cNvSpPr/>
          <p:nvPr/>
        </p:nvSpPr>
        <p:spPr>
          <a:xfrm>
            <a:off x="457200" y="5047488"/>
            <a:ext cx="1600200" cy="457200"/>
          </a:xfrm>
          <a:prstGeom prst="rect">
            <a:avLst/>
          </a:prstGeom>
          <a:solidFill>
            <a:srgbClr val="F4F6F8"/>
          </a:solidFill>
          <a:ln w="6350">
            <a:solidFill>
              <a:srgbClr val="D6DCE2"/>
            </a:solidFill>
            <a:prstDash val="solid"/>
          </a:ln>
        </p:spPr>
        <p:txBody>
          <a:bodyPr/>
          <a:lstStyle/>
          <a:p>
            <a:endParaRPr/>
          </a:p>
        </p:txBody>
      </p:sp>
      <p:sp>
        <p:nvSpPr>
          <p:cNvPr id="54" name="Text 54"/>
          <p:cNvSpPr txBox="1"/>
          <p:nvPr/>
        </p:nvSpPr>
        <p:spPr>
          <a:xfrm>
            <a:off x="457200" y="5047488"/>
            <a:ext cx="1600200" cy="457200"/>
          </a:xfrm>
          <a:prstGeom prst="rect">
            <a:avLst/>
          </a:prstGeom>
          <a:noFill/>
          <a:ln/>
        </p:spPr>
        <p:txBody>
          <a:bodyPr wrap="square" rtlCol="0" anchor="ctr"/>
          <a:lstStyle/>
          <a:p>
            <a:pPr marL="0" indent="0" algn="l">
              <a:buNone/>
            </a:pPr>
            <a:r>
              <a:rPr lang="en-US" sz="1100" b="1" dirty="0">
                <a:solidFill>
                  <a:srgbClr val="23262B"/>
                </a:solidFill>
                <a:latin typeface="Calibri"/>
                <a:ea typeface="Calibri"/>
                <a:cs typeface="Calibri"/>
              </a:rPr>
              <a:t>Range Analysis</a:t>
            </a:r>
          </a:p>
        </p:txBody>
      </p:sp>
      <p:sp>
        <p:nvSpPr>
          <p:cNvPr id="55" name="Shape 55"/>
          <p:cNvSpPr/>
          <p:nvPr/>
        </p:nvSpPr>
        <p:spPr>
          <a:xfrm>
            <a:off x="2057400" y="5047488"/>
            <a:ext cx="1417320" cy="457200"/>
          </a:xfrm>
          <a:prstGeom prst="rect">
            <a:avLst/>
          </a:prstGeom>
          <a:solidFill>
            <a:srgbClr val="D8E6EA"/>
          </a:solidFill>
          <a:ln w="6350">
            <a:solidFill>
              <a:srgbClr val="D6DCE2"/>
            </a:solidFill>
            <a:prstDash val="solid"/>
          </a:ln>
        </p:spPr>
        <p:txBody>
          <a:bodyPr/>
          <a:lstStyle/>
          <a:p>
            <a:endParaRPr/>
          </a:p>
        </p:txBody>
      </p:sp>
      <p:sp>
        <p:nvSpPr>
          <p:cNvPr id="56" name="Text 56"/>
          <p:cNvSpPr txBox="1"/>
          <p:nvPr/>
        </p:nvSpPr>
        <p:spPr>
          <a:xfrm>
            <a:off x="2057400" y="5047488"/>
            <a:ext cx="1417320" cy="457200"/>
          </a:xfrm>
          <a:prstGeom prst="rect">
            <a:avLst/>
          </a:prstGeom>
          <a:noFill/>
          <a:ln/>
        </p:spPr>
        <p:txBody>
          <a:bodyPr wrap="square" rtlCol="0" anchor="ctr"/>
          <a:lstStyle/>
          <a:p>
            <a:pPr marL="0" indent="0" algn="l">
              <a:buNone/>
            </a:pPr>
            <a:r>
              <a:rPr lang="en-US" sz="1000" b="1" dirty="0">
                <a:solidFill>
                  <a:srgbClr val="2E6E7E"/>
                </a:solidFill>
                <a:latin typeface="Calibri"/>
                <a:ea typeface="Calibri"/>
                <a:cs typeface="Calibri"/>
              </a:rPr>
              <a:t>✓ Implemented</a:t>
            </a:r>
          </a:p>
        </p:txBody>
      </p:sp>
      <p:sp>
        <p:nvSpPr>
          <p:cNvPr id="57" name="Shape 57"/>
          <p:cNvSpPr/>
          <p:nvPr/>
        </p:nvSpPr>
        <p:spPr>
          <a:xfrm>
            <a:off x="3474720" y="5047488"/>
            <a:ext cx="2377440" cy="457200"/>
          </a:xfrm>
          <a:prstGeom prst="rect">
            <a:avLst/>
          </a:prstGeom>
          <a:solidFill>
            <a:srgbClr val="F4F6F8"/>
          </a:solidFill>
          <a:ln w="6350">
            <a:solidFill>
              <a:srgbClr val="D6DCE2"/>
            </a:solidFill>
            <a:prstDash val="solid"/>
          </a:ln>
        </p:spPr>
        <p:txBody>
          <a:bodyPr/>
          <a:lstStyle/>
          <a:p>
            <a:endParaRPr/>
          </a:p>
        </p:txBody>
      </p:sp>
      <p:sp>
        <p:nvSpPr>
          <p:cNvPr id="58" name="Text 58"/>
          <p:cNvSpPr txBox="1"/>
          <p:nvPr/>
        </p:nvSpPr>
        <p:spPr>
          <a:xfrm>
            <a:off x="3474720" y="5047488"/>
            <a:ext cx="2377440" cy="457200"/>
          </a:xfrm>
          <a:prstGeom prst="rect">
            <a:avLst/>
          </a:prstGeom>
          <a:noFill/>
          <a:ln/>
        </p:spPr>
        <p:txBody>
          <a:bodyPr wrap="square" rtlCol="0" anchor="ctr"/>
          <a:lstStyle/>
          <a:p>
            <a:pPr marL="0" indent="0" algn="l">
              <a:buNone/>
            </a:pPr>
            <a:r>
              <a:rPr lang="en-US" sz="950" dirty="0">
                <a:solidFill>
                  <a:srgbClr val="6B7480"/>
                </a:solidFill>
                <a:latin typeface="Calibri"/>
                <a:ea typeface="Calibri"/>
                <a:cs typeface="Calibri"/>
              </a:rPr>
              <a:t>src/analysis/, interval propagation tests</a:t>
            </a:r>
          </a:p>
        </p:txBody>
      </p:sp>
      <p:sp>
        <p:nvSpPr>
          <p:cNvPr id="59" name="Shape 59"/>
          <p:cNvSpPr/>
          <p:nvPr/>
        </p:nvSpPr>
        <p:spPr>
          <a:xfrm>
            <a:off x="6245352" y="1463040"/>
            <a:ext cx="1600200" cy="384048"/>
          </a:xfrm>
          <a:prstGeom prst="rect">
            <a:avLst/>
          </a:prstGeom>
          <a:solidFill>
            <a:srgbClr val="1F2A3C"/>
          </a:solidFill>
          <a:ln w="6350">
            <a:solidFill>
              <a:srgbClr val="D6DCE2"/>
            </a:solidFill>
            <a:prstDash val="solid"/>
          </a:ln>
        </p:spPr>
        <p:txBody>
          <a:bodyPr/>
          <a:lstStyle/>
          <a:p>
            <a:endParaRPr/>
          </a:p>
        </p:txBody>
      </p:sp>
      <p:sp>
        <p:nvSpPr>
          <p:cNvPr id="60" name="Text 60"/>
          <p:cNvSpPr txBox="1"/>
          <p:nvPr/>
        </p:nvSpPr>
        <p:spPr>
          <a:xfrm>
            <a:off x="6245352" y="1463040"/>
            <a:ext cx="1600200" cy="384048"/>
          </a:xfrm>
          <a:prstGeom prst="rect">
            <a:avLst/>
          </a:prstGeom>
          <a:noFill/>
          <a:ln/>
        </p:spPr>
        <p:txBody>
          <a:bodyPr wrap="square" rtlCol="0" anchor="ctr"/>
          <a:lstStyle/>
          <a:p>
            <a:pPr marL="0" indent="0" algn="l">
              <a:buNone/>
            </a:pPr>
            <a:r>
              <a:rPr lang="en-US" sz="1150" b="1" dirty="0">
                <a:solidFill>
                  <a:srgbClr val="FFFFFF"/>
                </a:solidFill>
                <a:latin typeface="Calibri"/>
                <a:ea typeface="Calibri"/>
                <a:cs typeface="Calibri"/>
              </a:rPr>
              <a:t>Component</a:t>
            </a:r>
          </a:p>
        </p:txBody>
      </p:sp>
      <p:sp>
        <p:nvSpPr>
          <p:cNvPr id="61" name="Shape 61"/>
          <p:cNvSpPr/>
          <p:nvPr/>
        </p:nvSpPr>
        <p:spPr>
          <a:xfrm>
            <a:off x="7845552" y="1463040"/>
            <a:ext cx="1417320" cy="384048"/>
          </a:xfrm>
          <a:prstGeom prst="rect">
            <a:avLst/>
          </a:prstGeom>
          <a:solidFill>
            <a:srgbClr val="1F2A3C"/>
          </a:solidFill>
          <a:ln w="6350">
            <a:solidFill>
              <a:srgbClr val="D6DCE2"/>
            </a:solidFill>
            <a:prstDash val="solid"/>
          </a:ln>
        </p:spPr>
        <p:txBody>
          <a:bodyPr/>
          <a:lstStyle/>
          <a:p>
            <a:endParaRPr/>
          </a:p>
        </p:txBody>
      </p:sp>
      <p:sp>
        <p:nvSpPr>
          <p:cNvPr id="62" name="Text 62"/>
          <p:cNvSpPr txBox="1"/>
          <p:nvPr/>
        </p:nvSpPr>
        <p:spPr>
          <a:xfrm>
            <a:off x="7845552" y="1463040"/>
            <a:ext cx="1417320" cy="384048"/>
          </a:xfrm>
          <a:prstGeom prst="rect">
            <a:avLst/>
          </a:prstGeom>
          <a:noFill/>
          <a:ln/>
        </p:spPr>
        <p:txBody>
          <a:bodyPr wrap="square" rtlCol="0" anchor="ctr"/>
          <a:lstStyle/>
          <a:p>
            <a:pPr marL="0" indent="0" algn="l">
              <a:buNone/>
            </a:pPr>
            <a:r>
              <a:rPr lang="en-US" sz="1150" b="1" dirty="0">
                <a:solidFill>
                  <a:srgbClr val="FFFFFF"/>
                </a:solidFill>
                <a:latin typeface="Calibri"/>
                <a:ea typeface="Calibri"/>
                <a:cs typeface="Calibri"/>
              </a:rPr>
              <a:t>Status</a:t>
            </a:r>
          </a:p>
        </p:txBody>
      </p:sp>
      <p:sp>
        <p:nvSpPr>
          <p:cNvPr id="63" name="Shape 63"/>
          <p:cNvSpPr/>
          <p:nvPr/>
        </p:nvSpPr>
        <p:spPr>
          <a:xfrm>
            <a:off x="9262872" y="1463040"/>
            <a:ext cx="2377440" cy="384048"/>
          </a:xfrm>
          <a:prstGeom prst="rect">
            <a:avLst/>
          </a:prstGeom>
          <a:solidFill>
            <a:srgbClr val="1F2A3C"/>
          </a:solidFill>
          <a:ln w="6350">
            <a:solidFill>
              <a:srgbClr val="D6DCE2"/>
            </a:solidFill>
            <a:prstDash val="solid"/>
          </a:ln>
        </p:spPr>
        <p:txBody>
          <a:bodyPr/>
          <a:lstStyle/>
          <a:p>
            <a:endParaRPr/>
          </a:p>
        </p:txBody>
      </p:sp>
      <p:sp>
        <p:nvSpPr>
          <p:cNvPr id="64" name="Text 64"/>
          <p:cNvSpPr txBox="1"/>
          <p:nvPr/>
        </p:nvSpPr>
        <p:spPr>
          <a:xfrm>
            <a:off x="9262872" y="1463040"/>
            <a:ext cx="2377440" cy="384048"/>
          </a:xfrm>
          <a:prstGeom prst="rect">
            <a:avLst/>
          </a:prstGeom>
          <a:noFill/>
          <a:ln/>
        </p:spPr>
        <p:txBody>
          <a:bodyPr wrap="square" rtlCol="0" anchor="ctr"/>
          <a:lstStyle/>
          <a:p>
            <a:pPr marL="0" indent="0" algn="l">
              <a:buNone/>
            </a:pPr>
            <a:r>
              <a:rPr lang="en-US" sz="1150" b="1" dirty="0">
                <a:solidFill>
                  <a:srgbClr val="FFFFFF"/>
                </a:solidFill>
                <a:latin typeface="Calibri"/>
                <a:ea typeface="Calibri"/>
                <a:cs typeface="Calibri"/>
              </a:rPr>
              <a:t>Evidence</a:t>
            </a:r>
          </a:p>
        </p:txBody>
      </p:sp>
      <p:sp>
        <p:nvSpPr>
          <p:cNvPr id="65" name="Shape 65"/>
          <p:cNvSpPr/>
          <p:nvPr/>
        </p:nvSpPr>
        <p:spPr>
          <a:xfrm>
            <a:off x="6245352" y="1847088"/>
            <a:ext cx="1600200" cy="457200"/>
          </a:xfrm>
          <a:prstGeom prst="rect">
            <a:avLst/>
          </a:prstGeom>
          <a:solidFill>
            <a:srgbClr val="FFFFFF"/>
          </a:solidFill>
          <a:ln w="6350">
            <a:solidFill>
              <a:srgbClr val="D6DCE2"/>
            </a:solidFill>
            <a:prstDash val="solid"/>
          </a:ln>
        </p:spPr>
        <p:txBody>
          <a:bodyPr/>
          <a:lstStyle/>
          <a:p>
            <a:endParaRPr/>
          </a:p>
        </p:txBody>
      </p:sp>
      <p:sp>
        <p:nvSpPr>
          <p:cNvPr id="66" name="Text 66"/>
          <p:cNvSpPr txBox="1"/>
          <p:nvPr/>
        </p:nvSpPr>
        <p:spPr>
          <a:xfrm>
            <a:off x="6245352" y="1847088"/>
            <a:ext cx="1600200" cy="457200"/>
          </a:xfrm>
          <a:prstGeom prst="rect">
            <a:avLst/>
          </a:prstGeom>
          <a:noFill/>
          <a:ln/>
        </p:spPr>
        <p:txBody>
          <a:bodyPr wrap="square" rtlCol="0" anchor="ctr"/>
          <a:lstStyle/>
          <a:p>
            <a:pPr marL="0" indent="0" algn="l">
              <a:buNone/>
            </a:pPr>
            <a:r>
              <a:rPr lang="en-US" sz="1100" b="1" dirty="0">
                <a:solidFill>
                  <a:srgbClr val="23262B"/>
                </a:solidFill>
                <a:latin typeface="Calibri"/>
                <a:ea typeface="Calibri"/>
                <a:cs typeface="Calibri"/>
              </a:rPr>
              <a:t>Integrality Analysis</a:t>
            </a:r>
          </a:p>
        </p:txBody>
      </p:sp>
      <p:sp>
        <p:nvSpPr>
          <p:cNvPr id="67" name="Shape 67"/>
          <p:cNvSpPr/>
          <p:nvPr/>
        </p:nvSpPr>
        <p:spPr>
          <a:xfrm>
            <a:off x="7845552" y="1847088"/>
            <a:ext cx="1417320" cy="457200"/>
          </a:xfrm>
          <a:prstGeom prst="rect">
            <a:avLst/>
          </a:prstGeom>
          <a:solidFill>
            <a:srgbClr val="D8E6EA"/>
          </a:solidFill>
          <a:ln w="6350">
            <a:solidFill>
              <a:srgbClr val="D6DCE2"/>
            </a:solidFill>
            <a:prstDash val="solid"/>
          </a:ln>
        </p:spPr>
        <p:txBody>
          <a:bodyPr/>
          <a:lstStyle/>
          <a:p>
            <a:endParaRPr/>
          </a:p>
        </p:txBody>
      </p:sp>
      <p:sp>
        <p:nvSpPr>
          <p:cNvPr id="68" name="Text 68"/>
          <p:cNvSpPr txBox="1"/>
          <p:nvPr/>
        </p:nvSpPr>
        <p:spPr>
          <a:xfrm>
            <a:off x="7845552" y="1847088"/>
            <a:ext cx="1417320" cy="457200"/>
          </a:xfrm>
          <a:prstGeom prst="rect">
            <a:avLst/>
          </a:prstGeom>
          <a:noFill/>
          <a:ln/>
        </p:spPr>
        <p:txBody>
          <a:bodyPr wrap="square" rtlCol="0" anchor="ctr"/>
          <a:lstStyle/>
          <a:p>
            <a:pPr marL="0" indent="0" algn="l">
              <a:buNone/>
            </a:pPr>
            <a:r>
              <a:rPr lang="en-US" sz="1000" b="1" dirty="0">
                <a:solidFill>
                  <a:srgbClr val="2E6E7E"/>
                </a:solidFill>
                <a:latin typeface="Calibri"/>
                <a:ea typeface="Calibri"/>
                <a:cs typeface="Calibri"/>
              </a:rPr>
              <a:t>✓ Implemented</a:t>
            </a:r>
          </a:p>
        </p:txBody>
      </p:sp>
      <p:sp>
        <p:nvSpPr>
          <p:cNvPr id="69" name="Shape 69"/>
          <p:cNvSpPr/>
          <p:nvPr/>
        </p:nvSpPr>
        <p:spPr>
          <a:xfrm>
            <a:off x="9262872" y="1847088"/>
            <a:ext cx="2377440" cy="457200"/>
          </a:xfrm>
          <a:prstGeom prst="rect">
            <a:avLst/>
          </a:prstGeom>
          <a:solidFill>
            <a:srgbClr val="FFFFFF"/>
          </a:solidFill>
          <a:ln w="6350">
            <a:solidFill>
              <a:srgbClr val="D6DCE2"/>
            </a:solidFill>
            <a:prstDash val="solid"/>
          </a:ln>
        </p:spPr>
        <p:txBody>
          <a:bodyPr/>
          <a:lstStyle/>
          <a:p>
            <a:endParaRPr/>
          </a:p>
        </p:txBody>
      </p:sp>
      <p:sp>
        <p:nvSpPr>
          <p:cNvPr id="70" name="Text 70"/>
          <p:cNvSpPr txBox="1"/>
          <p:nvPr/>
        </p:nvSpPr>
        <p:spPr>
          <a:xfrm>
            <a:off x="9262872" y="1847088"/>
            <a:ext cx="2377440" cy="457200"/>
          </a:xfrm>
          <a:prstGeom prst="rect">
            <a:avLst/>
          </a:prstGeom>
          <a:noFill/>
          <a:ln/>
        </p:spPr>
        <p:txBody>
          <a:bodyPr wrap="square" rtlCol="0" anchor="ctr"/>
          <a:lstStyle/>
          <a:p>
            <a:pPr marL="0" indent="0" algn="l">
              <a:buNone/>
            </a:pPr>
            <a:r>
              <a:rPr lang="en-US" sz="950" dirty="0">
                <a:solidFill>
                  <a:srgbClr val="6B7480"/>
                </a:solidFill>
                <a:latin typeface="Calibri"/>
                <a:ea typeface="Calibri"/>
                <a:cs typeface="Calibri"/>
              </a:rPr>
              <a:t>Analysis tests and non-integral example</a:t>
            </a:r>
          </a:p>
        </p:txBody>
      </p:sp>
      <p:sp>
        <p:nvSpPr>
          <p:cNvPr id="71" name="Shape 71"/>
          <p:cNvSpPr/>
          <p:nvPr/>
        </p:nvSpPr>
        <p:spPr>
          <a:xfrm>
            <a:off x="6245352" y="2304288"/>
            <a:ext cx="1600200" cy="457200"/>
          </a:xfrm>
          <a:prstGeom prst="rect">
            <a:avLst/>
          </a:prstGeom>
          <a:solidFill>
            <a:srgbClr val="F4F6F8"/>
          </a:solidFill>
          <a:ln w="6350">
            <a:solidFill>
              <a:srgbClr val="D6DCE2"/>
            </a:solidFill>
            <a:prstDash val="solid"/>
          </a:ln>
        </p:spPr>
        <p:txBody>
          <a:bodyPr/>
          <a:lstStyle/>
          <a:p>
            <a:endParaRPr/>
          </a:p>
        </p:txBody>
      </p:sp>
      <p:sp>
        <p:nvSpPr>
          <p:cNvPr id="72" name="Text 72"/>
          <p:cNvSpPr txBox="1"/>
          <p:nvPr/>
        </p:nvSpPr>
        <p:spPr>
          <a:xfrm>
            <a:off x="6245352" y="2304288"/>
            <a:ext cx="1600200" cy="457200"/>
          </a:xfrm>
          <a:prstGeom prst="rect">
            <a:avLst/>
          </a:prstGeom>
          <a:noFill/>
          <a:ln/>
        </p:spPr>
        <p:txBody>
          <a:bodyPr wrap="square" rtlCol="0" anchor="ctr"/>
          <a:lstStyle/>
          <a:p>
            <a:pPr marL="0" indent="0" algn="l">
              <a:buNone/>
            </a:pPr>
            <a:r>
              <a:rPr lang="en-US" sz="1100" b="1" dirty="0">
                <a:solidFill>
                  <a:srgbClr val="23262B"/>
                </a:solidFill>
                <a:latin typeface="Calibri"/>
                <a:ea typeface="Calibri"/>
                <a:cs typeface="Calibri"/>
              </a:rPr>
              <a:t>Loop Widening</a:t>
            </a:r>
          </a:p>
        </p:txBody>
      </p:sp>
      <p:sp>
        <p:nvSpPr>
          <p:cNvPr id="73" name="Shape 73"/>
          <p:cNvSpPr/>
          <p:nvPr/>
        </p:nvSpPr>
        <p:spPr>
          <a:xfrm>
            <a:off x="7845552" y="2304288"/>
            <a:ext cx="1417320" cy="457200"/>
          </a:xfrm>
          <a:prstGeom prst="rect">
            <a:avLst/>
          </a:prstGeom>
          <a:solidFill>
            <a:srgbClr val="E4EEF0"/>
          </a:solidFill>
          <a:ln w="6350">
            <a:solidFill>
              <a:srgbClr val="D6DCE2"/>
            </a:solidFill>
            <a:prstDash val="solid"/>
          </a:ln>
        </p:spPr>
        <p:txBody>
          <a:bodyPr/>
          <a:lstStyle/>
          <a:p>
            <a:endParaRPr/>
          </a:p>
        </p:txBody>
      </p:sp>
      <p:sp>
        <p:nvSpPr>
          <p:cNvPr id="74" name="Text 74"/>
          <p:cNvSpPr txBox="1"/>
          <p:nvPr/>
        </p:nvSpPr>
        <p:spPr>
          <a:xfrm>
            <a:off x="7845552" y="2304288"/>
            <a:ext cx="1417320" cy="457200"/>
          </a:xfrm>
          <a:prstGeom prst="rect">
            <a:avLst/>
          </a:prstGeom>
          <a:noFill/>
          <a:ln/>
        </p:spPr>
        <p:txBody>
          <a:bodyPr wrap="square" rtlCol="0" anchor="ctr"/>
          <a:lstStyle/>
          <a:p>
            <a:pPr marL="0" indent="0" algn="l">
              <a:buNone/>
            </a:pPr>
            <a:r>
              <a:rPr lang="en-US" sz="1000" b="1" i="1" dirty="0">
                <a:solidFill>
                  <a:srgbClr val="2E6E7E"/>
                </a:solidFill>
                <a:latin typeface="Calibri"/>
                <a:ea typeface="Calibri"/>
                <a:cs typeface="Calibri"/>
              </a:rPr>
              <a:t>✓ Implemented — Conservative</a:t>
            </a:r>
          </a:p>
        </p:txBody>
      </p:sp>
      <p:sp>
        <p:nvSpPr>
          <p:cNvPr id="75" name="Shape 75"/>
          <p:cNvSpPr/>
          <p:nvPr/>
        </p:nvSpPr>
        <p:spPr>
          <a:xfrm>
            <a:off x="9262872" y="2304288"/>
            <a:ext cx="2377440" cy="457200"/>
          </a:xfrm>
          <a:prstGeom prst="rect">
            <a:avLst/>
          </a:prstGeom>
          <a:solidFill>
            <a:srgbClr val="F4F6F8"/>
          </a:solidFill>
          <a:ln w="6350">
            <a:solidFill>
              <a:srgbClr val="D6DCE2"/>
            </a:solidFill>
            <a:prstDash val="solid"/>
          </a:ln>
        </p:spPr>
        <p:txBody>
          <a:bodyPr/>
          <a:lstStyle/>
          <a:p>
            <a:endParaRPr/>
          </a:p>
        </p:txBody>
      </p:sp>
      <p:sp>
        <p:nvSpPr>
          <p:cNvPr id="76" name="Text 76"/>
          <p:cNvSpPr txBox="1"/>
          <p:nvPr/>
        </p:nvSpPr>
        <p:spPr>
          <a:xfrm>
            <a:off x="9262872" y="2304288"/>
            <a:ext cx="2377440" cy="457200"/>
          </a:xfrm>
          <a:prstGeom prst="rect">
            <a:avLst/>
          </a:prstGeom>
          <a:noFill/>
          <a:ln/>
        </p:spPr>
        <p:txBody>
          <a:bodyPr wrap="square" rtlCol="0" anchor="ctr"/>
          <a:lstStyle/>
          <a:p>
            <a:pPr marL="0" indent="0" algn="l">
              <a:buNone/>
            </a:pPr>
            <a:r>
              <a:rPr lang="en-US" sz="950" dirty="0">
                <a:solidFill>
                  <a:srgbClr val="6B7480"/>
                </a:solidFill>
                <a:latin typeface="Calibri"/>
                <a:ea typeface="Calibri"/>
                <a:cs typeface="Calibri"/>
              </a:rPr>
              <a:t>Loop analysis test and while-loop example</a:t>
            </a:r>
          </a:p>
        </p:txBody>
      </p:sp>
      <p:sp>
        <p:nvSpPr>
          <p:cNvPr id="77" name="Shape 77"/>
          <p:cNvSpPr/>
          <p:nvPr/>
        </p:nvSpPr>
        <p:spPr>
          <a:xfrm>
            <a:off x="6245352" y="2761488"/>
            <a:ext cx="1600200" cy="457200"/>
          </a:xfrm>
          <a:prstGeom prst="rect">
            <a:avLst/>
          </a:prstGeom>
          <a:solidFill>
            <a:srgbClr val="FFFFFF"/>
          </a:solidFill>
          <a:ln w="6350">
            <a:solidFill>
              <a:srgbClr val="D6DCE2"/>
            </a:solidFill>
            <a:prstDash val="solid"/>
          </a:ln>
        </p:spPr>
        <p:txBody>
          <a:bodyPr/>
          <a:lstStyle/>
          <a:p>
            <a:endParaRPr/>
          </a:p>
        </p:txBody>
      </p:sp>
      <p:sp>
        <p:nvSpPr>
          <p:cNvPr id="78" name="Text 78"/>
          <p:cNvSpPr txBox="1"/>
          <p:nvPr/>
        </p:nvSpPr>
        <p:spPr>
          <a:xfrm>
            <a:off x="6245352" y="2761488"/>
            <a:ext cx="1600200" cy="457200"/>
          </a:xfrm>
          <a:prstGeom prst="rect">
            <a:avLst/>
          </a:prstGeom>
          <a:noFill/>
          <a:ln/>
        </p:spPr>
        <p:txBody>
          <a:bodyPr wrap="square" rtlCol="0" anchor="ctr"/>
          <a:lstStyle/>
          <a:p>
            <a:pPr marL="0" indent="0" algn="l">
              <a:buNone/>
            </a:pPr>
            <a:r>
              <a:rPr lang="en-US" sz="1100" b="1" dirty="0">
                <a:solidFill>
                  <a:srgbClr val="23262B"/>
                </a:solidFill>
                <a:latin typeface="Calibri"/>
                <a:ea typeface="Calibri"/>
                <a:cs typeface="Calibri"/>
              </a:rPr>
              <a:t>INT8 Safety Analysis</a:t>
            </a:r>
          </a:p>
        </p:txBody>
      </p:sp>
      <p:sp>
        <p:nvSpPr>
          <p:cNvPr id="79" name="Shape 79"/>
          <p:cNvSpPr/>
          <p:nvPr/>
        </p:nvSpPr>
        <p:spPr>
          <a:xfrm>
            <a:off x="7845552" y="2761488"/>
            <a:ext cx="1417320" cy="457200"/>
          </a:xfrm>
          <a:prstGeom prst="rect">
            <a:avLst/>
          </a:prstGeom>
          <a:solidFill>
            <a:srgbClr val="D8E6EA"/>
          </a:solidFill>
          <a:ln w="6350">
            <a:solidFill>
              <a:srgbClr val="D6DCE2"/>
            </a:solidFill>
            <a:prstDash val="solid"/>
          </a:ln>
        </p:spPr>
        <p:txBody>
          <a:bodyPr/>
          <a:lstStyle/>
          <a:p>
            <a:endParaRPr/>
          </a:p>
        </p:txBody>
      </p:sp>
      <p:sp>
        <p:nvSpPr>
          <p:cNvPr id="80" name="Text 80"/>
          <p:cNvSpPr txBox="1"/>
          <p:nvPr/>
        </p:nvSpPr>
        <p:spPr>
          <a:xfrm>
            <a:off x="7845552" y="2761488"/>
            <a:ext cx="1417320" cy="457200"/>
          </a:xfrm>
          <a:prstGeom prst="rect">
            <a:avLst/>
          </a:prstGeom>
          <a:noFill/>
          <a:ln/>
        </p:spPr>
        <p:txBody>
          <a:bodyPr wrap="square" rtlCol="0" anchor="ctr"/>
          <a:lstStyle/>
          <a:p>
            <a:pPr marL="0" indent="0" algn="l">
              <a:buNone/>
            </a:pPr>
            <a:r>
              <a:rPr lang="en-US" sz="1000" b="1" dirty="0">
                <a:solidFill>
                  <a:srgbClr val="2E6E7E"/>
                </a:solidFill>
                <a:latin typeface="Calibri"/>
                <a:ea typeface="Calibri"/>
                <a:cs typeface="Calibri"/>
              </a:rPr>
              <a:t>✓ Implemented</a:t>
            </a:r>
          </a:p>
        </p:txBody>
      </p:sp>
      <p:sp>
        <p:nvSpPr>
          <p:cNvPr id="81" name="Shape 81"/>
          <p:cNvSpPr/>
          <p:nvPr/>
        </p:nvSpPr>
        <p:spPr>
          <a:xfrm>
            <a:off x="9262872" y="2761488"/>
            <a:ext cx="2377440" cy="457200"/>
          </a:xfrm>
          <a:prstGeom prst="rect">
            <a:avLst/>
          </a:prstGeom>
          <a:solidFill>
            <a:srgbClr val="FFFFFF"/>
          </a:solidFill>
          <a:ln w="6350">
            <a:solidFill>
              <a:srgbClr val="D6DCE2"/>
            </a:solidFill>
            <a:prstDash val="solid"/>
          </a:ln>
        </p:spPr>
        <p:txBody>
          <a:bodyPr/>
          <a:lstStyle/>
          <a:p>
            <a:endParaRPr/>
          </a:p>
        </p:txBody>
      </p:sp>
      <p:sp>
        <p:nvSpPr>
          <p:cNvPr id="82" name="Text 82"/>
          <p:cNvSpPr txBox="1"/>
          <p:nvPr/>
        </p:nvSpPr>
        <p:spPr>
          <a:xfrm>
            <a:off x="9262872" y="2761488"/>
            <a:ext cx="2377440" cy="457200"/>
          </a:xfrm>
          <a:prstGeom prst="rect">
            <a:avLst/>
          </a:prstGeom>
          <a:noFill/>
          <a:ln/>
        </p:spPr>
        <p:txBody>
          <a:bodyPr wrap="square" rtlCol="0" anchor="ctr"/>
          <a:lstStyle/>
          <a:p>
            <a:pPr marL="0" indent="0" algn="l">
              <a:buNone/>
            </a:pPr>
            <a:r>
              <a:rPr lang="en-US" sz="950" dirty="0">
                <a:solidFill>
                  <a:srgbClr val="6B7480"/>
                </a:solidFill>
                <a:latin typeface="Calibri"/>
                <a:ea typeface="Calibri"/>
                <a:cs typeface="Calibri"/>
              </a:rPr>
              <a:t>Quantization tests and rejection examples</a:t>
            </a:r>
          </a:p>
        </p:txBody>
      </p:sp>
      <p:sp>
        <p:nvSpPr>
          <p:cNvPr id="83" name="Shape 83"/>
          <p:cNvSpPr/>
          <p:nvPr/>
        </p:nvSpPr>
        <p:spPr>
          <a:xfrm>
            <a:off x="6245352" y="3218688"/>
            <a:ext cx="1600200" cy="457200"/>
          </a:xfrm>
          <a:prstGeom prst="rect">
            <a:avLst/>
          </a:prstGeom>
          <a:solidFill>
            <a:srgbClr val="F4F6F8"/>
          </a:solidFill>
          <a:ln w="6350">
            <a:solidFill>
              <a:srgbClr val="D6DCE2"/>
            </a:solidFill>
            <a:prstDash val="solid"/>
          </a:ln>
        </p:spPr>
        <p:txBody>
          <a:bodyPr/>
          <a:lstStyle/>
          <a:p>
            <a:endParaRPr/>
          </a:p>
        </p:txBody>
      </p:sp>
      <p:sp>
        <p:nvSpPr>
          <p:cNvPr id="84" name="Text 84"/>
          <p:cNvSpPr txBox="1"/>
          <p:nvPr/>
        </p:nvSpPr>
        <p:spPr>
          <a:xfrm>
            <a:off x="6245352" y="3218688"/>
            <a:ext cx="1600200" cy="457200"/>
          </a:xfrm>
          <a:prstGeom prst="rect">
            <a:avLst/>
          </a:prstGeom>
          <a:noFill/>
          <a:ln/>
        </p:spPr>
        <p:txBody>
          <a:bodyPr wrap="square" rtlCol="0" anchor="ctr"/>
          <a:lstStyle/>
          <a:p>
            <a:pPr marL="0" indent="0" algn="l">
              <a:buNone/>
            </a:pPr>
            <a:r>
              <a:rPr lang="en-US" sz="1100" b="1" dirty="0">
                <a:solidFill>
                  <a:srgbClr val="23262B"/>
                </a:solidFill>
                <a:latin typeface="Calibri"/>
                <a:ea typeface="Calibri"/>
                <a:cs typeface="Calibri"/>
              </a:rPr>
              <a:t>Quantization Transformation</a:t>
            </a:r>
          </a:p>
        </p:txBody>
      </p:sp>
      <p:sp>
        <p:nvSpPr>
          <p:cNvPr id="85" name="Shape 85"/>
          <p:cNvSpPr/>
          <p:nvPr/>
        </p:nvSpPr>
        <p:spPr>
          <a:xfrm>
            <a:off x="7845552" y="3218688"/>
            <a:ext cx="1417320" cy="457200"/>
          </a:xfrm>
          <a:prstGeom prst="rect">
            <a:avLst/>
          </a:prstGeom>
          <a:solidFill>
            <a:srgbClr val="D8E6EA"/>
          </a:solidFill>
          <a:ln w="6350">
            <a:solidFill>
              <a:srgbClr val="D6DCE2"/>
            </a:solidFill>
            <a:prstDash val="solid"/>
          </a:ln>
        </p:spPr>
        <p:txBody>
          <a:bodyPr/>
          <a:lstStyle/>
          <a:p>
            <a:endParaRPr/>
          </a:p>
        </p:txBody>
      </p:sp>
      <p:sp>
        <p:nvSpPr>
          <p:cNvPr id="86" name="Text 86"/>
          <p:cNvSpPr txBox="1"/>
          <p:nvPr/>
        </p:nvSpPr>
        <p:spPr>
          <a:xfrm>
            <a:off x="7845552" y="3218688"/>
            <a:ext cx="1417320" cy="457200"/>
          </a:xfrm>
          <a:prstGeom prst="rect">
            <a:avLst/>
          </a:prstGeom>
          <a:noFill/>
          <a:ln/>
        </p:spPr>
        <p:txBody>
          <a:bodyPr wrap="square" rtlCol="0" anchor="ctr"/>
          <a:lstStyle/>
          <a:p>
            <a:pPr marL="0" indent="0" algn="l">
              <a:buNone/>
            </a:pPr>
            <a:r>
              <a:rPr lang="en-US" sz="1000" b="1" dirty="0">
                <a:solidFill>
                  <a:srgbClr val="2E6E7E"/>
                </a:solidFill>
                <a:latin typeface="Calibri"/>
                <a:ea typeface="Calibri"/>
                <a:cs typeface="Calibri"/>
              </a:rPr>
              <a:t>✓ Implemented</a:t>
            </a:r>
          </a:p>
        </p:txBody>
      </p:sp>
      <p:sp>
        <p:nvSpPr>
          <p:cNvPr id="87" name="Shape 87"/>
          <p:cNvSpPr/>
          <p:nvPr/>
        </p:nvSpPr>
        <p:spPr>
          <a:xfrm>
            <a:off x="9262872" y="3218688"/>
            <a:ext cx="2377440" cy="457200"/>
          </a:xfrm>
          <a:prstGeom prst="rect">
            <a:avLst/>
          </a:prstGeom>
          <a:solidFill>
            <a:srgbClr val="F4F6F8"/>
          </a:solidFill>
          <a:ln w="6350">
            <a:solidFill>
              <a:srgbClr val="D6DCE2"/>
            </a:solidFill>
            <a:prstDash val="solid"/>
          </a:ln>
        </p:spPr>
        <p:txBody>
          <a:bodyPr/>
          <a:lstStyle/>
          <a:p>
            <a:endParaRPr/>
          </a:p>
        </p:txBody>
      </p:sp>
      <p:sp>
        <p:nvSpPr>
          <p:cNvPr id="88" name="Text 88"/>
          <p:cNvSpPr txBox="1"/>
          <p:nvPr/>
        </p:nvSpPr>
        <p:spPr>
          <a:xfrm>
            <a:off x="9262872" y="3218688"/>
            <a:ext cx="2377440" cy="457200"/>
          </a:xfrm>
          <a:prstGeom prst="rect">
            <a:avLst/>
          </a:prstGeom>
          <a:noFill/>
          <a:ln/>
        </p:spPr>
        <p:txBody>
          <a:bodyPr wrap="square" rtlCol="0" anchor="ctr"/>
          <a:lstStyle/>
          <a:p>
            <a:pPr marL="0" indent="0" algn="l">
              <a:buNone/>
            </a:pPr>
            <a:r>
              <a:rPr lang="en-US" sz="950" dirty="0">
                <a:solidFill>
                  <a:srgbClr val="6B7480"/>
                </a:solidFill>
                <a:latin typeface="Calibri"/>
                <a:ea typeface="Calibri"/>
                <a:cs typeface="Calibri"/>
              </a:rPr>
              <a:t>Quantization tests and safe arithmetic example</a:t>
            </a:r>
          </a:p>
        </p:txBody>
      </p:sp>
      <p:sp>
        <p:nvSpPr>
          <p:cNvPr id="89" name="Shape 89"/>
          <p:cNvSpPr/>
          <p:nvPr/>
        </p:nvSpPr>
        <p:spPr>
          <a:xfrm>
            <a:off x="6245352" y="3675888"/>
            <a:ext cx="1600200" cy="457200"/>
          </a:xfrm>
          <a:prstGeom prst="rect">
            <a:avLst/>
          </a:prstGeom>
          <a:solidFill>
            <a:srgbClr val="FFFFFF"/>
          </a:solidFill>
          <a:ln w="6350">
            <a:solidFill>
              <a:srgbClr val="D6DCE2"/>
            </a:solidFill>
            <a:prstDash val="solid"/>
          </a:ln>
        </p:spPr>
        <p:txBody>
          <a:bodyPr/>
          <a:lstStyle/>
          <a:p>
            <a:endParaRPr/>
          </a:p>
        </p:txBody>
      </p:sp>
      <p:sp>
        <p:nvSpPr>
          <p:cNvPr id="90" name="Text 90"/>
          <p:cNvSpPr txBox="1"/>
          <p:nvPr/>
        </p:nvSpPr>
        <p:spPr>
          <a:xfrm>
            <a:off x="6245352" y="3675888"/>
            <a:ext cx="1600200" cy="457200"/>
          </a:xfrm>
          <a:prstGeom prst="rect">
            <a:avLst/>
          </a:prstGeom>
          <a:noFill/>
          <a:ln/>
        </p:spPr>
        <p:txBody>
          <a:bodyPr wrap="square" rtlCol="0" anchor="ctr"/>
          <a:lstStyle/>
          <a:p>
            <a:pPr marL="0" indent="0" algn="l">
              <a:buNone/>
            </a:pPr>
            <a:r>
              <a:rPr lang="en-US" sz="1100" b="1" dirty="0">
                <a:solidFill>
                  <a:srgbClr val="23262B"/>
                </a:solidFill>
                <a:latin typeface="Calibri"/>
                <a:ea typeface="Calibri"/>
                <a:cs typeface="Calibri"/>
              </a:rPr>
              <a:t>Backend / Simulator</a:t>
            </a:r>
          </a:p>
        </p:txBody>
      </p:sp>
      <p:sp>
        <p:nvSpPr>
          <p:cNvPr id="91" name="Shape 91"/>
          <p:cNvSpPr/>
          <p:nvPr/>
        </p:nvSpPr>
        <p:spPr>
          <a:xfrm>
            <a:off x="7845552" y="3675888"/>
            <a:ext cx="1417320" cy="457200"/>
          </a:xfrm>
          <a:prstGeom prst="rect">
            <a:avLst/>
          </a:prstGeom>
          <a:solidFill>
            <a:srgbClr val="D8E6EA"/>
          </a:solidFill>
          <a:ln w="6350">
            <a:solidFill>
              <a:srgbClr val="D6DCE2"/>
            </a:solidFill>
            <a:prstDash val="solid"/>
          </a:ln>
        </p:spPr>
        <p:txBody>
          <a:bodyPr/>
          <a:lstStyle/>
          <a:p>
            <a:endParaRPr/>
          </a:p>
        </p:txBody>
      </p:sp>
      <p:sp>
        <p:nvSpPr>
          <p:cNvPr id="92" name="Text 92"/>
          <p:cNvSpPr txBox="1"/>
          <p:nvPr/>
        </p:nvSpPr>
        <p:spPr>
          <a:xfrm>
            <a:off x="7845552" y="3675888"/>
            <a:ext cx="1417320" cy="457200"/>
          </a:xfrm>
          <a:prstGeom prst="rect">
            <a:avLst/>
          </a:prstGeom>
          <a:noFill/>
          <a:ln/>
        </p:spPr>
        <p:txBody>
          <a:bodyPr wrap="square" rtlCol="0" anchor="ctr"/>
          <a:lstStyle/>
          <a:p>
            <a:pPr marL="0" indent="0" algn="l">
              <a:buNone/>
            </a:pPr>
            <a:r>
              <a:rPr lang="en-US" sz="1000" b="1" dirty="0">
                <a:solidFill>
                  <a:srgbClr val="2E6E7E"/>
                </a:solidFill>
                <a:latin typeface="Calibri"/>
                <a:ea typeface="Calibri"/>
                <a:cs typeface="Calibri"/>
              </a:rPr>
              <a:t>✓ Implemented</a:t>
            </a:r>
          </a:p>
        </p:txBody>
      </p:sp>
      <p:sp>
        <p:nvSpPr>
          <p:cNvPr id="93" name="Shape 93"/>
          <p:cNvSpPr/>
          <p:nvPr/>
        </p:nvSpPr>
        <p:spPr>
          <a:xfrm>
            <a:off x="9262872" y="3675888"/>
            <a:ext cx="2377440" cy="457200"/>
          </a:xfrm>
          <a:prstGeom prst="rect">
            <a:avLst/>
          </a:prstGeom>
          <a:solidFill>
            <a:srgbClr val="FFFFFF"/>
          </a:solidFill>
          <a:ln w="6350">
            <a:solidFill>
              <a:srgbClr val="D6DCE2"/>
            </a:solidFill>
            <a:prstDash val="solid"/>
          </a:ln>
        </p:spPr>
        <p:txBody>
          <a:bodyPr/>
          <a:lstStyle/>
          <a:p>
            <a:endParaRPr/>
          </a:p>
        </p:txBody>
      </p:sp>
      <p:sp>
        <p:nvSpPr>
          <p:cNvPr id="94" name="Text 94"/>
          <p:cNvSpPr txBox="1"/>
          <p:nvPr/>
        </p:nvSpPr>
        <p:spPr>
          <a:xfrm>
            <a:off x="9262872" y="3675888"/>
            <a:ext cx="2377440" cy="457200"/>
          </a:xfrm>
          <a:prstGeom prst="rect">
            <a:avLst/>
          </a:prstGeom>
          <a:noFill/>
          <a:ln/>
        </p:spPr>
        <p:txBody>
          <a:bodyPr wrap="square" rtlCol="0" anchor="ctr"/>
          <a:lstStyle/>
          <a:p>
            <a:pPr marL="0" indent="0" algn="l">
              <a:buNone/>
            </a:pPr>
            <a:r>
              <a:rPr lang="en-US" sz="950" dirty="0">
                <a:solidFill>
                  <a:srgbClr val="6B7480"/>
                </a:solidFill>
                <a:latin typeface="Calibri"/>
                <a:ea typeface="Calibri"/>
                <a:cs typeface="Calibri"/>
              </a:rPr>
              <a:t>Simulator and integration tests</a:t>
            </a:r>
          </a:p>
        </p:txBody>
      </p:sp>
      <p:sp>
        <p:nvSpPr>
          <p:cNvPr id="95" name="Shape 95"/>
          <p:cNvSpPr/>
          <p:nvPr/>
        </p:nvSpPr>
        <p:spPr>
          <a:xfrm>
            <a:off x="6245352" y="4133088"/>
            <a:ext cx="1600200" cy="457200"/>
          </a:xfrm>
          <a:prstGeom prst="rect">
            <a:avLst/>
          </a:prstGeom>
          <a:solidFill>
            <a:srgbClr val="F4F6F8"/>
          </a:solidFill>
          <a:ln w="6350">
            <a:solidFill>
              <a:srgbClr val="D6DCE2"/>
            </a:solidFill>
            <a:prstDash val="solid"/>
          </a:ln>
        </p:spPr>
        <p:txBody>
          <a:bodyPr/>
          <a:lstStyle/>
          <a:p>
            <a:endParaRPr/>
          </a:p>
        </p:txBody>
      </p:sp>
      <p:sp>
        <p:nvSpPr>
          <p:cNvPr id="96" name="Text 96"/>
          <p:cNvSpPr txBox="1"/>
          <p:nvPr/>
        </p:nvSpPr>
        <p:spPr>
          <a:xfrm>
            <a:off x="6245352" y="4133088"/>
            <a:ext cx="1600200" cy="457200"/>
          </a:xfrm>
          <a:prstGeom prst="rect">
            <a:avLst/>
          </a:prstGeom>
          <a:noFill/>
          <a:ln/>
        </p:spPr>
        <p:txBody>
          <a:bodyPr wrap="square" rtlCol="0" anchor="ctr"/>
          <a:lstStyle/>
          <a:p>
            <a:pPr marL="0" indent="0" algn="l">
              <a:buNone/>
            </a:pPr>
            <a:r>
              <a:rPr lang="en-US" sz="1100" b="1" dirty="0">
                <a:solidFill>
                  <a:srgbClr val="23262B"/>
                </a:solidFill>
                <a:latin typeface="Calibri"/>
                <a:ea typeface="Calibri"/>
                <a:cs typeface="Calibri"/>
              </a:rPr>
              <a:t>Diagnostics</a:t>
            </a:r>
          </a:p>
        </p:txBody>
      </p:sp>
      <p:sp>
        <p:nvSpPr>
          <p:cNvPr id="97" name="Shape 97"/>
          <p:cNvSpPr/>
          <p:nvPr/>
        </p:nvSpPr>
        <p:spPr>
          <a:xfrm>
            <a:off x="7845552" y="4133088"/>
            <a:ext cx="1417320" cy="457200"/>
          </a:xfrm>
          <a:prstGeom prst="rect">
            <a:avLst/>
          </a:prstGeom>
          <a:solidFill>
            <a:srgbClr val="D8E6EA"/>
          </a:solidFill>
          <a:ln w="6350">
            <a:solidFill>
              <a:srgbClr val="D6DCE2"/>
            </a:solidFill>
            <a:prstDash val="solid"/>
          </a:ln>
        </p:spPr>
        <p:txBody>
          <a:bodyPr/>
          <a:lstStyle/>
          <a:p>
            <a:endParaRPr/>
          </a:p>
        </p:txBody>
      </p:sp>
      <p:sp>
        <p:nvSpPr>
          <p:cNvPr id="98" name="Text 98"/>
          <p:cNvSpPr txBox="1"/>
          <p:nvPr/>
        </p:nvSpPr>
        <p:spPr>
          <a:xfrm>
            <a:off x="7845552" y="4133088"/>
            <a:ext cx="1417320" cy="457200"/>
          </a:xfrm>
          <a:prstGeom prst="rect">
            <a:avLst/>
          </a:prstGeom>
          <a:noFill/>
          <a:ln/>
        </p:spPr>
        <p:txBody>
          <a:bodyPr wrap="square" rtlCol="0" anchor="ctr"/>
          <a:lstStyle/>
          <a:p>
            <a:pPr marL="0" indent="0" algn="l">
              <a:buNone/>
            </a:pPr>
            <a:r>
              <a:rPr lang="en-US" sz="1000" b="1" dirty="0">
                <a:solidFill>
                  <a:srgbClr val="2E6E7E"/>
                </a:solidFill>
                <a:latin typeface="Calibri"/>
                <a:ea typeface="Calibri"/>
                <a:cs typeface="Calibri"/>
              </a:rPr>
              <a:t>✓ Implemented</a:t>
            </a:r>
          </a:p>
        </p:txBody>
      </p:sp>
      <p:sp>
        <p:nvSpPr>
          <p:cNvPr id="99" name="Shape 99"/>
          <p:cNvSpPr/>
          <p:nvPr/>
        </p:nvSpPr>
        <p:spPr>
          <a:xfrm>
            <a:off x="9262872" y="4133088"/>
            <a:ext cx="2377440" cy="457200"/>
          </a:xfrm>
          <a:prstGeom prst="rect">
            <a:avLst/>
          </a:prstGeom>
          <a:solidFill>
            <a:srgbClr val="F4F6F8"/>
          </a:solidFill>
          <a:ln w="6350">
            <a:solidFill>
              <a:srgbClr val="D6DCE2"/>
            </a:solidFill>
            <a:prstDash val="solid"/>
          </a:ln>
        </p:spPr>
        <p:txBody>
          <a:bodyPr/>
          <a:lstStyle/>
          <a:p>
            <a:endParaRPr/>
          </a:p>
        </p:txBody>
      </p:sp>
      <p:sp>
        <p:nvSpPr>
          <p:cNvPr id="100" name="Text 100"/>
          <p:cNvSpPr txBox="1"/>
          <p:nvPr/>
        </p:nvSpPr>
        <p:spPr>
          <a:xfrm>
            <a:off x="9262872" y="4133088"/>
            <a:ext cx="2377440" cy="457200"/>
          </a:xfrm>
          <a:prstGeom prst="rect">
            <a:avLst/>
          </a:prstGeom>
          <a:noFill/>
          <a:ln/>
        </p:spPr>
        <p:txBody>
          <a:bodyPr wrap="square" rtlCol="0" anchor="ctr"/>
          <a:lstStyle/>
          <a:p>
            <a:pPr marL="0" indent="0" algn="l">
              <a:buNone/>
            </a:pPr>
            <a:r>
              <a:rPr lang="en-US" sz="950" dirty="0">
                <a:solidFill>
                  <a:srgbClr val="6B7480"/>
                </a:solidFill>
                <a:latin typeface="Calibri"/>
                <a:ea typeface="Calibri"/>
                <a:cs typeface="Calibri"/>
              </a:rPr>
              <a:t>Diagnostic outputs with source locations</a:t>
            </a:r>
          </a:p>
        </p:txBody>
      </p:sp>
      <p:sp>
        <p:nvSpPr>
          <p:cNvPr id="101" name="Shape 101"/>
          <p:cNvSpPr/>
          <p:nvPr/>
        </p:nvSpPr>
        <p:spPr>
          <a:xfrm>
            <a:off x="6245352" y="4590288"/>
            <a:ext cx="1600200" cy="457200"/>
          </a:xfrm>
          <a:prstGeom prst="rect">
            <a:avLst/>
          </a:prstGeom>
          <a:solidFill>
            <a:srgbClr val="FFFFFF"/>
          </a:solidFill>
          <a:ln w="6350">
            <a:solidFill>
              <a:srgbClr val="D6DCE2"/>
            </a:solidFill>
            <a:prstDash val="solid"/>
          </a:ln>
        </p:spPr>
        <p:txBody>
          <a:bodyPr/>
          <a:lstStyle/>
          <a:p>
            <a:endParaRPr/>
          </a:p>
        </p:txBody>
      </p:sp>
      <p:sp>
        <p:nvSpPr>
          <p:cNvPr id="102" name="Text 102"/>
          <p:cNvSpPr txBox="1"/>
          <p:nvPr/>
        </p:nvSpPr>
        <p:spPr>
          <a:xfrm>
            <a:off x="6245352" y="4590288"/>
            <a:ext cx="1600200" cy="457200"/>
          </a:xfrm>
          <a:prstGeom prst="rect">
            <a:avLst/>
          </a:prstGeom>
          <a:noFill/>
          <a:ln/>
        </p:spPr>
        <p:txBody>
          <a:bodyPr wrap="square" rtlCol="0" anchor="ctr"/>
          <a:lstStyle/>
          <a:p>
            <a:pPr marL="0" indent="0" algn="l">
              <a:buNone/>
            </a:pPr>
            <a:r>
              <a:rPr lang="en-US" sz="1100" b="1" dirty="0">
                <a:solidFill>
                  <a:srgbClr val="23262B"/>
                </a:solidFill>
                <a:latin typeface="Calibri"/>
                <a:ea typeface="Calibri"/>
                <a:cs typeface="Calibri"/>
              </a:rPr>
              <a:t>End-to-End Pipeline</a:t>
            </a:r>
          </a:p>
        </p:txBody>
      </p:sp>
      <p:sp>
        <p:nvSpPr>
          <p:cNvPr id="103" name="Shape 103"/>
          <p:cNvSpPr/>
          <p:nvPr/>
        </p:nvSpPr>
        <p:spPr>
          <a:xfrm>
            <a:off x="7845552" y="4590288"/>
            <a:ext cx="1417320" cy="457200"/>
          </a:xfrm>
          <a:prstGeom prst="rect">
            <a:avLst/>
          </a:prstGeom>
          <a:solidFill>
            <a:srgbClr val="E4EEF0"/>
          </a:solidFill>
          <a:ln w="6350">
            <a:solidFill>
              <a:srgbClr val="D6DCE2"/>
            </a:solidFill>
            <a:prstDash val="solid"/>
          </a:ln>
        </p:spPr>
        <p:txBody>
          <a:bodyPr/>
          <a:lstStyle/>
          <a:p>
            <a:endParaRPr/>
          </a:p>
        </p:txBody>
      </p:sp>
      <p:sp>
        <p:nvSpPr>
          <p:cNvPr id="104" name="Text 104"/>
          <p:cNvSpPr txBox="1"/>
          <p:nvPr/>
        </p:nvSpPr>
        <p:spPr>
          <a:xfrm>
            <a:off x="7845552" y="4590288"/>
            <a:ext cx="1417320" cy="457200"/>
          </a:xfrm>
          <a:prstGeom prst="rect">
            <a:avLst/>
          </a:prstGeom>
          <a:noFill/>
          <a:ln/>
        </p:spPr>
        <p:txBody>
          <a:bodyPr wrap="square" rtlCol="0" anchor="ctr"/>
          <a:lstStyle/>
          <a:p>
            <a:pPr marL="0" indent="0" algn="l">
              <a:buNone/>
            </a:pPr>
            <a:r>
              <a:rPr lang="en-US" sz="1000" b="1" i="1" dirty="0">
                <a:solidFill>
                  <a:srgbClr val="2E6E7E"/>
                </a:solidFill>
                <a:latin typeface="Calibri"/>
                <a:ea typeface="Calibri"/>
                <a:cs typeface="Calibri"/>
              </a:rPr>
              <a:t>✓ Implemented for Current Scope</a:t>
            </a:r>
          </a:p>
        </p:txBody>
      </p:sp>
      <p:sp>
        <p:nvSpPr>
          <p:cNvPr id="105" name="Shape 105"/>
          <p:cNvSpPr/>
          <p:nvPr/>
        </p:nvSpPr>
        <p:spPr>
          <a:xfrm>
            <a:off x="9262872" y="4590288"/>
            <a:ext cx="2377440" cy="457200"/>
          </a:xfrm>
          <a:prstGeom prst="rect">
            <a:avLst/>
          </a:prstGeom>
          <a:solidFill>
            <a:srgbClr val="FFFFFF"/>
          </a:solidFill>
          <a:ln w="6350">
            <a:solidFill>
              <a:srgbClr val="D6DCE2"/>
            </a:solidFill>
            <a:prstDash val="solid"/>
          </a:ln>
        </p:spPr>
        <p:txBody>
          <a:bodyPr/>
          <a:lstStyle/>
          <a:p>
            <a:endParaRPr/>
          </a:p>
        </p:txBody>
      </p:sp>
      <p:sp>
        <p:nvSpPr>
          <p:cNvPr id="106" name="Text 106"/>
          <p:cNvSpPr txBox="1"/>
          <p:nvPr/>
        </p:nvSpPr>
        <p:spPr>
          <a:xfrm>
            <a:off x="9262872" y="4590288"/>
            <a:ext cx="2377440" cy="457200"/>
          </a:xfrm>
          <a:prstGeom prst="rect">
            <a:avLst/>
          </a:prstGeom>
          <a:noFill/>
          <a:ln/>
        </p:spPr>
        <p:txBody>
          <a:bodyPr wrap="square" rtlCol="0" anchor="ctr"/>
          <a:lstStyle/>
          <a:p>
            <a:pPr marL="0" indent="0" algn="l">
              <a:buNone/>
            </a:pPr>
            <a:r>
              <a:rPr lang="en-US" sz="950" dirty="0">
                <a:solidFill>
                  <a:srgbClr val="6B7480"/>
                </a:solidFill>
                <a:latin typeface="Calibri"/>
                <a:ea typeface="Calibri"/>
                <a:cs typeface="Calibri"/>
              </a:rPr>
              <a:t>Integration tests and example programs</a:t>
            </a:r>
          </a:p>
        </p:txBody>
      </p:sp>
      <p:sp>
        <p:nvSpPr>
          <p:cNvPr id="107" name="Text 107"/>
          <p:cNvSpPr txBox="1"/>
          <p:nvPr/>
        </p:nvSpPr>
        <p:spPr>
          <a:xfrm>
            <a:off x="457200" y="5623560"/>
            <a:ext cx="11274552" cy="502920"/>
          </a:xfrm>
          <a:prstGeom prst="rect">
            <a:avLst/>
          </a:prstGeom>
          <a:noFill/>
          <a:ln/>
        </p:spPr>
        <p:txBody>
          <a:bodyPr wrap="square" rtlCol="0" anchor="t"/>
          <a:lstStyle/>
          <a:p>
            <a:pPr marL="0" indent="0" algn="ctr">
              <a:buNone/>
            </a:pPr>
            <a:r>
              <a:rPr lang="en-US" sz="1050" i="1" dirty="0">
                <a:solidFill>
                  <a:srgbClr val="6B7480"/>
                </a:solidFill>
                <a:latin typeface="Calibri"/>
                <a:ea typeface="Calibri"/>
                <a:cs typeface="Calibri"/>
              </a:rPr>
              <a:t>Status and evidence as recorded in the Review 2 Report.  Qualified entries are stated exactly as scoped: loop widening is conservative, and the end-to-end pipeline is complete for the current scope.</a:t>
            </a:r>
          </a:p>
        </p:txBody>
      </p:sp>
      <p:sp>
        <p:nvSpPr>
          <p:cNvPr id="108" name="Text 108"/>
          <p:cNvSpPr txBox="1"/>
          <p:nvPr/>
        </p:nvSpPr>
        <p:spPr>
          <a:xfrm>
            <a:off x="502920" y="6492240"/>
            <a:ext cx="9601200" cy="237744"/>
          </a:xfrm>
          <a:prstGeom prst="rect">
            <a:avLst/>
          </a:prstGeom>
          <a:noFill/>
          <a:ln/>
        </p:spPr>
        <p:txBody>
          <a:bodyPr wrap="square" rtlCol="0" anchor="ctr"/>
          <a:lstStyle/>
          <a:p>
            <a:pPr marL="0" indent="0" algn="l">
              <a:buNone/>
            </a:pPr>
            <a:r>
              <a:rPr lang="en-US" sz="800" dirty="0">
                <a:solidFill>
                  <a:srgbClr val="9AA3AF"/>
                </a:solidFill>
                <a:latin typeface="Calibri"/>
                <a:ea typeface="Calibri"/>
                <a:cs typeface="Calibri"/>
              </a:rPr>
              <a:t>BCSE307L — Compiler Design   |   Range-Aware Edge AI Quantization Compiler</a:t>
            </a:r>
          </a:p>
        </p:txBody>
      </p:sp>
      <p:sp>
        <p:nvSpPr>
          <p:cNvPr id="109" name="Text 109"/>
          <p:cNvSpPr txBox="1"/>
          <p:nvPr/>
        </p:nvSpPr>
        <p:spPr>
          <a:xfrm>
            <a:off x="11247120" y="6492240"/>
            <a:ext cx="457200" cy="237744"/>
          </a:xfrm>
          <a:prstGeom prst="rect">
            <a:avLst/>
          </a:prstGeom>
          <a:noFill/>
          <a:ln/>
        </p:spPr>
        <p:txBody>
          <a:bodyPr wrap="square" rtlCol="0" anchor="ctr"/>
          <a:lstStyle/>
          <a:p>
            <a:pPr algn="r"/>
            <a:r>
              <a:rPr sz="850">
                <a:solidFill>
                  <a:srgbClr val="8A919A"/>
                </a:solidFill>
                <a:latin typeface="Calibri"/>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3"/>
          <p:cNvSpPr txBox="1"/>
          <p:nvPr/>
        </p:nvSpPr>
        <p:spPr>
          <a:xfrm>
            <a:off x="502920" y="365760"/>
            <a:ext cx="10058400" cy="274320"/>
          </a:xfrm>
          <a:prstGeom prst="rect">
            <a:avLst/>
          </a:prstGeom>
          <a:noFill/>
          <a:ln/>
        </p:spPr>
        <p:txBody>
          <a:bodyPr wrap="square" rtlCol="0" anchor="ctr"/>
          <a:lstStyle/>
          <a:p>
            <a:pPr marL="0" indent="0" algn="l">
              <a:buNone/>
            </a:pPr>
            <a:r>
              <a:rPr lang="en-US" sz="1100" b="1" spc="200" dirty="0">
                <a:solidFill>
                  <a:srgbClr val="2E6E7E"/>
                </a:solidFill>
                <a:latin typeface="Calibri"/>
                <a:ea typeface="Calibri"/>
                <a:cs typeface="Calibri"/>
              </a:rPr>
              <a:t>REVIEW 2 · VERIFICATION</a:t>
            </a:r>
          </a:p>
        </p:txBody>
      </p:sp>
      <p:sp>
        <p:nvSpPr>
          <p:cNvPr id="4" name="Text 4"/>
          <p:cNvSpPr txBox="1"/>
          <p:nvPr/>
        </p:nvSpPr>
        <p:spPr>
          <a:xfrm>
            <a:off x="502920" y="621792"/>
            <a:ext cx="11155680" cy="594360"/>
          </a:xfrm>
          <a:prstGeom prst="rect">
            <a:avLst/>
          </a:prstGeom>
          <a:noFill/>
          <a:ln/>
        </p:spPr>
        <p:txBody>
          <a:bodyPr wrap="square" rtlCol="0" anchor="ctr"/>
          <a:lstStyle/>
          <a:p>
            <a:pPr marL="0" indent="0" algn="l">
              <a:buNone/>
            </a:pPr>
            <a:r>
              <a:rPr lang="en-US" sz="2900" b="1" dirty="0">
                <a:solidFill>
                  <a:srgbClr val="1F2A3C"/>
                </a:solidFill>
                <a:latin typeface="Cambria"/>
                <a:ea typeface="Cambria"/>
                <a:cs typeface="Cambria"/>
              </a:rPr>
              <a:t>Test &amp; Verification Results</a:t>
            </a:r>
          </a:p>
        </p:txBody>
      </p:sp>
      <p:sp>
        <p:nvSpPr>
          <p:cNvPr id="5" name="Shape 5"/>
          <p:cNvSpPr/>
          <p:nvPr/>
        </p:nvSpPr>
        <p:spPr>
          <a:xfrm>
            <a:off x="502920" y="1463040"/>
            <a:ext cx="4160520" cy="2148840"/>
          </a:xfrm>
          <a:prstGeom prst="rect">
            <a:avLst/>
          </a:prstGeom>
          <a:solidFill>
            <a:srgbClr val="1F2A3C"/>
          </a:solidFill>
          <a:ln w="19050">
            <a:solidFill>
              <a:srgbClr val="2E6E7E"/>
            </a:solidFill>
            <a:prstDash val="solid"/>
          </a:ln>
        </p:spPr>
        <p:txBody>
          <a:bodyPr/>
          <a:lstStyle/>
          <a:p>
            <a:endParaRPr/>
          </a:p>
        </p:txBody>
      </p:sp>
      <p:sp>
        <p:nvSpPr>
          <p:cNvPr id="6" name="Text 6"/>
          <p:cNvSpPr txBox="1"/>
          <p:nvPr/>
        </p:nvSpPr>
        <p:spPr>
          <a:xfrm>
            <a:off x="502920" y="1600200"/>
            <a:ext cx="4160520" cy="1143000"/>
          </a:xfrm>
          <a:prstGeom prst="rect">
            <a:avLst/>
          </a:prstGeom>
          <a:noFill/>
          <a:ln/>
        </p:spPr>
        <p:txBody>
          <a:bodyPr wrap="square" rtlCol="0" anchor="ctr"/>
          <a:lstStyle/>
          <a:p>
            <a:pPr marL="0" indent="0" algn="ctr">
              <a:buNone/>
            </a:pPr>
            <a:r>
              <a:rPr lang="en-US" sz="6600" b="1" dirty="0">
                <a:solidFill>
                  <a:srgbClr val="FFFFFF"/>
                </a:solidFill>
                <a:latin typeface="Cambria"/>
                <a:ea typeface="Cambria"/>
                <a:cs typeface="Cambria"/>
              </a:rPr>
              <a:t>20</a:t>
            </a:r>
            <a:r>
              <a:rPr lang="en-US" sz="4000" b="1" dirty="0">
                <a:solidFill>
                  <a:srgbClr val="8FB6C2"/>
                </a:solidFill>
                <a:latin typeface="Cambria"/>
                <a:ea typeface="Cambria"/>
                <a:cs typeface="Cambria"/>
              </a:rPr>
              <a:t> / 20</a:t>
            </a:r>
          </a:p>
        </p:txBody>
      </p:sp>
      <p:sp>
        <p:nvSpPr>
          <p:cNvPr id="7" name="Text 7"/>
          <p:cNvSpPr txBox="1"/>
          <p:nvPr/>
        </p:nvSpPr>
        <p:spPr>
          <a:xfrm>
            <a:off x="502920" y="2743200"/>
            <a:ext cx="4160520" cy="320040"/>
          </a:xfrm>
          <a:prstGeom prst="rect">
            <a:avLst/>
          </a:prstGeom>
          <a:noFill/>
          <a:ln/>
        </p:spPr>
        <p:txBody>
          <a:bodyPr wrap="square" rtlCol="0" anchor="ctr"/>
          <a:lstStyle/>
          <a:p>
            <a:pPr marL="0" indent="0" algn="ctr">
              <a:buNone/>
            </a:pPr>
            <a:r>
              <a:rPr lang="en-US" sz="1300" b="1" spc="200" dirty="0">
                <a:solidFill>
                  <a:srgbClr val="9FE3C8"/>
                </a:solidFill>
                <a:latin typeface="Calibri"/>
                <a:ea typeface="Calibri"/>
                <a:cs typeface="Calibri"/>
              </a:rPr>
              <a:t>AUTOMATED TESTS PASSED</a:t>
            </a:r>
          </a:p>
        </p:txBody>
      </p:sp>
      <p:sp>
        <p:nvSpPr>
          <p:cNvPr id="8" name="Text 8"/>
          <p:cNvSpPr txBox="1"/>
          <p:nvPr/>
        </p:nvSpPr>
        <p:spPr>
          <a:xfrm>
            <a:off x="502920" y="3090672"/>
            <a:ext cx="4160520" cy="365760"/>
          </a:xfrm>
          <a:prstGeom prst="rect">
            <a:avLst/>
          </a:prstGeom>
          <a:noFill/>
          <a:ln/>
        </p:spPr>
        <p:txBody>
          <a:bodyPr wrap="square" rtlCol="0" anchor="ctr"/>
          <a:lstStyle/>
          <a:p>
            <a:pPr marL="0" indent="0" algn="ctr">
              <a:buNone/>
            </a:pPr>
            <a:r>
              <a:rPr lang="en-US" sz="1050" i="1" dirty="0">
                <a:solidFill>
                  <a:srgbClr val="C9D4DE"/>
                </a:solidFill>
                <a:latin typeface="Calibri"/>
                <a:ea typeface="Calibri"/>
                <a:cs typeface="Calibri"/>
              </a:rPr>
              <a:t>Compiler test suite — 0 failures</a:t>
            </a:r>
          </a:p>
        </p:txBody>
      </p:sp>
      <p:sp>
        <p:nvSpPr>
          <p:cNvPr id="9" name="Text 9"/>
          <p:cNvSpPr txBox="1"/>
          <p:nvPr/>
        </p:nvSpPr>
        <p:spPr>
          <a:xfrm>
            <a:off x="502920" y="3794760"/>
            <a:ext cx="4160520" cy="256032"/>
          </a:xfrm>
          <a:prstGeom prst="rect">
            <a:avLst/>
          </a:prstGeom>
          <a:noFill/>
          <a:ln/>
        </p:spPr>
        <p:txBody>
          <a:bodyPr wrap="square" rtlCol="0" anchor="t"/>
          <a:lstStyle/>
          <a:p>
            <a:pPr marL="0" indent="0" algn="l">
              <a:buNone/>
            </a:pPr>
            <a:r>
              <a:rPr lang="en-US" sz="1050" b="1" dirty="0">
                <a:solidFill>
                  <a:srgbClr val="6B7480"/>
                </a:solidFill>
                <a:latin typeface="Calibri"/>
                <a:ea typeface="Calibri"/>
                <a:cs typeface="Calibri"/>
              </a:rPr>
              <a:t>Test run (verbatim)</a:t>
            </a:r>
          </a:p>
        </p:txBody>
      </p:sp>
      <p:sp>
        <p:nvSpPr>
          <p:cNvPr id="10" name="Shape 10"/>
          <p:cNvSpPr/>
          <p:nvPr/>
        </p:nvSpPr>
        <p:spPr>
          <a:xfrm>
            <a:off x="502920" y="4069080"/>
            <a:ext cx="4160520" cy="1188720"/>
          </a:xfrm>
          <a:prstGeom prst="rect">
            <a:avLst/>
          </a:prstGeom>
          <a:solidFill>
            <a:srgbClr val="1F2A3C"/>
          </a:solidFill>
          <a:ln w="19050">
            <a:solidFill>
              <a:srgbClr val="2E6E7E"/>
            </a:solidFill>
            <a:prstDash val="solid"/>
          </a:ln>
        </p:spPr>
        <p:txBody>
          <a:bodyPr/>
          <a:lstStyle/>
          <a:p>
            <a:endParaRPr/>
          </a:p>
        </p:txBody>
      </p:sp>
      <p:sp>
        <p:nvSpPr>
          <p:cNvPr id="11" name="Text 11"/>
          <p:cNvSpPr txBox="1"/>
          <p:nvPr/>
        </p:nvSpPr>
        <p:spPr>
          <a:xfrm>
            <a:off x="704088" y="4178808"/>
            <a:ext cx="3758184" cy="1005840"/>
          </a:xfrm>
          <a:prstGeom prst="rect">
            <a:avLst/>
          </a:prstGeom>
          <a:noFill/>
          <a:ln/>
        </p:spPr>
        <p:txBody>
          <a:bodyPr wrap="square" lIns="0" tIns="0" rIns="0" bIns="0" rtlCol="0" anchor="t"/>
          <a:lstStyle/>
          <a:p>
            <a:pPr marL="0" indent="0" algn="l">
              <a:lnSpc>
                <a:spcPct val="115000"/>
              </a:lnSpc>
              <a:buNone/>
            </a:pPr>
            <a:r>
              <a:rPr lang="en-US" sz="1050" b="1" dirty="0">
                <a:solidFill>
                  <a:srgbClr val="FFFFFF"/>
                </a:solidFill>
                <a:latin typeface="Courier New"/>
                <a:ea typeface="Courier New"/>
                <a:cs typeface="Courier New"/>
              </a:rPr>
              <a:t>python -m unittest discover -s tests -v</a:t>
            </a:r>
          </a:p>
          <a:p>
            <a:pPr marL="0" indent="0" algn="l">
              <a:lnSpc>
                <a:spcPct val="115000"/>
              </a:lnSpc>
              <a:buNone/>
            </a:pPr>
            <a:r>
              <a:rPr lang="en-US" sz="1050" dirty="0">
                <a:solidFill>
                  <a:srgbClr val="9FE3C8"/>
                </a:solidFill>
                <a:latin typeface="Courier New"/>
                <a:ea typeface="Courier New"/>
                <a:cs typeface="Courier New"/>
              </a:rPr>
              <a:t> </a:t>
            </a:r>
          </a:p>
          <a:p>
            <a:pPr marL="0" indent="0" algn="l">
              <a:lnSpc>
                <a:spcPct val="115000"/>
              </a:lnSpc>
              <a:buNone/>
            </a:pPr>
            <a:r>
              <a:rPr lang="en-US" sz="1050" dirty="0">
                <a:solidFill>
                  <a:srgbClr val="9FE3C8"/>
                </a:solidFill>
                <a:latin typeface="Courier New"/>
                <a:ea typeface="Courier New"/>
                <a:cs typeface="Courier New"/>
              </a:rPr>
              <a:t>Ran 20 tests in 0.018s</a:t>
            </a:r>
          </a:p>
          <a:p>
            <a:pPr marL="0" indent="0" algn="l">
              <a:lnSpc>
                <a:spcPct val="115000"/>
              </a:lnSpc>
              <a:buNone/>
            </a:pPr>
            <a:r>
              <a:rPr lang="en-US" sz="1050" dirty="0">
                <a:solidFill>
                  <a:srgbClr val="9FE3C8"/>
                </a:solidFill>
                <a:latin typeface="Courier New"/>
                <a:ea typeface="Courier New"/>
                <a:cs typeface="Courier New"/>
              </a:rPr>
              <a:t> </a:t>
            </a:r>
          </a:p>
          <a:p>
            <a:pPr marL="0" indent="0" algn="l">
              <a:lnSpc>
                <a:spcPct val="115000"/>
              </a:lnSpc>
              <a:buNone/>
            </a:pPr>
            <a:r>
              <a:rPr lang="en-US" sz="1050" b="1" dirty="0">
                <a:solidFill>
                  <a:srgbClr val="9FE3C8"/>
                </a:solidFill>
                <a:latin typeface="Courier New"/>
                <a:ea typeface="Courier New"/>
                <a:cs typeface="Courier New"/>
              </a:rPr>
              <a:t>OK</a:t>
            </a:r>
          </a:p>
        </p:txBody>
      </p:sp>
      <p:sp>
        <p:nvSpPr>
          <p:cNvPr id="12" name="Text 12"/>
          <p:cNvSpPr txBox="1"/>
          <p:nvPr/>
        </p:nvSpPr>
        <p:spPr>
          <a:xfrm>
            <a:off x="5029200" y="1463040"/>
            <a:ext cx="6656832" cy="274320"/>
          </a:xfrm>
          <a:prstGeom prst="rect">
            <a:avLst/>
          </a:prstGeom>
          <a:noFill/>
          <a:ln/>
        </p:spPr>
        <p:txBody>
          <a:bodyPr wrap="square" rtlCol="0" anchor="ctr"/>
          <a:lstStyle/>
          <a:p>
            <a:pPr marL="0" indent="0" algn="l">
              <a:buNone/>
            </a:pPr>
            <a:r>
              <a:rPr lang="en-US" sz="1200" b="1" dirty="0">
                <a:solidFill>
                  <a:srgbClr val="1F2A3C"/>
                </a:solidFill>
                <a:latin typeface="Calibri"/>
                <a:ea typeface="Calibri"/>
                <a:cs typeface="Calibri"/>
              </a:rPr>
              <a:t>Representative programs</a:t>
            </a:r>
            <a:r>
              <a:rPr lang="en-US" sz="1000" dirty="0">
                <a:solidFill>
                  <a:srgbClr val="6B7480"/>
                </a:solidFill>
                <a:latin typeface="Courier New"/>
                <a:ea typeface="Courier New"/>
                <a:cs typeface="Courier New"/>
              </a:rPr>
              <a:t>    examples/*.qc  →  analysis  →  quantized IR  →  simulator</a:t>
            </a:r>
          </a:p>
        </p:txBody>
      </p:sp>
      <p:sp>
        <p:nvSpPr>
          <p:cNvPr id="13" name="Shape 13"/>
          <p:cNvSpPr/>
          <p:nvPr/>
        </p:nvSpPr>
        <p:spPr>
          <a:xfrm>
            <a:off x="5029200" y="1828800"/>
            <a:ext cx="6656832" cy="457200"/>
          </a:xfrm>
          <a:prstGeom prst="rect">
            <a:avLst/>
          </a:prstGeom>
          <a:solidFill>
            <a:srgbClr val="F4F6F8"/>
          </a:solidFill>
          <a:ln w="9525">
            <a:solidFill>
              <a:srgbClr val="D6DCE2"/>
            </a:solidFill>
            <a:prstDash val="solid"/>
          </a:ln>
        </p:spPr>
        <p:txBody>
          <a:bodyPr/>
          <a:lstStyle/>
          <a:p>
            <a:endParaRPr/>
          </a:p>
        </p:txBody>
      </p:sp>
      <p:sp>
        <p:nvSpPr>
          <p:cNvPr id="14" name="Shape 14"/>
          <p:cNvSpPr/>
          <p:nvPr/>
        </p:nvSpPr>
        <p:spPr>
          <a:xfrm>
            <a:off x="5166360" y="1965960"/>
            <a:ext cx="182880" cy="182880"/>
          </a:xfrm>
          <a:prstGeom prst="ellipse">
            <a:avLst/>
          </a:prstGeom>
          <a:solidFill>
            <a:srgbClr val="2E6E7E"/>
          </a:solidFill>
          <a:ln/>
        </p:spPr>
        <p:txBody>
          <a:bodyPr/>
          <a:lstStyle/>
          <a:p>
            <a:endParaRPr/>
          </a:p>
        </p:txBody>
      </p:sp>
      <p:sp>
        <p:nvSpPr>
          <p:cNvPr id="15" name="Text 15"/>
          <p:cNvSpPr txBox="1"/>
          <p:nvPr/>
        </p:nvSpPr>
        <p:spPr>
          <a:xfrm>
            <a:off x="5166360" y="1965960"/>
            <a:ext cx="182880" cy="18288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a:ea typeface="Calibri"/>
                <a:cs typeface="Calibri"/>
              </a:rPr>
              <a:t>✓</a:t>
            </a:r>
          </a:p>
        </p:txBody>
      </p:sp>
      <p:sp>
        <p:nvSpPr>
          <p:cNvPr id="16" name="Text 16"/>
          <p:cNvSpPr txBox="1"/>
          <p:nvPr/>
        </p:nvSpPr>
        <p:spPr>
          <a:xfrm>
            <a:off x="5486400" y="1828800"/>
            <a:ext cx="2240280" cy="457200"/>
          </a:xfrm>
          <a:prstGeom prst="rect">
            <a:avLst/>
          </a:prstGeom>
          <a:noFill/>
          <a:ln/>
        </p:spPr>
        <p:txBody>
          <a:bodyPr wrap="square" rtlCol="0" anchor="ctr"/>
          <a:lstStyle/>
          <a:p>
            <a:pPr marL="0" indent="0" algn="l">
              <a:buNone/>
            </a:pPr>
            <a:r>
              <a:rPr lang="en-US" sz="1050" b="1" dirty="0">
                <a:solidFill>
                  <a:srgbClr val="23262B"/>
                </a:solidFill>
                <a:latin typeface="Calibri"/>
                <a:ea typeface="Calibri"/>
                <a:cs typeface="Calibri"/>
              </a:rPr>
              <a:t>Safe arithmetic</a:t>
            </a:r>
          </a:p>
        </p:txBody>
      </p:sp>
      <p:sp>
        <p:nvSpPr>
          <p:cNvPr id="17" name="Text 17"/>
          <p:cNvSpPr txBox="1"/>
          <p:nvPr/>
        </p:nvSpPr>
        <p:spPr>
          <a:xfrm>
            <a:off x="7726680" y="1828800"/>
            <a:ext cx="2606040" cy="457200"/>
          </a:xfrm>
          <a:prstGeom prst="rect">
            <a:avLst/>
          </a:prstGeom>
          <a:noFill/>
          <a:ln/>
        </p:spPr>
        <p:txBody>
          <a:bodyPr wrap="square" lIns="0" tIns="0" rIns="0" bIns="0" rtlCol="0" anchor="ctr"/>
          <a:lstStyle/>
          <a:p>
            <a:pPr marL="0" indent="0" algn="l">
              <a:buNone/>
            </a:pPr>
            <a:r>
              <a:rPr lang="en-US" sz="950" dirty="0">
                <a:solidFill>
                  <a:srgbClr val="6B7480"/>
                </a:solidFill>
                <a:latin typeface="Courier New"/>
                <a:ea typeface="Courier New"/>
                <a:cs typeface="Courier New"/>
              </a:rPr>
              <a:t>examples/safe_arithmetic.qc</a:t>
            </a:r>
          </a:p>
        </p:txBody>
      </p:sp>
      <p:sp>
        <p:nvSpPr>
          <p:cNvPr id="18" name="Shape 18"/>
          <p:cNvSpPr/>
          <p:nvPr/>
        </p:nvSpPr>
        <p:spPr>
          <a:xfrm>
            <a:off x="10387584" y="1901952"/>
            <a:ext cx="1188720" cy="310896"/>
          </a:xfrm>
          <a:prstGeom prst="rect">
            <a:avLst/>
          </a:prstGeom>
          <a:solidFill>
            <a:srgbClr val="2E6E7E"/>
          </a:solidFill>
          <a:ln/>
        </p:spPr>
        <p:txBody>
          <a:bodyPr/>
          <a:lstStyle/>
          <a:p>
            <a:endParaRPr/>
          </a:p>
        </p:txBody>
      </p:sp>
      <p:sp>
        <p:nvSpPr>
          <p:cNvPr id="19" name="Text 19"/>
          <p:cNvSpPr txBox="1"/>
          <p:nvPr/>
        </p:nvSpPr>
        <p:spPr>
          <a:xfrm>
            <a:off x="10387584" y="1901952"/>
            <a:ext cx="118872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a:ea typeface="Courier New"/>
                <a:cs typeface="Courier New"/>
              </a:rPr>
              <a:t>PASS</a:t>
            </a:r>
          </a:p>
        </p:txBody>
      </p:sp>
      <p:sp>
        <p:nvSpPr>
          <p:cNvPr id="20" name="Shape 20"/>
          <p:cNvSpPr/>
          <p:nvPr/>
        </p:nvSpPr>
        <p:spPr>
          <a:xfrm>
            <a:off x="5029200" y="2377440"/>
            <a:ext cx="6656832" cy="457200"/>
          </a:xfrm>
          <a:prstGeom prst="rect">
            <a:avLst/>
          </a:prstGeom>
          <a:solidFill>
            <a:srgbClr val="F4F6F8"/>
          </a:solidFill>
          <a:ln w="9525">
            <a:solidFill>
              <a:srgbClr val="D6DCE2"/>
            </a:solidFill>
            <a:prstDash val="solid"/>
          </a:ln>
        </p:spPr>
        <p:txBody>
          <a:bodyPr/>
          <a:lstStyle/>
          <a:p>
            <a:endParaRPr/>
          </a:p>
        </p:txBody>
      </p:sp>
      <p:sp>
        <p:nvSpPr>
          <p:cNvPr id="21" name="Shape 21"/>
          <p:cNvSpPr/>
          <p:nvPr/>
        </p:nvSpPr>
        <p:spPr>
          <a:xfrm>
            <a:off x="5166360" y="2514600"/>
            <a:ext cx="182880" cy="182880"/>
          </a:xfrm>
          <a:prstGeom prst="ellipse">
            <a:avLst/>
          </a:prstGeom>
          <a:solidFill>
            <a:srgbClr val="2E6E7E"/>
          </a:solidFill>
          <a:ln/>
        </p:spPr>
        <p:txBody>
          <a:bodyPr/>
          <a:lstStyle/>
          <a:p>
            <a:endParaRPr/>
          </a:p>
        </p:txBody>
      </p:sp>
      <p:sp>
        <p:nvSpPr>
          <p:cNvPr id="22" name="Text 22"/>
          <p:cNvSpPr txBox="1"/>
          <p:nvPr/>
        </p:nvSpPr>
        <p:spPr>
          <a:xfrm>
            <a:off x="5166360" y="2514600"/>
            <a:ext cx="182880" cy="18288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a:ea typeface="Calibri"/>
                <a:cs typeface="Calibri"/>
              </a:rPr>
              <a:t>✓</a:t>
            </a:r>
          </a:p>
        </p:txBody>
      </p:sp>
      <p:sp>
        <p:nvSpPr>
          <p:cNvPr id="23" name="Text 23"/>
          <p:cNvSpPr txBox="1"/>
          <p:nvPr/>
        </p:nvSpPr>
        <p:spPr>
          <a:xfrm>
            <a:off x="5486400" y="2377440"/>
            <a:ext cx="2240280" cy="457200"/>
          </a:xfrm>
          <a:prstGeom prst="rect">
            <a:avLst/>
          </a:prstGeom>
          <a:noFill/>
          <a:ln/>
        </p:spPr>
        <p:txBody>
          <a:bodyPr wrap="square" rtlCol="0" anchor="ctr"/>
          <a:lstStyle/>
          <a:p>
            <a:pPr marL="0" indent="0" algn="l">
              <a:buNone/>
            </a:pPr>
            <a:r>
              <a:rPr lang="en-US" sz="1050" b="1" dirty="0">
                <a:solidFill>
                  <a:srgbClr val="23262B"/>
                </a:solidFill>
                <a:latin typeface="Calibri"/>
                <a:ea typeface="Calibri"/>
                <a:cs typeface="Calibri"/>
              </a:rPr>
              <a:t>Overflow rejection</a:t>
            </a:r>
          </a:p>
        </p:txBody>
      </p:sp>
      <p:sp>
        <p:nvSpPr>
          <p:cNvPr id="24" name="Text 24"/>
          <p:cNvSpPr txBox="1"/>
          <p:nvPr/>
        </p:nvSpPr>
        <p:spPr>
          <a:xfrm>
            <a:off x="7726680" y="2377440"/>
            <a:ext cx="2606040" cy="457200"/>
          </a:xfrm>
          <a:prstGeom prst="rect">
            <a:avLst/>
          </a:prstGeom>
          <a:noFill/>
          <a:ln/>
        </p:spPr>
        <p:txBody>
          <a:bodyPr wrap="square" lIns="0" tIns="0" rIns="0" bIns="0" rtlCol="0" anchor="ctr"/>
          <a:lstStyle/>
          <a:p>
            <a:pPr marL="0" indent="0" algn="l">
              <a:buNone/>
            </a:pPr>
            <a:r>
              <a:rPr lang="en-US" sz="950" dirty="0">
                <a:solidFill>
                  <a:srgbClr val="6B7480"/>
                </a:solidFill>
                <a:latin typeface="Courier New"/>
                <a:ea typeface="Courier New"/>
                <a:cs typeface="Courier New"/>
              </a:rPr>
              <a:t>examples/overflow_rejection.qc</a:t>
            </a:r>
          </a:p>
        </p:txBody>
      </p:sp>
      <p:sp>
        <p:nvSpPr>
          <p:cNvPr id="25" name="Shape 25"/>
          <p:cNvSpPr/>
          <p:nvPr/>
        </p:nvSpPr>
        <p:spPr>
          <a:xfrm>
            <a:off x="10387584" y="2450592"/>
            <a:ext cx="1188720" cy="310896"/>
          </a:xfrm>
          <a:prstGeom prst="rect">
            <a:avLst/>
          </a:prstGeom>
          <a:solidFill>
            <a:srgbClr val="2E6E7E"/>
          </a:solidFill>
          <a:ln/>
        </p:spPr>
        <p:txBody>
          <a:bodyPr/>
          <a:lstStyle/>
          <a:p>
            <a:endParaRPr/>
          </a:p>
        </p:txBody>
      </p:sp>
      <p:sp>
        <p:nvSpPr>
          <p:cNvPr id="26" name="Text 26"/>
          <p:cNvSpPr txBox="1"/>
          <p:nvPr/>
        </p:nvSpPr>
        <p:spPr>
          <a:xfrm>
            <a:off x="10387584" y="2450592"/>
            <a:ext cx="118872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a:ea typeface="Courier New"/>
                <a:cs typeface="Courier New"/>
              </a:rPr>
              <a:t>PASS</a:t>
            </a:r>
          </a:p>
        </p:txBody>
      </p:sp>
      <p:sp>
        <p:nvSpPr>
          <p:cNvPr id="27" name="Shape 27"/>
          <p:cNvSpPr/>
          <p:nvPr/>
        </p:nvSpPr>
        <p:spPr>
          <a:xfrm>
            <a:off x="5029200" y="2926080"/>
            <a:ext cx="6656832" cy="457200"/>
          </a:xfrm>
          <a:prstGeom prst="rect">
            <a:avLst/>
          </a:prstGeom>
          <a:solidFill>
            <a:srgbClr val="F4F6F8"/>
          </a:solidFill>
          <a:ln w="9525">
            <a:solidFill>
              <a:srgbClr val="D6DCE2"/>
            </a:solidFill>
            <a:prstDash val="solid"/>
          </a:ln>
        </p:spPr>
        <p:txBody>
          <a:bodyPr/>
          <a:lstStyle/>
          <a:p>
            <a:endParaRPr/>
          </a:p>
        </p:txBody>
      </p:sp>
      <p:sp>
        <p:nvSpPr>
          <p:cNvPr id="28" name="Shape 28"/>
          <p:cNvSpPr/>
          <p:nvPr/>
        </p:nvSpPr>
        <p:spPr>
          <a:xfrm>
            <a:off x="5166360" y="3063240"/>
            <a:ext cx="182880" cy="182880"/>
          </a:xfrm>
          <a:prstGeom prst="ellipse">
            <a:avLst/>
          </a:prstGeom>
          <a:solidFill>
            <a:srgbClr val="2E6E7E"/>
          </a:solidFill>
          <a:ln/>
        </p:spPr>
        <p:txBody>
          <a:bodyPr/>
          <a:lstStyle/>
          <a:p>
            <a:endParaRPr/>
          </a:p>
        </p:txBody>
      </p:sp>
      <p:sp>
        <p:nvSpPr>
          <p:cNvPr id="29" name="Text 29"/>
          <p:cNvSpPr txBox="1"/>
          <p:nvPr/>
        </p:nvSpPr>
        <p:spPr>
          <a:xfrm>
            <a:off x="5166360" y="3063240"/>
            <a:ext cx="182880" cy="18288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a:ea typeface="Calibri"/>
                <a:cs typeface="Calibri"/>
              </a:rPr>
              <a:t>✓</a:t>
            </a:r>
          </a:p>
        </p:txBody>
      </p:sp>
      <p:sp>
        <p:nvSpPr>
          <p:cNvPr id="30" name="Text 30"/>
          <p:cNvSpPr txBox="1"/>
          <p:nvPr/>
        </p:nvSpPr>
        <p:spPr>
          <a:xfrm>
            <a:off x="5486400" y="2926080"/>
            <a:ext cx="2240280" cy="457200"/>
          </a:xfrm>
          <a:prstGeom prst="rect">
            <a:avLst/>
          </a:prstGeom>
          <a:noFill/>
          <a:ln/>
        </p:spPr>
        <p:txBody>
          <a:bodyPr wrap="square" rtlCol="0" anchor="ctr"/>
          <a:lstStyle/>
          <a:p>
            <a:pPr marL="0" indent="0" algn="l">
              <a:buNone/>
            </a:pPr>
            <a:r>
              <a:rPr lang="en-US" sz="1050" b="1" dirty="0">
                <a:solidFill>
                  <a:srgbClr val="23262B"/>
                </a:solidFill>
                <a:latin typeface="Calibri"/>
                <a:ea typeface="Calibri"/>
                <a:cs typeface="Calibri"/>
              </a:rPr>
              <a:t>Non-integral rejection</a:t>
            </a:r>
          </a:p>
        </p:txBody>
      </p:sp>
      <p:sp>
        <p:nvSpPr>
          <p:cNvPr id="31" name="Text 31"/>
          <p:cNvSpPr txBox="1"/>
          <p:nvPr/>
        </p:nvSpPr>
        <p:spPr>
          <a:xfrm>
            <a:off x="7726680" y="2926080"/>
            <a:ext cx="2606040" cy="457200"/>
          </a:xfrm>
          <a:prstGeom prst="rect">
            <a:avLst/>
          </a:prstGeom>
          <a:noFill/>
          <a:ln/>
        </p:spPr>
        <p:txBody>
          <a:bodyPr wrap="square" lIns="0" tIns="0" rIns="0" bIns="0" rtlCol="0" anchor="ctr"/>
          <a:lstStyle/>
          <a:p>
            <a:pPr marL="0" indent="0" algn="l">
              <a:buNone/>
            </a:pPr>
            <a:r>
              <a:rPr lang="en-US" sz="950" dirty="0">
                <a:solidFill>
                  <a:srgbClr val="6B7480"/>
                </a:solidFill>
                <a:latin typeface="Courier New"/>
                <a:ea typeface="Courier New"/>
                <a:cs typeface="Courier New"/>
              </a:rPr>
              <a:t>examples/non_integral_rejection.qc</a:t>
            </a:r>
          </a:p>
        </p:txBody>
      </p:sp>
      <p:sp>
        <p:nvSpPr>
          <p:cNvPr id="32" name="Shape 32"/>
          <p:cNvSpPr/>
          <p:nvPr/>
        </p:nvSpPr>
        <p:spPr>
          <a:xfrm>
            <a:off x="10387584" y="2999232"/>
            <a:ext cx="1188720" cy="310896"/>
          </a:xfrm>
          <a:prstGeom prst="rect">
            <a:avLst/>
          </a:prstGeom>
          <a:solidFill>
            <a:srgbClr val="2E6E7E"/>
          </a:solidFill>
          <a:ln/>
        </p:spPr>
        <p:txBody>
          <a:bodyPr/>
          <a:lstStyle/>
          <a:p>
            <a:endParaRPr/>
          </a:p>
        </p:txBody>
      </p:sp>
      <p:sp>
        <p:nvSpPr>
          <p:cNvPr id="33" name="Text 33"/>
          <p:cNvSpPr txBox="1"/>
          <p:nvPr/>
        </p:nvSpPr>
        <p:spPr>
          <a:xfrm>
            <a:off x="10387584" y="2999232"/>
            <a:ext cx="118872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a:ea typeface="Courier New"/>
                <a:cs typeface="Courier New"/>
              </a:rPr>
              <a:t>PASS</a:t>
            </a:r>
          </a:p>
        </p:txBody>
      </p:sp>
      <p:sp>
        <p:nvSpPr>
          <p:cNvPr id="34" name="Shape 34"/>
          <p:cNvSpPr/>
          <p:nvPr/>
        </p:nvSpPr>
        <p:spPr>
          <a:xfrm>
            <a:off x="5029200" y="3474720"/>
            <a:ext cx="6656832" cy="457200"/>
          </a:xfrm>
          <a:prstGeom prst="rect">
            <a:avLst/>
          </a:prstGeom>
          <a:solidFill>
            <a:srgbClr val="F4F6F8"/>
          </a:solidFill>
          <a:ln w="9525">
            <a:solidFill>
              <a:srgbClr val="D6DCE2"/>
            </a:solidFill>
            <a:prstDash val="solid"/>
          </a:ln>
        </p:spPr>
        <p:txBody>
          <a:bodyPr/>
          <a:lstStyle/>
          <a:p>
            <a:endParaRPr/>
          </a:p>
        </p:txBody>
      </p:sp>
      <p:sp>
        <p:nvSpPr>
          <p:cNvPr id="35" name="Shape 35"/>
          <p:cNvSpPr/>
          <p:nvPr/>
        </p:nvSpPr>
        <p:spPr>
          <a:xfrm>
            <a:off x="5166360" y="3611880"/>
            <a:ext cx="182880" cy="182880"/>
          </a:xfrm>
          <a:prstGeom prst="ellipse">
            <a:avLst/>
          </a:prstGeom>
          <a:solidFill>
            <a:srgbClr val="2E6E7E"/>
          </a:solidFill>
          <a:ln/>
        </p:spPr>
        <p:txBody>
          <a:bodyPr/>
          <a:lstStyle/>
          <a:p>
            <a:endParaRPr/>
          </a:p>
        </p:txBody>
      </p:sp>
      <p:sp>
        <p:nvSpPr>
          <p:cNvPr id="36" name="Text 36"/>
          <p:cNvSpPr txBox="1"/>
          <p:nvPr/>
        </p:nvSpPr>
        <p:spPr>
          <a:xfrm>
            <a:off x="5166360" y="3611880"/>
            <a:ext cx="182880" cy="18288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a:ea typeface="Calibri"/>
                <a:cs typeface="Calibri"/>
              </a:rPr>
              <a:t>✓</a:t>
            </a:r>
          </a:p>
        </p:txBody>
      </p:sp>
      <p:sp>
        <p:nvSpPr>
          <p:cNvPr id="37" name="Text 37"/>
          <p:cNvSpPr txBox="1"/>
          <p:nvPr/>
        </p:nvSpPr>
        <p:spPr>
          <a:xfrm>
            <a:off x="5486400" y="3474720"/>
            <a:ext cx="2240280" cy="457200"/>
          </a:xfrm>
          <a:prstGeom prst="rect">
            <a:avLst/>
          </a:prstGeom>
          <a:noFill/>
          <a:ln/>
        </p:spPr>
        <p:txBody>
          <a:bodyPr wrap="square" rtlCol="0" anchor="ctr"/>
          <a:lstStyle/>
          <a:p>
            <a:pPr marL="0" indent="0" algn="l">
              <a:buNone/>
            </a:pPr>
            <a:r>
              <a:rPr lang="en-US" sz="1050" b="1" dirty="0">
                <a:solidFill>
                  <a:srgbClr val="23262B"/>
                </a:solidFill>
                <a:latin typeface="Calibri"/>
                <a:ea typeface="Calibri"/>
                <a:cs typeface="Calibri"/>
              </a:rPr>
              <a:t>If/else + SSA phi</a:t>
            </a:r>
          </a:p>
        </p:txBody>
      </p:sp>
      <p:sp>
        <p:nvSpPr>
          <p:cNvPr id="38" name="Text 38"/>
          <p:cNvSpPr txBox="1"/>
          <p:nvPr/>
        </p:nvSpPr>
        <p:spPr>
          <a:xfrm>
            <a:off x="7726680" y="3474720"/>
            <a:ext cx="2606040" cy="457200"/>
          </a:xfrm>
          <a:prstGeom prst="rect">
            <a:avLst/>
          </a:prstGeom>
          <a:noFill/>
          <a:ln/>
        </p:spPr>
        <p:txBody>
          <a:bodyPr wrap="square" lIns="0" tIns="0" rIns="0" bIns="0" rtlCol="0" anchor="ctr"/>
          <a:lstStyle/>
          <a:p>
            <a:pPr marL="0" indent="0" algn="l">
              <a:buNone/>
            </a:pPr>
            <a:r>
              <a:rPr lang="en-US" sz="950" dirty="0">
                <a:solidFill>
                  <a:srgbClr val="6B7480"/>
                </a:solidFill>
                <a:latin typeface="Courier New"/>
                <a:ea typeface="Courier New"/>
                <a:cs typeface="Courier New"/>
              </a:rPr>
              <a:t>examples/if_else_phi.qc</a:t>
            </a:r>
          </a:p>
        </p:txBody>
      </p:sp>
      <p:sp>
        <p:nvSpPr>
          <p:cNvPr id="39" name="Shape 39"/>
          <p:cNvSpPr/>
          <p:nvPr/>
        </p:nvSpPr>
        <p:spPr>
          <a:xfrm>
            <a:off x="10387584" y="3547872"/>
            <a:ext cx="1188720" cy="310896"/>
          </a:xfrm>
          <a:prstGeom prst="rect">
            <a:avLst/>
          </a:prstGeom>
          <a:solidFill>
            <a:srgbClr val="2E6E7E"/>
          </a:solidFill>
          <a:ln/>
        </p:spPr>
        <p:txBody>
          <a:bodyPr/>
          <a:lstStyle/>
          <a:p>
            <a:endParaRPr/>
          </a:p>
        </p:txBody>
      </p:sp>
      <p:sp>
        <p:nvSpPr>
          <p:cNvPr id="40" name="Text 40"/>
          <p:cNvSpPr txBox="1"/>
          <p:nvPr/>
        </p:nvSpPr>
        <p:spPr>
          <a:xfrm>
            <a:off x="10387584" y="3547872"/>
            <a:ext cx="118872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a:ea typeface="Courier New"/>
                <a:cs typeface="Courier New"/>
              </a:rPr>
              <a:t>PASS</a:t>
            </a:r>
          </a:p>
        </p:txBody>
      </p:sp>
      <p:sp>
        <p:nvSpPr>
          <p:cNvPr id="41" name="Shape 41"/>
          <p:cNvSpPr/>
          <p:nvPr/>
        </p:nvSpPr>
        <p:spPr>
          <a:xfrm>
            <a:off x="5029200" y="4023360"/>
            <a:ext cx="6656832" cy="457200"/>
          </a:xfrm>
          <a:prstGeom prst="rect">
            <a:avLst/>
          </a:prstGeom>
          <a:solidFill>
            <a:srgbClr val="F4F6F8"/>
          </a:solidFill>
          <a:ln w="9525">
            <a:solidFill>
              <a:srgbClr val="D6DCE2"/>
            </a:solidFill>
            <a:prstDash val="solid"/>
          </a:ln>
        </p:spPr>
        <p:txBody>
          <a:bodyPr/>
          <a:lstStyle/>
          <a:p>
            <a:endParaRPr/>
          </a:p>
        </p:txBody>
      </p:sp>
      <p:sp>
        <p:nvSpPr>
          <p:cNvPr id="42" name="Shape 42"/>
          <p:cNvSpPr/>
          <p:nvPr/>
        </p:nvSpPr>
        <p:spPr>
          <a:xfrm>
            <a:off x="5166360" y="4160520"/>
            <a:ext cx="182880" cy="182880"/>
          </a:xfrm>
          <a:prstGeom prst="ellipse">
            <a:avLst/>
          </a:prstGeom>
          <a:solidFill>
            <a:srgbClr val="2E6E7E"/>
          </a:solidFill>
          <a:ln/>
        </p:spPr>
        <p:txBody>
          <a:bodyPr/>
          <a:lstStyle/>
          <a:p>
            <a:endParaRPr/>
          </a:p>
        </p:txBody>
      </p:sp>
      <p:sp>
        <p:nvSpPr>
          <p:cNvPr id="43" name="Text 43"/>
          <p:cNvSpPr txBox="1"/>
          <p:nvPr/>
        </p:nvSpPr>
        <p:spPr>
          <a:xfrm>
            <a:off x="5166360" y="4160520"/>
            <a:ext cx="182880" cy="18288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a:ea typeface="Calibri"/>
                <a:cs typeface="Calibri"/>
              </a:rPr>
              <a:t>✓</a:t>
            </a:r>
          </a:p>
        </p:txBody>
      </p:sp>
      <p:sp>
        <p:nvSpPr>
          <p:cNvPr id="44" name="Text 44"/>
          <p:cNvSpPr txBox="1"/>
          <p:nvPr/>
        </p:nvSpPr>
        <p:spPr>
          <a:xfrm>
            <a:off x="5486400" y="4023360"/>
            <a:ext cx="2240280" cy="457200"/>
          </a:xfrm>
          <a:prstGeom prst="rect">
            <a:avLst/>
          </a:prstGeom>
          <a:noFill/>
          <a:ln/>
        </p:spPr>
        <p:txBody>
          <a:bodyPr wrap="square" rtlCol="0" anchor="ctr"/>
          <a:lstStyle/>
          <a:p>
            <a:pPr marL="0" indent="0" algn="l">
              <a:buNone/>
            </a:pPr>
            <a:r>
              <a:rPr lang="en-US" sz="1050" b="1" dirty="0">
                <a:solidFill>
                  <a:srgbClr val="23262B"/>
                </a:solidFill>
                <a:latin typeface="Calibri"/>
                <a:ea typeface="Calibri"/>
                <a:cs typeface="Calibri"/>
              </a:rPr>
              <a:t>While-loop + widening</a:t>
            </a:r>
          </a:p>
        </p:txBody>
      </p:sp>
      <p:sp>
        <p:nvSpPr>
          <p:cNvPr id="45" name="Text 45"/>
          <p:cNvSpPr txBox="1"/>
          <p:nvPr/>
        </p:nvSpPr>
        <p:spPr>
          <a:xfrm>
            <a:off x="7726680" y="4023360"/>
            <a:ext cx="2606040" cy="457200"/>
          </a:xfrm>
          <a:prstGeom prst="rect">
            <a:avLst/>
          </a:prstGeom>
          <a:noFill/>
          <a:ln/>
        </p:spPr>
        <p:txBody>
          <a:bodyPr wrap="square" lIns="0" tIns="0" rIns="0" bIns="0" rtlCol="0" anchor="ctr"/>
          <a:lstStyle/>
          <a:p>
            <a:pPr marL="0" indent="0" algn="l">
              <a:buNone/>
            </a:pPr>
            <a:r>
              <a:rPr lang="en-US" sz="950" dirty="0">
                <a:solidFill>
                  <a:srgbClr val="6B7480"/>
                </a:solidFill>
                <a:latin typeface="Courier New"/>
                <a:ea typeface="Courier New"/>
                <a:cs typeface="Courier New"/>
              </a:rPr>
              <a:t>examples/while_loop.qc</a:t>
            </a:r>
          </a:p>
        </p:txBody>
      </p:sp>
      <p:sp>
        <p:nvSpPr>
          <p:cNvPr id="46" name="Shape 46"/>
          <p:cNvSpPr/>
          <p:nvPr/>
        </p:nvSpPr>
        <p:spPr>
          <a:xfrm>
            <a:off x="10387584" y="4096512"/>
            <a:ext cx="1188720" cy="310896"/>
          </a:xfrm>
          <a:prstGeom prst="rect">
            <a:avLst/>
          </a:prstGeom>
          <a:solidFill>
            <a:srgbClr val="2E6E7E"/>
          </a:solidFill>
          <a:ln/>
        </p:spPr>
        <p:txBody>
          <a:bodyPr/>
          <a:lstStyle/>
          <a:p>
            <a:endParaRPr/>
          </a:p>
        </p:txBody>
      </p:sp>
      <p:sp>
        <p:nvSpPr>
          <p:cNvPr id="47" name="Text 47"/>
          <p:cNvSpPr txBox="1"/>
          <p:nvPr/>
        </p:nvSpPr>
        <p:spPr>
          <a:xfrm>
            <a:off x="10387584" y="4096512"/>
            <a:ext cx="1188720" cy="310896"/>
          </a:xfrm>
          <a:prstGeom prst="rect">
            <a:avLst/>
          </a:prstGeom>
          <a:noFill/>
          <a:ln/>
        </p:spPr>
        <p:txBody>
          <a:bodyPr wrap="square" lIns="0" tIns="0" rIns="0" bIns="0" rtlCol="0" anchor="ctr"/>
          <a:lstStyle/>
          <a:p>
            <a:pPr marL="0" indent="0" algn="ctr">
              <a:buNone/>
            </a:pPr>
            <a:r>
              <a:rPr lang="en-US" sz="1050" b="1" dirty="0">
                <a:solidFill>
                  <a:srgbClr val="FFFFFF"/>
                </a:solidFill>
                <a:latin typeface="Courier New"/>
                <a:ea typeface="Courier New"/>
                <a:cs typeface="Courier New"/>
              </a:rPr>
              <a:t>PASS</a:t>
            </a:r>
          </a:p>
        </p:txBody>
      </p:sp>
      <p:sp>
        <p:nvSpPr>
          <p:cNvPr id="48" name="Shape 48"/>
          <p:cNvSpPr/>
          <p:nvPr/>
        </p:nvSpPr>
        <p:spPr>
          <a:xfrm>
            <a:off x="5029200" y="4572000"/>
            <a:ext cx="6656832" cy="457200"/>
          </a:xfrm>
          <a:prstGeom prst="rect">
            <a:avLst/>
          </a:prstGeom>
          <a:solidFill>
            <a:srgbClr val="F4F6F8"/>
          </a:solidFill>
          <a:ln w="9525">
            <a:solidFill>
              <a:srgbClr val="D6DCE2"/>
            </a:solidFill>
            <a:prstDash val="solid"/>
          </a:ln>
        </p:spPr>
        <p:txBody>
          <a:bodyPr/>
          <a:lstStyle/>
          <a:p>
            <a:endParaRPr/>
          </a:p>
        </p:txBody>
      </p:sp>
      <p:sp>
        <p:nvSpPr>
          <p:cNvPr id="49" name="Shape 49"/>
          <p:cNvSpPr/>
          <p:nvPr/>
        </p:nvSpPr>
        <p:spPr>
          <a:xfrm>
            <a:off x="5166360" y="4709160"/>
            <a:ext cx="182880" cy="182880"/>
          </a:xfrm>
          <a:prstGeom prst="ellipse">
            <a:avLst/>
          </a:prstGeom>
          <a:solidFill>
            <a:srgbClr val="2E6E7E"/>
          </a:solidFill>
          <a:ln/>
        </p:spPr>
        <p:txBody>
          <a:bodyPr/>
          <a:lstStyle/>
          <a:p>
            <a:endParaRPr/>
          </a:p>
        </p:txBody>
      </p:sp>
      <p:sp>
        <p:nvSpPr>
          <p:cNvPr id="50" name="Text 50"/>
          <p:cNvSpPr txBox="1"/>
          <p:nvPr/>
        </p:nvSpPr>
        <p:spPr>
          <a:xfrm>
            <a:off x="5166360" y="4709160"/>
            <a:ext cx="182880" cy="18288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a:ea typeface="Calibri"/>
                <a:cs typeface="Calibri"/>
              </a:rPr>
              <a:t>✓</a:t>
            </a:r>
          </a:p>
        </p:txBody>
      </p:sp>
      <p:sp>
        <p:nvSpPr>
          <p:cNvPr id="51" name="Text 51"/>
          <p:cNvSpPr txBox="1"/>
          <p:nvPr/>
        </p:nvSpPr>
        <p:spPr>
          <a:xfrm>
            <a:off x="5486400" y="4572000"/>
            <a:ext cx="2240280" cy="457200"/>
          </a:xfrm>
          <a:prstGeom prst="rect">
            <a:avLst/>
          </a:prstGeom>
          <a:noFill/>
          <a:ln/>
        </p:spPr>
        <p:txBody>
          <a:bodyPr wrap="square" rtlCol="0" anchor="ctr"/>
          <a:lstStyle/>
          <a:p>
            <a:pPr marL="0" indent="0" algn="l">
              <a:buNone/>
            </a:pPr>
            <a:r>
              <a:rPr lang="en-US" sz="1050" b="1" dirty="0">
                <a:solidFill>
                  <a:srgbClr val="23262B"/>
                </a:solidFill>
                <a:latin typeface="Calibri"/>
                <a:ea typeface="Calibri"/>
                <a:cs typeface="Calibri"/>
              </a:rPr>
              <a:t>Original vs quantized — if/else</a:t>
            </a:r>
          </a:p>
        </p:txBody>
      </p:sp>
      <p:sp>
        <p:nvSpPr>
          <p:cNvPr id="52" name="Text 52"/>
          <p:cNvSpPr txBox="1"/>
          <p:nvPr/>
        </p:nvSpPr>
        <p:spPr>
          <a:xfrm>
            <a:off x="7726680" y="4572000"/>
            <a:ext cx="2606040" cy="457200"/>
          </a:xfrm>
          <a:prstGeom prst="rect">
            <a:avLst/>
          </a:prstGeom>
          <a:noFill/>
          <a:ln/>
        </p:spPr>
        <p:txBody>
          <a:bodyPr wrap="square" lIns="0" tIns="0" rIns="0" bIns="0" rtlCol="0" anchor="ctr"/>
          <a:lstStyle/>
          <a:p>
            <a:pPr marL="0" indent="0" algn="l">
              <a:buNone/>
            </a:pPr>
            <a:r>
              <a:rPr lang="en-US" sz="950" dirty="0">
                <a:solidFill>
                  <a:srgbClr val="6B7480"/>
                </a:solidFill>
                <a:latin typeface="Courier New"/>
                <a:ea typeface="Courier New"/>
                <a:cs typeface="Courier New"/>
              </a:rPr>
              <a:t>simulator</a:t>
            </a:r>
          </a:p>
        </p:txBody>
      </p:sp>
      <p:sp>
        <p:nvSpPr>
          <p:cNvPr id="53" name="Shape 53"/>
          <p:cNvSpPr/>
          <p:nvPr/>
        </p:nvSpPr>
        <p:spPr>
          <a:xfrm>
            <a:off x="10387584" y="4645152"/>
            <a:ext cx="1188720" cy="310896"/>
          </a:xfrm>
          <a:prstGeom prst="rect">
            <a:avLst/>
          </a:prstGeom>
          <a:solidFill>
            <a:srgbClr val="1F2A3C"/>
          </a:solidFill>
          <a:ln/>
        </p:spPr>
        <p:txBody>
          <a:bodyPr/>
          <a:lstStyle/>
          <a:p>
            <a:endParaRPr/>
          </a:p>
        </p:txBody>
      </p:sp>
      <p:sp>
        <p:nvSpPr>
          <p:cNvPr id="54" name="Text 54"/>
          <p:cNvSpPr txBox="1"/>
          <p:nvPr/>
        </p:nvSpPr>
        <p:spPr>
          <a:xfrm>
            <a:off x="10387584" y="4645152"/>
            <a:ext cx="1188720" cy="310896"/>
          </a:xfrm>
          <a:prstGeom prst="rect">
            <a:avLst/>
          </a:prstGeom>
          <a:noFill/>
          <a:ln/>
        </p:spPr>
        <p:txBody>
          <a:bodyPr wrap="square" lIns="0" tIns="0" rIns="0" bIns="0" rtlCol="0" anchor="ctr"/>
          <a:lstStyle/>
          <a:p>
            <a:pPr marL="0" indent="0" algn="ctr">
              <a:buNone/>
            </a:pPr>
            <a:r>
              <a:rPr lang="en-US" sz="1050" b="1" dirty="0">
                <a:solidFill>
                  <a:srgbClr val="9FE3C8"/>
                </a:solidFill>
                <a:latin typeface="Courier New"/>
                <a:ea typeface="Courier New"/>
                <a:cs typeface="Courier New"/>
              </a:rPr>
              <a:t>[20] = [20]</a:t>
            </a:r>
          </a:p>
        </p:txBody>
      </p:sp>
      <p:sp>
        <p:nvSpPr>
          <p:cNvPr id="55" name="Shape 55"/>
          <p:cNvSpPr/>
          <p:nvPr/>
        </p:nvSpPr>
        <p:spPr>
          <a:xfrm>
            <a:off x="5029200" y="5120640"/>
            <a:ext cx="6656832" cy="457200"/>
          </a:xfrm>
          <a:prstGeom prst="rect">
            <a:avLst/>
          </a:prstGeom>
          <a:solidFill>
            <a:srgbClr val="F4F6F8"/>
          </a:solidFill>
          <a:ln w="9525">
            <a:solidFill>
              <a:srgbClr val="D6DCE2"/>
            </a:solidFill>
            <a:prstDash val="solid"/>
          </a:ln>
        </p:spPr>
        <p:txBody>
          <a:bodyPr/>
          <a:lstStyle/>
          <a:p>
            <a:endParaRPr/>
          </a:p>
        </p:txBody>
      </p:sp>
      <p:sp>
        <p:nvSpPr>
          <p:cNvPr id="56" name="Shape 56"/>
          <p:cNvSpPr/>
          <p:nvPr/>
        </p:nvSpPr>
        <p:spPr>
          <a:xfrm>
            <a:off x="5166360" y="5257800"/>
            <a:ext cx="182880" cy="182880"/>
          </a:xfrm>
          <a:prstGeom prst="ellipse">
            <a:avLst/>
          </a:prstGeom>
          <a:solidFill>
            <a:srgbClr val="2E6E7E"/>
          </a:solidFill>
          <a:ln/>
        </p:spPr>
        <p:txBody>
          <a:bodyPr/>
          <a:lstStyle/>
          <a:p>
            <a:endParaRPr/>
          </a:p>
        </p:txBody>
      </p:sp>
      <p:sp>
        <p:nvSpPr>
          <p:cNvPr id="57" name="Text 57"/>
          <p:cNvSpPr txBox="1"/>
          <p:nvPr/>
        </p:nvSpPr>
        <p:spPr>
          <a:xfrm>
            <a:off x="5166360" y="5257800"/>
            <a:ext cx="182880" cy="18288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a:ea typeface="Calibri"/>
                <a:cs typeface="Calibri"/>
              </a:rPr>
              <a:t>✓</a:t>
            </a:r>
          </a:p>
        </p:txBody>
      </p:sp>
      <p:sp>
        <p:nvSpPr>
          <p:cNvPr id="58" name="Text 58"/>
          <p:cNvSpPr txBox="1"/>
          <p:nvPr/>
        </p:nvSpPr>
        <p:spPr>
          <a:xfrm>
            <a:off x="5486400" y="5120640"/>
            <a:ext cx="2240280" cy="457200"/>
          </a:xfrm>
          <a:prstGeom prst="rect">
            <a:avLst/>
          </a:prstGeom>
          <a:noFill/>
          <a:ln/>
        </p:spPr>
        <p:txBody>
          <a:bodyPr wrap="square" rtlCol="0" anchor="ctr"/>
          <a:lstStyle/>
          <a:p>
            <a:pPr marL="0" indent="0" algn="l">
              <a:buNone/>
            </a:pPr>
            <a:r>
              <a:rPr lang="en-US" sz="1050" b="1" dirty="0">
                <a:solidFill>
                  <a:srgbClr val="23262B"/>
                </a:solidFill>
                <a:latin typeface="Calibri"/>
                <a:ea typeface="Calibri"/>
                <a:cs typeface="Calibri"/>
              </a:rPr>
              <a:t>Original vs quantized — loop</a:t>
            </a:r>
          </a:p>
        </p:txBody>
      </p:sp>
      <p:sp>
        <p:nvSpPr>
          <p:cNvPr id="59" name="Text 59"/>
          <p:cNvSpPr txBox="1"/>
          <p:nvPr/>
        </p:nvSpPr>
        <p:spPr>
          <a:xfrm>
            <a:off x="7726680" y="5120640"/>
            <a:ext cx="2606040" cy="457200"/>
          </a:xfrm>
          <a:prstGeom prst="rect">
            <a:avLst/>
          </a:prstGeom>
          <a:noFill/>
          <a:ln/>
        </p:spPr>
        <p:txBody>
          <a:bodyPr wrap="square" lIns="0" tIns="0" rIns="0" bIns="0" rtlCol="0" anchor="ctr"/>
          <a:lstStyle/>
          <a:p>
            <a:pPr marL="0" indent="0" algn="l">
              <a:buNone/>
            </a:pPr>
            <a:r>
              <a:rPr lang="en-US" sz="950" dirty="0">
                <a:solidFill>
                  <a:srgbClr val="6B7480"/>
                </a:solidFill>
                <a:latin typeface="Courier New"/>
                <a:ea typeface="Courier New"/>
                <a:cs typeface="Courier New"/>
              </a:rPr>
              <a:t>simulator</a:t>
            </a:r>
          </a:p>
        </p:txBody>
      </p:sp>
      <p:sp>
        <p:nvSpPr>
          <p:cNvPr id="60" name="Shape 60"/>
          <p:cNvSpPr/>
          <p:nvPr/>
        </p:nvSpPr>
        <p:spPr>
          <a:xfrm>
            <a:off x="10387584" y="5193792"/>
            <a:ext cx="1188720" cy="310896"/>
          </a:xfrm>
          <a:prstGeom prst="rect">
            <a:avLst/>
          </a:prstGeom>
          <a:solidFill>
            <a:srgbClr val="1F2A3C"/>
          </a:solidFill>
          <a:ln/>
        </p:spPr>
        <p:txBody>
          <a:bodyPr/>
          <a:lstStyle/>
          <a:p>
            <a:endParaRPr/>
          </a:p>
        </p:txBody>
      </p:sp>
      <p:sp>
        <p:nvSpPr>
          <p:cNvPr id="61" name="Text 61"/>
          <p:cNvSpPr txBox="1"/>
          <p:nvPr/>
        </p:nvSpPr>
        <p:spPr>
          <a:xfrm>
            <a:off x="10387584" y="5193792"/>
            <a:ext cx="1188720" cy="310896"/>
          </a:xfrm>
          <a:prstGeom prst="rect">
            <a:avLst/>
          </a:prstGeom>
          <a:noFill/>
          <a:ln/>
        </p:spPr>
        <p:txBody>
          <a:bodyPr wrap="square" lIns="0" tIns="0" rIns="0" bIns="0" rtlCol="0" anchor="ctr"/>
          <a:lstStyle/>
          <a:p>
            <a:pPr marL="0" indent="0" algn="ctr">
              <a:buNone/>
            </a:pPr>
            <a:r>
              <a:rPr lang="en-US" sz="1050" b="1" dirty="0">
                <a:solidFill>
                  <a:srgbClr val="9FE3C8"/>
                </a:solidFill>
                <a:latin typeface="Courier New"/>
                <a:ea typeface="Courier New"/>
                <a:cs typeface="Courier New"/>
              </a:rPr>
              <a:t>[15] = [15]</a:t>
            </a:r>
          </a:p>
        </p:txBody>
      </p:sp>
      <p:sp>
        <p:nvSpPr>
          <p:cNvPr id="62" name="Text 62"/>
          <p:cNvSpPr txBox="1"/>
          <p:nvPr/>
        </p:nvSpPr>
        <p:spPr>
          <a:xfrm>
            <a:off x="502920" y="5715000"/>
            <a:ext cx="11183112" cy="457200"/>
          </a:xfrm>
          <a:prstGeom prst="rect">
            <a:avLst/>
          </a:prstGeom>
          <a:noFill/>
          <a:ln/>
        </p:spPr>
        <p:txBody>
          <a:bodyPr wrap="square" rtlCol="0" anchor="t"/>
          <a:lstStyle/>
          <a:p>
            <a:pPr marL="0" indent="0" algn="ctr">
              <a:buNone/>
            </a:pPr>
            <a:r>
              <a:rPr lang="en-US" sz="1050" i="1" dirty="0">
                <a:solidFill>
                  <a:srgbClr val="6B7480"/>
                </a:solidFill>
                <a:latin typeface="Calibri"/>
                <a:ea typeface="Calibri"/>
                <a:cs typeface="Calibri"/>
              </a:rPr>
              <a:t>Simulator rows compare execution of the original and the quantized SSA IR.  </a:t>
            </a:r>
            <a:r>
              <a:rPr lang="en-US" sz="1050" b="1" i="1" dirty="0">
                <a:solidFill>
                  <a:srgbClr val="2E6E7E"/>
                </a:solidFill>
                <a:latin typeface="Calibri"/>
                <a:ea typeface="Calibri"/>
                <a:cs typeface="Calibri"/>
              </a:rPr>
              <a:t>In every tested case, unsafe or unproven values remain unquantized.</a:t>
            </a:r>
          </a:p>
        </p:txBody>
      </p:sp>
      <p:sp>
        <p:nvSpPr>
          <p:cNvPr id="63" name="Text 63"/>
          <p:cNvSpPr txBox="1"/>
          <p:nvPr/>
        </p:nvSpPr>
        <p:spPr>
          <a:xfrm>
            <a:off x="502920" y="6492240"/>
            <a:ext cx="9601200" cy="237744"/>
          </a:xfrm>
          <a:prstGeom prst="rect">
            <a:avLst/>
          </a:prstGeom>
          <a:noFill/>
          <a:ln/>
        </p:spPr>
        <p:txBody>
          <a:bodyPr wrap="square" rtlCol="0" anchor="ctr"/>
          <a:lstStyle/>
          <a:p>
            <a:pPr marL="0" indent="0" algn="l">
              <a:buNone/>
            </a:pPr>
            <a:r>
              <a:rPr lang="en-US" sz="800" dirty="0">
                <a:solidFill>
                  <a:srgbClr val="9AA3AF"/>
                </a:solidFill>
                <a:latin typeface="Calibri"/>
                <a:ea typeface="Calibri"/>
                <a:cs typeface="Calibri"/>
              </a:rPr>
              <a:t>BCSE307L — Compiler Design   |   Range-Aware Edge AI Quantization Compiler</a:t>
            </a:r>
          </a:p>
        </p:txBody>
      </p:sp>
      <p:sp>
        <p:nvSpPr>
          <p:cNvPr id="64" name="Text 64"/>
          <p:cNvSpPr txBox="1"/>
          <p:nvPr/>
        </p:nvSpPr>
        <p:spPr>
          <a:xfrm>
            <a:off x="11247120" y="6492240"/>
            <a:ext cx="457200" cy="237744"/>
          </a:xfrm>
          <a:prstGeom prst="rect">
            <a:avLst/>
          </a:prstGeom>
          <a:noFill/>
          <a:ln/>
        </p:spPr>
        <p:txBody>
          <a:bodyPr wrap="square" rtlCol="0" anchor="ctr"/>
          <a:lstStyle/>
          <a:p>
            <a:pPr algn="r"/>
            <a:r>
              <a:rPr sz="850">
                <a:solidFill>
                  <a:srgbClr val="8A919A"/>
                </a:solidFill>
                <a:latin typeface="Calibri"/>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347472"/>
            <a:ext cx="10607040" cy="256032"/>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2E6E7E"/>
                </a:solidFill>
                <a:latin typeface="Calibri"/>
              </a:rPr>
              <a:t>REVIEW 2 · VERIFICATION EVIDENCE</a:t>
            </a:r>
          </a:p>
        </p:txBody>
      </p:sp>
      <p:sp>
        <p:nvSpPr>
          <p:cNvPr id="3" name="TextBox 2"/>
          <p:cNvSpPr txBox="1"/>
          <p:nvPr/>
        </p:nvSpPr>
        <p:spPr>
          <a:xfrm>
            <a:off x="502920" y="621792"/>
            <a:ext cx="11155680" cy="566928"/>
          </a:xfrm>
          <a:prstGeom prst="rect">
            <a:avLst/>
          </a:prstGeom>
          <a:noFill/>
        </p:spPr>
        <p:txBody>
          <a:bodyPr wrap="square" lIns="0" tIns="0" rIns="0" bIns="0" anchor="t">
            <a:spAutoFit/>
          </a:bodyPr>
          <a:lstStyle/>
          <a:p>
            <a:pPr algn="l">
              <a:lnSpc>
                <a:spcPct val="100000"/>
              </a:lnSpc>
              <a:spcBef>
                <a:spcPts val="0"/>
              </a:spcBef>
              <a:spcAft>
                <a:spcPts val="0"/>
              </a:spcAft>
            </a:pPr>
            <a:r>
              <a:rPr sz="2800" b="1" i="0">
                <a:solidFill>
                  <a:srgbClr val="1F2A3C"/>
                </a:solidFill>
                <a:latin typeface="Cambria"/>
              </a:rPr>
              <a:t>Authentic Test Suite Run</a:t>
            </a:r>
          </a:p>
        </p:txBody>
      </p:sp>
      <p:sp>
        <p:nvSpPr>
          <p:cNvPr id="4" name="TextBox 3"/>
          <p:cNvSpPr txBox="1"/>
          <p:nvPr/>
        </p:nvSpPr>
        <p:spPr>
          <a:xfrm>
            <a:off x="502920" y="6492240"/>
            <a:ext cx="9875520" cy="201168"/>
          </a:xfrm>
          <a:prstGeom prst="rect">
            <a:avLst/>
          </a:prstGeom>
          <a:noFill/>
        </p:spPr>
        <p:txBody>
          <a:bodyPr wrap="square" lIns="0" tIns="0" rIns="0" bIns="0" anchor="t">
            <a:spAutoFit/>
          </a:bodyPr>
          <a:lstStyle/>
          <a:p>
            <a:pPr algn="l">
              <a:lnSpc>
                <a:spcPct val="100000"/>
              </a:lnSpc>
              <a:spcBef>
                <a:spcPts val="0"/>
              </a:spcBef>
              <a:spcAft>
                <a:spcPts val="0"/>
              </a:spcAft>
            </a:pPr>
            <a:r>
              <a:rPr sz="850" b="0" i="0">
                <a:solidFill>
                  <a:srgbClr val="8A919A"/>
                </a:solidFill>
                <a:latin typeface="Calibri"/>
              </a:rPr>
              <a:t>BCSE307L — Compiler Design   |   Range-Aware Edge AI Quantization Compiler</a:t>
            </a:r>
          </a:p>
        </p:txBody>
      </p:sp>
      <p:sp>
        <p:nvSpPr>
          <p:cNvPr id="5" name="TextBox 4"/>
          <p:cNvSpPr txBox="1"/>
          <p:nvPr/>
        </p:nvSpPr>
        <p:spPr>
          <a:xfrm>
            <a:off x="11228832" y="6492240"/>
            <a:ext cx="457200" cy="201168"/>
          </a:xfrm>
          <a:prstGeom prst="rect">
            <a:avLst/>
          </a:prstGeom>
          <a:noFill/>
        </p:spPr>
        <p:txBody>
          <a:bodyPr wrap="square" lIns="0" tIns="0" rIns="0" bIns="0" anchor="t">
            <a:spAutoFit/>
          </a:bodyPr>
          <a:lstStyle/>
          <a:p>
            <a:pPr algn="r"/>
            <a:r>
              <a:rPr sz="850">
                <a:solidFill>
                  <a:srgbClr val="8A919A"/>
                </a:solidFill>
                <a:latin typeface="Calibri"/>
              </a:rPr>
              <a:t>25</a:t>
            </a:r>
          </a:p>
        </p:txBody>
      </p:sp>
      <p:sp>
        <p:nvSpPr>
          <p:cNvPr id="6" name="Rectangle 5"/>
          <p:cNvSpPr/>
          <p:nvPr/>
        </p:nvSpPr>
        <p:spPr>
          <a:xfrm>
            <a:off x="493775" y="1380744"/>
            <a:ext cx="11183112" cy="4065793"/>
          </a:xfrm>
          <a:prstGeom prst="rect">
            <a:avLst/>
          </a:prstGeom>
          <a:solidFill>
            <a:srgbClr val="FFFFFF"/>
          </a:solidFill>
          <a:ln w="889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1.png"/>
          <p:cNvPicPr>
            <a:picLocks noChangeAspect="1"/>
          </p:cNvPicPr>
          <p:nvPr/>
        </p:nvPicPr>
        <p:blipFill>
          <a:blip r:embed="rId2"/>
          <a:stretch>
            <a:fillRect/>
          </a:stretch>
        </p:blipFill>
        <p:spPr>
          <a:xfrm>
            <a:off x="530352" y="1417320"/>
            <a:ext cx="11109960" cy="3992641"/>
          </a:xfrm>
          <a:prstGeom prst="rect">
            <a:avLst/>
          </a:prstGeom>
        </p:spPr>
      </p:pic>
      <p:sp>
        <p:nvSpPr>
          <p:cNvPr id="8" name="Rectangle 7"/>
          <p:cNvSpPr/>
          <p:nvPr/>
        </p:nvSpPr>
        <p:spPr>
          <a:xfrm>
            <a:off x="548640" y="5468112"/>
            <a:ext cx="11109960" cy="502920"/>
          </a:xfrm>
          <a:prstGeom prst="rect">
            <a:avLst/>
          </a:prstGeom>
          <a:solidFill>
            <a:srgbClr val="E9F1F3"/>
          </a:solidFill>
          <a:ln w="10160">
            <a:solidFill>
              <a:srgbClr val="D4D9D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8952" y="5577840"/>
            <a:ext cx="10698480" cy="256032"/>
          </a:xfrm>
          <a:prstGeom prst="rect">
            <a:avLst/>
          </a:prstGeom>
          <a:noFill/>
        </p:spPr>
        <p:txBody>
          <a:bodyPr wrap="square" lIns="0" tIns="0" rIns="0" bIns="0" anchor="t">
            <a:spAutoFit/>
          </a:bodyPr>
          <a:lstStyle/>
          <a:p>
            <a:pPr algn="ctr">
              <a:lnSpc>
                <a:spcPct val="100000"/>
              </a:lnSpc>
              <a:spcBef>
                <a:spcPts val="0"/>
              </a:spcBef>
              <a:spcAft>
                <a:spcPts val="0"/>
              </a:spcAft>
            </a:pPr>
            <a:r>
              <a:rPr sz="1100" b="0" i="0">
                <a:solidFill>
                  <a:srgbClr val="303845"/>
                </a:solidFill>
                <a:latin typeface="Calibri"/>
              </a:rPr>
              <a:t>The supplied terminal capture shows the unittest discovery command completing with “Ran 20 tests” and “OK”. Test duration is run-specific.</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3"/>
          <p:cNvSpPr txBox="1"/>
          <p:nvPr/>
        </p:nvSpPr>
        <p:spPr>
          <a:xfrm>
            <a:off x="502920" y="365760"/>
            <a:ext cx="10058400" cy="274320"/>
          </a:xfrm>
          <a:prstGeom prst="rect">
            <a:avLst/>
          </a:prstGeom>
          <a:noFill/>
          <a:ln/>
        </p:spPr>
        <p:txBody>
          <a:bodyPr wrap="square" rtlCol="0" anchor="ctr"/>
          <a:lstStyle/>
          <a:p>
            <a:pPr marL="0" indent="0" algn="l">
              <a:buNone/>
            </a:pPr>
            <a:r>
              <a:rPr lang="en-US" sz="1100" b="1" spc="200" dirty="0">
                <a:solidFill>
                  <a:srgbClr val="2E6E7E"/>
                </a:solidFill>
                <a:latin typeface="Calibri"/>
                <a:ea typeface="Calibri"/>
                <a:cs typeface="Calibri"/>
              </a:rPr>
              <a:t>REVIEW 2 · COMPILER OUTPUT</a:t>
            </a:r>
          </a:p>
        </p:txBody>
      </p:sp>
      <p:sp>
        <p:nvSpPr>
          <p:cNvPr id="4" name="Text 4"/>
          <p:cNvSpPr txBox="1"/>
          <p:nvPr/>
        </p:nvSpPr>
        <p:spPr>
          <a:xfrm>
            <a:off x="502920" y="621792"/>
            <a:ext cx="11155680" cy="594360"/>
          </a:xfrm>
          <a:prstGeom prst="rect">
            <a:avLst/>
          </a:prstGeom>
          <a:noFill/>
          <a:ln/>
        </p:spPr>
        <p:txBody>
          <a:bodyPr wrap="square" rtlCol="0" anchor="ctr"/>
          <a:lstStyle/>
          <a:p>
            <a:r>
              <a:rPr sz="2900" b="1">
                <a:solidFill>
                  <a:srgbClr val="1F2A3C"/>
                </a:solidFill>
                <a:latin typeface="Cambria"/>
              </a:rPr>
              <a:t>Representative Output Summary — Accepted vs. Rejected</a:t>
            </a:r>
          </a:p>
        </p:txBody>
      </p:sp>
      <p:sp>
        <p:nvSpPr>
          <p:cNvPr id="5" name="Text 5"/>
          <p:cNvSpPr txBox="1"/>
          <p:nvPr/>
        </p:nvSpPr>
        <p:spPr>
          <a:xfrm>
            <a:off x="502920" y="1417320"/>
            <a:ext cx="5422392" cy="274320"/>
          </a:xfrm>
          <a:prstGeom prst="rect">
            <a:avLst/>
          </a:prstGeom>
          <a:noFill/>
          <a:ln/>
        </p:spPr>
        <p:txBody>
          <a:bodyPr wrap="square" lIns="0" tIns="0" rIns="0" bIns="0" rtlCol="0" anchor="ctr"/>
          <a:lstStyle/>
          <a:p>
            <a:pPr marL="0" indent="0" algn="l">
              <a:buNone/>
            </a:pPr>
            <a:r>
              <a:rPr lang="en-US" sz="1100" b="1" spc="100" dirty="0">
                <a:solidFill>
                  <a:srgbClr val="2E6E7E"/>
                </a:solidFill>
                <a:latin typeface="Calibri"/>
                <a:ea typeface="Calibri"/>
                <a:cs typeface="Calibri"/>
              </a:rPr>
              <a:t>SAFE ARITHMETIC — ANALYSIS</a:t>
            </a:r>
            <a:r>
              <a:rPr lang="en-US" sz="950" dirty="0">
                <a:solidFill>
                  <a:srgbClr val="6B7480"/>
                </a:solidFill>
                <a:latin typeface="Courier New"/>
                <a:ea typeface="Courier New"/>
                <a:cs typeface="Courier New"/>
              </a:rPr>
              <a:t>    examples/safe_arithmetic.qc</a:t>
            </a:r>
          </a:p>
        </p:txBody>
      </p:sp>
      <p:sp>
        <p:nvSpPr>
          <p:cNvPr id="6" name="Shape 6"/>
          <p:cNvSpPr/>
          <p:nvPr/>
        </p:nvSpPr>
        <p:spPr>
          <a:xfrm>
            <a:off x="502920" y="1719072"/>
            <a:ext cx="5422392" cy="1600200"/>
          </a:xfrm>
          <a:prstGeom prst="rect">
            <a:avLst/>
          </a:prstGeom>
          <a:solidFill>
            <a:srgbClr val="1F2A3C"/>
          </a:solidFill>
          <a:ln w="19050">
            <a:solidFill>
              <a:srgbClr val="2E6E7E"/>
            </a:solidFill>
            <a:prstDash val="solid"/>
          </a:ln>
        </p:spPr>
        <p:txBody>
          <a:bodyPr/>
          <a:lstStyle/>
          <a:p>
            <a:endParaRPr/>
          </a:p>
        </p:txBody>
      </p:sp>
      <p:sp>
        <p:nvSpPr>
          <p:cNvPr id="7" name="Text 7"/>
          <p:cNvSpPr txBox="1"/>
          <p:nvPr/>
        </p:nvSpPr>
        <p:spPr>
          <a:xfrm>
            <a:off x="704088" y="1828800"/>
            <a:ext cx="5020056" cy="1417320"/>
          </a:xfrm>
          <a:prstGeom prst="rect">
            <a:avLst/>
          </a:prstGeom>
          <a:noFill/>
          <a:ln/>
        </p:spPr>
        <p:txBody>
          <a:bodyPr wrap="square" lIns="0" tIns="0" rIns="0" bIns="0" rtlCol="0" anchor="t"/>
          <a:lstStyle/>
          <a:p>
            <a:pPr marL="0" indent="0" algn="l">
              <a:lnSpc>
                <a:spcPct val="125000"/>
              </a:lnSpc>
              <a:buNone/>
            </a:pPr>
            <a:r>
              <a:rPr lang="en-US" sz="1050" dirty="0">
                <a:solidFill>
                  <a:srgbClr val="9AA3AF"/>
                </a:solidFill>
                <a:latin typeface="Courier New"/>
                <a:ea typeface="Courier New"/>
                <a:cs typeface="Courier New"/>
              </a:rPr>
              <a:t>Source:</a:t>
            </a:r>
          </a:p>
          <a:p>
            <a:pPr marL="0" indent="0" algn="l">
              <a:lnSpc>
                <a:spcPct val="125000"/>
              </a:lnSpc>
              <a:buNone/>
            </a:pPr>
            <a:r>
              <a:rPr lang="en-US" sz="1050" dirty="0">
                <a:solidFill>
                  <a:srgbClr val="FFFFFF"/>
                </a:solidFill>
                <a:latin typeface="Courier New"/>
                <a:ea typeface="Courier New"/>
                <a:cs typeface="Courier New"/>
              </a:rPr>
              <a:t>int x = 10; int y = 20; int z = x + y; print z;</a:t>
            </a:r>
          </a:p>
          <a:p>
            <a:pPr marL="0" indent="0" algn="l">
              <a:lnSpc>
                <a:spcPct val="125000"/>
              </a:lnSpc>
              <a:buNone/>
            </a:pPr>
            <a:r>
              <a:rPr lang="en-US" sz="1050" dirty="0">
                <a:solidFill>
                  <a:srgbClr val="9AA3AF"/>
                </a:solidFill>
                <a:latin typeface="Courier New"/>
                <a:ea typeface="Courier New"/>
                <a:cs typeface="Courier New"/>
              </a:rPr>
              <a:t>Analysis result:</a:t>
            </a:r>
          </a:p>
          <a:p>
            <a:pPr marL="0" indent="0" algn="l">
              <a:lnSpc>
                <a:spcPct val="125000"/>
              </a:lnSpc>
              <a:buNone/>
            </a:pPr>
            <a:r>
              <a:rPr lang="en-US" sz="1050" dirty="0">
                <a:solidFill>
                  <a:srgbClr val="9FE3C8"/>
                </a:solidFill>
                <a:latin typeface="Courier New"/>
                <a:ea typeface="Courier New"/>
                <a:cs typeface="Courier New"/>
              </a:rPr>
              <a:t>x.1 -&gt; [10,10] -&gt; SAFE</a:t>
            </a:r>
          </a:p>
          <a:p>
            <a:pPr marL="0" indent="0" algn="l">
              <a:lnSpc>
                <a:spcPct val="125000"/>
              </a:lnSpc>
              <a:buNone/>
            </a:pPr>
            <a:r>
              <a:rPr lang="en-US" sz="1050" dirty="0">
                <a:solidFill>
                  <a:srgbClr val="9FE3C8"/>
                </a:solidFill>
                <a:latin typeface="Courier New"/>
                <a:ea typeface="Courier New"/>
                <a:cs typeface="Courier New"/>
              </a:rPr>
              <a:t>y.1 -&gt; [20,20] -&gt; SAFE</a:t>
            </a:r>
          </a:p>
          <a:p>
            <a:pPr marL="0" indent="0" algn="l">
              <a:lnSpc>
                <a:spcPct val="125000"/>
              </a:lnSpc>
              <a:buNone/>
            </a:pPr>
            <a:r>
              <a:rPr lang="en-US" sz="1050" b="1" dirty="0">
                <a:solidFill>
                  <a:srgbClr val="9FE3C8"/>
                </a:solidFill>
                <a:latin typeface="Courier New"/>
                <a:ea typeface="Courier New"/>
                <a:cs typeface="Courier New"/>
              </a:rPr>
              <a:t>z.1 -&gt; [30,30] -&gt; SAFE</a:t>
            </a:r>
          </a:p>
          <a:p>
            <a:pPr marL="0" indent="0" algn="l">
              <a:lnSpc>
                <a:spcPct val="125000"/>
              </a:lnSpc>
              <a:buNone/>
            </a:pPr>
            <a:r>
              <a:rPr lang="en-US" sz="1050" dirty="0">
                <a:solidFill>
                  <a:srgbClr val="C9D4DE"/>
                </a:solidFill>
                <a:latin typeface="Courier New"/>
                <a:ea typeface="Courier New"/>
                <a:cs typeface="Courier New"/>
              </a:rPr>
              <a:t>3 analysed, 3 safe, 3 rewritten, 0 rejected.</a:t>
            </a:r>
          </a:p>
        </p:txBody>
      </p:sp>
      <p:sp>
        <p:nvSpPr>
          <p:cNvPr id="8" name="Text 8"/>
          <p:cNvSpPr txBox="1"/>
          <p:nvPr/>
        </p:nvSpPr>
        <p:spPr>
          <a:xfrm>
            <a:off x="502920" y="3520440"/>
            <a:ext cx="5422392" cy="274320"/>
          </a:xfrm>
          <a:prstGeom prst="rect">
            <a:avLst/>
          </a:prstGeom>
          <a:noFill/>
          <a:ln/>
        </p:spPr>
        <p:txBody>
          <a:bodyPr wrap="square" lIns="0" tIns="0" rIns="0" bIns="0" rtlCol="0" anchor="ctr"/>
          <a:lstStyle/>
          <a:p>
            <a:pPr marL="0" indent="0" algn="l">
              <a:buNone/>
            </a:pPr>
            <a:r>
              <a:rPr lang="en-US" sz="1100" b="1" spc="100" dirty="0">
                <a:solidFill>
                  <a:srgbClr val="2E6E7E"/>
                </a:solidFill>
                <a:latin typeface="Calibri"/>
                <a:ea typeface="Calibri"/>
                <a:cs typeface="Calibri"/>
              </a:rPr>
              <a:t>SAFE ARITHMETIC — QUANTIZED IR</a:t>
            </a:r>
            <a:r>
              <a:rPr lang="en-US" sz="950" dirty="0">
                <a:solidFill>
                  <a:srgbClr val="6B7480"/>
                </a:solidFill>
                <a:latin typeface="Courier New"/>
                <a:ea typeface="Courier New"/>
                <a:cs typeface="Courier New"/>
              </a:rPr>
              <a:t>    selective quantization output</a:t>
            </a:r>
          </a:p>
        </p:txBody>
      </p:sp>
      <p:sp>
        <p:nvSpPr>
          <p:cNvPr id="9" name="Shape 9"/>
          <p:cNvSpPr/>
          <p:nvPr/>
        </p:nvSpPr>
        <p:spPr>
          <a:xfrm>
            <a:off x="502920" y="3822192"/>
            <a:ext cx="5422392" cy="1600200"/>
          </a:xfrm>
          <a:prstGeom prst="rect">
            <a:avLst/>
          </a:prstGeom>
          <a:solidFill>
            <a:srgbClr val="1F2A3C"/>
          </a:solidFill>
          <a:ln w="19050">
            <a:solidFill>
              <a:srgbClr val="2E6E7E"/>
            </a:solidFill>
            <a:prstDash val="solid"/>
          </a:ln>
        </p:spPr>
        <p:txBody>
          <a:bodyPr/>
          <a:lstStyle/>
          <a:p>
            <a:endParaRPr/>
          </a:p>
        </p:txBody>
      </p:sp>
      <p:sp>
        <p:nvSpPr>
          <p:cNvPr id="10" name="Text 10"/>
          <p:cNvSpPr txBox="1"/>
          <p:nvPr/>
        </p:nvSpPr>
        <p:spPr>
          <a:xfrm>
            <a:off x="704088" y="3931920"/>
            <a:ext cx="5020056" cy="1417320"/>
          </a:xfrm>
          <a:prstGeom prst="rect">
            <a:avLst/>
          </a:prstGeom>
          <a:noFill/>
          <a:ln/>
        </p:spPr>
        <p:txBody>
          <a:bodyPr wrap="square" lIns="0" tIns="0" rIns="0" bIns="0" rtlCol="0" anchor="t"/>
          <a:lstStyle/>
          <a:p>
            <a:pPr marL="0" indent="0" algn="l">
              <a:lnSpc>
                <a:spcPct val="125000"/>
              </a:lnSpc>
              <a:buNone/>
            </a:pPr>
            <a:r>
              <a:rPr lang="en-US" sz="1050" dirty="0">
                <a:solidFill>
                  <a:srgbClr val="9AA3AF"/>
                </a:solidFill>
                <a:latin typeface="Courier New"/>
                <a:ea typeface="Courier New"/>
                <a:cs typeface="Courier New"/>
              </a:rPr>
              <a:t>Quantized IR:</a:t>
            </a:r>
          </a:p>
          <a:p>
            <a:pPr marL="0" indent="0" algn="l">
              <a:lnSpc>
                <a:spcPct val="125000"/>
              </a:lnSpc>
              <a:buNone/>
            </a:pPr>
            <a:r>
              <a:rPr lang="en-US" sz="1050" dirty="0">
                <a:solidFill>
                  <a:srgbClr val="9FE3C8"/>
                </a:solidFill>
                <a:latin typeface="Courier New"/>
                <a:ea typeface="Courier New"/>
                <a:cs typeface="Courier New"/>
              </a:rPr>
              <a:t>x.1 : int8 = 10</a:t>
            </a:r>
          </a:p>
          <a:p>
            <a:pPr marL="0" indent="0" algn="l">
              <a:lnSpc>
                <a:spcPct val="125000"/>
              </a:lnSpc>
              <a:buNone/>
            </a:pPr>
            <a:r>
              <a:rPr lang="en-US" sz="1050" dirty="0">
                <a:solidFill>
                  <a:srgbClr val="9FE3C8"/>
                </a:solidFill>
                <a:latin typeface="Courier New"/>
                <a:ea typeface="Courier New"/>
                <a:cs typeface="Courier New"/>
              </a:rPr>
              <a:t>y.1 : int8 = 20</a:t>
            </a:r>
          </a:p>
          <a:p>
            <a:pPr marL="0" indent="0" algn="l">
              <a:lnSpc>
                <a:spcPct val="125000"/>
              </a:lnSpc>
              <a:buNone/>
            </a:pPr>
            <a:r>
              <a:rPr lang="en-US" sz="1050" b="1" dirty="0">
                <a:solidFill>
                  <a:srgbClr val="9FE3C8"/>
                </a:solidFill>
                <a:latin typeface="Courier New"/>
                <a:ea typeface="Courier New"/>
                <a:cs typeface="Courier New"/>
              </a:rPr>
              <a:t>z.1 : int8 = x.1 + y.1</a:t>
            </a:r>
          </a:p>
        </p:txBody>
      </p:sp>
      <p:sp>
        <p:nvSpPr>
          <p:cNvPr id="11" name="Text 11"/>
          <p:cNvSpPr txBox="1"/>
          <p:nvPr/>
        </p:nvSpPr>
        <p:spPr>
          <a:xfrm>
            <a:off x="6263640" y="1417320"/>
            <a:ext cx="5422392" cy="274320"/>
          </a:xfrm>
          <a:prstGeom prst="rect">
            <a:avLst/>
          </a:prstGeom>
          <a:noFill/>
          <a:ln/>
        </p:spPr>
        <p:txBody>
          <a:bodyPr wrap="square" lIns="0" tIns="0" rIns="0" bIns="0" rtlCol="0" anchor="ctr"/>
          <a:lstStyle/>
          <a:p>
            <a:pPr marL="0" indent="0" algn="l">
              <a:buNone/>
            </a:pPr>
            <a:r>
              <a:rPr lang="en-US" sz="1100" b="1" spc="100" dirty="0">
                <a:solidFill>
                  <a:srgbClr val="9C4A3E"/>
                </a:solidFill>
                <a:latin typeface="Calibri"/>
                <a:ea typeface="Calibri"/>
                <a:cs typeface="Calibri"/>
              </a:rPr>
              <a:t>OVERFLOW REJECTION</a:t>
            </a:r>
            <a:r>
              <a:rPr lang="en-US" sz="950" dirty="0">
                <a:solidFill>
                  <a:srgbClr val="6B7480"/>
                </a:solidFill>
                <a:latin typeface="Courier New"/>
                <a:ea typeface="Courier New"/>
                <a:cs typeface="Courier New"/>
              </a:rPr>
              <a:t>    examples/overflow_rejection.qc</a:t>
            </a:r>
          </a:p>
        </p:txBody>
      </p:sp>
      <p:sp>
        <p:nvSpPr>
          <p:cNvPr id="12" name="Shape 12"/>
          <p:cNvSpPr/>
          <p:nvPr/>
        </p:nvSpPr>
        <p:spPr>
          <a:xfrm>
            <a:off x="6263640" y="1719072"/>
            <a:ext cx="5422392" cy="1600200"/>
          </a:xfrm>
          <a:prstGeom prst="rect">
            <a:avLst/>
          </a:prstGeom>
          <a:solidFill>
            <a:srgbClr val="1F2A3C"/>
          </a:solidFill>
          <a:ln w="19050">
            <a:solidFill>
              <a:srgbClr val="9C4A3E"/>
            </a:solidFill>
            <a:prstDash val="solid"/>
          </a:ln>
        </p:spPr>
        <p:txBody>
          <a:bodyPr/>
          <a:lstStyle/>
          <a:p>
            <a:endParaRPr/>
          </a:p>
        </p:txBody>
      </p:sp>
      <p:sp>
        <p:nvSpPr>
          <p:cNvPr id="13" name="Text 13"/>
          <p:cNvSpPr txBox="1"/>
          <p:nvPr/>
        </p:nvSpPr>
        <p:spPr>
          <a:xfrm>
            <a:off x="6464808" y="1828800"/>
            <a:ext cx="5020056" cy="1417320"/>
          </a:xfrm>
          <a:prstGeom prst="rect">
            <a:avLst/>
          </a:prstGeom>
          <a:noFill/>
          <a:ln/>
        </p:spPr>
        <p:txBody>
          <a:bodyPr wrap="square" lIns="0" tIns="0" rIns="0" bIns="0" rtlCol="0" anchor="t"/>
          <a:lstStyle/>
          <a:p>
            <a:r>
              <a:rPr sz="1000" b="0">
                <a:solidFill>
                  <a:srgbClr val="9AA3AF"/>
                </a:solidFill>
                <a:latin typeface="Courier New"/>
              </a:rPr>
              <a:t>Source:</a:t>
            </a:r>
          </a:p>
          <a:p>
            <a:r>
              <a:rPr sz="1000" b="0">
                <a:solidFill>
                  <a:srgbClr val="FFFFFF"/>
                </a:solidFill>
                <a:latin typeface="Courier New"/>
              </a:rPr>
              <a:t>int x = 100; int y = 30; int z = x + y; print z;</a:t>
            </a:r>
          </a:p>
          <a:p>
            <a:r>
              <a:rPr sz="1000" b="0">
                <a:solidFill>
                  <a:srgbClr val="9AA3AF"/>
                </a:solidFill>
                <a:latin typeface="Courier New"/>
              </a:rPr>
              <a:t>Analysis result:</a:t>
            </a:r>
          </a:p>
          <a:p>
            <a:r>
              <a:rPr sz="1000" b="0">
                <a:solidFill>
                  <a:srgbClr val="C9D4DE"/>
                </a:solidFill>
                <a:latin typeface="Courier New"/>
              </a:rPr>
              <a:t>x.1 -&gt; [100,100] -&gt; SAFE</a:t>
            </a:r>
          </a:p>
          <a:p>
            <a:r>
              <a:rPr sz="1000" b="0">
                <a:solidFill>
                  <a:srgbClr val="C9D4DE"/>
                </a:solidFill>
                <a:latin typeface="Courier New"/>
              </a:rPr>
              <a:t>y.1 -&gt; [30,30] -&gt; SAFE</a:t>
            </a:r>
          </a:p>
          <a:p>
            <a:r>
              <a:rPr sz="1000" b="1">
                <a:solidFill>
                  <a:srgbClr val="F0AFA4"/>
                </a:solidFill>
                <a:latin typeface="Courier New"/>
              </a:rPr>
              <a:t>z.1 -&gt; [130,130] -&gt; REJECTED</a:t>
            </a:r>
          </a:p>
          <a:p>
            <a:r>
              <a:rPr sz="1000" b="1">
                <a:solidFill>
                  <a:srgbClr val="F0AFA4"/>
                </a:solidFill>
                <a:latin typeface="Courier New"/>
              </a:rPr>
              <a:t>Reason: possible overflow (130 &gt; 127)</a:t>
            </a:r>
          </a:p>
          <a:p>
            <a:r>
              <a:rPr sz="1000" b="0">
                <a:solidFill>
                  <a:srgbClr val="9AA3AF"/>
                </a:solidFill>
                <a:latin typeface="Courier New"/>
              </a:rPr>
              <a:t>3 analysed; 2 rewritten, 1 rejected.</a:t>
            </a:r>
          </a:p>
        </p:txBody>
      </p:sp>
      <p:sp>
        <p:nvSpPr>
          <p:cNvPr id="14" name="Text 14"/>
          <p:cNvSpPr txBox="1"/>
          <p:nvPr/>
        </p:nvSpPr>
        <p:spPr>
          <a:xfrm>
            <a:off x="6263640" y="3520440"/>
            <a:ext cx="5422392" cy="274320"/>
          </a:xfrm>
          <a:prstGeom prst="rect">
            <a:avLst/>
          </a:prstGeom>
          <a:noFill/>
          <a:ln/>
        </p:spPr>
        <p:txBody>
          <a:bodyPr wrap="square" lIns="0" tIns="0" rIns="0" bIns="0" rtlCol="0" anchor="ctr"/>
          <a:lstStyle/>
          <a:p>
            <a:pPr marL="0" indent="0" algn="l">
              <a:buNone/>
            </a:pPr>
            <a:r>
              <a:rPr lang="en-US" sz="1100" b="1" spc="100" dirty="0">
                <a:solidFill>
                  <a:srgbClr val="9C4A3E"/>
                </a:solidFill>
                <a:latin typeface="Calibri"/>
                <a:ea typeface="Calibri"/>
                <a:cs typeface="Calibri"/>
              </a:rPr>
              <a:t>NON-INTEGRAL REJECTION</a:t>
            </a:r>
            <a:r>
              <a:rPr lang="en-US" sz="950" dirty="0">
                <a:solidFill>
                  <a:srgbClr val="6B7480"/>
                </a:solidFill>
                <a:latin typeface="Courier New"/>
                <a:ea typeface="Courier New"/>
                <a:cs typeface="Courier New"/>
              </a:rPr>
              <a:t>    examples/non_integral_rejection.qc</a:t>
            </a:r>
          </a:p>
        </p:txBody>
      </p:sp>
      <p:sp>
        <p:nvSpPr>
          <p:cNvPr id="15" name="Shape 15"/>
          <p:cNvSpPr/>
          <p:nvPr/>
        </p:nvSpPr>
        <p:spPr>
          <a:xfrm>
            <a:off x="6263640" y="3822192"/>
            <a:ext cx="5422392" cy="1600200"/>
          </a:xfrm>
          <a:prstGeom prst="rect">
            <a:avLst/>
          </a:prstGeom>
          <a:solidFill>
            <a:srgbClr val="1F2A3C"/>
          </a:solidFill>
          <a:ln w="19050">
            <a:solidFill>
              <a:srgbClr val="9C4A3E"/>
            </a:solidFill>
            <a:prstDash val="solid"/>
          </a:ln>
        </p:spPr>
        <p:txBody>
          <a:bodyPr/>
          <a:lstStyle/>
          <a:p>
            <a:endParaRPr/>
          </a:p>
        </p:txBody>
      </p:sp>
      <p:sp>
        <p:nvSpPr>
          <p:cNvPr id="16" name="Text 16"/>
          <p:cNvSpPr txBox="1"/>
          <p:nvPr/>
        </p:nvSpPr>
        <p:spPr>
          <a:xfrm>
            <a:off x="6464808" y="3931920"/>
            <a:ext cx="5020056" cy="1417320"/>
          </a:xfrm>
          <a:prstGeom prst="rect">
            <a:avLst/>
          </a:prstGeom>
          <a:noFill/>
          <a:ln/>
        </p:spPr>
        <p:txBody>
          <a:bodyPr wrap="square" lIns="0" tIns="0" rIns="0" bIns="0" rtlCol="0" anchor="t"/>
          <a:lstStyle/>
          <a:p>
            <a:pPr marL="0" indent="0" algn="l">
              <a:lnSpc>
                <a:spcPct val="125000"/>
              </a:lnSpc>
              <a:buNone/>
            </a:pPr>
            <a:r>
              <a:rPr lang="en-US" sz="1050" dirty="0">
                <a:solidFill>
                  <a:srgbClr val="9AA3AF"/>
                </a:solidFill>
                <a:latin typeface="Courier New"/>
                <a:ea typeface="Courier New"/>
                <a:cs typeface="Courier New"/>
              </a:rPr>
              <a:t>Source:</a:t>
            </a:r>
          </a:p>
          <a:p>
            <a:pPr marL="0" indent="0" algn="l">
              <a:lnSpc>
                <a:spcPct val="125000"/>
              </a:lnSpc>
              <a:buNone/>
            </a:pPr>
            <a:r>
              <a:rPr lang="en-US" sz="1050" dirty="0">
                <a:solidFill>
                  <a:srgbClr val="FFFFFF"/>
                </a:solidFill>
                <a:latin typeface="Courier New"/>
                <a:ea typeface="Courier New"/>
                <a:cs typeface="Courier New"/>
              </a:rPr>
              <a:t>float x = 10.0; float y = 3.5; float z = x + y; print z;</a:t>
            </a:r>
          </a:p>
          <a:p>
            <a:pPr marL="0" indent="0" algn="l">
              <a:lnSpc>
                <a:spcPct val="125000"/>
              </a:lnSpc>
              <a:buNone/>
            </a:pPr>
            <a:r>
              <a:rPr lang="en-US" sz="1050" dirty="0">
                <a:solidFill>
                  <a:srgbClr val="9AA3AF"/>
                </a:solidFill>
                <a:latin typeface="Courier New"/>
                <a:ea typeface="Courier New"/>
                <a:cs typeface="Courier New"/>
              </a:rPr>
              <a:t>Analysis result:</a:t>
            </a:r>
          </a:p>
          <a:p>
            <a:pPr marL="0" indent="0" algn="l">
              <a:lnSpc>
                <a:spcPct val="125000"/>
              </a:lnSpc>
              <a:buNone/>
            </a:pPr>
            <a:r>
              <a:rPr lang="en-US" sz="1050" dirty="0">
                <a:solidFill>
                  <a:srgbClr val="C9D4DE"/>
                </a:solidFill>
                <a:latin typeface="Courier New"/>
                <a:ea typeface="Courier New"/>
                <a:cs typeface="Courier New"/>
              </a:rPr>
              <a:t>x.1 -&gt; [10,10] -&gt; integral -&gt; SAFE</a:t>
            </a:r>
          </a:p>
          <a:p>
            <a:pPr marL="0" indent="0" algn="l">
              <a:lnSpc>
                <a:spcPct val="125000"/>
              </a:lnSpc>
              <a:buNone/>
            </a:pPr>
            <a:r>
              <a:rPr lang="en-US" sz="1050" b="1" dirty="0">
                <a:solidFill>
                  <a:srgbClr val="F0AFA4"/>
                </a:solidFill>
                <a:latin typeface="Courier New"/>
                <a:ea typeface="Courier New"/>
                <a:cs typeface="Courier New"/>
              </a:rPr>
              <a:t>y.1 -&gt; [3.5,3.5] -&gt; non-integral -&gt; REJECTED</a:t>
            </a:r>
          </a:p>
          <a:p>
            <a:pPr marL="0" indent="0" algn="l">
              <a:lnSpc>
                <a:spcPct val="125000"/>
              </a:lnSpc>
              <a:buNone/>
            </a:pPr>
            <a:r>
              <a:rPr lang="en-US" sz="1050" b="1" dirty="0">
                <a:solidFill>
                  <a:srgbClr val="F0AFA4"/>
                </a:solidFill>
                <a:latin typeface="Courier New"/>
                <a:ea typeface="Courier New"/>
                <a:cs typeface="Courier New"/>
              </a:rPr>
              <a:t>z.1 -&gt; [13.5,13.5] -&gt; non-integral -&gt; REJECTED</a:t>
            </a:r>
          </a:p>
          <a:p>
            <a:pPr marL="0" indent="0" algn="l">
              <a:lnSpc>
                <a:spcPct val="125000"/>
              </a:lnSpc>
              <a:buNone/>
            </a:pPr>
            <a:r>
              <a:rPr lang="en-US" sz="1050" dirty="0">
                <a:solidFill>
                  <a:srgbClr val="C9D4DE"/>
                </a:solidFill>
                <a:latin typeface="Courier New"/>
                <a:ea typeface="Courier New"/>
                <a:cs typeface="Courier New"/>
              </a:rPr>
              <a:t>3 analysed, 1 safe, 1 rewritten, 2 rejected.</a:t>
            </a:r>
          </a:p>
        </p:txBody>
      </p:sp>
      <p:sp>
        <p:nvSpPr>
          <p:cNvPr id="17" name="Text 17"/>
          <p:cNvSpPr txBox="1"/>
          <p:nvPr/>
        </p:nvSpPr>
        <p:spPr>
          <a:xfrm>
            <a:off x="502920" y="5623560"/>
            <a:ext cx="11183112" cy="457200"/>
          </a:xfrm>
          <a:prstGeom prst="rect">
            <a:avLst/>
          </a:prstGeom>
          <a:noFill/>
          <a:ln/>
        </p:spPr>
        <p:txBody>
          <a:bodyPr wrap="square" rtlCol="0" anchor="t"/>
          <a:lstStyle/>
          <a:p>
            <a:r>
              <a:rPr sz="950">
                <a:solidFill>
                  <a:srgbClr val="7B8490"/>
                </a:solidFill>
                <a:latin typeface="Calibri"/>
              </a:rPr>
              <a:t>Typeset summary from the report; genuine terminal captures are shown on demo slides 19–21. Rejection is per value: safe operands may still be quantized when a dependent result is rejected.</a:t>
            </a:r>
          </a:p>
        </p:txBody>
      </p:sp>
      <p:sp>
        <p:nvSpPr>
          <p:cNvPr id="18" name="Text 18"/>
          <p:cNvSpPr txBox="1"/>
          <p:nvPr/>
        </p:nvSpPr>
        <p:spPr>
          <a:xfrm>
            <a:off x="502920" y="6492240"/>
            <a:ext cx="9601200" cy="237744"/>
          </a:xfrm>
          <a:prstGeom prst="rect">
            <a:avLst/>
          </a:prstGeom>
          <a:noFill/>
          <a:ln/>
        </p:spPr>
        <p:txBody>
          <a:bodyPr wrap="square" rtlCol="0" anchor="ctr"/>
          <a:lstStyle/>
          <a:p>
            <a:pPr marL="0" indent="0" algn="l">
              <a:buNone/>
            </a:pPr>
            <a:r>
              <a:rPr lang="en-US" sz="800" dirty="0">
                <a:solidFill>
                  <a:srgbClr val="9AA3AF"/>
                </a:solidFill>
                <a:latin typeface="Calibri"/>
                <a:ea typeface="Calibri"/>
                <a:cs typeface="Calibri"/>
              </a:rPr>
              <a:t>BCSE307L — Compiler Design   |   Range-Aware Edge AI Quantization Compiler</a:t>
            </a:r>
          </a:p>
        </p:txBody>
      </p:sp>
      <p:sp>
        <p:nvSpPr>
          <p:cNvPr id="19" name="Text 19"/>
          <p:cNvSpPr txBox="1"/>
          <p:nvPr/>
        </p:nvSpPr>
        <p:spPr>
          <a:xfrm>
            <a:off x="11247120" y="6492240"/>
            <a:ext cx="457200" cy="237744"/>
          </a:xfrm>
          <a:prstGeom prst="rect">
            <a:avLst/>
          </a:prstGeom>
          <a:noFill/>
          <a:ln/>
        </p:spPr>
        <p:txBody>
          <a:bodyPr wrap="square" rtlCol="0" anchor="ctr"/>
          <a:lstStyle/>
          <a:p>
            <a:pPr algn="r"/>
            <a:r>
              <a:rPr sz="850">
                <a:solidFill>
                  <a:srgbClr val="8A919A"/>
                </a:solidFill>
                <a:latin typeface="Calibri"/>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3"/>
          <p:cNvSpPr txBox="1"/>
          <p:nvPr/>
        </p:nvSpPr>
        <p:spPr>
          <a:xfrm>
            <a:off x="502920" y="365760"/>
            <a:ext cx="10058400" cy="274320"/>
          </a:xfrm>
          <a:prstGeom prst="rect">
            <a:avLst/>
          </a:prstGeom>
          <a:noFill/>
          <a:ln/>
        </p:spPr>
        <p:txBody>
          <a:bodyPr wrap="square" rtlCol="0" anchor="ctr"/>
          <a:lstStyle/>
          <a:p>
            <a:pPr marL="0" indent="0" algn="l">
              <a:buNone/>
            </a:pPr>
            <a:r>
              <a:rPr lang="en-US" sz="1100" b="1" spc="200" dirty="0">
                <a:solidFill>
                  <a:srgbClr val="2E6E7E"/>
                </a:solidFill>
                <a:latin typeface="Calibri"/>
                <a:ea typeface="Calibri"/>
                <a:cs typeface="Calibri"/>
              </a:rPr>
              <a:t>REVIEW 2 · CONTROL FLOW</a:t>
            </a:r>
          </a:p>
        </p:txBody>
      </p:sp>
      <p:sp>
        <p:nvSpPr>
          <p:cNvPr id="4" name="Text 4"/>
          <p:cNvSpPr txBox="1"/>
          <p:nvPr/>
        </p:nvSpPr>
        <p:spPr>
          <a:xfrm>
            <a:off x="502920" y="621792"/>
            <a:ext cx="11155680" cy="594360"/>
          </a:xfrm>
          <a:prstGeom prst="rect">
            <a:avLst/>
          </a:prstGeom>
          <a:noFill/>
          <a:ln/>
        </p:spPr>
        <p:txBody>
          <a:bodyPr wrap="square" rtlCol="0" anchor="ctr"/>
          <a:lstStyle/>
          <a:p>
            <a:pPr marL="0" indent="0" algn="l">
              <a:buNone/>
            </a:pPr>
            <a:r>
              <a:rPr lang="en-US" sz="2900" b="1" dirty="0">
                <a:solidFill>
                  <a:srgbClr val="1F2A3C"/>
                </a:solidFill>
                <a:latin typeface="Cambria"/>
                <a:ea typeface="Cambria"/>
                <a:cs typeface="Cambria"/>
              </a:rPr>
              <a:t>Control-Flow Verification: φ-Nodes &amp; Loops</a:t>
            </a:r>
          </a:p>
        </p:txBody>
      </p:sp>
      <p:sp>
        <p:nvSpPr>
          <p:cNvPr id="5" name="Text 5"/>
          <p:cNvSpPr txBox="1"/>
          <p:nvPr/>
        </p:nvSpPr>
        <p:spPr>
          <a:xfrm>
            <a:off x="502920" y="1417320"/>
            <a:ext cx="5303520" cy="274320"/>
          </a:xfrm>
          <a:prstGeom prst="rect">
            <a:avLst/>
          </a:prstGeom>
          <a:noFill/>
          <a:ln/>
        </p:spPr>
        <p:txBody>
          <a:bodyPr wrap="square" lIns="0" tIns="0" rIns="0" bIns="0" rtlCol="0" anchor="ctr"/>
          <a:lstStyle/>
          <a:p>
            <a:pPr marL="0" indent="0" algn="l">
              <a:buNone/>
            </a:pPr>
            <a:r>
              <a:rPr lang="en-US" sz="1100" b="1" spc="100" dirty="0">
                <a:solidFill>
                  <a:srgbClr val="2E6E7E"/>
                </a:solidFill>
                <a:latin typeface="Calibri"/>
                <a:ea typeface="Calibri"/>
                <a:cs typeface="Calibri"/>
              </a:rPr>
              <a:t>IF / ELSE + SSA φ</a:t>
            </a:r>
            <a:r>
              <a:rPr lang="en-US" sz="950" dirty="0">
                <a:solidFill>
                  <a:srgbClr val="6B7480"/>
                </a:solidFill>
                <a:latin typeface="Courier New"/>
                <a:ea typeface="Courier New"/>
                <a:cs typeface="Courier New"/>
              </a:rPr>
              <a:t>    examples/if_else_phi.qc</a:t>
            </a:r>
          </a:p>
        </p:txBody>
      </p:sp>
      <p:sp>
        <p:nvSpPr>
          <p:cNvPr id="6" name="Shape 6"/>
          <p:cNvSpPr/>
          <p:nvPr/>
        </p:nvSpPr>
        <p:spPr>
          <a:xfrm>
            <a:off x="822960" y="1810512"/>
            <a:ext cx="1828800" cy="438912"/>
          </a:xfrm>
          <a:prstGeom prst="rect">
            <a:avLst/>
          </a:prstGeom>
          <a:solidFill>
            <a:srgbClr val="F4F6F8"/>
          </a:solidFill>
          <a:ln w="12700">
            <a:solidFill>
              <a:srgbClr val="1F2A3C"/>
            </a:solidFill>
            <a:prstDash val="solid"/>
          </a:ln>
        </p:spPr>
        <p:txBody>
          <a:bodyPr/>
          <a:lstStyle/>
          <a:p>
            <a:endParaRPr/>
          </a:p>
        </p:txBody>
      </p:sp>
      <p:sp>
        <p:nvSpPr>
          <p:cNvPr id="7" name="Text 7"/>
          <p:cNvSpPr txBox="1"/>
          <p:nvPr/>
        </p:nvSpPr>
        <p:spPr>
          <a:xfrm>
            <a:off x="822960" y="1810512"/>
            <a:ext cx="1828800" cy="438912"/>
          </a:xfrm>
          <a:prstGeom prst="rect">
            <a:avLst/>
          </a:prstGeom>
          <a:noFill/>
          <a:ln/>
        </p:spPr>
        <p:txBody>
          <a:bodyPr wrap="square" lIns="0" tIns="0" rIns="0" bIns="0" rtlCol="0" anchor="ctr"/>
          <a:lstStyle/>
          <a:p>
            <a:pPr marL="0" indent="0" algn="ctr">
              <a:buNone/>
            </a:pPr>
            <a:r>
              <a:rPr lang="en-US" sz="1100" b="1" dirty="0">
                <a:solidFill>
                  <a:srgbClr val="1F2A3C"/>
                </a:solidFill>
                <a:latin typeface="Courier New"/>
                <a:ea typeface="Courier New"/>
                <a:cs typeface="Courier New"/>
              </a:rPr>
              <a:t>B3  ·  max.3</a:t>
            </a:r>
          </a:p>
        </p:txBody>
      </p:sp>
      <p:sp>
        <p:nvSpPr>
          <p:cNvPr id="8" name="Shape 8"/>
          <p:cNvSpPr/>
          <p:nvPr/>
        </p:nvSpPr>
        <p:spPr>
          <a:xfrm>
            <a:off x="3657600" y="1810512"/>
            <a:ext cx="1828800" cy="438912"/>
          </a:xfrm>
          <a:prstGeom prst="rect">
            <a:avLst/>
          </a:prstGeom>
          <a:solidFill>
            <a:srgbClr val="F4F6F8"/>
          </a:solidFill>
          <a:ln w="12700">
            <a:solidFill>
              <a:srgbClr val="1F2A3C"/>
            </a:solidFill>
            <a:prstDash val="solid"/>
          </a:ln>
        </p:spPr>
        <p:txBody>
          <a:bodyPr/>
          <a:lstStyle/>
          <a:p>
            <a:endParaRPr/>
          </a:p>
        </p:txBody>
      </p:sp>
      <p:sp>
        <p:nvSpPr>
          <p:cNvPr id="9" name="Text 9"/>
          <p:cNvSpPr txBox="1"/>
          <p:nvPr/>
        </p:nvSpPr>
        <p:spPr>
          <a:xfrm>
            <a:off x="3657600" y="1810512"/>
            <a:ext cx="1828800" cy="438912"/>
          </a:xfrm>
          <a:prstGeom prst="rect">
            <a:avLst/>
          </a:prstGeom>
          <a:noFill/>
          <a:ln/>
        </p:spPr>
        <p:txBody>
          <a:bodyPr wrap="square" lIns="0" tIns="0" rIns="0" bIns="0" rtlCol="0" anchor="ctr"/>
          <a:lstStyle/>
          <a:p>
            <a:pPr marL="0" indent="0" algn="ctr">
              <a:buNone/>
            </a:pPr>
            <a:r>
              <a:rPr lang="en-US" sz="1100" b="1" dirty="0">
                <a:solidFill>
                  <a:srgbClr val="1F2A3C"/>
                </a:solidFill>
                <a:latin typeface="Courier New"/>
                <a:ea typeface="Courier New"/>
                <a:cs typeface="Courier New"/>
              </a:rPr>
              <a:t>B4  ·  max.2</a:t>
            </a:r>
          </a:p>
        </p:txBody>
      </p:sp>
      <p:cxnSp>
        <p:nvCxnSpPr>
          <p:cNvPr id="10" name="Connector 10"/>
          <p:cNvCxnSpPr/>
          <p:nvPr/>
        </p:nvCxnSpPr>
        <p:spPr>
          <a:xfrm>
            <a:off x="1737360" y="2249424"/>
            <a:ext cx="868680" cy="310896"/>
          </a:xfrm>
          <a:prstGeom prst="line">
            <a:avLst/>
          </a:prstGeom>
          <a:noFill/>
          <a:ln w="15875">
            <a:solidFill>
              <a:srgbClr val="6B7480"/>
            </a:solidFill>
            <a:prstDash val="solid"/>
            <a:tailEnd type="triangle"/>
          </a:ln>
        </p:spPr>
      </p:cxnSp>
      <p:cxnSp>
        <p:nvCxnSpPr>
          <p:cNvPr id="11" name="Connector 11"/>
          <p:cNvCxnSpPr/>
          <p:nvPr/>
        </p:nvCxnSpPr>
        <p:spPr>
          <a:xfrm flipH="1">
            <a:off x="3703320" y="2249424"/>
            <a:ext cx="868680" cy="310896"/>
          </a:xfrm>
          <a:prstGeom prst="line">
            <a:avLst/>
          </a:prstGeom>
          <a:noFill/>
          <a:ln w="15875">
            <a:solidFill>
              <a:srgbClr val="6B7480"/>
            </a:solidFill>
            <a:prstDash val="solid"/>
            <a:tailEnd type="triangle"/>
          </a:ln>
        </p:spPr>
      </p:cxnSp>
      <p:sp>
        <p:nvSpPr>
          <p:cNvPr id="12" name="Shape 12"/>
          <p:cNvSpPr/>
          <p:nvPr/>
        </p:nvSpPr>
        <p:spPr>
          <a:xfrm>
            <a:off x="502920" y="2560320"/>
            <a:ext cx="5303520" cy="749808"/>
          </a:xfrm>
          <a:prstGeom prst="rect">
            <a:avLst/>
          </a:prstGeom>
          <a:solidFill>
            <a:srgbClr val="1F2A3C"/>
          </a:solidFill>
          <a:ln w="19050">
            <a:solidFill>
              <a:srgbClr val="2E6E7E"/>
            </a:solidFill>
            <a:prstDash val="solid"/>
          </a:ln>
        </p:spPr>
        <p:txBody>
          <a:bodyPr/>
          <a:lstStyle/>
          <a:p>
            <a:endParaRPr/>
          </a:p>
        </p:txBody>
      </p:sp>
      <p:sp>
        <p:nvSpPr>
          <p:cNvPr id="13" name="Text 13"/>
          <p:cNvSpPr txBox="1"/>
          <p:nvPr/>
        </p:nvSpPr>
        <p:spPr>
          <a:xfrm>
            <a:off x="704088" y="2670048"/>
            <a:ext cx="4901184" cy="566928"/>
          </a:xfrm>
          <a:prstGeom prst="rect">
            <a:avLst/>
          </a:prstGeom>
          <a:noFill/>
          <a:ln/>
        </p:spPr>
        <p:txBody>
          <a:bodyPr wrap="square" lIns="0" tIns="0" rIns="0" bIns="0" rtlCol="0" anchor="t"/>
          <a:lstStyle/>
          <a:p>
            <a:pPr marL="0" indent="0" algn="l">
              <a:lnSpc>
                <a:spcPct val="125000"/>
              </a:lnSpc>
              <a:buNone/>
            </a:pPr>
            <a:r>
              <a:rPr lang="en-US" sz="1150" b="1" dirty="0">
                <a:solidFill>
                  <a:srgbClr val="FFFFFF"/>
                </a:solidFill>
                <a:latin typeface="Courier New"/>
                <a:ea typeface="Courier New"/>
                <a:cs typeface="Courier New"/>
              </a:rPr>
              <a:t>max.4 = phi(B3: max.3, B4: max.2)</a:t>
            </a:r>
          </a:p>
          <a:p>
            <a:pPr marL="0" indent="0" algn="l">
              <a:lnSpc>
                <a:spcPct val="125000"/>
              </a:lnSpc>
              <a:buNone/>
            </a:pPr>
            <a:r>
              <a:rPr lang="en-US" sz="1150" b="1" dirty="0">
                <a:solidFill>
                  <a:srgbClr val="9FE3C8"/>
                </a:solidFill>
                <a:latin typeface="Courier New"/>
                <a:ea typeface="Courier New"/>
                <a:cs typeface="Courier New"/>
              </a:rPr>
              <a:t>max.4 -&gt; [10,20]     integral = YES</a:t>
            </a:r>
          </a:p>
        </p:txBody>
      </p:sp>
      <p:sp>
        <p:nvSpPr>
          <p:cNvPr id="14" name="Shape 14"/>
          <p:cNvSpPr/>
          <p:nvPr/>
        </p:nvSpPr>
        <p:spPr>
          <a:xfrm>
            <a:off x="502920" y="3502152"/>
            <a:ext cx="5303520" cy="640080"/>
          </a:xfrm>
          <a:prstGeom prst="rect">
            <a:avLst/>
          </a:prstGeom>
          <a:solidFill>
            <a:srgbClr val="F3E7E5"/>
          </a:solidFill>
          <a:ln w="15240">
            <a:solidFill>
              <a:srgbClr val="9C4A3E"/>
            </a:solidFill>
            <a:prstDash val="solid"/>
          </a:ln>
        </p:spPr>
        <p:txBody>
          <a:bodyPr/>
          <a:lstStyle/>
          <a:p>
            <a:endParaRPr/>
          </a:p>
        </p:txBody>
      </p:sp>
      <p:sp>
        <p:nvSpPr>
          <p:cNvPr id="15" name="Text 15"/>
          <p:cNvSpPr txBox="1"/>
          <p:nvPr/>
        </p:nvSpPr>
        <p:spPr>
          <a:xfrm>
            <a:off x="640080" y="3502152"/>
            <a:ext cx="5029200" cy="640080"/>
          </a:xfrm>
          <a:prstGeom prst="rect">
            <a:avLst/>
          </a:prstGeom>
          <a:noFill/>
          <a:ln/>
        </p:spPr>
        <p:txBody>
          <a:bodyPr wrap="square" lIns="0" tIns="0" rIns="0" bIns="0" rtlCol="0" anchor="ctr"/>
          <a:lstStyle/>
          <a:p>
            <a:pPr marL="0" indent="0" algn="l">
              <a:buNone/>
            </a:pPr>
            <a:r>
              <a:rPr lang="en-US" sz="1050" b="1" dirty="0">
                <a:solidFill>
                  <a:srgbClr val="9C4A3E"/>
                </a:solidFill>
                <a:latin typeface="Courier New"/>
                <a:ea typeface="Courier New"/>
                <a:cs typeface="Courier New"/>
              </a:rPr>
              <a:t>t1 = x.1 &gt; y.1</a:t>
            </a:r>
            <a:r>
              <a:rPr lang="en-US" sz="1050" dirty="0">
                <a:solidFill>
                  <a:srgbClr val="9C4A3E"/>
                </a:solidFill>
                <a:latin typeface="Calibri"/>
                <a:ea typeface="Calibri"/>
                <a:cs typeface="Calibri"/>
              </a:rPr>
              <a:t>  →  rejected, left unquantized: relational ‘&gt;’ is not supported by the quantization pass</a:t>
            </a:r>
          </a:p>
        </p:txBody>
      </p:sp>
      <p:sp>
        <p:nvSpPr>
          <p:cNvPr id="16" name="Shape 16"/>
          <p:cNvSpPr/>
          <p:nvPr/>
        </p:nvSpPr>
        <p:spPr>
          <a:xfrm>
            <a:off x="502920" y="4343400"/>
            <a:ext cx="2377440" cy="1051560"/>
          </a:xfrm>
          <a:prstGeom prst="rect">
            <a:avLst/>
          </a:prstGeom>
          <a:solidFill>
            <a:srgbClr val="F4F6F8"/>
          </a:solidFill>
          <a:ln w="12700">
            <a:solidFill>
              <a:srgbClr val="1F2A3C"/>
            </a:solidFill>
            <a:prstDash val="solid"/>
          </a:ln>
        </p:spPr>
        <p:txBody>
          <a:bodyPr/>
          <a:lstStyle/>
          <a:p>
            <a:endParaRPr/>
          </a:p>
        </p:txBody>
      </p:sp>
      <p:sp>
        <p:nvSpPr>
          <p:cNvPr id="17" name="Text 17"/>
          <p:cNvSpPr txBox="1"/>
          <p:nvPr/>
        </p:nvSpPr>
        <p:spPr>
          <a:xfrm>
            <a:off x="502920" y="4416552"/>
            <a:ext cx="2377440" cy="274320"/>
          </a:xfrm>
          <a:prstGeom prst="rect">
            <a:avLst/>
          </a:prstGeom>
          <a:noFill/>
          <a:ln/>
        </p:spPr>
        <p:txBody>
          <a:bodyPr wrap="square" lIns="0" tIns="0" rIns="0" bIns="0" rtlCol="0" anchor="t"/>
          <a:lstStyle/>
          <a:p>
            <a:pPr marL="0" indent="0" algn="ctr">
              <a:buNone/>
            </a:pPr>
            <a:r>
              <a:rPr lang="en-US" sz="900" b="1" spc="100" dirty="0">
                <a:solidFill>
                  <a:srgbClr val="6B7480"/>
                </a:solidFill>
                <a:latin typeface="Calibri"/>
                <a:ea typeface="Calibri"/>
                <a:cs typeface="Calibri"/>
              </a:rPr>
              <a:t>ORIGINAL SSA EXECUTION</a:t>
            </a:r>
          </a:p>
        </p:txBody>
      </p:sp>
      <p:sp>
        <p:nvSpPr>
          <p:cNvPr id="18" name="Text 18"/>
          <p:cNvSpPr txBox="1"/>
          <p:nvPr/>
        </p:nvSpPr>
        <p:spPr>
          <a:xfrm>
            <a:off x="502920" y="4690872"/>
            <a:ext cx="2377440" cy="594360"/>
          </a:xfrm>
          <a:prstGeom prst="rect">
            <a:avLst/>
          </a:prstGeom>
          <a:noFill/>
          <a:ln/>
        </p:spPr>
        <p:txBody>
          <a:bodyPr wrap="square" lIns="0" tIns="0" rIns="0" bIns="0" rtlCol="0" anchor="ctr"/>
          <a:lstStyle/>
          <a:p>
            <a:pPr marL="0" indent="0" algn="ctr">
              <a:buNone/>
            </a:pPr>
            <a:r>
              <a:rPr lang="en-US" sz="2400" b="1" dirty="0">
                <a:solidFill>
                  <a:srgbClr val="1F2A3C"/>
                </a:solidFill>
                <a:latin typeface="Courier New"/>
                <a:ea typeface="Courier New"/>
                <a:cs typeface="Courier New"/>
              </a:rPr>
              <a:t>[20]</a:t>
            </a:r>
          </a:p>
        </p:txBody>
      </p:sp>
      <p:sp>
        <p:nvSpPr>
          <p:cNvPr id="19" name="Text 19"/>
          <p:cNvSpPr txBox="1"/>
          <p:nvPr/>
        </p:nvSpPr>
        <p:spPr>
          <a:xfrm>
            <a:off x="2880360" y="4343400"/>
            <a:ext cx="548640" cy="1051560"/>
          </a:xfrm>
          <a:prstGeom prst="rect">
            <a:avLst/>
          </a:prstGeom>
          <a:noFill/>
          <a:ln/>
        </p:spPr>
        <p:txBody>
          <a:bodyPr wrap="square" lIns="0" tIns="0" rIns="0" bIns="0" rtlCol="0" anchor="ctr"/>
          <a:lstStyle/>
          <a:p>
            <a:pPr marL="0" indent="0" algn="ctr">
              <a:buNone/>
            </a:pPr>
            <a:r>
              <a:rPr lang="en-US" sz="2800" b="1" dirty="0">
                <a:solidFill>
                  <a:srgbClr val="2E6E7E"/>
                </a:solidFill>
                <a:latin typeface="Cambria"/>
                <a:ea typeface="Cambria"/>
                <a:cs typeface="Cambria"/>
              </a:rPr>
              <a:t>=</a:t>
            </a:r>
          </a:p>
        </p:txBody>
      </p:sp>
      <p:sp>
        <p:nvSpPr>
          <p:cNvPr id="20" name="Shape 20"/>
          <p:cNvSpPr/>
          <p:nvPr/>
        </p:nvSpPr>
        <p:spPr>
          <a:xfrm>
            <a:off x="3429000" y="4343400"/>
            <a:ext cx="2377440" cy="1051560"/>
          </a:xfrm>
          <a:prstGeom prst="rect">
            <a:avLst/>
          </a:prstGeom>
          <a:solidFill>
            <a:srgbClr val="2E6E7E"/>
          </a:solidFill>
          <a:ln w="12700">
            <a:solidFill>
              <a:srgbClr val="2E6E7E"/>
            </a:solidFill>
            <a:prstDash val="solid"/>
          </a:ln>
        </p:spPr>
        <p:txBody>
          <a:bodyPr/>
          <a:lstStyle/>
          <a:p>
            <a:endParaRPr/>
          </a:p>
        </p:txBody>
      </p:sp>
      <p:sp>
        <p:nvSpPr>
          <p:cNvPr id="21" name="Text 21"/>
          <p:cNvSpPr txBox="1"/>
          <p:nvPr/>
        </p:nvSpPr>
        <p:spPr>
          <a:xfrm>
            <a:off x="3429000" y="4416552"/>
            <a:ext cx="2377440" cy="274320"/>
          </a:xfrm>
          <a:prstGeom prst="rect">
            <a:avLst/>
          </a:prstGeom>
          <a:noFill/>
          <a:ln/>
        </p:spPr>
        <p:txBody>
          <a:bodyPr wrap="square" lIns="0" tIns="0" rIns="0" bIns="0" rtlCol="0" anchor="t"/>
          <a:lstStyle/>
          <a:p>
            <a:pPr marL="0" indent="0" algn="ctr">
              <a:buNone/>
            </a:pPr>
            <a:r>
              <a:rPr lang="en-US" sz="900" b="1" spc="100" dirty="0">
                <a:solidFill>
                  <a:srgbClr val="FFFFFF"/>
                </a:solidFill>
                <a:latin typeface="Calibri"/>
                <a:ea typeface="Calibri"/>
                <a:cs typeface="Calibri"/>
              </a:rPr>
              <a:t>QUANTIZED SSA EXECUTION</a:t>
            </a:r>
          </a:p>
        </p:txBody>
      </p:sp>
      <p:sp>
        <p:nvSpPr>
          <p:cNvPr id="22" name="Text 22"/>
          <p:cNvSpPr txBox="1"/>
          <p:nvPr/>
        </p:nvSpPr>
        <p:spPr>
          <a:xfrm>
            <a:off x="3429000" y="4690872"/>
            <a:ext cx="2377440"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Courier New"/>
                <a:ea typeface="Courier New"/>
                <a:cs typeface="Courier New"/>
              </a:rPr>
              <a:t>[20]</a:t>
            </a:r>
          </a:p>
        </p:txBody>
      </p:sp>
      <p:sp>
        <p:nvSpPr>
          <p:cNvPr id="23" name="Text 23"/>
          <p:cNvSpPr txBox="1"/>
          <p:nvPr/>
        </p:nvSpPr>
        <p:spPr>
          <a:xfrm>
            <a:off x="6355080" y="1417320"/>
            <a:ext cx="5330952" cy="274320"/>
          </a:xfrm>
          <a:prstGeom prst="rect">
            <a:avLst/>
          </a:prstGeom>
          <a:noFill/>
          <a:ln/>
        </p:spPr>
        <p:txBody>
          <a:bodyPr wrap="square" lIns="0" tIns="0" rIns="0" bIns="0" rtlCol="0" anchor="ctr"/>
          <a:lstStyle/>
          <a:p>
            <a:pPr marL="0" indent="0" algn="l">
              <a:buNone/>
            </a:pPr>
            <a:r>
              <a:rPr lang="en-US" sz="1100" b="1" spc="100" dirty="0">
                <a:solidFill>
                  <a:srgbClr val="2E6E7E"/>
                </a:solidFill>
                <a:latin typeface="Calibri"/>
                <a:ea typeface="Calibri"/>
                <a:cs typeface="Calibri"/>
              </a:rPr>
              <a:t>WHILE LOOP + WIDENING</a:t>
            </a:r>
            <a:r>
              <a:rPr lang="en-US" sz="950" dirty="0">
                <a:solidFill>
                  <a:srgbClr val="6B7480"/>
                </a:solidFill>
                <a:latin typeface="Courier New"/>
                <a:ea typeface="Courier New"/>
                <a:cs typeface="Courier New"/>
              </a:rPr>
              <a:t>    examples/while_loop.qc</a:t>
            </a:r>
          </a:p>
        </p:txBody>
      </p:sp>
      <p:sp>
        <p:nvSpPr>
          <p:cNvPr id="24" name="Shape 24"/>
          <p:cNvSpPr/>
          <p:nvPr/>
        </p:nvSpPr>
        <p:spPr>
          <a:xfrm>
            <a:off x="6355080" y="1810512"/>
            <a:ext cx="2743200" cy="365760"/>
          </a:xfrm>
          <a:prstGeom prst="rect">
            <a:avLst/>
          </a:prstGeom>
          <a:solidFill>
            <a:srgbClr val="FFFFFF"/>
          </a:solidFill>
          <a:ln w="12700">
            <a:solidFill>
              <a:srgbClr val="1F2A3C"/>
            </a:solidFill>
            <a:prstDash val="solid"/>
          </a:ln>
        </p:spPr>
        <p:txBody>
          <a:bodyPr/>
          <a:lstStyle/>
          <a:p>
            <a:endParaRPr/>
          </a:p>
        </p:txBody>
      </p:sp>
      <p:sp>
        <p:nvSpPr>
          <p:cNvPr id="25" name="Text 25"/>
          <p:cNvSpPr txBox="1"/>
          <p:nvPr/>
        </p:nvSpPr>
        <p:spPr>
          <a:xfrm>
            <a:off x="6355080" y="1810512"/>
            <a:ext cx="2743200" cy="365760"/>
          </a:xfrm>
          <a:prstGeom prst="rect">
            <a:avLst/>
          </a:prstGeom>
          <a:noFill/>
          <a:ln/>
        </p:spPr>
        <p:txBody>
          <a:bodyPr wrap="square" lIns="0" tIns="0" rIns="0" bIns="0" rtlCol="0" anchor="ctr"/>
          <a:lstStyle/>
          <a:p>
            <a:pPr marL="0" indent="0" algn="ctr">
              <a:buNone/>
            </a:pPr>
            <a:r>
              <a:rPr lang="en-US" sz="1050" b="1" dirty="0">
                <a:solidFill>
                  <a:srgbClr val="1F2A3C"/>
                </a:solidFill>
                <a:latin typeface="Calibri"/>
                <a:ea typeface="Calibri"/>
                <a:cs typeface="Calibri"/>
              </a:rPr>
              <a:t>Loop (back edge → φ at header)</a:t>
            </a:r>
          </a:p>
        </p:txBody>
      </p:sp>
      <p:cxnSp>
        <p:nvCxnSpPr>
          <p:cNvPr id="26" name="Connector 26"/>
          <p:cNvCxnSpPr/>
          <p:nvPr/>
        </p:nvCxnSpPr>
        <p:spPr>
          <a:xfrm>
            <a:off x="7726680" y="2176272"/>
            <a:ext cx="0" cy="155448"/>
          </a:xfrm>
          <a:prstGeom prst="line">
            <a:avLst/>
          </a:prstGeom>
          <a:noFill/>
          <a:ln w="15875">
            <a:solidFill>
              <a:srgbClr val="6B7480"/>
            </a:solidFill>
            <a:prstDash val="solid"/>
            <a:tailEnd type="triangle"/>
          </a:ln>
        </p:spPr>
      </p:cxnSp>
      <p:sp>
        <p:nvSpPr>
          <p:cNvPr id="27" name="Shape 27"/>
          <p:cNvSpPr/>
          <p:nvPr/>
        </p:nvSpPr>
        <p:spPr>
          <a:xfrm>
            <a:off x="6355080" y="2331720"/>
            <a:ext cx="2743200" cy="365760"/>
          </a:xfrm>
          <a:prstGeom prst="rect">
            <a:avLst/>
          </a:prstGeom>
          <a:solidFill>
            <a:srgbClr val="FFFFFF"/>
          </a:solidFill>
          <a:ln w="12700">
            <a:solidFill>
              <a:srgbClr val="1F2A3C"/>
            </a:solidFill>
            <a:prstDash val="solid"/>
          </a:ln>
        </p:spPr>
        <p:txBody>
          <a:bodyPr/>
          <a:lstStyle/>
          <a:p>
            <a:endParaRPr/>
          </a:p>
        </p:txBody>
      </p:sp>
      <p:sp>
        <p:nvSpPr>
          <p:cNvPr id="28" name="Text 28"/>
          <p:cNvSpPr txBox="1"/>
          <p:nvPr/>
        </p:nvSpPr>
        <p:spPr>
          <a:xfrm>
            <a:off x="6355080" y="2331720"/>
            <a:ext cx="2743200" cy="365760"/>
          </a:xfrm>
          <a:prstGeom prst="rect">
            <a:avLst/>
          </a:prstGeom>
          <a:noFill/>
          <a:ln/>
        </p:spPr>
        <p:txBody>
          <a:bodyPr wrap="square" lIns="0" tIns="0" rIns="0" bIns="0" rtlCol="0" anchor="ctr"/>
          <a:lstStyle/>
          <a:p>
            <a:pPr marL="0" indent="0" algn="ctr">
              <a:buNone/>
            </a:pPr>
            <a:r>
              <a:rPr lang="en-US" sz="1050" b="1" dirty="0">
                <a:solidFill>
                  <a:srgbClr val="1F2A3C"/>
                </a:solidFill>
                <a:latin typeface="Calibri"/>
                <a:ea typeface="Calibri"/>
                <a:cs typeface="Calibri"/>
              </a:rPr>
              <a:t>Range Propagation</a:t>
            </a:r>
          </a:p>
        </p:txBody>
      </p:sp>
      <p:cxnSp>
        <p:nvCxnSpPr>
          <p:cNvPr id="29" name="Connector 29"/>
          <p:cNvCxnSpPr/>
          <p:nvPr/>
        </p:nvCxnSpPr>
        <p:spPr>
          <a:xfrm>
            <a:off x="7726680" y="2697480"/>
            <a:ext cx="0" cy="155448"/>
          </a:xfrm>
          <a:prstGeom prst="line">
            <a:avLst/>
          </a:prstGeom>
          <a:noFill/>
          <a:ln w="15875">
            <a:solidFill>
              <a:srgbClr val="6B7480"/>
            </a:solidFill>
            <a:prstDash val="solid"/>
            <a:tailEnd type="triangle"/>
          </a:ln>
        </p:spPr>
      </p:cxnSp>
      <p:sp>
        <p:nvSpPr>
          <p:cNvPr id="30" name="Shape 30"/>
          <p:cNvSpPr/>
          <p:nvPr/>
        </p:nvSpPr>
        <p:spPr>
          <a:xfrm>
            <a:off x="6355080" y="2852928"/>
            <a:ext cx="2743200" cy="365760"/>
          </a:xfrm>
          <a:prstGeom prst="rect">
            <a:avLst/>
          </a:prstGeom>
          <a:solidFill>
            <a:srgbClr val="FFFFFF"/>
          </a:solidFill>
          <a:ln w="12700">
            <a:solidFill>
              <a:srgbClr val="1F2A3C"/>
            </a:solidFill>
            <a:prstDash val="solid"/>
          </a:ln>
        </p:spPr>
        <p:txBody>
          <a:bodyPr/>
          <a:lstStyle/>
          <a:p>
            <a:endParaRPr/>
          </a:p>
        </p:txBody>
      </p:sp>
      <p:sp>
        <p:nvSpPr>
          <p:cNvPr id="31" name="Text 31"/>
          <p:cNvSpPr txBox="1"/>
          <p:nvPr/>
        </p:nvSpPr>
        <p:spPr>
          <a:xfrm>
            <a:off x="6355080" y="2852928"/>
            <a:ext cx="2743200" cy="365760"/>
          </a:xfrm>
          <a:prstGeom prst="rect">
            <a:avLst/>
          </a:prstGeom>
          <a:noFill/>
          <a:ln/>
        </p:spPr>
        <p:txBody>
          <a:bodyPr wrap="square" lIns="0" tIns="0" rIns="0" bIns="0" rtlCol="0" anchor="ctr"/>
          <a:lstStyle/>
          <a:p>
            <a:pPr marL="0" indent="0" algn="ctr">
              <a:buNone/>
            </a:pPr>
            <a:r>
              <a:rPr lang="en-US" sz="1050" b="1" dirty="0">
                <a:solidFill>
                  <a:srgbClr val="1F2A3C"/>
                </a:solidFill>
                <a:latin typeface="Calibri"/>
                <a:ea typeface="Calibri"/>
                <a:cs typeface="Calibri"/>
              </a:rPr>
              <a:t>Widening</a:t>
            </a:r>
          </a:p>
        </p:txBody>
      </p:sp>
      <p:cxnSp>
        <p:nvCxnSpPr>
          <p:cNvPr id="32" name="Connector 32"/>
          <p:cNvCxnSpPr/>
          <p:nvPr/>
        </p:nvCxnSpPr>
        <p:spPr>
          <a:xfrm>
            <a:off x="7726680" y="3218688"/>
            <a:ext cx="0" cy="155448"/>
          </a:xfrm>
          <a:prstGeom prst="line">
            <a:avLst/>
          </a:prstGeom>
          <a:noFill/>
          <a:ln w="15875">
            <a:solidFill>
              <a:srgbClr val="6B7480"/>
            </a:solidFill>
            <a:prstDash val="solid"/>
            <a:tailEnd type="triangle"/>
          </a:ln>
        </p:spPr>
      </p:cxnSp>
      <p:sp>
        <p:nvSpPr>
          <p:cNvPr id="33" name="Shape 33"/>
          <p:cNvSpPr/>
          <p:nvPr/>
        </p:nvSpPr>
        <p:spPr>
          <a:xfrm>
            <a:off x="6355080" y="3374136"/>
            <a:ext cx="2743200" cy="365760"/>
          </a:xfrm>
          <a:prstGeom prst="rect">
            <a:avLst/>
          </a:prstGeom>
          <a:solidFill>
            <a:srgbClr val="FFFFFF"/>
          </a:solidFill>
          <a:ln w="12700">
            <a:solidFill>
              <a:srgbClr val="1F2A3C"/>
            </a:solidFill>
            <a:prstDash val="solid"/>
          </a:ln>
        </p:spPr>
        <p:txBody>
          <a:bodyPr/>
          <a:lstStyle/>
          <a:p>
            <a:endParaRPr/>
          </a:p>
        </p:txBody>
      </p:sp>
      <p:sp>
        <p:nvSpPr>
          <p:cNvPr id="34" name="Text 34"/>
          <p:cNvSpPr txBox="1"/>
          <p:nvPr/>
        </p:nvSpPr>
        <p:spPr>
          <a:xfrm>
            <a:off x="6355080" y="3374136"/>
            <a:ext cx="2743200" cy="365760"/>
          </a:xfrm>
          <a:prstGeom prst="rect">
            <a:avLst/>
          </a:prstGeom>
          <a:noFill/>
          <a:ln/>
        </p:spPr>
        <p:txBody>
          <a:bodyPr wrap="square" lIns="0" tIns="0" rIns="0" bIns="0" rtlCol="0" anchor="ctr"/>
          <a:lstStyle/>
          <a:p>
            <a:pPr marL="0" indent="0" algn="ctr">
              <a:buNone/>
            </a:pPr>
            <a:r>
              <a:rPr lang="en-US" sz="1050" b="1" dirty="0">
                <a:solidFill>
                  <a:srgbClr val="1F2A3C"/>
                </a:solidFill>
                <a:latin typeface="Calibri"/>
                <a:ea typeface="Calibri"/>
                <a:cs typeface="Calibri"/>
              </a:rPr>
              <a:t>Conservative Convergence</a:t>
            </a:r>
          </a:p>
        </p:txBody>
      </p:sp>
      <p:cxnSp>
        <p:nvCxnSpPr>
          <p:cNvPr id="35" name="Connector 35"/>
          <p:cNvCxnSpPr/>
          <p:nvPr/>
        </p:nvCxnSpPr>
        <p:spPr>
          <a:xfrm>
            <a:off x="7726680" y="3739896"/>
            <a:ext cx="0" cy="155448"/>
          </a:xfrm>
          <a:prstGeom prst="line">
            <a:avLst/>
          </a:prstGeom>
          <a:noFill/>
          <a:ln w="15875">
            <a:solidFill>
              <a:srgbClr val="6B7480"/>
            </a:solidFill>
            <a:prstDash val="solid"/>
            <a:tailEnd type="triangle"/>
          </a:ln>
        </p:spPr>
      </p:cxnSp>
      <p:sp>
        <p:nvSpPr>
          <p:cNvPr id="36" name="Shape 36"/>
          <p:cNvSpPr/>
          <p:nvPr/>
        </p:nvSpPr>
        <p:spPr>
          <a:xfrm>
            <a:off x="6355080" y="3895344"/>
            <a:ext cx="2743200" cy="365760"/>
          </a:xfrm>
          <a:prstGeom prst="rect">
            <a:avLst/>
          </a:prstGeom>
          <a:solidFill>
            <a:srgbClr val="2E6E7E"/>
          </a:solidFill>
          <a:ln w="12700">
            <a:solidFill>
              <a:srgbClr val="2E6E7E"/>
            </a:solidFill>
            <a:prstDash val="solid"/>
          </a:ln>
        </p:spPr>
        <p:txBody>
          <a:bodyPr/>
          <a:lstStyle/>
          <a:p>
            <a:endParaRPr/>
          </a:p>
        </p:txBody>
      </p:sp>
      <p:sp>
        <p:nvSpPr>
          <p:cNvPr id="37" name="Text 37"/>
          <p:cNvSpPr txBox="1"/>
          <p:nvPr/>
        </p:nvSpPr>
        <p:spPr>
          <a:xfrm>
            <a:off x="6355080" y="3895344"/>
            <a:ext cx="2743200" cy="3657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a:ea typeface="Calibri"/>
                <a:cs typeface="Calibri"/>
              </a:rPr>
              <a:t>SAFE / UNKNOWN Decision</a:t>
            </a:r>
          </a:p>
        </p:txBody>
      </p:sp>
      <p:sp>
        <p:nvSpPr>
          <p:cNvPr id="38" name="Shape 38"/>
          <p:cNvSpPr/>
          <p:nvPr/>
        </p:nvSpPr>
        <p:spPr>
          <a:xfrm>
            <a:off x="9372600" y="1810512"/>
            <a:ext cx="2313432" cy="2450592"/>
          </a:xfrm>
          <a:prstGeom prst="rect">
            <a:avLst/>
          </a:prstGeom>
          <a:solidFill>
            <a:srgbClr val="F4F6F8"/>
          </a:solidFill>
          <a:ln w="12700">
            <a:solidFill>
              <a:srgbClr val="D6DCE2"/>
            </a:solidFill>
            <a:prstDash val="solid"/>
          </a:ln>
        </p:spPr>
        <p:txBody>
          <a:bodyPr/>
          <a:lstStyle/>
          <a:p>
            <a:endParaRPr/>
          </a:p>
        </p:txBody>
      </p:sp>
      <p:sp>
        <p:nvSpPr>
          <p:cNvPr id="39" name="Text 39"/>
          <p:cNvSpPr txBox="1"/>
          <p:nvPr/>
        </p:nvSpPr>
        <p:spPr>
          <a:xfrm>
            <a:off x="9509760" y="1874520"/>
            <a:ext cx="2039112" cy="2331720"/>
          </a:xfrm>
          <a:prstGeom prst="rect">
            <a:avLst/>
          </a:prstGeom>
          <a:noFill/>
          <a:ln/>
        </p:spPr>
        <p:txBody>
          <a:bodyPr wrap="square" rtlCol="0" anchor="t"/>
          <a:lstStyle/>
          <a:p>
            <a:pPr marL="0" indent="0" algn="l">
              <a:spcAft>
                <a:spcPts val="500"/>
              </a:spcAft>
              <a:buNone/>
            </a:pPr>
            <a:r>
              <a:rPr lang="en-US" sz="1100" b="1" dirty="0">
                <a:solidFill>
                  <a:srgbClr val="1F2A3C"/>
                </a:solidFill>
                <a:latin typeface="Calibri"/>
                <a:ea typeface="Calibri"/>
                <a:cs typeface="Calibri"/>
              </a:rPr>
              <a:t>Termination by design</a:t>
            </a:r>
          </a:p>
          <a:p>
            <a:pPr marL="0" indent="0" algn="l">
              <a:spcAft>
                <a:spcPts val="500"/>
              </a:spcAft>
              <a:buNone/>
            </a:pPr>
            <a:r>
              <a:rPr lang="en-US" sz="1000" dirty="0">
                <a:solidFill>
                  <a:srgbClr val="23262B"/>
                </a:solidFill>
                <a:latin typeface="Calibri"/>
                <a:ea typeface="Calibri"/>
                <a:cs typeface="Calibri"/>
              </a:rPr>
              <a:t>Iteration at the loop header is bounded by a widening threshold.</a:t>
            </a:r>
          </a:p>
          <a:p>
            <a:pPr marL="0" indent="0" algn="l">
              <a:spcAft>
                <a:spcPts val="500"/>
              </a:spcAft>
              <a:buNone/>
            </a:pPr>
            <a:r>
              <a:rPr lang="en-US" sz="1000" dirty="0">
                <a:solidFill>
                  <a:srgbClr val="23262B"/>
                </a:solidFill>
                <a:latin typeface="Calibri"/>
                <a:ea typeface="Calibri"/>
                <a:cs typeface="Calibri"/>
              </a:rPr>
              <a:t>If the range does not stabilise in time, the value becomes </a:t>
            </a:r>
            <a:r>
              <a:rPr lang="en-US" sz="1000" b="1" dirty="0">
                <a:solidFill>
                  <a:srgbClr val="9C4A3E"/>
                </a:solidFill>
                <a:latin typeface="Courier New"/>
                <a:ea typeface="Courier New"/>
                <a:cs typeface="Courier New"/>
              </a:rPr>
              <a:t>UNKNOWN</a:t>
            </a:r>
            <a:r>
              <a:rPr lang="en-US" sz="1000" dirty="0">
                <a:solidFill>
                  <a:srgbClr val="23262B"/>
                </a:solidFill>
                <a:latin typeface="Calibri"/>
                <a:ea typeface="Calibri"/>
                <a:cs typeface="Calibri"/>
              </a:rPr>
              <a:t>.</a:t>
            </a:r>
          </a:p>
          <a:p>
            <a:pPr marL="0" indent="0" algn="l">
              <a:spcAft>
                <a:spcPts val="500"/>
              </a:spcAft>
              <a:buNone/>
            </a:pPr>
            <a:r>
              <a:rPr lang="en-US" sz="1000" b="1" dirty="0">
                <a:solidFill>
                  <a:srgbClr val="2E6E7E"/>
                </a:solidFill>
                <a:latin typeface="Calibri"/>
                <a:ea typeface="Calibri"/>
                <a:cs typeface="Calibri"/>
              </a:rPr>
              <a:t>UNKNOWN values are never quantized.</a:t>
            </a:r>
          </a:p>
        </p:txBody>
      </p:sp>
      <p:sp>
        <p:nvSpPr>
          <p:cNvPr id="40" name="Shape 40"/>
          <p:cNvSpPr/>
          <p:nvPr/>
        </p:nvSpPr>
        <p:spPr>
          <a:xfrm>
            <a:off x="6355080" y="4343400"/>
            <a:ext cx="2391156" cy="1051560"/>
          </a:xfrm>
          <a:prstGeom prst="rect">
            <a:avLst/>
          </a:prstGeom>
          <a:solidFill>
            <a:srgbClr val="F4F6F8"/>
          </a:solidFill>
          <a:ln w="12700">
            <a:solidFill>
              <a:srgbClr val="1F2A3C"/>
            </a:solidFill>
            <a:prstDash val="solid"/>
          </a:ln>
        </p:spPr>
        <p:txBody>
          <a:bodyPr/>
          <a:lstStyle/>
          <a:p>
            <a:endParaRPr/>
          </a:p>
        </p:txBody>
      </p:sp>
      <p:sp>
        <p:nvSpPr>
          <p:cNvPr id="41" name="Text 41"/>
          <p:cNvSpPr txBox="1"/>
          <p:nvPr/>
        </p:nvSpPr>
        <p:spPr>
          <a:xfrm>
            <a:off x="6355080" y="4416552"/>
            <a:ext cx="2391156" cy="274320"/>
          </a:xfrm>
          <a:prstGeom prst="rect">
            <a:avLst/>
          </a:prstGeom>
          <a:noFill/>
          <a:ln/>
        </p:spPr>
        <p:txBody>
          <a:bodyPr wrap="square" lIns="0" tIns="0" rIns="0" bIns="0" rtlCol="0" anchor="t"/>
          <a:lstStyle/>
          <a:p>
            <a:pPr marL="0" indent="0" algn="ctr">
              <a:buNone/>
            </a:pPr>
            <a:r>
              <a:rPr lang="en-US" sz="900" b="1" spc="100" dirty="0">
                <a:solidFill>
                  <a:srgbClr val="6B7480"/>
                </a:solidFill>
                <a:latin typeface="Calibri"/>
                <a:ea typeface="Calibri"/>
                <a:cs typeface="Calibri"/>
              </a:rPr>
              <a:t>ORIGINAL SSA EXECUTION</a:t>
            </a:r>
          </a:p>
        </p:txBody>
      </p:sp>
      <p:sp>
        <p:nvSpPr>
          <p:cNvPr id="42" name="Text 42"/>
          <p:cNvSpPr txBox="1"/>
          <p:nvPr/>
        </p:nvSpPr>
        <p:spPr>
          <a:xfrm>
            <a:off x="6355080" y="4690872"/>
            <a:ext cx="2391156" cy="594360"/>
          </a:xfrm>
          <a:prstGeom prst="rect">
            <a:avLst/>
          </a:prstGeom>
          <a:noFill/>
          <a:ln/>
        </p:spPr>
        <p:txBody>
          <a:bodyPr wrap="square" lIns="0" tIns="0" rIns="0" bIns="0" rtlCol="0" anchor="ctr"/>
          <a:lstStyle/>
          <a:p>
            <a:pPr marL="0" indent="0" algn="ctr">
              <a:buNone/>
            </a:pPr>
            <a:r>
              <a:rPr lang="en-US" sz="2400" b="1" dirty="0">
                <a:solidFill>
                  <a:srgbClr val="1F2A3C"/>
                </a:solidFill>
                <a:latin typeface="Courier New"/>
                <a:ea typeface="Courier New"/>
                <a:cs typeface="Courier New"/>
              </a:rPr>
              <a:t>[15]</a:t>
            </a:r>
          </a:p>
        </p:txBody>
      </p:sp>
      <p:sp>
        <p:nvSpPr>
          <p:cNvPr id="43" name="Text 43"/>
          <p:cNvSpPr txBox="1"/>
          <p:nvPr/>
        </p:nvSpPr>
        <p:spPr>
          <a:xfrm>
            <a:off x="8746236" y="4343400"/>
            <a:ext cx="548640" cy="1051560"/>
          </a:xfrm>
          <a:prstGeom prst="rect">
            <a:avLst/>
          </a:prstGeom>
          <a:noFill/>
          <a:ln/>
        </p:spPr>
        <p:txBody>
          <a:bodyPr wrap="square" lIns="0" tIns="0" rIns="0" bIns="0" rtlCol="0" anchor="ctr"/>
          <a:lstStyle/>
          <a:p>
            <a:pPr marL="0" indent="0" algn="ctr">
              <a:buNone/>
            </a:pPr>
            <a:r>
              <a:rPr lang="en-US" sz="2800" b="1" dirty="0">
                <a:solidFill>
                  <a:srgbClr val="2E6E7E"/>
                </a:solidFill>
                <a:latin typeface="Cambria"/>
                <a:ea typeface="Cambria"/>
                <a:cs typeface="Cambria"/>
              </a:rPr>
              <a:t>=</a:t>
            </a:r>
          </a:p>
        </p:txBody>
      </p:sp>
      <p:sp>
        <p:nvSpPr>
          <p:cNvPr id="44" name="Shape 44"/>
          <p:cNvSpPr/>
          <p:nvPr/>
        </p:nvSpPr>
        <p:spPr>
          <a:xfrm>
            <a:off x="9294876" y="4343400"/>
            <a:ext cx="2391156" cy="1051560"/>
          </a:xfrm>
          <a:prstGeom prst="rect">
            <a:avLst/>
          </a:prstGeom>
          <a:solidFill>
            <a:srgbClr val="2E6E7E"/>
          </a:solidFill>
          <a:ln w="12700">
            <a:solidFill>
              <a:srgbClr val="2E6E7E"/>
            </a:solidFill>
            <a:prstDash val="solid"/>
          </a:ln>
        </p:spPr>
        <p:txBody>
          <a:bodyPr/>
          <a:lstStyle/>
          <a:p>
            <a:endParaRPr/>
          </a:p>
        </p:txBody>
      </p:sp>
      <p:sp>
        <p:nvSpPr>
          <p:cNvPr id="45" name="Text 45"/>
          <p:cNvSpPr txBox="1"/>
          <p:nvPr/>
        </p:nvSpPr>
        <p:spPr>
          <a:xfrm>
            <a:off x="9294876" y="4416552"/>
            <a:ext cx="2391156" cy="274320"/>
          </a:xfrm>
          <a:prstGeom prst="rect">
            <a:avLst/>
          </a:prstGeom>
          <a:noFill/>
          <a:ln/>
        </p:spPr>
        <p:txBody>
          <a:bodyPr wrap="square" lIns="0" tIns="0" rIns="0" bIns="0" rtlCol="0" anchor="t"/>
          <a:lstStyle/>
          <a:p>
            <a:pPr marL="0" indent="0" algn="ctr">
              <a:buNone/>
            </a:pPr>
            <a:r>
              <a:rPr lang="en-US" sz="900" b="1" spc="100" dirty="0">
                <a:solidFill>
                  <a:srgbClr val="FFFFFF"/>
                </a:solidFill>
                <a:latin typeface="Calibri"/>
                <a:ea typeface="Calibri"/>
                <a:cs typeface="Calibri"/>
              </a:rPr>
              <a:t>QUANTIZED SSA EXECUTION</a:t>
            </a:r>
          </a:p>
        </p:txBody>
      </p:sp>
      <p:sp>
        <p:nvSpPr>
          <p:cNvPr id="46" name="Text 46"/>
          <p:cNvSpPr txBox="1"/>
          <p:nvPr/>
        </p:nvSpPr>
        <p:spPr>
          <a:xfrm>
            <a:off x="9294876" y="4690872"/>
            <a:ext cx="2391156"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Courier New"/>
                <a:ea typeface="Courier New"/>
                <a:cs typeface="Courier New"/>
              </a:rPr>
              <a:t>[15]</a:t>
            </a:r>
          </a:p>
        </p:txBody>
      </p:sp>
      <p:sp>
        <p:nvSpPr>
          <p:cNvPr id="47" name="Text 47"/>
          <p:cNvSpPr txBox="1"/>
          <p:nvPr/>
        </p:nvSpPr>
        <p:spPr>
          <a:xfrm>
            <a:off x="502920" y="5623560"/>
            <a:ext cx="11183112" cy="457200"/>
          </a:xfrm>
          <a:prstGeom prst="rect">
            <a:avLst/>
          </a:prstGeom>
          <a:noFill/>
          <a:ln/>
        </p:spPr>
        <p:txBody>
          <a:bodyPr wrap="square" rtlCol="0" anchor="t"/>
          <a:lstStyle/>
          <a:p>
            <a:r>
              <a:rPr sz="950">
                <a:solidFill>
                  <a:srgbClr val="7B8490"/>
                </a:solidFill>
                <a:latin typeface="Calibri"/>
              </a:rPr>
              <a:t>Report summary of simulator comparisons; the genuine terminal capture on demo slide 21 shows the SSA/phi and range output. Reported original/quantized outputs match for the tested control-flow programs.</a:t>
            </a:r>
          </a:p>
        </p:txBody>
      </p:sp>
      <p:sp>
        <p:nvSpPr>
          <p:cNvPr id="48" name="Text 48"/>
          <p:cNvSpPr txBox="1"/>
          <p:nvPr/>
        </p:nvSpPr>
        <p:spPr>
          <a:xfrm>
            <a:off x="502920" y="6492240"/>
            <a:ext cx="9601200" cy="237744"/>
          </a:xfrm>
          <a:prstGeom prst="rect">
            <a:avLst/>
          </a:prstGeom>
          <a:noFill/>
          <a:ln/>
        </p:spPr>
        <p:txBody>
          <a:bodyPr wrap="square" rtlCol="0" anchor="ctr"/>
          <a:lstStyle/>
          <a:p>
            <a:pPr marL="0" indent="0" algn="l">
              <a:buNone/>
            </a:pPr>
            <a:r>
              <a:rPr lang="en-US" sz="800" dirty="0">
                <a:solidFill>
                  <a:srgbClr val="9AA3AF"/>
                </a:solidFill>
                <a:latin typeface="Calibri"/>
                <a:ea typeface="Calibri"/>
                <a:cs typeface="Calibri"/>
              </a:rPr>
              <a:t>BCSE307L — Compiler Design   |   Range-Aware Edge AI Quantization Compiler</a:t>
            </a:r>
          </a:p>
        </p:txBody>
      </p:sp>
      <p:sp>
        <p:nvSpPr>
          <p:cNvPr id="49" name="Text 49"/>
          <p:cNvSpPr txBox="1"/>
          <p:nvPr/>
        </p:nvSpPr>
        <p:spPr>
          <a:xfrm>
            <a:off x="11247120" y="6492240"/>
            <a:ext cx="457200" cy="237744"/>
          </a:xfrm>
          <a:prstGeom prst="rect">
            <a:avLst/>
          </a:prstGeom>
          <a:noFill/>
          <a:ln/>
        </p:spPr>
        <p:txBody>
          <a:bodyPr wrap="square" rtlCol="0" anchor="ctr"/>
          <a:lstStyle/>
          <a:p>
            <a:pPr algn="r"/>
            <a:r>
              <a:rPr sz="850">
                <a:solidFill>
                  <a:srgbClr val="8A919A"/>
                </a:solidFill>
                <a:latin typeface="Calibri"/>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3"/>
          <p:cNvSpPr txBox="1"/>
          <p:nvPr/>
        </p:nvSpPr>
        <p:spPr>
          <a:xfrm>
            <a:off x="502920" y="365760"/>
            <a:ext cx="10058400" cy="274320"/>
          </a:xfrm>
          <a:prstGeom prst="rect">
            <a:avLst/>
          </a:prstGeom>
          <a:noFill/>
          <a:ln/>
        </p:spPr>
        <p:txBody>
          <a:bodyPr wrap="square" rtlCol="0" anchor="ctr"/>
          <a:lstStyle/>
          <a:p>
            <a:pPr marL="0" indent="0" algn="l">
              <a:buNone/>
            </a:pPr>
            <a:r>
              <a:rPr lang="en-US" sz="1100" b="1" spc="200" dirty="0">
                <a:solidFill>
                  <a:srgbClr val="2E6E7E"/>
                </a:solidFill>
                <a:latin typeface="Calibri"/>
                <a:ea typeface="Calibri"/>
                <a:cs typeface="Calibri"/>
              </a:rPr>
              <a:t>REVIEW 2 · SCOPE</a:t>
            </a:r>
          </a:p>
        </p:txBody>
      </p:sp>
      <p:sp>
        <p:nvSpPr>
          <p:cNvPr id="4" name="Text 4"/>
          <p:cNvSpPr txBox="1"/>
          <p:nvPr/>
        </p:nvSpPr>
        <p:spPr>
          <a:xfrm>
            <a:off x="502920" y="621792"/>
            <a:ext cx="11155680" cy="594360"/>
          </a:xfrm>
          <a:prstGeom prst="rect">
            <a:avLst/>
          </a:prstGeom>
          <a:noFill/>
          <a:ln/>
        </p:spPr>
        <p:txBody>
          <a:bodyPr wrap="square" rtlCol="0" anchor="ctr"/>
          <a:lstStyle/>
          <a:p>
            <a:pPr marL="0" indent="0" algn="l">
              <a:buNone/>
            </a:pPr>
            <a:r>
              <a:rPr lang="en-US" sz="2900" b="1" dirty="0">
                <a:solidFill>
                  <a:srgbClr val="1F2A3C"/>
                </a:solidFill>
                <a:latin typeface="Cambria"/>
                <a:ea typeface="Cambria"/>
                <a:cs typeface="Cambria"/>
              </a:rPr>
              <a:t>Current Limitations &amp; Remaining Work</a:t>
            </a:r>
          </a:p>
        </p:txBody>
      </p:sp>
      <p:sp>
        <p:nvSpPr>
          <p:cNvPr id="5" name="Shape 5"/>
          <p:cNvSpPr/>
          <p:nvPr/>
        </p:nvSpPr>
        <p:spPr>
          <a:xfrm>
            <a:off x="502920" y="1554480"/>
            <a:ext cx="329184" cy="329184"/>
          </a:xfrm>
          <a:prstGeom prst="ellipse">
            <a:avLst/>
          </a:prstGeom>
          <a:solidFill>
            <a:srgbClr val="2E6E7E"/>
          </a:solidFill>
          <a:ln/>
        </p:spPr>
        <p:txBody>
          <a:bodyPr/>
          <a:lstStyle/>
          <a:p>
            <a:endParaRPr/>
          </a:p>
        </p:txBody>
      </p:sp>
      <p:sp>
        <p:nvSpPr>
          <p:cNvPr id="6" name="Text 6"/>
          <p:cNvSpPr txBox="1"/>
          <p:nvPr/>
        </p:nvSpPr>
        <p:spPr>
          <a:xfrm>
            <a:off x="502920" y="155448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a:ea typeface="Calibri"/>
                <a:cs typeface="Calibri"/>
              </a:rPr>
              <a:t>1</a:t>
            </a:r>
          </a:p>
        </p:txBody>
      </p:sp>
      <p:sp>
        <p:nvSpPr>
          <p:cNvPr id="7" name="Text 7"/>
          <p:cNvSpPr txBox="1"/>
          <p:nvPr/>
        </p:nvSpPr>
        <p:spPr>
          <a:xfrm>
            <a:off x="1005840" y="1508760"/>
            <a:ext cx="6309360" cy="329184"/>
          </a:xfrm>
          <a:prstGeom prst="rect">
            <a:avLst/>
          </a:prstGeom>
          <a:noFill/>
          <a:ln/>
        </p:spPr>
        <p:txBody>
          <a:bodyPr wrap="square" rtlCol="0" anchor="ctr"/>
          <a:lstStyle/>
          <a:p>
            <a:pPr marL="0" indent="0" algn="l">
              <a:buNone/>
            </a:pPr>
            <a:r>
              <a:rPr lang="en-US" sz="1300" b="1" dirty="0">
                <a:solidFill>
                  <a:srgbClr val="1F2A3C"/>
                </a:solidFill>
                <a:latin typeface="Calibri"/>
                <a:ea typeface="Calibri"/>
                <a:cs typeface="Calibri"/>
              </a:rPr>
              <a:t>Loop widening is conservative</a:t>
            </a:r>
          </a:p>
        </p:txBody>
      </p:sp>
      <p:sp>
        <p:nvSpPr>
          <p:cNvPr id="8" name="Text 8"/>
          <p:cNvSpPr txBox="1"/>
          <p:nvPr/>
        </p:nvSpPr>
        <p:spPr>
          <a:xfrm>
            <a:off x="1005840" y="1837944"/>
            <a:ext cx="6309360" cy="640080"/>
          </a:xfrm>
          <a:prstGeom prst="rect">
            <a:avLst/>
          </a:prstGeom>
          <a:noFill/>
          <a:ln/>
        </p:spPr>
        <p:txBody>
          <a:bodyPr wrap="square" rtlCol="0" anchor="t"/>
          <a:lstStyle/>
          <a:p>
            <a:pPr marL="0" indent="0" algn="l">
              <a:buNone/>
            </a:pPr>
            <a:r>
              <a:rPr lang="en-US" sz="1050" dirty="0">
                <a:solidFill>
                  <a:srgbClr val="6B7480"/>
                </a:solidFill>
                <a:latin typeface="Calibri"/>
                <a:ea typeface="Calibri"/>
                <a:cs typeface="Calibri"/>
              </a:rPr>
              <a:t>Can produce UNKNOWN for loop-carried values when the range does not stabilise within the configured widening threshold.  </a:t>
            </a:r>
            <a:r>
              <a:rPr lang="en-US" sz="1050" i="1" dirty="0">
                <a:solidFill>
                  <a:srgbClr val="2E6E7E"/>
                </a:solidFill>
                <a:latin typeface="Calibri"/>
                <a:ea typeface="Calibri"/>
                <a:cs typeface="Calibri"/>
              </a:rPr>
              <a:t>Such values stay unquantized — safe, but less coverage.</a:t>
            </a:r>
          </a:p>
        </p:txBody>
      </p:sp>
      <p:sp>
        <p:nvSpPr>
          <p:cNvPr id="9" name="Shape 9"/>
          <p:cNvSpPr/>
          <p:nvPr/>
        </p:nvSpPr>
        <p:spPr>
          <a:xfrm>
            <a:off x="502920" y="2578608"/>
            <a:ext cx="329184" cy="329184"/>
          </a:xfrm>
          <a:prstGeom prst="ellipse">
            <a:avLst/>
          </a:prstGeom>
          <a:solidFill>
            <a:srgbClr val="2E6E7E"/>
          </a:solidFill>
          <a:ln/>
        </p:spPr>
        <p:txBody>
          <a:bodyPr/>
          <a:lstStyle/>
          <a:p>
            <a:endParaRPr/>
          </a:p>
        </p:txBody>
      </p:sp>
      <p:sp>
        <p:nvSpPr>
          <p:cNvPr id="10" name="Text 10"/>
          <p:cNvSpPr txBox="1"/>
          <p:nvPr/>
        </p:nvSpPr>
        <p:spPr>
          <a:xfrm>
            <a:off x="502920" y="257860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a:ea typeface="Calibri"/>
                <a:cs typeface="Calibri"/>
              </a:rPr>
              <a:t>2</a:t>
            </a:r>
          </a:p>
        </p:txBody>
      </p:sp>
      <p:sp>
        <p:nvSpPr>
          <p:cNvPr id="11" name="Text 11"/>
          <p:cNvSpPr txBox="1"/>
          <p:nvPr/>
        </p:nvSpPr>
        <p:spPr>
          <a:xfrm>
            <a:off x="1005840" y="2532888"/>
            <a:ext cx="6309360" cy="329184"/>
          </a:xfrm>
          <a:prstGeom prst="rect">
            <a:avLst/>
          </a:prstGeom>
          <a:noFill/>
          <a:ln/>
        </p:spPr>
        <p:txBody>
          <a:bodyPr wrap="square" rtlCol="0" anchor="ctr"/>
          <a:lstStyle/>
          <a:p>
            <a:pPr marL="0" indent="0" algn="l">
              <a:buNone/>
            </a:pPr>
            <a:r>
              <a:rPr lang="en-US" sz="1300" b="1" dirty="0">
                <a:solidFill>
                  <a:srgbClr val="1F2A3C"/>
                </a:solidFill>
                <a:latin typeface="Calibri"/>
                <a:ea typeface="Calibri"/>
                <a:cs typeface="Calibri"/>
              </a:rPr>
              <a:t>Unsupported operations are not quantized</a:t>
            </a:r>
          </a:p>
        </p:txBody>
      </p:sp>
      <p:sp>
        <p:nvSpPr>
          <p:cNvPr id="12" name="Text 12"/>
          <p:cNvSpPr txBox="1"/>
          <p:nvPr/>
        </p:nvSpPr>
        <p:spPr>
          <a:xfrm>
            <a:off x="1005840" y="2862072"/>
            <a:ext cx="6309360" cy="640080"/>
          </a:xfrm>
          <a:prstGeom prst="rect">
            <a:avLst/>
          </a:prstGeom>
          <a:noFill/>
          <a:ln/>
        </p:spPr>
        <p:txBody>
          <a:bodyPr wrap="square" rtlCol="0" anchor="t"/>
          <a:lstStyle/>
          <a:p>
            <a:pPr marL="0" indent="0" algn="l">
              <a:buNone/>
            </a:pPr>
            <a:r>
              <a:rPr lang="en-US" sz="1050" dirty="0">
                <a:solidFill>
                  <a:srgbClr val="6B7480"/>
                </a:solidFill>
                <a:latin typeface="Calibri"/>
                <a:ea typeface="Calibri"/>
                <a:cs typeface="Calibri"/>
              </a:rPr>
              <a:t>Operations outside the supported set — e.g. the relational comparison ‘&gt;’ — are left untouched.  </a:t>
            </a:r>
            <a:r>
              <a:rPr lang="en-US" sz="1050" i="1" dirty="0">
                <a:solidFill>
                  <a:srgbClr val="2E6E7E"/>
                </a:solidFill>
                <a:latin typeface="Calibri"/>
                <a:ea typeface="Calibri"/>
                <a:cs typeface="Calibri"/>
              </a:rPr>
              <a:t>Retained in their original form.</a:t>
            </a:r>
          </a:p>
        </p:txBody>
      </p:sp>
      <p:sp>
        <p:nvSpPr>
          <p:cNvPr id="13" name="Shape 13"/>
          <p:cNvSpPr/>
          <p:nvPr/>
        </p:nvSpPr>
        <p:spPr>
          <a:xfrm>
            <a:off x="502920" y="3602736"/>
            <a:ext cx="329184" cy="329184"/>
          </a:xfrm>
          <a:prstGeom prst="ellipse">
            <a:avLst/>
          </a:prstGeom>
          <a:solidFill>
            <a:srgbClr val="2E6E7E"/>
          </a:solidFill>
          <a:ln/>
        </p:spPr>
        <p:txBody>
          <a:bodyPr/>
          <a:lstStyle/>
          <a:p>
            <a:endParaRPr/>
          </a:p>
        </p:txBody>
      </p:sp>
      <p:sp>
        <p:nvSpPr>
          <p:cNvPr id="14" name="Text 14"/>
          <p:cNvSpPr txBox="1"/>
          <p:nvPr/>
        </p:nvSpPr>
        <p:spPr>
          <a:xfrm>
            <a:off x="502920" y="360273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a:ea typeface="Calibri"/>
                <a:cs typeface="Calibri"/>
              </a:rPr>
              <a:t>3</a:t>
            </a:r>
          </a:p>
        </p:txBody>
      </p:sp>
      <p:sp>
        <p:nvSpPr>
          <p:cNvPr id="15" name="Text 15"/>
          <p:cNvSpPr txBox="1"/>
          <p:nvPr/>
        </p:nvSpPr>
        <p:spPr>
          <a:xfrm>
            <a:off x="1005840" y="3557016"/>
            <a:ext cx="6309360" cy="329184"/>
          </a:xfrm>
          <a:prstGeom prst="rect">
            <a:avLst/>
          </a:prstGeom>
          <a:noFill/>
          <a:ln/>
        </p:spPr>
        <p:txBody>
          <a:bodyPr wrap="square" rtlCol="0" anchor="ctr"/>
          <a:lstStyle/>
          <a:p>
            <a:pPr marL="0" indent="0" algn="l">
              <a:buNone/>
            </a:pPr>
            <a:r>
              <a:rPr lang="en-US" sz="1300" b="1" dirty="0">
                <a:solidFill>
                  <a:srgbClr val="1F2A3C"/>
                </a:solidFill>
                <a:latin typeface="Calibri"/>
                <a:ea typeface="Calibri"/>
                <a:cs typeface="Calibri"/>
              </a:rPr>
              <a:t>Lightweight backend</a:t>
            </a:r>
          </a:p>
        </p:txBody>
      </p:sp>
      <p:sp>
        <p:nvSpPr>
          <p:cNvPr id="16" name="Text 16"/>
          <p:cNvSpPr txBox="1"/>
          <p:nvPr/>
        </p:nvSpPr>
        <p:spPr>
          <a:xfrm>
            <a:off x="1005840" y="3886200"/>
            <a:ext cx="6309360" cy="640080"/>
          </a:xfrm>
          <a:prstGeom prst="rect">
            <a:avLst/>
          </a:prstGeom>
          <a:noFill/>
          <a:ln/>
        </p:spPr>
        <p:txBody>
          <a:bodyPr wrap="square" rtlCol="0" anchor="t"/>
          <a:lstStyle/>
          <a:p>
            <a:pPr marL="0" indent="0" algn="l">
              <a:buNone/>
            </a:pPr>
            <a:r>
              <a:rPr lang="en-US" sz="1050" dirty="0">
                <a:solidFill>
                  <a:srgbClr val="6B7480"/>
                </a:solidFill>
                <a:latin typeface="Calibri"/>
                <a:ea typeface="Calibri"/>
                <a:cs typeface="Calibri"/>
              </a:rPr>
              <a:t>The backend is an IR-walking simulator, not LLVM and not a real hardware backend.  </a:t>
            </a:r>
            <a:r>
              <a:rPr lang="en-US" sz="1050" i="1" dirty="0">
                <a:solidFill>
                  <a:srgbClr val="2E6E7E"/>
                </a:solidFill>
                <a:latin typeface="Calibri"/>
                <a:ea typeface="Calibri"/>
                <a:cs typeface="Calibri"/>
              </a:rPr>
              <a:t>Used to compare original vs. quantized execution.</a:t>
            </a:r>
          </a:p>
        </p:txBody>
      </p:sp>
      <p:sp>
        <p:nvSpPr>
          <p:cNvPr id="17" name="Shape 17"/>
          <p:cNvSpPr/>
          <p:nvPr/>
        </p:nvSpPr>
        <p:spPr>
          <a:xfrm>
            <a:off x="502920" y="4626864"/>
            <a:ext cx="329184" cy="329184"/>
          </a:xfrm>
          <a:prstGeom prst="ellipse">
            <a:avLst/>
          </a:prstGeom>
          <a:solidFill>
            <a:srgbClr val="2E6E7E"/>
          </a:solidFill>
          <a:ln/>
        </p:spPr>
        <p:txBody>
          <a:bodyPr/>
          <a:lstStyle/>
          <a:p>
            <a:endParaRPr/>
          </a:p>
        </p:txBody>
      </p:sp>
      <p:sp>
        <p:nvSpPr>
          <p:cNvPr id="18" name="Text 18"/>
          <p:cNvSpPr txBox="1"/>
          <p:nvPr/>
        </p:nvSpPr>
        <p:spPr>
          <a:xfrm>
            <a:off x="502920" y="462686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a:ea typeface="Calibri"/>
                <a:cs typeface="Calibri"/>
              </a:rPr>
              <a:t>4</a:t>
            </a:r>
          </a:p>
        </p:txBody>
      </p:sp>
      <p:sp>
        <p:nvSpPr>
          <p:cNvPr id="19" name="Text 19"/>
          <p:cNvSpPr txBox="1"/>
          <p:nvPr/>
        </p:nvSpPr>
        <p:spPr>
          <a:xfrm>
            <a:off x="1005840" y="4581144"/>
            <a:ext cx="6309360" cy="329184"/>
          </a:xfrm>
          <a:prstGeom prst="rect">
            <a:avLst/>
          </a:prstGeom>
          <a:noFill/>
          <a:ln/>
        </p:spPr>
        <p:txBody>
          <a:bodyPr wrap="square" rtlCol="0" anchor="ctr"/>
          <a:lstStyle/>
          <a:p>
            <a:pPr marL="0" indent="0" algn="l">
              <a:buNone/>
            </a:pPr>
            <a:r>
              <a:rPr lang="en-US" sz="1300" b="1" dirty="0">
                <a:solidFill>
                  <a:srgbClr val="1F2A3C"/>
                </a:solidFill>
                <a:latin typeface="Calibri"/>
                <a:ea typeface="Calibri"/>
                <a:cs typeface="Calibri"/>
              </a:rPr>
              <a:t>No empirical performance measurements yet</a:t>
            </a:r>
          </a:p>
        </p:txBody>
      </p:sp>
      <p:sp>
        <p:nvSpPr>
          <p:cNvPr id="20" name="Text 20"/>
          <p:cNvSpPr txBox="1"/>
          <p:nvPr/>
        </p:nvSpPr>
        <p:spPr>
          <a:xfrm>
            <a:off x="1005840" y="4910328"/>
            <a:ext cx="6309360" cy="640080"/>
          </a:xfrm>
          <a:prstGeom prst="rect">
            <a:avLst/>
          </a:prstGeom>
          <a:noFill/>
          <a:ln/>
        </p:spPr>
        <p:txBody>
          <a:bodyPr wrap="square" rtlCol="0" anchor="t"/>
          <a:lstStyle/>
          <a:p>
            <a:pPr marL="0" indent="0" algn="l">
              <a:buNone/>
            </a:pPr>
            <a:r>
              <a:rPr lang="en-US" sz="1050" dirty="0">
                <a:solidFill>
                  <a:srgbClr val="6B7480"/>
                </a:solidFill>
                <a:latin typeface="Calibri"/>
                <a:ea typeface="Calibri"/>
                <a:cs typeface="Calibri"/>
              </a:rPr>
              <a:t>Runtime, latency, energy and hardware-power have not been measured.  </a:t>
            </a:r>
            <a:r>
              <a:rPr lang="en-US" sz="1050" i="1" dirty="0">
                <a:solidFill>
                  <a:srgbClr val="2E6E7E"/>
                </a:solidFill>
                <a:latin typeface="Calibri"/>
                <a:ea typeface="Calibri"/>
                <a:cs typeface="Calibri"/>
              </a:rPr>
              <a:t>No speed-up or energy gain is claimed at this milestone.</a:t>
            </a:r>
          </a:p>
        </p:txBody>
      </p:sp>
      <p:sp>
        <p:nvSpPr>
          <p:cNvPr id="21" name="Shape 21"/>
          <p:cNvSpPr/>
          <p:nvPr/>
        </p:nvSpPr>
        <p:spPr>
          <a:xfrm>
            <a:off x="7635240" y="1508760"/>
            <a:ext cx="4050792" cy="4041648"/>
          </a:xfrm>
          <a:prstGeom prst="rect">
            <a:avLst/>
          </a:prstGeom>
          <a:solidFill>
            <a:srgbClr val="1F2A3C"/>
          </a:solidFill>
          <a:ln w="15875">
            <a:solidFill>
              <a:srgbClr val="2E6E7E"/>
            </a:solidFill>
            <a:prstDash val="solid"/>
          </a:ln>
        </p:spPr>
        <p:txBody>
          <a:bodyPr/>
          <a:lstStyle/>
          <a:p>
            <a:endParaRPr/>
          </a:p>
        </p:txBody>
      </p:sp>
      <p:sp>
        <p:nvSpPr>
          <p:cNvPr id="22" name="Text 22"/>
          <p:cNvSpPr txBox="1"/>
          <p:nvPr/>
        </p:nvSpPr>
        <p:spPr>
          <a:xfrm>
            <a:off x="7909560" y="1664208"/>
            <a:ext cx="3502152" cy="274320"/>
          </a:xfrm>
          <a:prstGeom prst="rect">
            <a:avLst/>
          </a:prstGeom>
          <a:noFill/>
          <a:ln/>
        </p:spPr>
        <p:txBody>
          <a:bodyPr wrap="square" rtlCol="0" anchor="t"/>
          <a:lstStyle/>
          <a:p>
            <a:pPr marL="0" indent="0" algn="l">
              <a:buNone/>
            </a:pPr>
            <a:r>
              <a:rPr lang="en-US" sz="950" b="1" spc="150" dirty="0">
                <a:solidFill>
                  <a:srgbClr val="8FB6C2"/>
                </a:solidFill>
                <a:latin typeface="Calibri"/>
                <a:ea typeface="Calibri"/>
                <a:cs typeface="Calibri"/>
              </a:rPr>
              <a:t>60% MILESTONE — WHERE WE STAND</a:t>
            </a:r>
          </a:p>
        </p:txBody>
      </p:sp>
      <p:sp>
        <p:nvSpPr>
          <p:cNvPr id="23" name="Text 23"/>
          <p:cNvSpPr txBox="1"/>
          <p:nvPr/>
        </p:nvSpPr>
        <p:spPr>
          <a:xfrm>
            <a:off x="7909560" y="1965960"/>
            <a:ext cx="3502152" cy="731520"/>
          </a:xfrm>
          <a:prstGeom prst="rect">
            <a:avLst/>
          </a:prstGeom>
          <a:noFill/>
          <a:ln/>
        </p:spPr>
        <p:txBody>
          <a:bodyPr wrap="square" rtlCol="0" anchor="t"/>
          <a:lstStyle/>
          <a:p>
            <a:pPr marL="0" indent="0" algn="l">
              <a:buNone/>
            </a:pPr>
            <a:r>
              <a:rPr lang="en-US" sz="1700" b="1" dirty="0">
                <a:solidFill>
                  <a:srgbClr val="FFFFFF"/>
                </a:solidFill>
                <a:latin typeface="Cambria"/>
                <a:ea typeface="Cambria"/>
                <a:cs typeface="Cambria"/>
              </a:rPr>
              <a:t>Working compiler core for the current scope</a:t>
            </a:r>
          </a:p>
        </p:txBody>
      </p:sp>
      <p:sp>
        <p:nvSpPr>
          <p:cNvPr id="24" name="Text 24"/>
          <p:cNvSpPr txBox="1"/>
          <p:nvPr/>
        </p:nvSpPr>
        <p:spPr>
          <a:xfrm>
            <a:off x="7909560" y="2880360"/>
            <a:ext cx="3502152" cy="2560320"/>
          </a:xfrm>
          <a:prstGeom prst="rect">
            <a:avLst/>
          </a:prstGeom>
          <a:noFill/>
          <a:ln/>
        </p:spPr>
        <p:txBody>
          <a:bodyPr wrap="square" rtlCol="0" anchor="t"/>
          <a:lstStyle/>
          <a:p>
            <a:pPr marL="0" indent="0" algn="l">
              <a:spcAft>
                <a:spcPts val="1500"/>
              </a:spcAft>
              <a:buNone/>
            </a:pPr>
            <a:r>
              <a:rPr lang="en-US" sz="1200" b="1" dirty="0">
                <a:solidFill>
                  <a:srgbClr val="9FE3C8"/>
                </a:solidFill>
                <a:latin typeface="Calibri"/>
                <a:ea typeface="Calibri"/>
                <a:cs typeface="Calibri"/>
              </a:rPr>
              <a:t>✓  </a:t>
            </a:r>
            <a:r>
              <a:rPr lang="en-US" sz="1200" dirty="0">
                <a:solidFill>
                  <a:srgbClr val="C9D4DE"/>
                </a:solidFill>
                <a:latin typeface="Calibri"/>
                <a:ea typeface="Calibri"/>
                <a:cs typeface="Calibri"/>
              </a:rPr>
              <a:t>Teaching-scale prototype, verified on representative programs</a:t>
            </a:r>
          </a:p>
          <a:p>
            <a:pPr marL="0" indent="0" algn="l">
              <a:spcAft>
                <a:spcPts val="1500"/>
              </a:spcAft>
              <a:buNone/>
            </a:pPr>
            <a:r>
              <a:rPr lang="en-US" sz="1200" b="1" dirty="0">
                <a:solidFill>
                  <a:srgbClr val="9FE3C8"/>
                </a:solidFill>
                <a:latin typeface="Calibri"/>
                <a:ea typeface="Calibri"/>
                <a:cs typeface="Calibri"/>
              </a:rPr>
              <a:t>✓  </a:t>
            </a:r>
            <a:r>
              <a:rPr lang="en-US" sz="1200" dirty="0">
                <a:solidFill>
                  <a:srgbClr val="C9D4DE"/>
                </a:solidFill>
                <a:latin typeface="Calibri"/>
                <a:ea typeface="Calibri"/>
                <a:cs typeface="Calibri"/>
              </a:rPr>
              <a:t>20/20 automated tests passed</a:t>
            </a:r>
          </a:p>
          <a:p>
            <a:pPr marL="0" indent="0" algn="l">
              <a:spcAft>
                <a:spcPts val="1500"/>
              </a:spcAft>
              <a:buNone/>
            </a:pPr>
            <a:r>
              <a:rPr lang="en-US" sz="1200" b="1" dirty="0">
                <a:solidFill>
                  <a:srgbClr val="9FE3C8"/>
                </a:solidFill>
                <a:latin typeface="Calibri"/>
                <a:ea typeface="Calibri"/>
                <a:cs typeface="Calibri"/>
              </a:rPr>
              <a:t>✓  </a:t>
            </a:r>
            <a:r>
              <a:rPr lang="en-US" sz="1200" dirty="0">
                <a:solidFill>
                  <a:srgbClr val="C9D4DE"/>
                </a:solidFill>
                <a:latin typeface="Calibri"/>
                <a:ea typeface="Calibri"/>
                <a:cs typeface="Calibri"/>
              </a:rPr>
              <a:t>Safe integer-valued SSA operations lowered to int8</a:t>
            </a:r>
          </a:p>
          <a:p>
            <a:pPr marL="0" indent="0" algn="l">
              <a:spcAft>
                <a:spcPts val="1500"/>
              </a:spcAft>
              <a:buNone/>
            </a:pPr>
            <a:r>
              <a:rPr lang="en-US" sz="1200" b="1" dirty="0">
                <a:solidFill>
                  <a:srgbClr val="9FE3C8"/>
                </a:solidFill>
                <a:latin typeface="Calibri"/>
                <a:ea typeface="Calibri"/>
                <a:cs typeface="Calibri"/>
              </a:rPr>
              <a:t>✓  </a:t>
            </a:r>
            <a:r>
              <a:rPr lang="en-US" sz="1200" dirty="0">
                <a:solidFill>
                  <a:srgbClr val="C9D4DE"/>
                </a:solidFill>
                <a:latin typeface="Calibri"/>
                <a:ea typeface="Calibri"/>
                <a:cs typeface="Calibri"/>
              </a:rPr>
              <a:t>Unsafe or unproven values remain unquantized</a:t>
            </a:r>
          </a:p>
        </p:txBody>
      </p:sp>
      <p:sp>
        <p:nvSpPr>
          <p:cNvPr id="25" name="Text 25"/>
          <p:cNvSpPr txBox="1"/>
          <p:nvPr/>
        </p:nvSpPr>
        <p:spPr>
          <a:xfrm>
            <a:off x="502920" y="5715000"/>
            <a:ext cx="11183112" cy="457200"/>
          </a:xfrm>
          <a:prstGeom prst="rect">
            <a:avLst/>
          </a:prstGeom>
          <a:noFill/>
          <a:ln/>
        </p:spPr>
        <p:txBody>
          <a:bodyPr wrap="square" rtlCol="0" anchor="t"/>
          <a:lstStyle/>
          <a:p>
            <a:pPr marL="0" indent="0" algn="ctr">
              <a:buNone/>
            </a:pPr>
            <a:r>
              <a:rPr lang="en-US" sz="1050" i="1" dirty="0">
                <a:solidFill>
                  <a:srgbClr val="6B7480"/>
                </a:solidFill>
                <a:latin typeface="Calibri"/>
                <a:ea typeface="Calibri"/>
                <a:cs typeface="Calibri"/>
              </a:rPr>
              <a:t>Limitations as stated in the Review 2 Report. None of them weakens the core rule: unsafe or unproven values remain unquantized.</a:t>
            </a:r>
          </a:p>
        </p:txBody>
      </p:sp>
      <p:sp>
        <p:nvSpPr>
          <p:cNvPr id="26" name="Text 26"/>
          <p:cNvSpPr txBox="1"/>
          <p:nvPr/>
        </p:nvSpPr>
        <p:spPr>
          <a:xfrm>
            <a:off x="502920" y="6492240"/>
            <a:ext cx="9601200" cy="237744"/>
          </a:xfrm>
          <a:prstGeom prst="rect">
            <a:avLst/>
          </a:prstGeom>
          <a:noFill/>
          <a:ln/>
        </p:spPr>
        <p:txBody>
          <a:bodyPr wrap="square" rtlCol="0" anchor="ctr"/>
          <a:lstStyle/>
          <a:p>
            <a:pPr marL="0" indent="0" algn="l">
              <a:buNone/>
            </a:pPr>
            <a:r>
              <a:rPr lang="en-US" sz="800" dirty="0">
                <a:solidFill>
                  <a:srgbClr val="9AA3AF"/>
                </a:solidFill>
                <a:latin typeface="Calibri"/>
                <a:ea typeface="Calibri"/>
                <a:cs typeface="Calibri"/>
              </a:rPr>
              <a:t>BCSE307L — Compiler Design   |   Range-Aware Edge AI Quantization Compiler</a:t>
            </a:r>
          </a:p>
        </p:txBody>
      </p:sp>
      <p:sp>
        <p:nvSpPr>
          <p:cNvPr id="27" name="Text 27"/>
          <p:cNvSpPr txBox="1"/>
          <p:nvPr/>
        </p:nvSpPr>
        <p:spPr>
          <a:xfrm>
            <a:off x="11247120" y="6492240"/>
            <a:ext cx="457200" cy="237744"/>
          </a:xfrm>
          <a:prstGeom prst="rect">
            <a:avLst/>
          </a:prstGeom>
          <a:noFill/>
          <a:ln/>
        </p:spPr>
        <p:txBody>
          <a:bodyPr wrap="square" rtlCol="0" anchor="ctr"/>
          <a:lstStyle/>
          <a:p>
            <a:pPr algn="r"/>
            <a:r>
              <a:rPr sz="850">
                <a:solidFill>
                  <a:srgbClr val="8A919A"/>
                </a:solidFill>
                <a:latin typeface="Calibri"/>
              </a:rPr>
              <a:t>28</a:t>
            </a:r>
          </a:p>
        </p:txBody>
      </p:sp>
      <p:sp>
        <p:nvSpPr>
          <p:cNvPr id="28" name="Rounded Rectangle 27"/>
          <p:cNvSpPr/>
          <p:nvPr/>
        </p:nvSpPr>
        <p:spPr>
          <a:xfrm>
            <a:off x="7086600" y="5084064"/>
            <a:ext cx="3429000" cy="566928"/>
          </a:xfrm>
          <a:prstGeom prst="roundRect">
            <a:avLst/>
          </a:prstGeom>
          <a:solidFill>
            <a:srgbClr val="F7F7F7"/>
          </a:solidFill>
          <a:ln w="10160">
            <a:solidFill>
              <a:srgbClr val="AAAAA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3C4655"/>
                </a:solidFill>
                <a:latin typeface="Aptos"/>
              </a:rPr>
              <a:t>NEXT PHASE</a:t>
            </a:r>
          </a:p>
          <a:p>
            <a:r>
              <a:rPr sz="630">
                <a:solidFill>
                  <a:srgbClr val="5A6473"/>
                </a:solidFill>
                <a:latin typeface="Aptos"/>
              </a:rPr>
              <a:t>Extend operation coverage • improve loop precision • develop a more realistic backend • measure runtime/energy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5">
    <p:bg>
      <p:bgPr>
        <a:solidFill>
          <a:srgbClr val="1F2A3C"/>
        </a:solidFill>
        <a:effectLst/>
      </p:bgPr>
    </p:bg>
    <p:spTree>
      <p:nvGrpSpPr>
        <p:cNvPr id="1" name=""/>
        <p:cNvGrpSpPr/>
        <p:nvPr/>
      </p:nvGrpSpPr>
      <p:grpSpPr>
        <a:xfrm>
          <a:off x="0" y="0"/>
          <a:ext cx="0" cy="0"/>
          <a:chOff x="0" y="0"/>
          <a:chExt cx="0" cy="0"/>
        </a:xfrm>
      </p:grpSpPr>
      <p:sp>
        <p:nvSpPr>
          <p:cNvPr id="2" name="Text 2"/>
          <p:cNvSpPr txBox="1"/>
          <p:nvPr/>
        </p:nvSpPr>
        <p:spPr>
          <a:xfrm>
            <a:off x="502920" y="365760"/>
            <a:ext cx="10058400" cy="274320"/>
          </a:xfrm>
          <a:prstGeom prst="rect">
            <a:avLst/>
          </a:prstGeom>
          <a:noFill/>
          <a:ln/>
        </p:spPr>
        <p:txBody>
          <a:bodyPr wrap="square" rtlCol="0" anchor="ctr"/>
          <a:lstStyle/>
          <a:p>
            <a:pPr marL="0" indent="0" algn="l">
              <a:buNone/>
            </a:pPr>
            <a:r>
              <a:rPr lang="en-US" sz="1100" b="1" kern="0" spc="200" dirty="0">
                <a:solidFill>
                  <a:srgbClr val="8FB6C2"/>
                </a:solidFill>
                <a:latin typeface="Calibri" pitchFamily="34" charset="0"/>
                <a:ea typeface="Calibri" pitchFamily="34" charset="-122"/>
                <a:cs typeface="Calibri" pitchFamily="34" charset="-120"/>
              </a:rPr>
              <a:t>OUTCOME</a:t>
            </a:r>
          </a:p>
        </p:txBody>
      </p:sp>
      <p:sp>
        <p:nvSpPr>
          <p:cNvPr id="3" name="Text 3"/>
          <p:cNvSpPr txBox="1"/>
          <p:nvPr/>
        </p:nvSpPr>
        <p:spPr>
          <a:xfrm>
            <a:off x="502920" y="621792"/>
            <a:ext cx="11155680" cy="594360"/>
          </a:xfrm>
          <a:prstGeom prst="rect">
            <a:avLst/>
          </a:prstGeom>
          <a:noFill/>
          <a:ln/>
        </p:spPr>
        <p:txBody>
          <a:bodyPr wrap="square" rtlCol="0" anchor="ctr"/>
          <a:lstStyle/>
          <a:p>
            <a:pPr marL="0" indent="0" algn="l">
              <a:buNone/>
            </a:pPr>
            <a:r>
              <a:rPr lang="en-US" sz="2900" b="1" dirty="0">
                <a:solidFill>
                  <a:srgbClr val="FFFFFF"/>
                </a:solidFill>
                <a:latin typeface="Cambria" pitchFamily="34" charset="0"/>
                <a:ea typeface="Cambria" pitchFamily="34" charset="-122"/>
                <a:cs typeface="Cambria" pitchFamily="34" charset="-120"/>
              </a:rPr>
              <a:t>Project Outcome</a:t>
            </a:r>
          </a:p>
        </p:txBody>
      </p:sp>
      <p:sp>
        <p:nvSpPr>
          <p:cNvPr id="4" name="Text 4"/>
          <p:cNvSpPr txBox="1"/>
          <p:nvPr/>
        </p:nvSpPr>
        <p:spPr>
          <a:xfrm>
            <a:off x="640080" y="1280160"/>
            <a:ext cx="10911840" cy="480060"/>
          </a:xfrm>
          <a:prstGeom prst="rect">
            <a:avLst/>
          </a:prstGeom>
          <a:noFill/>
          <a:ln/>
        </p:spPr>
        <p:txBody>
          <a:bodyPr wrap="square" rtlCol="0" anchor="ctr"/>
          <a:lstStyle/>
          <a:p>
            <a:pPr marL="0" indent="0" algn="l">
              <a:buNone/>
            </a:pPr>
            <a:r>
              <a:rPr sz="1400" b="0">
                <a:solidFill>
                  <a:srgbClr val="DCE1E8"/>
                </a:solidFill>
                <a:latin typeface="Aptos"/>
              </a:rPr>
              <a:t>Within the current supported scope, the compiler produces three concrete outcomes — each one backed by a compile-time proof rather than a runtime check.</a:t>
            </a:r>
          </a:p>
        </p:txBody>
      </p:sp>
      <p:sp>
        <p:nvSpPr>
          <p:cNvPr id="5" name="Shape 5"/>
          <p:cNvSpPr/>
          <p:nvPr/>
        </p:nvSpPr>
        <p:spPr>
          <a:xfrm>
            <a:off x="640080" y="1920240"/>
            <a:ext cx="3454400" cy="2560320"/>
          </a:xfrm>
          <a:prstGeom prst="rect">
            <a:avLst/>
          </a:prstGeom>
          <a:solidFill>
            <a:srgbClr val="2C3B52"/>
          </a:solidFill>
          <a:ln w="15875">
            <a:solidFill>
              <a:srgbClr val="2E6E7E"/>
            </a:solidFill>
            <a:prstDash val="solid"/>
          </a:ln>
        </p:spPr>
        <p:txBody>
          <a:bodyPr/>
          <a:lstStyle/>
          <a:p>
            <a:endParaRPr/>
          </a:p>
        </p:txBody>
      </p:sp>
      <p:sp>
        <p:nvSpPr>
          <p:cNvPr id="6" name="Shape 6"/>
          <p:cNvSpPr/>
          <p:nvPr/>
        </p:nvSpPr>
        <p:spPr>
          <a:xfrm>
            <a:off x="914400" y="2194560"/>
            <a:ext cx="457200" cy="457200"/>
          </a:xfrm>
          <a:prstGeom prst="ellipse">
            <a:avLst/>
          </a:prstGeom>
          <a:solidFill>
            <a:srgbClr val="2E6E7E"/>
          </a:solidFill>
          <a:ln/>
        </p:spPr>
        <p:txBody>
          <a:bodyPr/>
          <a:lstStyle/>
          <a:p>
            <a:endParaRPr/>
          </a:p>
        </p:txBody>
      </p:sp>
      <p:sp>
        <p:nvSpPr>
          <p:cNvPr id="7" name="Text 7"/>
          <p:cNvSpPr txBox="1"/>
          <p:nvPr/>
        </p:nvSpPr>
        <p:spPr>
          <a:xfrm>
            <a:off x="914400" y="2194560"/>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p>
        </p:txBody>
      </p:sp>
      <p:sp>
        <p:nvSpPr>
          <p:cNvPr id="8" name="Text 8"/>
          <p:cNvSpPr txBox="1"/>
          <p:nvPr/>
        </p:nvSpPr>
        <p:spPr>
          <a:xfrm>
            <a:off x="914400" y="2788920"/>
            <a:ext cx="2905760" cy="457200"/>
          </a:xfrm>
          <a:prstGeom prst="rect">
            <a:avLst/>
          </a:prstGeom>
          <a:noFill/>
          <a:ln/>
        </p:spPr>
        <p:txBody>
          <a:bodyPr wrap="square" rtlCol="0" anchor="t"/>
          <a:lstStyle/>
          <a:p>
            <a:pPr marL="0" indent="0" algn="l">
              <a:buNone/>
            </a:pPr>
            <a:r>
              <a:rPr lang="en-US" sz="1500" b="1" dirty="0">
                <a:solidFill>
                  <a:srgbClr val="FFFFFF"/>
                </a:solidFill>
                <a:latin typeface="Cambria" pitchFamily="34" charset="0"/>
                <a:ea typeface="Cambria" pitchFamily="34" charset="-122"/>
                <a:cs typeface="Cambria" pitchFamily="34" charset="-120"/>
              </a:rPr>
              <a:t>Static Safety Check</a:t>
            </a:r>
          </a:p>
        </p:txBody>
      </p:sp>
      <p:sp>
        <p:nvSpPr>
          <p:cNvPr id="9" name="Text 9"/>
          <p:cNvSpPr txBox="1"/>
          <p:nvPr/>
        </p:nvSpPr>
        <p:spPr>
          <a:xfrm>
            <a:off x="914400" y="3291840"/>
            <a:ext cx="2905760" cy="1005840"/>
          </a:xfrm>
          <a:prstGeom prst="rect">
            <a:avLst/>
          </a:prstGeom>
          <a:noFill/>
          <a:ln/>
        </p:spPr>
        <p:txBody>
          <a:bodyPr wrap="square" rtlCol="0" anchor="t"/>
          <a:lstStyle/>
          <a:p>
            <a:pPr marL="0" indent="0" algn="l">
              <a:lnSpc>
                <a:spcPct val="135000"/>
              </a:lnSpc>
              <a:buNone/>
            </a:pPr>
            <a:r>
              <a:rPr lang="en-US" sz="1150" dirty="0">
                <a:solidFill>
                  <a:srgbClr val="C9D4DE"/>
                </a:solidFill>
                <a:latin typeface="Calibri" pitchFamily="34" charset="0"/>
                <a:ea typeface="Calibri" pitchFamily="34" charset="-122"/>
                <a:cs typeface="Calibri" pitchFamily="34" charset="-120"/>
              </a:rPr>
              <a:t>Verifies at compile time that a value stays integral and remains within [−128, 127] across all execution paths.</a:t>
            </a:r>
          </a:p>
        </p:txBody>
      </p:sp>
      <p:sp>
        <p:nvSpPr>
          <p:cNvPr id="10" name="Shape 10"/>
          <p:cNvSpPr/>
          <p:nvPr/>
        </p:nvSpPr>
        <p:spPr>
          <a:xfrm>
            <a:off x="4368800" y="1920240"/>
            <a:ext cx="3454400" cy="2560320"/>
          </a:xfrm>
          <a:prstGeom prst="rect">
            <a:avLst/>
          </a:prstGeom>
          <a:solidFill>
            <a:srgbClr val="2C3B52"/>
          </a:solidFill>
          <a:ln w="15875">
            <a:solidFill>
              <a:srgbClr val="2E6E7E"/>
            </a:solidFill>
            <a:prstDash val="solid"/>
          </a:ln>
        </p:spPr>
        <p:txBody>
          <a:bodyPr/>
          <a:lstStyle/>
          <a:p>
            <a:endParaRPr/>
          </a:p>
        </p:txBody>
      </p:sp>
      <p:sp>
        <p:nvSpPr>
          <p:cNvPr id="11" name="Shape 11"/>
          <p:cNvSpPr/>
          <p:nvPr/>
        </p:nvSpPr>
        <p:spPr>
          <a:xfrm>
            <a:off x="4643120" y="2194560"/>
            <a:ext cx="457200" cy="457200"/>
          </a:xfrm>
          <a:prstGeom prst="ellipse">
            <a:avLst/>
          </a:prstGeom>
          <a:solidFill>
            <a:srgbClr val="2E6E7E"/>
          </a:solidFill>
          <a:ln/>
        </p:spPr>
        <p:txBody>
          <a:bodyPr/>
          <a:lstStyle/>
          <a:p>
            <a:endParaRPr/>
          </a:p>
        </p:txBody>
      </p:sp>
      <p:sp>
        <p:nvSpPr>
          <p:cNvPr id="12" name="Text 12"/>
          <p:cNvSpPr txBox="1"/>
          <p:nvPr/>
        </p:nvSpPr>
        <p:spPr>
          <a:xfrm>
            <a:off x="4643120" y="2194560"/>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p>
        </p:txBody>
      </p:sp>
      <p:sp>
        <p:nvSpPr>
          <p:cNvPr id="13" name="Text 13"/>
          <p:cNvSpPr txBox="1"/>
          <p:nvPr/>
        </p:nvSpPr>
        <p:spPr>
          <a:xfrm>
            <a:off x="4643120" y="2788920"/>
            <a:ext cx="2905760" cy="457200"/>
          </a:xfrm>
          <a:prstGeom prst="rect">
            <a:avLst/>
          </a:prstGeom>
          <a:noFill/>
          <a:ln/>
        </p:spPr>
        <p:txBody>
          <a:bodyPr wrap="square" rtlCol="0" anchor="t"/>
          <a:lstStyle/>
          <a:p>
            <a:pPr marL="0" indent="0" algn="l">
              <a:buNone/>
            </a:pPr>
            <a:r>
              <a:rPr lang="en-US" sz="1500" b="1" dirty="0">
                <a:solidFill>
                  <a:srgbClr val="FFFFFF"/>
                </a:solidFill>
                <a:latin typeface="Cambria" pitchFamily="34" charset="0"/>
                <a:ea typeface="Cambria" pitchFamily="34" charset="-122"/>
                <a:cs typeface="Cambria" pitchFamily="34" charset="-120"/>
              </a:rPr>
              <a:t>Selective Quantization</a:t>
            </a:r>
          </a:p>
        </p:txBody>
      </p:sp>
      <p:sp>
        <p:nvSpPr>
          <p:cNvPr id="14" name="Text 14"/>
          <p:cNvSpPr txBox="1"/>
          <p:nvPr/>
        </p:nvSpPr>
        <p:spPr>
          <a:xfrm>
            <a:off x="4643120" y="3291840"/>
            <a:ext cx="2905760" cy="1005840"/>
          </a:xfrm>
          <a:prstGeom prst="rect">
            <a:avLst/>
          </a:prstGeom>
          <a:noFill/>
          <a:ln/>
        </p:spPr>
        <p:txBody>
          <a:bodyPr wrap="square" rtlCol="0" anchor="t"/>
          <a:lstStyle/>
          <a:p>
            <a:pPr marL="0" indent="0" algn="l">
              <a:lnSpc>
                <a:spcPct val="135000"/>
              </a:lnSpc>
              <a:buNone/>
            </a:pPr>
            <a:r>
              <a:rPr lang="en-US" sz="1150" dirty="0">
                <a:solidFill>
                  <a:srgbClr val="C9D4DE"/>
                </a:solidFill>
                <a:latin typeface="Calibri" pitchFamily="34" charset="0"/>
                <a:ea typeface="Calibri" pitchFamily="34" charset="-122"/>
                <a:cs typeface="Calibri" pitchFamily="34" charset="-120"/>
              </a:rPr>
              <a:t>Rewrites only certified-safe operations into INT8, leaving every uncertain operation untouched in FP32.</a:t>
            </a:r>
          </a:p>
        </p:txBody>
      </p:sp>
      <p:sp>
        <p:nvSpPr>
          <p:cNvPr id="15" name="Shape 15"/>
          <p:cNvSpPr/>
          <p:nvPr/>
        </p:nvSpPr>
        <p:spPr>
          <a:xfrm>
            <a:off x="8097520" y="1920240"/>
            <a:ext cx="3454400" cy="2560320"/>
          </a:xfrm>
          <a:prstGeom prst="rect">
            <a:avLst/>
          </a:prstGeom>
          <a:solidFill>
            <a:srgbClr val="2C3B52"/>
          </a:solidFill>
          <a:ln w="15875">
            <a:solidFill>
              <a:srgbClr val="2E6E7E"/>
            </a:solidFill>
            <a:prstDash val="solid"/>
          </a:ln>
        </p:spPr>
        <p:txBody>
          <a:bodyPr/>
          <a:lstStyle/>
          <a:p>
            <a:endParaRPr/>
          </a:p>
        </p:txBody>
      </p:sp>
      <p:sp>
        <p:nvSpPr>
          <p:cNvPr id="16" name="Shape 16"/>
          <p:cNvSpPr/>
          <p:nvPr/>
        </p:nvSpPr>
        <p:spPr>
          <a:xfrm>
            <a:off x="8371840" y="2194560"/>
            <a:ext cx="457200" cy="457200"/>
          </a:xfrm>
          <a:prstGeom prst="ellipse">
            <a:avLst/>
          </a:prstGeom>
          <a:solidFill>
            <a:srgbClr val="2E6E7E"/>
          </a:solidFill>
          <a:ln/>
        </p:spPr>
        <p:txBody>
          <a:bodyPr/>
          <a:lstStyle/>
          <a:p>
            <a:endParaRPr/>
          </a:p>
        </p:txBody>
      </p:sp>
      <p:sp>
        <p:nvSpPr>
          <p:cNvPr id="17" name="Text 17"/>
          <p:cNvSpPr txBox="1"/>
          <p:nvPr/>
        </p:nvSpPr>
        <p:spPr>
          <a:xfrm>
            <a:off x="8371840" y="2194560"/>
            <a:ext cx="457200" cy="45720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p>
        </p:txBody>
      </p:sp>
      <p:sp>
        <p:nvSpPr>
          <p:cNvPr id="18" name="Text 18"/>
          <p:cNvSpPr txBox="1"/>
          <p:nvPr/>
        </p:nvSpPr>
        <p:spPr>
          <a:xfrm>
            <a:off x="8371840" y="2788920"/>
            <a:ext cx="2905760" cy="457200"/>
          </a:xfrm>
          <a:prstGeom prst="rect">
            <a:avLst/>
          </a:prstGeom>
          <a:noFill/>
          <a:ln/>
        </p:spPr>
        <p:txBody>
          <a:bodyPr wrap="square" rtlCol="0" anchor="t"/>
          <a:lstStyle/>
          <a:p>
            <a:pPr marL="0" indent="0" algn="l">
              <a:buNone/>
            </a:pPr>
            <a:r>
              <a:rPr lang="en-US" sz="1500" b="1" dirty="0">
                <a:solidFill>
                  <a:srgbClr val="FFFFFF"/>
                </a:solidFill>
                <a:latin typeface="Cambria" pitchFamily="34" charset="0"/>
                <a:ea typeface="Cambria" pitchFamily="34" charset="-122"/>
                <a:cs typeface="Cambria" pitchFamily="34" charset="-120"/>
              </a:rPr>
              <a:t>Traceable Output</a:t>
            </a:r>
          </a:p>
        </p:txBody>
      </p:sp>
      <p:sp>
        <p:nvSpPr>
          <p:cNvPr id="19" name="Text 19"/>
          <p:cNvSpPr txBox="1"/>
          <p:nvPr/>
        </p:nvSpPr>
        <p:spPr>
          <a:xfrm>
            <a:off x="8371840" y="3291840"/>
            <a:ext cx="2905760" cy="1005840"/>
          </a:xfrm>
          <a:prstGeom prst="rect">
            <a:avLst/>
          </a:prstGeom>
          <a:noFill/>
          <a:ln/>
        </p:spPr>
        <p:txBody>
          <a:bodyPr wrap="square" rtlCol="0" anchor="t"/>
          <a:lstStyle/>
          <a:p>
            <a:pPr marL="0" indent="0" algn="l">
              <a:lnSpc>
                <a:spcPct val="135000"/>
              </a:lnSpc>
              <a:buNone/>
            </a:pPr>
            <a:r>
              <a:rPr lang="en-US" sz="1150" dirty="0">
                <a:solidFill>
                  <a:srgbClr val="C9D4DE"/>
                </a:solidFill>
                <a:latin typeface="Calibri" pitchFamily="34" charset="0"/>
                <a:ea typeface="Calibri" pitchFamily="34" charset="-122"/>
                <a:cs typeface="Calibri" pitchFamily="34" charset="-120"/>
              </a:rPr>
              <a:t>Emits line-by-line diagnostics stating whether each variable was converted or rejected, and the specific reason.</a:t>
            </a:r>
          </a:p>
        </p:txBody>
      </p:sp>
      <p:sp>
        <p:nvSpPr>
          <p:cNvPr id="20" name="Shape 20"/>
          <p:cNvSpPr/>
          <p:nvPr/>
        </p:nvSpPr>
        <p:spPr>
          <a:xfrm>
            <a:off x="640080" y="4785360"/>
            <a:ext cx="10911840" cy="1005840"/>
          </a:xfrm>
          <a:prstGeom prst="rect">
            <a:avLst/>
          </a:prstGeom>
          <a:solidFill>
            <a:srgbClr val="2C3B52"/>
          </a:solidFill>
          <a:ln w="15875">
            <a:solidFill>
              <a:srgbClr val="2E6E7E"/>
            </a:solidFill>
            <a:prstDash val="solid"/>
          </a:ln>
        </p:spPr>
        <p:txBody>
          <a:bodyPr/>
          <a:lstStyle/>
          <a:p>
            <a:endParaRPr/>
          </a:p>
        </p:txBody>
      </p:sp>
      <p:sp>
        <p:nvSpPr>
          <p:cNvPr id="21" name="Text 21"/>
          <p:cNvSpPr txBox="1"/>
          <p:nvPr/>
        </p:nvSpPr>
        <p:spPr>
          <a:xfrm>
            <a:off x="822960" y="4785360"/>
            <a:ext cx="1280160" cy="1005840"/>
          </a:xfrm>
          <a:prstGeom prst="rect">
            <a:avLst/>
          </a:prstGeom>
          <a:noFill/>
          <a:ln/>
        </p:spPr>
        <p:txBody>
          <a:bodyPr wrap="square" rtlCol="0" anchor="ctr"/>
          <a:lstStyle/>
          <a:p>
            <a:pPr marL="0" indent="0" algn="l">
              <a:buNone/>
            </a:pPr>
            <a:r>
              <a:rPr lang="en-US" sz="4000" b="1" dirty="0">
                <a:solidFill>
                  <a:srgbClr val="8FB6C2"/>
                </a:solidFill>
                <a:latin typeface="Cambria" pitchFamily="34" charset="0"/>
                <a:ea typeface="Cambria" pitchFamily="34" charset="-122"/>
                <a:cs typeface="Cambria" pitchFamily="34" charset="-120"/>
              </a:rPr>
              <a:t>4×</a:t>
            </a:r>
          </a:p>
        </p:txBody>
      </p:sp>
      <p:sp>
        <p:nvSpPr>
          <p:cNvPr id="22" name="Text 22"/>
          <p:cNvSpPr txBox="1"/>
          <p:nvPr/>
        </p:nvSpPr>
        <p:spPr>
          <a:xfrm>
            <a:off x="2103120" y="4785360"/>
            <a:ext cx="9174480" cy="1005840"/>
          </a:xfrm>
          <a:prstGeom prst="rect">
            <a:avLst/>
          </a:prstGeom>
          <a:noFill/>
          <a:ln/>
        </p:spPr>
        <p:txBody>
          <a:bodyPr wrap="square" rtlCol="0" anchor="ctr"/>
          <a:lstStyle/>
          <a:p>
            <a:r>
              <a:rPr sz="1350">
                <a:solidFill>
                  <a:srgbClr val="C9D4DE"/>
                </a:solidFill>
                <a:latin typeface="Calibri"/>
              </a:rPr>
              <a:t>Reduction in memory per quantized value — 4 bytes (FP32) → 1 byte (INT8), with potential for efficient integer arithmetic on suitable hardware; only values proven safe within the supported model are transformed.</a:t>
            </a:r>
          </a:p>
        </p:txBody>
      </p:sp>
      <p:sp>
        <p:nvSpPr>
          <p:cNvPr id="23" name="Text 23"/>
          <p:cNvSpPr txBox="1"/>
          <p:nvPr/>
        </p:nvSpPr>
        <p:spPr>
          <a:xfrm>
            <a:off x="640080" y="5943600"/>
            <a:ext cx="10911840" cy="320040"/>
          </a:xfrm>
          <a:prstGeom prst="rect">
            <a:avLst/>
          </a:prstGeom>
          <a:noFill/>
          <a:ln/>
        </p:spPr>
        <p:txBody>
          <a:bodyPr wrap="square" rtlCol="0" anchor="t"/>
          <a:lstStyle/>
          <a:p>
            <a:pPr marL="0" indent="0" algn="l">
              <a:buNone/>
            </a:pPr>
            <a:r>
              <a:rPr lang="en-US" sz="1150" i="1" dirty="0">
                <a:solidFill>
                  <a:srgbClr val="8FB6C2"/>
                </a:solidFill>
                <a:latin typeface="Calibri" pitchFamily="34" charset="0"/>
                <a:ea typeface="Calibri" pitchFamily="34" charset="-122"/>
                <a:cs typeface="Calibri" pitchFamily="34" charset="-120"/>
              </a:rPr>
              <a:t>Memory reduction follows directly from the width change; runtime and energy gains remain to be measured.</a:t>
            </a:r>
          </a:p>
        </p:txBody>
      </p:sp>
      <p:sp>
        <p:nvSpPr>
          <p:cNvPr id="24" name="Text 24"/>
          <p:cNvSpPr txBox="1"/>
          <p:nvPr/>
        </p:nvSpPr>
        <p:spPr>
          <a:xfrm>
            <a:off x="502920" y="6492240"/>
            <a:ext cx="9601200" cy="237744"/>
          </a:xfrm>
          <a:prstGeom prst="rect">
            <a:avLst/>
          </a:prstGeom>
          <a:noFill/>
          <a:ln/>
        </p:spPr>
        <p:txBody>
          <a:bodyPr wrap="square" rtlCol="0" anchor="ctr"/>
          <a:lstStyle/>
          <a:p>
            <a:pPr marL="0" indent="0" algn="l">
              <a:buNone/>
            </a:pPr>
            <a:r>
              <a:rPr lang="en-US" sz="800" dirty="0">
                <a:solidFill>
                  <a:srgbClr val="5C7186"/>
                </a:solidFill>
                <a:latin typeface="Calibri" pitchFamily="34" charset="0"/>
                <a:ea typeface="Calibri" pitchFamily="34" charset="-122"/>
                <a:cs typeface="Calibri" pitchFamily="34" charset="-120"/>
              </a:rPr>
              <a:t>BCSE307L — Compiler Design   |   Range-Aware Edge AI Quantization Compiler</a:t>
            </a:r>
          </a:p>
        </p:txBody>
      </p:sp>
      <p:sp>
        <p:nvSpPr>
          <p:cNvPr id="25" name="Text 25"/>
          <p:cNvSpPr txBox="1"/>
          <p:nvPr/>
        </p:nvSpPr>
        <p:spPr>
          <a:xfrm>
            <a:off x="11247120" y="6492240"/>
            <a:ext cx="457200" cy="237744"/>
          </a:xfrm>
          <a:prstGeom prst="rect">
            <a:avLst/>
          </a:prstGeom>
          <a:noFill/>
          <a:ln/>
        </p:spPr>
        <p:txBody>
          <a:bodyPr wrap="square" rtlCol="0" anchor="ctr"/>
          <a:lstStyle/>
          <a:p>
            <a:pPr algn="r"/>
            <a:r>
              <a:rPr sz="850">
                <a:solidFill>
                  <a:srgbClr val="8A919A"/>
                </a:solidFill>
                <a:latin typeface="Calibri"/>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365760"/>
            <a:ext cx="10058400" cy="274320"/>
          </a:xfrm>
          <a:prstGeom prst="rect">
            <a:avLst/>
          </a:prstGeom>
          <a:noFill/>
          <a:ln/>
        </p:spPr>
        <p:txBody>
          <a:bodyPr wrap="square" rtlCol="0" anchor="ctr"/>
          <a:lstStyle/>
          <a:p>
            <a:pPr marL="0" indent="0">
              <a:buNone/>
            </a:pPr>
            <a:r>
              <a:rPr lang="en-US" sz="1100" b="1" kern="0" spc="200" dirty="0">
                <a:solidFill>
                  <a:srgbClr val="2E6E7E"/>
                </a:solidFill>
                <a:latin typeface="Calibri" pitchFamily="34" charset="0"/>
                <a:ea typeface="Calibri" pitchFamily="34" charset="-122"/>
                <a:cs typeface="Calibri" pitchFamily="34" charset="-120"/>
              </a:rPr>
              <a:t>REFERENCES</a:t>
            </a:r>
            <a:endParaRPr lang="en-US" sz="1100" dirty="0"/>
          </a:p>
        </p:txBody>
      </p:sp>
      <p:sp>
        <p:nvSpPr>
          <p:cNvPr id="3" name="Text 1"/>
          <p:cNvSpPr txBox="1"/>
          <p:nvPr/>
        </p:nvSpPr>
        <p:spPr>
          <a:xfrm>
            <a:off x="513806" y="621792"/>
            <a:ext cx="11155680" cy="594360"/>
          </a:xfrm>
          <a:prstGeom prst="rect">
            <a:avLst/>
          </a:prstGeom>
          <a:noFill/>
          <a:ln/>
        </p:spPr>
        <p:txBody>
          <a:bodyPr wrap="square" rtlCol="0" anchor="ctr"/>
          <a:lstStyle/>
          <a:p>
            <a:pPr marL="0" indent="0">
              <a:buNone/>
            </a:pPr>
            <a:r>
              <a:rPr lang="en-US" sz="2900" b="1" dirty="0">
                <a:solidFill>
                  <a:srgbClr val="1F2A3C"/>
                </a:solidFill>
                <a:latin typeface="Cambria" pitchFamily="34" charset="0"/>
                <a:ea typeface="Cambria" pitchFamily="34" charset="-122"/>
                <a:cs typeface="Cambria" pitchFamily="34" charset="-120"/>
              </a:rPr>
              <a:t>References</a:t>
            </a:r>
            <a:endParaRPr lang="en-US" sz="2900" dirty="0"/>
          </a:p>
        </p:txBody>
      </p:sp>
      <p:sp>
        <p:nvSpPr>
          <p:cNvPr id="4" name="Text 2"/>
          <p:cNvSpPr txBox="1"/>
          <p:nvPr/>
        </p:nvSpPr>
        <p:spPr>
          <a:xfrm>
            <a:off x="548640" y="1645920"/>
            <a:ext cx="11094720" cy="4310380"/>
          </a:xfrm>
          <a:prstGeom prst="rect">
            <a:avLst/>
          </a:prstGeom>
          <a:noFill/>
          <a:ln/>
        </p:spPr>
        <p:txBody>
          <a:bodyPr wrap="square" lIns="18288" tIns="18288" rIns="18288" bIns="18288" rtlCol="0" anchor="t">
            <a:noAutofit/>
          </a:bodyPr>
          <a:lstStyle/>
          <a:p>
            <a:pPr>
              <a:lnSpc>
                <a:spcPct val="112000"/>
              </a:lnSpc>
              <a:spcBef>
                <a:spcPts val="0"/>
              </a:spcBef>
              <a:spcAft>
                <a:spcPts val="2000"/>
              </a:spcAft>
            </a:pPr>
            <a:r>
              <a:rPr sz="1550" dirty="0">
                <a:solidFill>
                  <a:srgbClr val="303845"/>
                </a:solidFill>
                <a:latin typeface="Calibri"/>
              </a:rPr>
              <a:t>[1] Z. Zhou, X. Chen, E. Li, L. Zeng, K. Luo, and J. Zhang, “Edge intelligence: Paving the last mile of artificial intelligence with edge computing,” Proc. IEEE, vol. 107, no. 8, pp. 1738–1762, Aug. 2019.</a:t>
            </a:r>
          </a:p>
          <a:p>
            <a:pPr>
              <a:lnSpc>
                <a:spcPct val="112000"/>
              </a:lnSpc>
              <a:spcBef>
                <a:spcPts val="0"/>
              </a:spcBef>
              <a:spcAft>
                <a:spcPts val="2000"/>
              </a:spcAft>
            </a:pPr>
            <a:r>
              <a:rPr sz="1550" dirty="0">
                <a:solidFill>
                  <a:srgbClr val="303845"/>
                </a:solidFill>
                <a:latin typeface="Calibri"/>
              </a:rPr>
              <a:t>[2] J. Chen and X. Ran, “Deep learning with edge computing: A review,” Proc. IEEE, vol. 107, no. 8, pp. 1655–1674, Aug. 2019.</a:t>
            </a:r>
          </a:p>
          <a:p>
            <a:pPr>
              <a:lnSpc>
                <a:spcPct val="112000"/>
              </a:lnSpc>
              <a:spcBef>
                <a:spcPts val="0"/>
              </a:spcBef>
              <a:spcAft>
                <a:spcPts val="2000"/>
              </a:spcAft>
            </a:pPr>
            <a:r>
              <a:rPr sz="1550" dirty="0">
                <a:solidFill>
                  <a:srgbClr val="303845"/>
                </a:solidFill>
                <a:latin typeface="Calibri"/>
              </a:rPr>
              <a:t>[3] B. Jacob, S. </a:t>
            </a:r>
            <a:r>
              <a:rPr sz="1550" dirty="0" err="1">
                <a:solidFill>
                  <a:srgbClr val="303845"/>
                </a:solidFill>
                <a:latin typeface="Calibri"/>
              </a:rPr>
              <a:t>Kligys</a:t>
            </a:r>
            <a:r>
              <a:rPr sz="1550" dirty="0">
                <a:solidFill>
                  <a:srgbClr val="303845"/>
                </a:solidFill>
                <a:latin typeface="Calibri"/>
              </a:rPr>
              <a:t>, B. Chen, M. Zhu, M. Tang, A. Howard, H. Adam, and D. </a:t>
            </a:r>
            <a:r>
              <a:rPr sz="1550" dirty="0" err="1">
                <a:solidFill>
                  <a:srgbClr val="303845"/>
                </a:solidFill>
                <a:latin typeface="Calibri"/>
              </a:rPr>
              <a:t>Kalenichenko</a:t>
            </a:r>
            <a:r>
              <a:rPr sz="1550" dirty="0">
                <a:solidFill>
                  <a:srgbClr val="303845"/>
                </a:solidFill>
                <a:latin typeface="Calibri"/>
              </a:rPr>
              <a:t>, “Quantization and training of neural networks for efficient integer-arithmetic-only inference,” in Proc. IEEE Conf. Computer Vision and Pattern Recognition (CVPR), 2018, pp. 2704–2713.</a:t>
            </a:r>
          </a:p>
          <a:p>
            <a:pPr>
              <a:lnSpc>
                <a:spcPct val="112000"/>
              </a:lnSpc>
              <a:spcBef>
                <a:spcPts val="0"/>
              </a:spcBef>
              <a:spcAft>
                <a:spcPts val="2000"/>
              </a:spcAft>
            </a:pPr>
            <a:r>
              <a:rPr sz="1550" dirty="0">
                <a:solidFill>
                  <a:srgbClr val="303845"/>
                </a:solidFill>
                <a:latin typeface="Calibri"/>
              </a:rPr>
              <a:t>[4] R. Krishnamoorthi, “Quantizing deep convolutional networks for efficient inference: A whitepaper,” arXiv:1806.08342, 2018.</a:t>
            </a:r>
          </a:p>
          <a:p>
            <a:pPr>
              <a:lnSpc>
                <a:spcPct val="112000"/>
              </a:lnSpc>
              <a:spcBef>
                <a:spcPts val="0"/>
              </a:spcBef>
              <a:spcAft>
                <a:spcPts val="2000"/>
              </a:spcAft>
            </a:pPr>
            <a:r>
              <a:rPr sz="1550" dirty="0">
                <a:solidFill>
                  <a:srgbClr val="303845"/>
                </a:solidFill>
                <a:latin typeface="Calibri"/>
              </a:rPr>
              <a:t>[5] P. </a:t>
            </a:r>
            <a:r>
              <a:rPr sz="1550" dirty="0" err="1">
                <a:solidFill>
                  <a:srgbClr val="303845"/>
                </a:solidFill>
                <a:latin typeface="Calibri"/>
              </a:rPr>
              <a:t>Cousot</a:t>
            </a:r>
            <a:r>
              <a:rPr sz="1550" dirty="0">
                <a:solidFill>
                  <a:srgbClr val="303845"/>
                </a:solidFill>
                <a:latin typeface="Calibri"/>
              </a:rPr>
              <a:t> and R. </a:t>
            </a:r>
            <a:r>
              <a:rPr sz="1550" dirty="0" err="1">
                <a:solidFill>
                  <a:srgbClr val="303845"/>
                </a:solidFill>
                <a:latin typeface="Calibri"/>
              </a:rPr>
              <a:t>Cousot</a:t>
            </a:r>
            <a:r>
              <a:rPr sz="1550" dirty="0">
                <a:solidFill>
                  <a:srgbClr val="303845"/>
                </a:solidFill>
                <a:latin typeface="Calibri"/>
              </a:rPr>
              <a:t>, “Static determination of dynamic properties of programs,” in Proc. 2nd Int. Symp. on Programming (ISOP), Paris, France: </a:t>
            </a:r>
            <a:r>
              <a:rPr sz="1550" dirty="0" err="1">
                <a:solidFill>
                  <a:srgbClr val="303845"/>
                </a:solidFill>
                <a:latin typeface="Calibri"/>
              </a:rPr>
              <a:t>Dunod</a:t>
            </a:r>
            <a:r>
              <a:rPr sz="1550" dirty="0">
                <a:solidFill>
                  <a:srgbClr val="303845"/>
                </a:solidFill>
                <a:latin typeface="Calibri"/>
              </a:rPr>
              <a:t>, 1976, pp. 106–130.</a:t>
            </a:r>
          </a:p>
          <a:p>
            <a:pPr>
              <a:lnSpc>
                <a:spcPct val="112000"/>
              </a:lnSpc>
              <a:spcBef>
                <a:spcPts val="0"/>
              </a:spcBef>
              <a:spcAft>
                <a:spcPts val="2000"/>
              </a:spcAft>
            </a:pPr>
            <a:r>
              <a:rPr sz="1550" dirty="0">
                <a:solidFill>
                  <a:srgbClr val="303845"/>
                </a:solidFill>
                <a:latin typeface="Calibri"/>
              </a:rPr>
              <a:t>[6] P. </a:t>
            </a:r>
            <a:r>
              <a:rPr sz="1550" dirty="0" err="1">
                <a:solidFill>
                  <a:srgbClr val="303845"/>
                </a:solidFill>
                <a:latin typeface="Calibri"/>
              </a:rPr>
              <a:t>Cousot</a:t>
            </a:r>
            <a:r>
              <a:rPr sz="1550" dirty="0">
                <a:solidFill>
                  <a:srgbClr val="303845"/>
                </a:solidFill>
                <a:latin typeface="Calibri"/>
              </a:rPr>
              <a:t> and R. </a:t>
            </a:r>
            <a:r>
              <a:rPr sz="1550" dirty="0" err="1">
                <a:solidFill>
                  <a:srgbClr val="303845"/>
                </a:solidFill>
                <a:latin typeface="Calibri"/>
              </a:rPr>
              <a:t>Cousot</a:t>
            </a:r>
            <a:r>
              <a:rPr sz="1550" dirty="0">
                <a:solidFill>
                  <a:srgbClr val="303845"/>
                </a:solidFill>
                <a:latin typeface="Calibri"/>
              </a:rPr>
              <a:t>, “Abstract interpretation: A unified lattice model for static analysis of programs by construction or approximation of fixpoints,” in Proc. 4th ACM SIGACT-SIGPLAN Symp. on Principles of Programming Languages (POPL), 1977, pp. 238–252.</a:t>
            </a:r>
            <a:br>
              <a:rPr lang="en-IN" sz="1550" dirty="0">
                <a:solidFill>
                  <a:srgbClr val="303845"/>
                </a:solidFill>
                <a:latin typeface="Calibri"/>
              </a:rPr>
            </a:br>
            <a:r>
              <a:rPr lang="en-IN" sz="1550" b="1" dirty="0">
                <a:solidFill>
                  <a:srgbClr val="303845"/>
                </a:solidFill>
                <a:latin typeface="Calibri"/>
              </a:rPr>
              <a:t>PTO</a:t>
            </a:r>
            <a:endParaRPr sz="1550" b="1" dirty="0">
              <a:solidFill>
                <a:srgbClr val="303845"/>
              </a:solidFill>
              <a:latin typeface="Calibri"/>
            </a:endParaRPr>
          </a:p>
        </p:txBody>
      </p:sp>
      <p:sp>
        <p:nvSpPr>
          <p:cNvPr id="5" name="Text 3"/>
          <p:cNvSpPr txBox="1"/>
          <p:nvPr/>
        </p:nvSpPr>
        <p:spPr>
          <a:xfrm>
            <a:off x="502920" y="6172200"/>
            <a:ext cx="11155680" cy="274320"/>
          </a:xfrm>
          <a:prstGeom prst="rect">
            <a:avLst/>
          </a:prstGeom>
          <a:noFill/>
          <a:ln/>
        </p:spPr>
        <p:txBody>
          <a:bodyPr wrap="square" rtlCol="0" anchor="ctr"/>
          <a:lstStyle/>
          <a:p>
            <a:r>
              <a:rPr sz="950" dirty="0">
                <a:solidFill>
                  <a:srgbClr val="7B8490"/>
                </a:solidFill>
              </a:rPr>
              <a:t>References [</a:t>
            </a:r>
            <a:r>
              <a:rPr lang="en-IN" sz="950" dirty="0">
                <a:solidFill>
                  <a:srgbClr val="7B8490"/>
                </a:solidFill>
              </a:rPr>
              <a:t>7</a:t>
            </a:r>
            <a:r>
              <a:rPr sz="950" dirty="0">
                <a:solidFill>
                  <a:srgbClr val="7B8490"/>
                </a:solidFill>
              </a:rPr>
              <a:t>]–[</a:t>
            </a:r>
            <a:r>
              <a:rPr lang="en-IN" sz="950" dirty="0">
                <a:solidFill>
                  <a:srgbClr val="7B8490"/>
                </a:solidFill>
              </a:rPr>
              <a:t>12</a:t>
            </a:r>
            <a:r>
              <a:rPr sz="950" dirty="0">
                <a:solidFill>
                  <a:srgbClr val="7B8490"/>
                </a:solidFill>
              </a:rPr>
              <a:t>] —</a:t>
            </a:r>
            <a:r>
              <a:rPr lang="en-IN" sz="950" dirty="0">
                <a:solidFill>
                  <a:srgbClr val="7B8490"/>
                </a:solidFill>
              </a:rPr>
              <a:t>PTO</a:t>
            </a:r>
            <a:r>
              <a:rPr sz="950" dirty="0">
                <a:solidFill>
                  <a:srgbClr val="7B8490"/>
                </a:solidFill>
              </a:rPr>
              <a:t>.</a:t>
            </a:r>
          </a:p>
        </p:txBody>
      </p:sp>
      <p:sp>
        <p:nvSpPr>
          <p:cNvPr id="12" name="Text 10"/>
          <p:cNvSpPr txBox="1"/>
          <p:nvPr/>
        </p:nvSpPr>
        <p:spPr>
          <a:xfrm>
            <a:off x="502920" y="6492240"/>
            <a:ext cx="9601200" cy="237744"/>
          </a:xfrm>
          <a:prstGeom prst="rect">
            <a:avLst/>
          </a:prstGeom>
          <a:noFill/>
          <a:ln/>
        </p:spPr>
        <p:txBody>
          <a:bodyPr wrap="square" rtlCol="0" anchor="ctr"/>
          <a:lstStyle/>
          <a:p>
            <a:pPr marL="0" indent="0">
              <a:buNone/>
            </a:pPr>
            <a:r>
              <a:rPr lang="en-US" sz="800" dirty="0">
                <a:solidFill>
                  <a:srgbClr val="9AA3AF"/>
                </a:solidFill>
                <a:latin typeface="Calibri" pitchFamily="34" charset="0"/>
                <a:ea typeface="Calibri" pitchFamily="34" charset="-122"/>
                <a:cs typeface="Calibri" pitchFamily="34" charset="-120"/>
              </a:rPr>
              <a:t>BCSE307L — Compiler Design   |   Range-Aware Edge AI Quantization Compiler</a:t>
            </a:r>
            <a:endParaRPr lang="en-US" sz="800" dirty="0"/>
          </a:p>
        </p:txBody>
      </p:sp>
      <p:sp>
        <p:nvSpPr>
          <p:cNvPr id="13" name="Text 11"/>
          <p:cNvSpPr txBox="1"/>
          <p:nvPr/>
        </p:nvSpPr>
        <p:spPr>
          <a:xfrm>
            <a:off x="11247120" y="6492240"/>
            <a:ext cx="457200" cy="237744"/>
          </a:xfrm>
          <a:prstGeom prst="rect">
            <a:avLst/>
          </a:prstGeom>
          <a:noFill/>
          <a:ln/>
        </p:spPr>
        <p:txBody>
          <a:bodyPr wrap="square" rtlCol="0" anchor="ctr"/>
          <a:lstStyle/>
          <a:p>
            <a:pPr algn="r"/>
            <a:r>
              <a:rPr sz="850">
                <a:solidFill>
                  <a:srgbClr val="8A919A"/>
                </a:solidFill>
                <a:latin typeface="Calibri"/>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347472"/>
            <a:ext cx="10607040" cy="256032"/>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2E6E7E"/>
                </a:solidFill>
                <a:latin typeface="Calibri"/>
              </a:rPr>
              <a:t>REFERENCES</a:t>
            </a:r>
          </a:p>
        </p:txBody>
      </p:sp>
      <p:sp>
        <p:nvSpPr>
          <p:cNvPr id="3" name="TextBox 2"/>
          <p:cNvSpPr txBox="1"/>
          <p:nvPr/>
        </p:nvSpPr>
        <p:spPr>
          <a:xfrm>
            <a:off x="502920" y="621792"/>
            <a:ext cx="11155680" cy="566928"/>
          </a:xfrm>
          <a:prstGeom prst="rect">
            <a:avLst/>
          </a:prstGeom>
          <a:noFill/>
        </p:spPr>
        <p:txBody>
          <a:bodyPr wrap="square" lIns="0" tIns="0" rIns="0" bIns="0" anchor="t">
            <a:spAutoFit/>
          </a:bodyPr>
          <a:lstStyle/>
          <a:p>
            <a:pPr algn="l">
              <a:lnSpc>
                <a:spcPct val="100000"/>
              </a:lnSpc>
              <a:spcBef>
                <a:spcPts val="0"/>
              </a:spcBef>
              <a:spcAft>
                <a:spcPts val="0"/>
              </a:spcAft>
            </a:pPr>
            <a:r>
              <a:rPr sz="2800" b="1" i="0">
                <a:solidFill>
                  <a:srgbClr val="1F2A3C"/>
                </a:solidFill>
                <a:latin typeface="Cambria"/>
              </a:rPr>
              <a:t>References (Continued)</a:t>
            </a:r>
          </a:p>
        </p:txBody>
      </p:sp>
      <p:sp>
        <p:nvSpPr>
          <p:cNvPr id="4" name="TextBox 3"/>
          <p:cNvSpPr txBox="1"/>
          <p:nvPr/>
        </p:nvSpPr>
        <p:spPr>
          <a:xfrm>
            <a:off x="502920" y="6492240"/>
            <a:ext cx="9875520" cy="201168"/>
          </a:xfrm>
          <a:prstGeom prst="rect">
            <a:avLst/>
          </a:prstGeom>
          <a:noFill/>
        </p:spPr>
        <p:txBody>
          <a:bodyPr wrap="square" lIns="0" tIns="0" rIns="0" bIns="0" anchor="t">
            <a:spAutoFit/>
          </a:bodyPr>
          <a:lstStyle/>
          <a:p>
            <a:pPr algn="l">
              <a:lnSpc>
                <a:spcPct val="100000"/>
              </a:lnSpc>
              <a:spcBef>
                <a:spcPts val="0"/>
              </a:spcBef>
              <a:spcAft>
                <a:spcPts val="0"/>
              </a:spcAft>
            </a:pPr>
            <a:r>
              <a:rPr sz="850" b="0" i="0">
                <a:solidFill>
                  <a:srgbClr val="8A919A"/>
                </a:solidFill>
                <a:latin typeface="Calibri"/>
              </a:rPr>
              <a:t>BCSE307L — Compiler Design   |   Range-Aware Edge AI Quantization Compiler</a:t>
            </a:r>
          </a:p>
        </p:txBody>
      </p:sp>
      <p:sp>
        <p:nvSpPr>
          <p:cNvPr id="5" name="TextBox 4"/>
          <p:cNvSpPr txBox="1"/>
          <p:nvPr/>
        </p:nvSpPr>
        <p:spPr>
          <a:xfrm>
            <a:off x="11228832" y="6492240"/>
            <a:ext cx="457200" cy="201168"/>
          </a:xfrm>
          <a:prstGeom prst="rect">
            <a:avLst/>
          </a:prstGeom>
          <a:noFill/>
        </p:spPr>
        <p:txBody>
          <a:bodyPr wrap="square" lIns="0" tIns="0" rIns="0" bIns="0" anchor="t">
            <a:spAutoFit/>
          </a:bodyPr>
          <a:lstStyle/>
          <a:p>
            <a:pPr algn="r"/>
            <a:r>
              <a:rPr sz="850">
                <a:solidFill>
                  <a:srgbClr val="8A919A"/>
                </a:solidFill>
                <a:latin typeface="Calibri"/>
              </a:rPr>
              <a:t>31</a:t>
            </a:r>
          </a:p>
        </p:txBody>
      </p:sp>
      <p:sp>
        <p:nvSpPr>
          <p:cNvPr id="6" name="TextBox 5"/>
          <p:cNvSpPr txBox="1"/>
          <p:nvPr/>
        </p:nvSpPr>
        <p:spPr>
          <a:xfrm>
            <a:off x="548640" y="1508760"/>
            <a:ext cx="11064240" cy="4407408"/>
          </a:xfrm>
          <a:prstGeom prst="rect">
            <a:avLst/>
          </a:prstGeom>
          <a:noFill/>
        </p:spPr>
        <p:txBody>
          <a:bodyPr wrap="square" lIns="18288" tIns="27432" rIns="18288" bIns="18288">
            <a:noAutofit/>
          </a:bodyPr>
          <a:lstStyle/>
          <a:p>
            <a:pPr>
              <a:lnSpc>
                <a:spcPct val="112000"/>
              </a:lnSpc>
              <a:spcBef>
                <a:spcPts val="0"/>
              </a:spcBef>
              <a:spcAft>
                <a:spcPts val="2200"/>
              </a:spcAft>
            </a:pPr>
            <a:r>
              <a:rPr sz="1400" dirty="0">
                <a:solidFill>
                  <a:srgbClr val="303845"/>
                </a:solidFill>
                <a:latin typeface="Calibri"/>
              </a:rPr>
              <a:t>[7] F. </a:t>
            </a:r>
            <a:r>
              <a:rPr sz="1400" dirty="0" err="1">
                <a:solidFill>
                  <a:srgbClr val="303845"/>
                </a:solidFill>
                <a:latin typeface="Calibri"/>
              </a:rPr>
              <a:t>Bourdoncle</a:t>
            </a:r>
            <a:r>
              <a:rPr sz="1400" dirty="0">
                <a:solidFill>
                  <a:srgbClr val="303845"/>
                </a:solidFill>
                <a:latin typeface="Calibri"/>
              </a:rPr>
              <a:t>, “Efficient chaotic iteration strategies with widenings,” in Formal Methods in Programming and Their Applications, LNCS vol. 735. Berlin, Germany: Springer, 1993, pp. 128–141.</a:t>
            </a:r>
          </a:p>
          <a:p>
            <a:pPr>
              <a:lnSpc>
                <a:spcPct val="112000"/>
              </a:lnSpc>
              <a:spcBef>
                <a:spcPts val="0"/>
              </a:spcBef>
              <a:spcAft>
                <a:spcPts val="2200"/>
              </a:spcAft>
            </a:pPr>
            <a:r>
              <a:rPr sz="1400" dirty="0">
                <a:solidFill>
                  <a:srgbClr val="303845"/>
                </a:solidFill>
                <a:latin typeface="Calibri"/>
              </a:rPr>
              <a:t>[8] B. Blanchet, P. </a:t>
            </a:r>
            <a:r>
              <a:rPr sz="1400" dirty="0" err="1">
                <a:solidFill>
                  <a:srgbClr val="303845"/>
                </a:solidFill>
                <a:latin typeface="Calibri"/>
              </a:rPr>
              <a:t>Cousot</a:t>
            </a:r>
            <a:r>
              <a:rPr sz="1400" dirty="0">
                <a:solidFill>
                  <a:srgbClr val="303845"/>
                </a:solidFill>
                <a:latin typeface="Calibri"/>
              </a:rPr>
              <a:t>, R. </a:t>
            </a:r>
            <a:r>
              <a:rPr sz="1400" dirty="0" err="1">
                <a:solidFill>
                  <a:srgbClr val="303845"/>
                </a:solidFill>
                <a:latin typeface="Calibri"/>
              </a:rPr>
              <a:t>Cousot</a:t>
            </a:r>
            <a:r>
              <a:rPr sz="1400" dirty="0">
                <a:solidFill>
                  <a:srgbClr val="303845"/>
                </a:solidFill>
                <a:latin typeface="Calibri"/>
              </a:rPr>
              <a:t>, J. Feret, L. Mauborgne, A. </a:t>
            </a:r>
            <a:r>
              <a:rPr sz="1400" dirty="0" err="1">
                <a:solidFill>
                  <a:srgbClr val="303845"/>
                </a:solidFill>
                <a:latin typeface="Calibri"/>
              </a:rPr>
              <a:t>Miné</a:t>
            </a:r>
            <a:r>
              <a:rPr sz="1400" dirty="0">
                <a:solidFill>
                  <a:srgbClr val="303845"/>
                </a:solidFill>
                <a:latin typeface="Calibri"/>
              </a:rPr>
              <a:t>, D. </a:t>
            </a:r>
            <a:r>
              <a:rPr sz="1400" dirty="0" err="1">
                <a:solidFill>
                  <a:srgbClr val="303845"/>
                </a:solidFill>
                <a:latin typeface="Calibri"/>
              </a:rPr>
              <a:t>Monniaux</a:t>
            </a:r>
            <a:r>
              <a:rPr sz="1400" dirty="0">
                <a:solidFill>
                  <a:srgbClr val="303845"/>
                </a:solidFill>
                <a:latin typeface="Calibri"/>
              </a:rPr>
              <a:t>, and X. Rival, “A static analyzer for large safety-critical software,” in Proc. ACM SIGPLAN Conf. on Programming Language Design and Implementation (PLDI), 2003, pp. 196–207.</a:t>
            </a:r>
          </a:p>
          <a:p>
            <a:pPr>
              <a:lnSpc>
                <a:spcPct val="112000"/>
              </a:lnSpc>
              <a:spcBef>
                <a:spcPts val="0"/>
              </a:spcBef>
              <a:spcAft>
                <a:spcPts val="2200"/>
              </a:spcAft>
            </a:pPr>
            <a:r>
              <a:rPr sz="1400" dirty="0">
                <a:solidFill>
                  <a:srgbClr val="303845"/>
                </a:solidFill>
                <a:latin typeface="Calibri"/>
              </a:rPr>
              <a:t>[9] R. </a:t>
            </a:r>
            <a:r>
              <a:rPr sz="1400" dirty="0" err="1">
                <a:solidFill>
                  <a:srgbClr val="303845"/>
                </a:solidFill>
                <a:latin typeface="Calibri"/>
              </a:rPr>
              <a:t>Cytron</a:t>
            </a:r>
            <a:r>
              <a:rPr sz="1400" dirty="0">
                <a:solidFill>
                  <a:srgbClr val="303845"/>
                </a:solidFill>
                <a:latin typeface="Calibri"/>
              </a:rPr>
              <a:t>, J. Ferrante, B. K. Rosen, M. N. Wegman, and F. K. </a:t>
            </a:r>
            <a:r>
              <a:rPr sz="1400" dirty="0" err="1">
                <a:solidFill>
                  <a:srgbClr val="303845"/>
                </a:solidFill>
                <a:latin typeface="Calibri"/>
              </a:rPr>
              <a:t>Zadeck</a:t>
            </a:r>
            <a:r>
              <a:rPr sz="1400" dirty="0">
                <a:solidFill>
                  <a:srgbClr val="303845"/>
                </a:solidFill>
                <a:latin typeface="Calibri"/>
              </a:rPr>
              <a:t>, “Efficiently computing static single assignment form and the control dependence graph,” ACM Trans. Program. Lang. Syst., vol. 13, no. 4, pp. 451–490, Oct. 1991.</a:t>
            </a:r>
          </a:p>
          <a:p>
            <a:pPr>
              <a:lnSpc>
                <a:spcPct val="112000"/>
              </a:lnSpc>
              <a:spcBef>
                <a:spcPts val="0"/>
              </a:spcBef>
              <a:spcAft>
                <a:spcPts val="2200"/>
              </a:spcAft>
            </a:pPr>
            <a:r>
              <a:rPr sz="1400" dirty="0">
                <a:solidFill>
                  <a:srgbClr val="303845"/>
                </a:solidFill>
                <a:latin typeface="Calibri"/>
              </a:rPr>
              <a:t>[10] C. Lattner and V. Adve, “LLVM: A compilation framework for lifelong program analysis and transformation,” in Proc. Int. Symp. on Code Generation and Optimization (CGO), 2004, pp. 75–86.</a:t>
            </a:r>
          </a:p>
          <a:p>
            <a:pPr>
              <a:lnSpc>
                <a:spcPct val="112000"/>
              </a:lnSpc>
              <a:spcBef>
                <a:spcPts val="0"/>
              </a:spcBef>
              <a:spcAft>
                <a:spcPts val="2200"/>
              </a:spcAft>
            </a:pPr>
            <a:r>
              <a:rPr sz="1400" dirty="0">
                <a:solidFill>
                  <a:srgbClr val="303845"/>
                </a:solidFill>
                <a:latin typeface="Calibri"/>
              </a:rPr>
              <a:t>[11] J. Ragan-Kelley, C. Barnes, A. Adams, S. Paris, F. Durand, and S. Amarasinghe, “Halide: A language and compiler for optimizing parallelism, locality, and </a:t>
            </a:r>
            <a:r>
              <a:rPr sz="1400" dirty="0" err="1">
                <a:solidFill>
                  <a:srgbClr val="303845"/>
                </a:solidFill>
                <a:latin typeface="Calibri"/>
              </a:rPr>
              <a:t>recomputation</a:t>
            </a:r>
            <a:r>
              <a:rPr sz="1400" dirty="0">
                <a:solidFill>
                  <a:srgbClr val="303845"/>
                </a:solidFill>
                <a:latin typeface="Calibri"/>
              </a:rPr>
              <a:t> in image processing pipelines,” in Proc. ACM SIGPLAN Conf. on Programming Language Design and Implementation (PLDI), 2013, pp. 519–530.</a:t>
            </a:r>
          </a:p>
          <a:p>
            <a:pPr>
              <a:lnSpc>
                <a:spcPct val="112000"/>
              </a:lnSpc>
              <a:spcBef>
                <a:spcPts val="0"/>
              </a:spcBef>
              <a:spcAft>
                <a:spcPts val="2200"/>
              </a:spcAft>
            </a:pPr>
            <a:r>
              <a:rPr sz="1400" dirty="0">
                <a:solidFill>
                  <a:srgbClr val="303845"/>
                </a:solidFill>
                <a:latin typeface="Calibri"/>
              </a:rPr>
              <a:t>[12] T. Chen, T. Moreau, Z. Jiang, L. Zheng, E. Yan, M. Cowan, H. Shen, L. Wang, Y. Hu, L. </a:t>
            </a:r>
            <a:r>
              <a:rPr sz="1400" dirty="0" err="1">
                <a:solidFill>
                  <a:srgbClr val="303845"/>
                </a:solidFill>
                <a:latin typeface="Calibri"/>
              </a:rPr>
              <a:t>Ceze</a:t>
            </a:r>
            <a:r>
              <a:rPr sz="1400" dirty="0">
                <a:solidFill>
                  <a:srgbClr val="303845"/>
                </a:solidFill>
                <a:latin typeface="Calibri"/>
              </a:rPr>
              <a:t>, C. </a:t>
            </a:r>
            <a:r>
              <a:rPr sz="1400" dirty="0" err="1">
                <a:solidFill>
                  <a:srgbClr val="303845"/>
                </a:solidFill>
                <a:latin typeface="Calibri"/>
              </a:rPr>
              <a:t>Guestrin</a:t>
            </a:r>
            <a:r>
              <a:rPr sz="1400" dirty="0">
                <a:solidFill>
                  <a:srgbClr val="303845"/>
                </a:solidFill>
                <a:latin typeface="Calibri"/>
              </a:rPr>
              <a:t>, and A. Krishnamurthy, “TVM: An automated end-to-end optimizing compiler for deep learning,” in Proc. 13th USENIX Symp. on Operating Systems Design and Implementation (OSDI), 2018, pp. 578–594.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6442</Words>
  <Application>Microsoft Office PowerPoint</Application>
  <PresentationFormat>Widescreen</PresentationFormat>
  <Paragraphs>742</Paragraphs>
  <Slides>31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Aptos</vt: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Yash Pradhan</cp:lastModifiedBy>
  <cp:revision>3</cp:revision>
  <dcterms:created xsi:type="dcterms:W3CDTF">2026-09-13T16:38:07Z</dcterms:created>
  <dcterms:modified xsi:type="dcterms:W3CDTF">2026-10-13T16:18:37Z</dcterms:modified>
</cp:coreProperties>
</file>